
<file path=[Content_Types].xml><?xml version="1.0" encoding="utf-8"?>
<Types xmlns="http://schemas.openxmlformats.org/package/2006/content-types">
  <Default Extension="fntdata" ContentType="application/x-fontdata"/>
  <Default Extension="jpg" ContentType="image/jp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embeddedFontLst>
    <p:embeddedFont>
      <p:font typeface="MiSans" panose="02010600030101010101" charset="-122"/>
      <p:regular r:id="rId15"/>
    </p:embeddedFont>
    <p:embeddedFont>
      <p:font typeface="微软雅黑" panose="020B0503020204020204" pitchFamily="34" charset="-122"/>
      <p:regular r:id="rId16"/>
      <p:bold r:id="rId17"/>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0" d="100"/>
          <a:sy n="100" d="100"/>
        </p:scale>
        <p:origin x="76" y="6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49442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AFA"/>
        </a:solidFill>
        <a:effectLst/>
      </p:bgPr>
    </p:bg>
    <p:spTree>
      <p:nvGrpSpPr>
        <p:cNvPr id="1" name=""/>
        <p:cNvGrpSpPr/>
        <p:nvPr/>
      </p:nvGrpSpPr>
      <p:grpSpPr>
        <a:xfrm>
          <a:off x="0" y="0"/>
          <a:ext cx="0" cy="0"/>
          <a:chOff x="0" y="0"/>
          <a:chExt cx="0" cy="0"/>
        </a:xfrm>
      </p:grpSpPr>
      <p:pic>
        <p:nvPicPr>
          <p:cNvPr id="2" name="Image 0" descr="https://kimi-web-img.moonshot.cn/img/img.freepik.com/c399b54f2db361af7758dbb4126d53865a99f473.jpg"/>
          <p:cNvPicPr>
            <a:picLocks noChangeAspect="1"/>
          </p:cNvPicPr>
          <p:nvPr/>
        </p:nvPicPr>
        <p:blipFill>
          <a:blip r:embed="rId3">
            <a:alphaModFix amt="30000"/>
          </a:blip>
          <a:srcRect t="10257" b="10257"/>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FAFAFA">
                  <a:alpha val="95000"/>
                </a:srgbClr>
              </a:gs>
              <a:gs pos="50000">
                <a:srgbClr val="FAFAFA">
                  <a:alpha val="85000"/>
                </a:srgbClr>
              </a:gs>
              <a:gs pos="100000">
                <a:srgbClr val="000000">
                  <a:alpha val="0"/>
                </a:srgbClr>
              </a:gs>
            </a:gsLst>
            <a:lin ang="2700000" scaled="1"/>
          </a:gradFill>
          <a:ln/>
        </p:spPr>
        <p:txBody>
          <a:bodyPr/>
          <a:lstStyle/>
          <a:p>
            <a:endParaRPr lang="zh-CN" altLang="en-US"/>
          </a:p>
        </p:txBody>
      </p:sp>
      <p:sp>
        <p:nvSpPr>
          <p:cNvPr id="4" name="Shape 1"/>
          <p:cNvSpPr/>
          <p:nvPr/>
        </p:nvSpPr>
        <p:spPr>
          <a:xfrm>
            <a:off x="381000" y="1619250"/>
            <a:ext cx="866775" cy="342900"/>
          </a:xfrm>
          <a:custGeom>
            <a:avLst/>
            <a:gdLst/>
            <a:ahLst/>
            <a:cxnLst/>
            <a:rect l="l" t="t" r="r" b="b"/>
            <a:pathLst>
              <a:path w="866775" h="342900">
                <a:moveTo>
                  <a:pt x="171450" y="0"/>
                </a:moveTo>
                <a:lnTo>
                  <a:pt x="695325" y="0"/>
                </a:lnTo>
                <a:cubicBezTo>
                  <a:pt x="789951" y="0"/>
                  <a:pt x="866775" y="76824"/>
                  <a:pt x="866775" y="171450"/>
                </a:cubicBezTo>
                <a:lnTo>
                  <a:pt x="866775" y="171450"/>
                </a:lnTo>
                <a:cubicBezTo>
                  <a:pt x="866775" y="266076"/>
                  <a:pt x="789951" y="342900"/>
                  <a:pt x="695325" y="342900"/>
                </a:cubicBezTo>
                <a:lnTo>
                  <a:pt x="171450" y="342900"/>
                </a:lnTo>
                <a:cubicBezTo>
                  <a:pt x="76824" y="342900"/>
                  <a:pt x="0" y="266076"/>
                  <a:pt x="0" y="171450"/>
                </a:cubicBezTo>
                <a:lnTo>
                  <a:pt x="0" y="171450"/>
                </a:lnTo>
                <a:cubicBezTo>
                  <a:pt x="0" y="76824"/>
                  <a:pt x="76824" y="0"/>
                  <a:pt x="171450" y="0"/>
                </a:cubicBezTo>
                <a:close/>
              </a:path>
            </a:pathLst>
          </a:custGeom>
          <a:solidFill>
            <a:srgbClr val="0071E3">
              <a:alpha val="10196"/>
            </a:srgbClr>
          </a:solidFill>
          <a:ln/>
        </p:spPr>
        <p:txBody>
          <a:bodyPr/>
          <a:lstStyle/>
          <a:p>
            <a:endParaRPr lang="zh-CN" altLang="en-US"/>
          </a:p>
        </p:txBody>
      </p:sp>
      <p:sp>
        <p:nvSpPr>
          <p:cNvPr id="5" name="Text 2"/>
          <p:cNvSpPr/>
          <p:nvPr/>
        </p:nvSpPr>
        <p:spPr>
          <a:xfrm>
            <a:off x="381000" y="1619250"/>
            <a:ext cx="933450" cy="342900"/>
          </a:xfrm>
          <a:prstGeom prst="rect">
            <a:avLst/>
          </a:prstGeom>
          <a:noFill/>
          <a:ln/>
        </p:spPr>
        <p:txBody>
          <a:bodyPr wrap="square" lIns="152400" tIns="76200" rIns="152400" bIns="76200" rtlCol="0" anchor="ctr"/>
          <a:lstStyle/>
          <a:p>
            <a:pPr>
              <a:lnSpc>
                <a:spcPct val="120000"/>
              </a:lnSpc>
            </a:pPr>
            <a:r>
              <a:rPr lang="en-US" sz="1050" b="1" kern="0" spc="53" dirty="0">
                <a:solidFill>
                  <a:srgbClr val="0071E3"/>
                </a:solidFill>
                <a:latin typeface="MiSans" pitchFamily="34" charset="0"/>
                <a:ea typeface="MiSans" pitchFamily="34" charset="-122"/>
                <a:cs typeface="MiSans" pitchFamily="34" charset="-120"/>
              </a:rPr>
              <a:t>技术汇报</a:t>
            </a:r>
            <a:endParaRPr lang="en-US" sz="1600" dirty="0"/>
          </a:p>
        </p:txBody>
      </p:sp>
      <p:sp>
        <p:nvSpPr>
          <p:cNvPr id="6" name="Text 3"/>
          <p:cNvSpPr/>
          <p:nvPr/>
        </p:nvSpPr>
        <p:spPr>
          <a:xfrm>
            <a:off x="381000" y="2266950"/>
            <a:ext cx="11772900" cy="1714500"/>
          </a:xfrm>
          <a:prstGeom prst="rect">
            <a:avLst/>
          </a:prstGeom>
          <a:noFill/>
          <a:ln/>
        </p:spPr>
        <p:txBody>
          <a:bodyPr wrap="square" lIns="0" tIns="0" rIns="0" bIns="0" rtlCol="0" anchor="ctr"/>
          <a:lstStyle/>
          <a:p>
            <a:pPr>
              <a:lnSpc>
                <a:spcPct val="100000"/>
              </a:lnSpc>
            </a:pPr>
            <a:r>
              <a:rPr lang="en-US" sz="5400" b="1" kern="0" spc="-135" dirty="0">
                <a:solidFill>
                  <a:srgbClr val="1D1D1D"/>
                </a:solidFill>
                <a:latin typeface="MiSans" pitchFamily="34" charset="0"/>
                <a:ea typeface="MiSans" pitchFamily="34" charset="-122"/>
                <a:cs typeface="MiSans" pitchFamily="34" charset="-120"/>
              </a:rPr>
              <a:t>Code Agent</a:t>
            </a:r>
            <a:endParaRPr lang="en-US" sz="1600" dirty="0"/>
          </a:p>
          <a:p>
            <a:pPr>
              <a:lnSpc>
                <a:spcPct val="100000"/>
              </a:lnSpc>
            </a:pPr>
            <a:r>
              <a:rPr lang="en-US" sz="5400" b="1" kern="0" spc="-135" dirty="0">
                <a:solidFill>
                  <a:srgbClr val="1D1D1D"/>
                </a:solidFill>
                <a:latin typeface="MiSans" pitchFamily="34" charset="0"/>
                <a:ea typeface="MiSans" pitchFamily="34" charset="-122"/>
                <a:cs typeface="MiSans" pitchFamily="34" charset="-120"/>
              </a:rPr>
              <a:t>编程模式</a:t>
            </a:r>
            <a:endParaRPr lang="en-US" sz="1600" dirty="0"/>
          </a:p>
        </p:txBody>
      </p:sp>
      <p:sp>
        <p:nvSpPr>
          <p:cNvPr id="7" name="Text 4"/>
          <p:cNvSpPr/>
          <p:nvPr/>
        </p:nvSpPr>
        <p:spPr>
          <a:xfrm>
            <a:off x="381000" y="4210050"/>
            <a:ext cx="11544300" cy="304800"/>
          </a:xfrm>
          <a:prstGeom prst="rect">
            <a:avLst/>
          </a:prstGeom>
          <a:noFill/>
          <a:ln/>
        </p:spPr>
        <p:txBody>
          <a:bodyPr wrap="square" lIns="0" tIns="0" rIns="0" bIns="0" rtlCol="0" anchor="ctr"/>
          <a:lstStyle/>
          <a:p>
            <a:pPr>
              <a:lnSpc>
                <a:spcPct val="110000"/>
              </a:lnSpc>
            </a:pPr>
            <a:r>
              <a:rPr lang="en-US" sz="1800" dirty="0">
                <a:solidFill>
                  <a:srgbClr val="86868B"/>
                </a:solidFill>
                <a:latin typeface="MiSans" pitchFamily="34" charset="0"/>
                <a:ea typeface="MiSans" pitchFamily="34" charset="-122"/>
                <a:cs typeface="MiSans" pitchFamily="34" charset="-120"/>
              </a:rPr>
              <a:t>落地实施探讨</a:t>
            </a:r>
            <a:endParaRPr lang="en-US" sz="1600" dirty="0"/>
          </a:p>
        </p:txBody>
      </p:sp>
      <p:sp>
        <p:nvSpPr>
          <p:cNvPr id="8" name="Shape 5"/>
          <p:cNvSpPr/>
          <p:nvPr/>
        </p:nvSpPr>
        <p:spPr>
          <a:xfrm>
            <a:off x="409575" y="5029200"/>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0071E3"/>
          </a:solidFill>
          <a:ln/>
        </p:spPr>
        <p:txBody>
          <a:bodyPr/>
          <a:lstStyle/>
          <a:p>
            <a:endParaRPr lang="zh-CN" altLang="en-US"/>
          </a:p>
        </p:txBody>
      </p:sp>
      <p:sp>
        <p:nvSpPr>
          <p:cNvPr id="9" name="Text 6"/>
          <p:cNvSpPr/>
          <p:nvPr/>
        </p:nvSpPr>
        <p:spPr>
          <a:xfrm>
            <a:off x="685800" y="4972050"/>
            <a:ext cx="933450" cy="266700"/>
          </a:xfrm>
          <a:prstGeom prst="rect">
            <a:avLst/>
          </a:prstGeom>
          <a:noFill/>
          <a:ln/>
        </p:spPr>
        <p:txBody>
          <a:bodyPr wrap="square" lIns="0" tIns="0" rIns="0" bIns="0" rtlCol="0" anchor="ctr"/>
          <a:lstStyle/>
          <a:p>
            <a:pPr>
              <a:lnSpc>
                <a:spcPct val="130000"/>
              </a:lnSpc>
            </a:pPr>
            <a:r>
              <a:rPr lang="en-US" sz="1350" dirty="0">
                <a:solidFill>
                  <a:srgbClr val="86868B"/>
                </a:solidFill>
                <a:latin typeface="MiSans" pitchFamily="34" charset="0"/>
                <a:ea typeface="MiSans" pitchFamily="34" charset="-122"/>
                <a:cs typeface="MiSans" pitchFamily="34" charset="-120"/>
              </a:rPr>
              <a:t>2026年3月</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43437" y="343437"/>
            <a:ext cx="11565228" cy="171718"/>
          </a:xfrm>
          <a:prstGeom prst="rect">
            <a:avLst/>
          </a:prstGeom>
          <a:noFill/>
          <a:ln/>
        </p:spPr>
        <p:txBody>
          <a:bodyPr wrap="square" lIns="0" tIns="0" rIns="0" bIns="0" rtlCol="0" anchor="ctr"/>
          <a:lstStyle/>
          <a:p>
            <a:pPr>
              <a:lnSpc>
                <a:spcPct val="120000"/>
              </a:lnSpc>
            </a:pPr>
            <a:r>
              <a:rPr lang="en-US" sz="946" b="1" kern="0" spc="47" dirty="0">
                <a:solidFill>
                  <a:srgbClr val="0071E3"/>
                </a:solidFill>
                <a:latin typeface="MiSans" pitchFamily="34" charset="0"/>
                <a:ea typeface="MiSans" pitchFamily="34" charset="-122"/>
                <a:cs typeface="MiSans" pitchFamily="34" charset="-120"/>
              </a:rPr>
              <a:t>01 / 核心概念</a:t>
            </a:r>
            <a:endParaRPr lang="en-US" sz="1600" dirty="0"/>
          </a:p>
        </p:txBody>
      </p:sp>
      <p:sp>
        <p:nvSpPr>
          <p:cNvPr id="3" name="Text 1"/>
          <p:cNvSpPr/>
          <p:nvPr/>
        </p:nvSpPr>
        <p:spPr>
          <a:xfrm>
            <a:off x="343437" y="583842"/>
            <a:ext cx="11659673" cy="343437"/>
          </a:xfrm>
          <a:prstGeom prst="rect">
            <a:avLst/>
          </a:prstGeom>
          <a:noFill/>
          <a:ln/>
        </p:spPr>
        <p:txBody>
          <a:bodyPr wrap="square" lIns="0" tIns="0" rIns="0" bIns="0" rtlCol="0" anchor="ctr"/>
          <a:lstStyle/>
          <a:p>
            <a:pPr>
              <a:lnSpc>
                <a:spcPct val="90000"/>
              </a:lnSpc>
            </a:pPr>
            <a:r>
              <a:rPr lang="en-US" sz="2434" b="1" dirty="0">
                <a:solidFill>
                  <a:srgbClr val="1D1D1D"/>
                </a:solidFill>
                <a:latin typeface="MiSans" pitchFamily="34" charset="0"/>
                <a:ea typeface="MiSans" pitchFamily="34" charset="-122"/>
                <a:cs typeface="MiSans" pitchFamily="34" charset="-120"/>
              </a:rPr>
              <a:t>Vibe Coding定义与市场成熟度</a:t>
            </a:r>
            <a:endParaRPr lang="en-US" sz="1600" dirty="0"/>
          </a:p>
        </p:txBody>
      </p:sp>
      <p:sp>
        <p:nvSpPr>
          <p:cNvPr id="4" name="Shape 2"/>
          <p:cNvSpPr/>
          <p:nvPr/>
        </p:nvSpPr>
        <p:spPr>
          <a:xfrm>
            <a:off x="346299" y="1136203"/>
            <a:ext cx="5646670" cy="1697149"/>
          </a:xfrm>
          <a:custGeom>
            <a:avLst/>
            <a:gdLst/>
            <a:ahLst/>
            <a:cxnLst/>
            <a:rect l="l" t="t" r="r" b="b"/>
            <a:pathLst>
              <a:path w="5646670" h="1697149">
                <a:moveTo>
                  <a:pt x="137367" y="0"/>
                </a:moveTo>
                <a:lnTo>
                  <a:pt x="5509303" y="0"/>
                </a:lnTo>
                <a:cubicBezTo>
                  <a:pt x="5585169" y="0"/>
                  <a:pt x="5646670" y="61501"/>
                  <a:pt x="5646670" y="137367"/>
                </a:cubicBezTo>
                <a:lnTo>
                  <a:pt x="5646670" y="1559782"/>
                </a:lnTo>
                <a:cubicBezTo>
                  <a:pt x="5646670" y="1635648"/>
                  <a:pt x="5585169" y="1697149"/>
                  <a:pt x="5509303" y="1697149"/>
                </a:cubicBezTo>
                <a:lnTo>
                  <a:pt x="137367" y="1697149"/>
                </a:lnTo>
                <a:cubicBezTo>
                  <a:pt x="61501" y="1697149"/>
                  <a:pt x="0" y="1635648"/>
                  <a:pt x="0" y="1559782"/>
                </a:cubicBezTo>
                <a:lnTo>
                  <a:pt x="0" y="137367"/>
                </a:lnTo>
                <a:cubicBezTo>
                  <a:pt x="0" y="61552"/>
                  <a:pt x="61552" y="0"/>
                  <a:pt x="137367" y="0"/>
                </a:cubicBezTo>
                <a:close/>
              </a:path>
            </a:pathLst>
          </a:custGeom>
          <a:solidFill>
            <a:srgbClr val="FFFFFF"/>
          </a:solidFill>
          <a:ln w="8467">
            <a:solidFill>
              <a:srgbClr val="E5E5E5"/>
            </a:solidFill>
            <a:prstDash val="solid"/>
          </a:ln>
          <a:effectLst>
            <a:outerShdw blurRad="25758" dist="8586" dir="5400000" algn="bl" rotWithShape="0">
              <a:srgbClr val="000000">
                <a:alpha val="10196"/>
              </a:srgbClr>
            </a:outerShdw>
          </a:effectLst>
        </p:spPr>
        <p:txBody>
          <a:bodyPr/>
          <a:lstStyle/>
          <a:p>
            <a:endParaRPr lang="zh-CN" altLang="en-US"/>
          </a:p>
        </p:txBody>
      </p:sp>
      <p:sp>
        <p:nvSpPr>
          <p:cNvPr id="5" name="Shape 3"/>
          <p:cNvSpPr/>
          <p:nvPr/>
        </p:nvSpPr>
        <p:spPr>
          <a:xfrm>
            <a:off x="605665" y="1345127"/>
            <a:ext cx="225380" cy="257577"/>
          </a:xfrm>
          <a:custGeom>
            <a:avLst/>
            <a:gdLst/>
            <a:ahLst/>
            <a:cxnLst/>
            <a:rect l="l" t="t" r="r" b="b"/>
            <a:pathLst>
              <a:path w="225380" h="257577">
                <a:moveTo>
                  <a:pt x="0" y="108665"/>
                </a:moveTo>
                <a:cubicBezTo>
                  <a:pt x="0" y="75311"/>
                  <a:pt x="27015" y="48296"/>
                  <a:pt x="60370" y="48296"/>
                </a:cubicBezTo>
                <a:lnTo>
                  <a:pt x="64394" y="48296"/>
                </a:lnTo>
                <a:cubicBezTo>
                  <a:pt x="73299" y="48296"/>
                  <a:pt x="80493" y="55490"/>
                  <a:pt x="80493" y="64394"/>
                </a:cubicBezTo>
                <a:cubicBezTo>
                  <a:pt x="80493" y="73299"/>
                  <a:pt x="73299" y="80493"/>
                  <a:pt x="64394" y="80493"/>
                </a:cubicBezTo>
                <a:lnTo>
                  <a:pt x="60370" y="80493"/>
                </a:lnTo>
                <a:cubicBezTo>
                  <a:pt x="44825" y="80493"/>
                  <a:pt x="32197" y="93120"/>
                  <a:pt x="32197" y="108665"/>
                </a:cubicBezTo>
                <a:lnTo>
                  <a:pt x="32197" y="112690"/>
                </a:lnTo>
                <a:lnTo>
                  <a:pt x="64394" y="112690"/>
                </a:lnTo>
                <a:cubicBezTo>
                  <a:pt x="82153" y="112690"/>
                  <a:pt x="96592" y="127129"/>
                  <a:pt x="96592" y="144887"/>
                </a:cubicBezTo>
                <a:lnTo>
                  <a:pt x="96592" y="177085"/>
                </a:lnTo>
                <a:cubicBezTo>
                  <a:pt x="96592" y="194843"/>
                  <a:pt x="82153" y="209282"/>
                  <a:pt x="64394" y="209282"/>
                </a:cubicBezTo>
                <a:lnTo>
                  <a:pt x="32197" y="209282"/>
                </a:lnTo>
                <a:cubicBezTo>
                  <a:pt x="14438" y="209282"/>
                  <a:pt x="0" y="194843"/>
                  <a:pt x="0" y="177085"/>
                </a:cubicBezTo>
                <a:lnTo>
                  <a:pt x="0" y="108665"/>
                </a:lnTo>
                <a:close/>
                <a:moveTo>
                  <a:pt x="128789" y="108665"/>
                </a:moveTo>
                <a:cubicBezTo>
                  <a:pt x="128789" y="75311"/>
                  <a:pt x="155804" y="48296"/>
                  <a:pt x="189158" y="48296"/>
                </a:cubicBezTo>
                <a:lnTo>
                  <a:pt x="193183" y="48296"/>
                </a:lnTo>
                <a:cubicBezTo>
                  <a:pt x="202088" y="48296"/>
                  <a:pt x="209282" y="55490"/>
                  <a:pt x="209282" y="64394"/>
                </a:cubicBezTo>
                <a:cubicBezTo>
                  <a:pt x="209282" y="73299"/>
                  <a:pt x="202088" y="80493"/>
                  <a:pt x="193183" y="80493"/>
                </a:cubicBezTo>
                <a:lnTo>
                  <a:pt x="189158" y="80493"/>
                </a:lnTo>
                <a:cubicBezTo>
                  <a:pt x="173613" y="80493"/>
                  <a:pt x="160986" y="93120"/>
                  <a:pt x="160986" y="108665"/>
                </a:cubicBezTo>
                <a:lnTo>
                  <a:pt x="160986" y="112690"/>
                </a:lnTo>
                <a:lnTo>
                  <a:pt x="193183" y="112690"/>
                </a:lnTo>
                <a:cubicBezTo>
                  <a:pt x="210942" y="112690"/>
                  <a:pt x="225380" y="127129"/>
                  <a:pt x="225380" y="144887"/>
                </a:cubicBezTo>
                <a:lnTo>
                  <a:pt x="225380" y="177085"/>
                </a:lnTo>
                <a:cubicBezTo>
                  <a:pt x="225380" y="194843"/>
                  <a:pt x="210942" y="209282"/>
                  <a:pt x="193183" y="209282"/>
                </a:cubicBezTo>
                <a:lnTo>
                  <a:pt x="160986" y="209282"/>
                </a:lnTo>
                <a:cubicBezTo>
                  <a:pt x="143227" y="209282"/>
                  <a:pt x="128789" y="194843"/>
                  <a:pt x="128789" y="177085"/>
                </a:cubicBezTo>
                <a:lnTo>
                  <a:pt x="128789" y="108665"/>
                </a:lnTo>
                <a:close/>
              </a:path>
            </a:pathLst>
          </a:custGeom>
          <a:solidFill>
            <a:srgbClr val="0071E3">
              <a:alpha val="30196"/>
            </a:srgbClr>
          </a:solidFill>
          <a:ln/>
        </p:spPr>
        <p:txBody>
          <a:bodyPr/>
          <a:lstStyle/>
          <a:p>
            <a:endParaRPr lang="zh-CN" altLang="en-US"/>
          </a:p>
        </p:txBody>
      </p:sp>
      <p:sp>
        <p:nvSpPr>
          <p:cNvPr id="6" name="Text 4"/>
          <p:cNvSpPr/>
          <p:nvPr/>
        </p:nvSpPr>
        <p:spPr>
          <a:xfrm>
            <a:off x="555223" y="1705735"/>
            <a:ext cx="5306096" cy="506569"/>
          </a:xfrm>
          <a:prstGeom prst="rect">
            <a:avLst/>
          </a:prstGeom>
          <a:noFill/>
          <a:ln/>
        </p:spPr>
        <p:txBody>
          <a:bodyPr wrap="square" lIns="0" tIns="0" rIns="0" bIns="0" rtlCol="0" anchor="ctr"/>
          <a:lstStyle/>
          <a:p>
            <a:pPr>
              <a:lnSpc>
                <a:spcPct val="140000"/>
              </a:lnSpc>
            </a:pPr>
            <a:r>
              <a:rPr lang="en-US" sz="1217" dirty="0">
                <a:solidFill>
                  <a:srgbClr val="1D1D1D"/>
                </a:solidFill>
                <a:latin typeface="MiSans" pitchFamily="34" charset="0"/>
                <a:ea typeface="MiSans" pitchFamily="34" charset="-122"/>
                <a:cs typeface="MiSans" pitchFamily="34" charset="-120"/>
              </a:rPr>
              <a:t>"用自然语言描述你想要什么，让AI生成代码。你'顺从于感觉(surrender to the vibes)'，忘记了代码的存在。"</a:t>
            </a:r>
            <a:endParaRPr lang="en-US" sz="1600" dirty="0"/>
          </a:p>
        </p:txBody>
      </p:sp>
      <p:sp>
        <p:nvSpPr>
          <p:cNvPr id="7" name="Text 5"/>
          <p:cNvSpPr/>
          <p:nvPr/>
        </p:nvSpPr>
        <p:spPr>
          <a:xfrm>
            <a:off x="555223" y="2311043"/>
            <a:ext cx="5288924" cy="171718"/>
          </a:xfrm>
          <a:prstGeom prst="rect">
            <a:avLst/>
          </a:prstGeom>
          <a:noFill/>
          <a:ln/>
        </p:spPr>
        <p:txBody>
          <a:bodyPr wrap="square" lIns="0" tIns="0" rIns="0" bIns="0" rtlCol="0" anchor="ctr"/>
          <a:lstStyle/>
          <a:p>
            <a:pPr>
              <a:lnSpc>
                <a:spcPct val="120000"/>
              </a:lnSpc>
            </a:pPr>
            <a:r>
              <a:rPr lang="en-US" sz="946" dirty="0">
                <a:solidFill>
                  <a:srgbClr val="86868B"/>
                </a:solidFill>
                <a:latin typeface="MiSans" pitchFamily="34" charset="0"/>
                <a:ea typeface="MiSans" pitchFamily="34" charset="-122"/>
                <a:cs typeface="MiSans" pitchFamily="34" charset="-120"/>
              </a:rPr>
              <a:t>— Andrej Karpathy, 2025年2月</a:t>
            </a:r>
            <a:endParaRPr lang="en-US" sz="1600" dirty="0"/>
          </a:p>
        </p:txBody>
      </p:sp>
      <p:sp>
        <p:nvSpPr>
          <p:cNvPr id="8" name="Shape 6"/>
          <p:cNvSpPr/>
          <p:nvPr/>
        </p:nvSpPr>
        <p:spPr>
          <a:xfrm>
            <a:off x="346299" y="3006502"/>
            <a:ext cx="5646670" cy="2135031"/>
          </a:xfrm>
          <a:custGeom>
            <a:avLst/>
            <a:gdLst/>
            <a:ahLst/>
            <a:cxnLst/>
            <a:rect l="l" t="t" r="r" b="b"/>
            <a:pathLst>
              <a:path w="5646670" h="2135031">
                <a:moveTo>
                  <a:pt x="137368" y="0"/>
                </a:moveTo>
                <a:lnTo>
                  <a:pt x="5509303" y="0"/>
                </a:lnTo>
                <a:cubicBezTo>
                  <a:pt x="5585169" y="0"/>
                  <a:pt x="5646670" y="61502"/>
                  <a:pt x="5646670" y="137368"/>
                </a:cubicBezTo>
                <a:lnTo>
                  <a:pt x="5646670" y="1997663"/>
                </a:lnTo>
                <a:cubicBezTo>
                  <a:pt x="5646670" y="2073529"/>
                  <a:pt x="5585169" y="2135031"/>
                  <a:pt x="5509303" y="2135031"/>
                </a:cubicBezTo>
                <a:lnTo>
                  <a:pt x="137368" y="2135031"/>
                </a:lnTo>
                <a:cubicBezTo>
                  <a:pt x="61502" y="2135031"/>
                  <a:pt x="0" y="2073529"/>
                  <a:pt x="0" y="1997663"/>
                </a:cubicBezTo>
                <a:lnTo>
                  <a:pt x="0" y="137368"/>
                </a:lnTo>
                <a:cubicBezTo>
                  <a:pt x="0" y="61552"/>
                  <a:pt x="61552" y="0"/>
                  <a:pt x="137368" y="0"/>
                </a:cubicBezTo>
                <a:close/>
              </a:path>
            </a:pathLst>
          </a:custGeom>
          <a:solidFill>
            <a:srgbClr val="FFFFFF"/>
          </a:solidFill>
          <a:ln w="8467">
            <a:solidFill>
              <a:srgbClr val="E5E5E5"/>
            </a:solidFill>
            <a:prstDash val="solid"/>
          </a:ln>
          <a:effectLst>
            <a:outerShdw blurRad="25758" dist="8586" dir="5400000" algn="bl" rotWithShape="0">
              <a:srgbClr val="000000">
                <a:alpha val="10196"/>
              </a:srgbClr>
            </a:outerShdw>
          </a:effectLst>
        </p:spPr>
        <p:txBody>
          <a:bodyPr/>
          <a:lstStyle/>
          <a:p>
            <a:endParaRPr lang="zh-CN" altLang="en-US"/>
          </a:p>
        </p:txBody>
      </p:sp>
      <p:sp>
        <p:nvSpPr>
          <p:cNvPr id="9" name="Shape 7"/>
          <p:cNvSpPr/>
          <p:nvPr/>
        </p:nvSpPr>
        <p:spPr>
          <a:xfrm>
            <a:off x="587420" y="3249769"/>
            <a:ext cx="150254" cy="171718"/>
          </a:xfrm>
          <a:custGeom>
            <a:avLst/>
            <a:gdLst/>
            <a:ahLst/>
            <a:cxnLst/>
            <a:rect l="l" t="t" r="r" b="b"/>
            <a:pathLst>
              <a:path w="150254" h="171718">
                <a:moveTo>
                  <a:pt x="113629" y="-3320"/>
                </a:moveTo>
                <a:cubicBezTo>
                  <a:pt x="117620" y="-436"/>
                  <a:pt x="119096" y="4796"/>
                  <a:pt x="117285" y="9357"/>
                </a:cubicBezTo>
                <a:lnTo>
                  <a:pt x="90991" y="75127"/>
                </a:lnTo>
                <a:lnTo>
                  <a:pt x="139521" y="75127"/>
                </a:lnTo>
                <a:cubicBezTo>
                  <a:pt x="144049" y="75127"/>
                  <a:pt x="148074" y="77944"/>
                  <a:pt x="149616" y="82203"/>
                </a:cubicBezTo>
                <a:cubicBezTo>
                  <a:pt x="151159" y="86463"/>
                  <a:pt x="149851" y="91225"/>
                  <a:pt x="146397" y="94110"/>
                </a:cubicBezTo>
                <a:lnTo>
                  <a:pt x="49805" y="174603"/>
                </a:lnTo>
                <a:cubicBezTo>
                  <a:pt x="46015" y="177755"/>
                  <a:pt x="40615" y="177923"/>
                  <a:pt x="36624" y="175039"/>
                </a:cubicBezTo>
                <a:cubicBezTo>
                  <a:pt x="32633" y="172154"/>
                  <a:pt x="31157" y="166922"/>
                  <a:pt x="32969" y="162361"/>
                </a:cubicBezTo>
                <a:lnTo>
                  <a:pt x="59263" y="96592"/>
                </a:lnTo>
                <a:lnTo>
                  <a:pt x="10732" y="96592"/>
                </a:lnTo>
                <a:cubicBezTo>
                  <a:pt x="6205" y="96592"/>
                  <a:pt x="2180" y="93774"/>
                  <a:pt x="637" y="89515"/>
                </a:cubicBezTo>
                <a:cubicBezTo>
                  <a:pt x="-906" y="85255"/>
                  <a:pt x="402" y="80493"/>
                  <a:pt x="3857" y="77609"/>
                </a:cubicBezTo>
                <a:lnTo>
                  <a:pt x="100449" y="-2884"/>
                </a:lnTo>
                <a:cubicBezTo>
                  <a:pt x="104238" y="-6037"/>
                  <a:pt x="109638" y="-6205"/>
                  <a:pt x="113629" y="-3320"/>
                </a:cubicBezTo>
                <a:close/>
              </a:path>
            </a:pathLst>
          </a:custGeom>
          <a:solidFill>
            <a:srgbClr val="0071E3"/>
          </a:solidFill>
          <a:ln/>
        </p:spPr>
        <p:txBody>
          <a:bodyPr/>
          <a:lstStyle/>
          <a:p>
            <a:endParaRPr lang="zh-CN" altLang="en-US"/>
          </a:p>
        </p:txBody>
      </p:sp>
      <p:sp>
        <p:nvSpPr>
          <p:cNvPr id="10" name="Text 8"/>
          <p:cNvSpPr/>
          <p:nvPr/>
        </p:nvSpPr>
        <p:spPr>
          <a:xfrm>
            <a:off x="769870" y="3215425"/>
            <a:ext cx="5100034" cy="240406"/>
          </a:xfrm>
          <a:prstGeom prst="rect">
            <a:avLst/>
          </a:prstGeom>
          <a:noFill/>
          <a:ln/>
        </p:spPr>
        <p:txBody>
          <a:bodyPr wrap="square" lIns="0" tIns="0" rIns="0" bIns="0" rtlCol="0" anchor="ctr"/>
          <a:lstStyle/>
          <a:p>
            <a:pPr>
              <a:lnSpc>
                <a:spcPct val="120000"/>
              </a:lnSpc>
            </a:pPr>
            <a:r>
              <a:rPr lang="en-US" sz="1352" b="1" dirty="0">
                <a:solidFill>
                  <a:srgbClr val="1D1D1D"/>
                </a:solidFill>
                <a:latin typeface="MiSans" pitchFamily="34" charset="0"/>
                <a:ea typeface="MiSans" pitchFamily="34" charset="-122"/>
                <a:cs typeface="MiSans" pitchFamily="34" charset="-120"/>
              </a:rPr>
              <a:t>核心特征</a:t>
            </a:r>
            <a:endParaRPr lang="en-US" sz="1600" dirty="0"/>
          </a:p>
        </p:txBody>
      </p:sp>
      <p:sp>
        <p:nvSpPr>
          <p:cNvPr id="11" name="Shape 9"/>
          <p:cNvSpPr/>
          <p:nvPr/>
        </p:nvSpPr>
        <p:spPr>
          <a:xfrm>
            <a:off x="555223" y="3661893"/>
            <a:ext cx="68687" cy="68687"/>
          </a:xfrm>
          <a:custGeom>
            <a:avLst/>
            <a:gdLst/>
            <a:ahLst/>
            <a:cxnLst/>
            <a:rect l="l" t="t" r="r" b="b"/>
            <a:pathLst>
              <a:path w="68687" h="68687">
                <a:moveTo>
                  <a:pt x="34344" y="0"/>
                </a:moveTo>
                <a:lnTo>
                  <a:pt x="34344" y="0"/>
                </a:lnTo>
                <a:cubicBezTo>
                  <a:pt x="53311" y="0"/>
                  <a:pt x="68687" y="15376"/>
                  <a:pt x="68687" y="34344"/>
                </a:cubicBezTo>
                <a:lnTo>
                  <a:pt x="68687" y="34344"/>
                </a:lnTo>
                <a:cubicBezTo>
                  <a:pt x="68687" y="53311"/>
                  <a:pt x="53311" y="68687"/>
                  <a:pt x="34344" y="68687"/>
                </a:cubicBezTo>
                <a:lnTo>
                  <a:pt x="34344" y="68687"/>
                </a:lnTo>
                <a:cubicBezTo>
                  <a:pt x="15376" y="68687"/>
                  <a:pt x="0" y="53311"/>
                  <a:pt x="0" y="34344"/>
                </a:cubicBezTo>
                <a:lnTo>
                  <a:pt x="0" y="34344"/>
                </a:lnTo>
                <a:cubicBezTo>
                  <a:pt x="0" y="15376"/>
                  <a:pt x="15376" y="0"/>
                  <a:pt x="34344" y="0"/>
                </a:cubicBezTo>
                <a:close/>
              </a:path>
            </a:pathLst>
          </a:custGeom>
          <a:solidFill>
            <a:srgbClr val="0071E3"/>
          </a:solidFill>
          <a:ln/>
        </p:spPr>
        <p:txBody>
          <a:bodyPr/>
          <a:lstStyle/>
          <a:p>
            <a:endParaRPr lang="zh-CN" altLang="en-US"/>
          </a:p>
        </p:txBody>
      </p:sp>
      <p:sp>
        <p:nvSpPr>
          <p:cNvPr id="12" name="Text 10"/>
          <p:cNvSpPr/>
          <p:nvPr/>
        </p:nvSpPr>
        <p:spPr>
          <a:xfrm>
            <a:off x="726941" y="3593206"/>
            <a:ext cx="2112135" cy="206062"/>
          </a:xfrm>
          <a:prstGeom prst="rect">
            <a:avLst/>
          </a:prstGeom>
          <a:noFill/>
          <a:ln/>
        </p:spPr>
        <p:txBody>
          <a:bodyPr wrap="square" lIns="0" tIns="0" rIns="0" bIns="0" rtlCol="0" anchor="ctr"/>
          <a:lstStyle/>
          <a:p>
            <a:pPr>
              <a:lnSpc>
                <a:spcPct val="130000"/>
              </a:lnSpc>
            </a:pPr>
            <a:r>
              <a:rPr lang="en-US" sz="1082" b="1" dirty="0">
                <a:solidFill>
                  <a:srgbClr val="1D1D1D"/>
                </a:solidFill>
                <a:latin typeface="MiSans" pitchFamily="34" charset="0"/>
                <a:ea typeface="MiSans" pitchFamily="34" charset="-122"/>
                <a:cs typeface="MiSans" pitchFamily="34" charset="-120"/>
              </a:rPr>
              <a:t>自然语言驱动</a:t>
            </a:r>
            <a:endParaRPr lang="en-US" sz="1600" dirty="0"/>
          </a:p>
        </p:txBody>
      </p:sp>
      <p:sp>
        <p:nvSpPr>
          <p:cNvPr id="13" name="Text 11"/>
          <p:cNvSpPr/>
          <p:nvPr/>
        </p:nvSpPr>
        <p:spPr>
          <a:xfrm>
            <a:off x="726941" y="3799268"/>
            <a:ext cx="2103549" cy="171718"/>
          </a:xfrm>
          <a:prstGeom prst="rect">
            <a:avLst/>
          </a:prstGeom>
          <a:noFill/>
          <a:ln/>
        </p:spPr>
        <p:txBody>
          <a:bodyPr wrap="square" lIns="0" tIns="0" rIns="0" bIns="0" rtlCol="0" anchor="ctr"/>
          <a:lstStyle/>
          <a:p>
            <a:pPr>
              <a:lnSpc>
                <a:spcPct val="120000"/>
              </a:lnSpc>
            </a:pPr>
            <a:r>
              <a:rPr lang="en-US" sz="946" dirty="0">
                <a:solidFill>
                  <a:srgbClr val="86868B"/>
                </a:solidFill>
                <a:latin typeface="MiSans" pitchFamily="34" charset="0"/>
                <a:ea typeface="MiSans" pitchFamily="34" charset="-122"/>
                <a:cs typeface="MiSans" pitchFamily="34" charset="-120"/>
              </a:rPr>
              <a:t>用描述性语言表达需求，降低技术门槛</a:t>
            </a:r>
            <a:endParaRPr lang="en-US" sz="1600" dirty="0"/>
          </a:p>
        </p:txBody>
      </p:sp>
      <p:sp>
        <p:nvSpPr>
          <p:cNvPr id="14" name="Shape 12"/>
          <p:cNvSpPr/>
          <p:nvPr/>
        </p:nvSpPr>
        <p:spPr>
          <a:xfrm>
            <a:off x="555223" y="4142704"/>
            <a:ext cx="68687" cy="68687"/>
          </a:xfrm>
          <a:custGeom>
            <a:avLst/>
            <a:gdLst/>
            <a:ahLst/>
            <a:cxnLst/>
            <a:rect l="l" t="t" r="r" b="b"/>
            <a:pathLst>
              <a:path w="68687" h="68687">
                <a:moveTo>
                  <a:pt x="34344" y="0"/>
                </a:moveTo>
                <a:lnTo>
                  <a:pt x="34344" y="0"/>
                </a:lnTo>
                <a:cubicBezTo>
                  <a:pt x="53311" y="0"/>
                  <a:pt x="68687" y="15376"/>
                  <a:pt x="68687" y="34344"/>
                </a:cubicBezTo>
                <a:lnTo>
                  <a:pt x="68687" y="34344"/>
                </a:lnTo>
                <a:cubicBezTo>
                  <a:pt x="68687" y="53311"/>
                  <a:pt x="53311" y="68687"/>
                  <a:pt x="34344" y="68687"/>
                </a:cubicBezTo>
                <a:lnTo>
                  <a:pt x="34344" y="68687"/>
                </a:lnTo>
                <a:cubicBezTo>
                  <a:pt x="15376" y="68687"/>
                  <a:pt x="0" y="53311"/>
                  <a:pt x="0" y="34344"/>
                </a:cubicBezTo>
                <a:lnTo>
                  <a:pt x="0" y="34344"/>
                </a:lnTo>
                <a:cubicBezTo>
                  <a:pt x="0" y="15376"/>
                  <a:pt x="15376" y="0"/>
                  <a:pt x="34344" y="0"/>
                </a:cubicBezTo>
                <a:close/>
              </a:path>
            </a:pathLst>
          </a:custGeom>
          <a:solidFill>
            <a:srgbClr val="0071E3"/>
          </a:solidFill>
          <a:ln/>
        </p:spPr>
        <p:txBody>
          <a:bodyPr/>
          <a:lstStyle/>
          <a:p>
            <a:endParaRPr lang="zh-CN" altLang="en-US"/>
          </a:p>
        </p:txBody>
      </p:sp>
      <p:sp>
        <p:nvSpPr>
          <p:cNvPr id="15" name="Text 13"/>
          <p:cNvSpPr/>
          <p:nvPr/>
        </p:nvSpPr>
        <p:spPr>
          <a:xfrm>
            <a:off x="726941" y="4074017"/>
            <a:ext cx="2103549" cy="206062"/>
          </a:xfrm>
          <a:prstGeom prst="rect">
            <a:avLst/>
          </a:prstGeom>
          <a:noFill/>
          <a:ln/>
        </p:spPr>
        <p:txBody>
          <a:bodyPr wrap="square" lIns="0" tIns="0" rIns="0" bIns="0" rtlCol="0" anchor="ctr"/>
          <a:lstStyle/>
          <a:p>
            <a:pPr>
              <a:lnSpc>
                <a:spcPct val="130000"/>
              </a:lnSpc>
            </a:pPr>
            <a:r>
              <a:rPr lang="en-US" sz="1082" b="1" dirty="0">
                <a:solidFill>
                  <a:srgbClr val="1D1D1D"/>
                </a:solidFill>
                <a:latin typeface="MiSans" pitchFamily="34" charset="0"/>
                <a:ea typeface="MiSans" pitchFamily="34" charset="-122"/>
                <a:cs typeface="MiSans" pitchFamily="34" charset="-120"/>
              </a:rPr>
              <a:t>AI主导开发</a:t>
            </a:r>
            <a:endParaRPr lang="en-US" sz="1600" dirty="0"/>
          </a:p>
        </p:txBody>
      </p:sp>
      <p:sp>
        <p:nvSpPr>
          <p:cNvPr id="16" name="Text 14"/>
          <p:cNvSpPr/>
          <p:nvPr/>
        </p:nvSpPr>
        <p:spPr>
          <a:xfrm>
            <a:off x="726941" y="4280079"/>
            <a:ext cx="2094963" cy="171718"/>
          </a:xfrm>
          <a:prstGeom prst="rect">
            <a:avLst/>
          </a:prstGeom>
          <a:noFill/>
          <a:ln/>
        </p:spPr>
        <p:txBody>
          <a:bodyPr wrap="square" lIns="0" tIns="0" rIns="0" bIns="0" rtlCol="0" anchor="ctr"/>
          <a:lstStyle/>
          <a:p>
            <a:pPr>
              <a:lnSpc>
                <a:spcPct val="120000"/>
              </a:lnSpc>
            </a:pPr>
            <a:r>
              <a:rPr lang="en-US" sz="946" dirty="0">
                <a:solidFill>
                  <a:srgbClr val="86868B"/>
                </a:solidFill>
                <a:latin typeface="MiSans" pitchFamily="34" charset="0"/>
                <a:ea typeface="MiSans" pitchFamily="34" charset="-122"/>
                <a:cs typeface="MiSans" pitchFamily="34" charset="-120"/>
              </a:rPr>
              <a:t>AI负责大部分编码工作，人类聚焦设计</a:t>
            </a:r>
            <a:endParaRPr lang="en-US" sz="1600" dirty="0"/>
          </a:p>
        </p:txBody>
      </p:sp>
      <p:sp>
        <p:nvSpPr>
          <p:cNvPr id="17" name="Shape 15"/>
          <p:cNvSpPr/>
          <p:nvPr/>
        </p:nvSpPr>
        <p:spPr>
          <a:xfrm>
            <a:off x="555223" y="4623515"/>
            <a:ext cx="68687" cy="68687"/>
          </a:xfrm>
          <a:custGeom>
            <a:avLst/>
            <a:gdLst/>
            <a:ahLst/>
            <a:cxnLst/>
            <a:rect l="l" t="t" r="r" b="b"/>
            <a:pathLst>
              <a:path w="68687" h="68687">
                <a:moveTo>
                  <a:pt x="34344" y="0"/>
                </a:moveTo>
                <a:lnTo>
                  <a:pt x="34344" y="0"/>
                </a:lnTo>
                <a:cubicBezTo>
                  <a:pt x="53311" y="0"/>
                  <a:pt x="68687" y="15376"/>
                  <a:pt x="68687" y="34344"/>
                </a:cubicBezTo>
                <a:lnTo>
                  <a:pt x="68687" y="34344"/>
                </a:lnTo>
                <a:cubicBezTo>
                  <a:pt x="68687" y="53311"/>
                  <a:pt x="53311" y="68687"/>
                  <a:pt x="34344" y="68687"/>
                </a:cubicBezTo>
                <a:lnTo>
                  <a:pt x="34344" y="68687"/>
                </a:lnTo>
                <a:cubicBezTo>
                  <a:pt x="15376" y="68687"/>
                  <a:pt x="0" y="53311"/>
                  <a:pt x="0" y="34344"/>
                </a:cubicBezTo>
                <a:lnTo>
                  <a:pt x="0" y="34344"/>
                </a:lnTo>
                <a:cubicBezTo>
                  <a:pt x="0" y="15376"/>
                  <a:pt x="15376" y="0"/>
                  <a:pt x="34344" y="0"/>
                </a:cubicBezTo>
                <a:close/>
              </a:path>
            </a:pathLst>
          </a:custGeom>
          <a:solidFill>
            <a:srgbClr val="0071E3"/>
          </a:solidFill>
          <a:ln/>
        </p:spPr>
        <p:txBody>
          <a:bodyPr/>
          <a:lstStyle/>
          <a:p>
            <a:endParaRPr lang="zh-CN" altLang="en-US"/>
          </a:p>
        </p:txBody>
      </p:sp>
      <p:sp>
        <p:nvSpPr>
          <p:cNvPr id="18" name="Text 16"/>
          <p:cNvSpPr/>
          <p:nvPr/>
        </p:nvSpPr>
        <p:spPr>
          <a:xfrm>
            <a:off x="726941" y="4554828"/>
            <a:ext cx="2352541" cy="206062"/>
          </a:xfrm>
          <a:prstGeom prst="rect">
            <a:avLst/>
          </a:prstGeom>
          <a:noFill/>
          <a:ln/>
        </p:spPr>
        <p:txBody>
          <a:bodyPr wrap="square" lIns="0" tIns="0" rIns="0" bIns="0" rtlCol="0" anchor="ctr"/>
          <a:lstStyle/>
          <a:p>
            <a:pPr>
              <a:lnSpc>
                <a:spcPct val="130000"/>
              </a:lnSpc>
            </a:pPr>
            <a:r>
              <a:rPr lang="en-US" sz="1082" b="1" dirty="0">
                <a:solidFill>
                  <a:srgbClr val="1D1D1D"/>
                </a:solidFill>
                <a:latin typeface="MiSans" pitchFamily="34" charset="0"/>
                <a:ea typeface="MiSans" pitchFamily="34" charset="-122"/>
                <a:cs typeface="MiSans" pitchFamily="34" charset="-120"/>
              </a:rPr>
              <a:t>快速迭代</a:t>
            </a:r>
            <a:endParaRPr lang="en-US" sz="1600" dirty="0"/>
          </a:p>
        </p:txBody>
      </p:sp>
      <p:sp>
        <p:nvSpPr>
          <p:cNvPr id="19" name="Text 17"/>
          <p:cNvSpPr/>
          <p:nvPr/>
        </p:nvSpPr>
        <p:spPr>
          <a:xfrm>
            <a:off x="726941" y="4760890"/>
            <a:ext cx="2343955" cy="171718"/>
          </a:xfrm>
          <a:prstGeom prst="rect">
            <a:avLst/>
          </a:prstGeom>
          <a:noFill/>
          <a:ln/>
        </p:spPr>
        <p:txBody>
          <a:bodyPr wrap="square" lIns="0" tIns="0" rIns="0" bIns="0" rtlCol="0" anchor="ctr"/>
          <a:lstStyle/>
          <a:p>
            <a:pPr>
              <a:lnSpc>
                <a:spcPct val="120000"/>
              </a:lnSpc>
            </a:pPr>
            <a:r>
              <a:rPr lang="en-US" sz="946" dirty="0">
                <a:solidFill>
                  <a:srgbClr val="86868B"/>
                </a:solidFill>
                <a:latin typeface="MiSans" pitchFamily="34" charset="0"/>
                <a:ea typeface="MiSans" pitchFamily="34" charset="-122"/>
                <a:cs typeface="MiSans" pitchFamily="34" charset="-120"/>
              </a:rPr>
              <a:t>通过对话式提示不断调整，实现分钟级交付</a:t>
            </a:r>
            <a:endParaRPr lang="en-US" sz="1600" dirty="0"/>
          </a:p>
        </p:txBody>
      </p:sp>
      <p:sp>
        <p:nvSpPr>
          <p:cNvPr id="20" name="Shape 18"/>
          <p:cNvSpPr/>
          <p:nvPr/>
        </p:nvSpPr>
        <p:spPr>
          <a:xfrm>
            <a:off x="6203771" y="1136203"/>
            <a:ext cx="5646670" cy="2959279"/>
          </a:xfrm>
          <a:custGeom>
            <a:avLst/>
            <a:gdLst/>
            <a:ahLst/>
            <a:cxnLst/>
            <a:rect l="l" t="t" r="r" b="b"/>
            <a:pathLst>
              <a:path w="5646670" h="2959279">
                <a:moveTo>
                  <a:pt x="137370" y="0"/>
                </a:moveTo>
                <a:lnTo>
                  <a:pt x="5509301" y="0"/>
                </a:lnTo>
                <a:cubicBezTo>
                  <a:pt x="5585168" y="0"/>
                  <a:pt x="5646670" y="61503"/>
                  <a:pt x="5646670" y="137370"/>
                </a:cubicBezTo>
                <a:lnTo>
                  <a:pt x="5646670" y="2821909"/>
                </a:lnTo>
                <a:cubicBezTo>
                  <a:pt x="5646670" y="2897776"/>
                  <a:pt x="5585168" y="2959279"/>
                  <a:pt x="5509301" y="2959279"/>
                </a:cubicBezTo>
                <a:lnTo>
                  <a:pt x="137370" y="2959279"/>
                </a:lnTo>
                <a:cubicBezTo>
                  <a:pt x="61503" y="2959279"/>
                  <a:pt x="0" y="2897776"/>
                  <a:pt x="0" y="2821909"/>
                </a:cubicBezTo>
                <a:lnTo>
                  <a:pt x="0" y="137370"/>
                </a:lnTo>
                <a:cubicBezTo>
                  <a:pt x="0" y="61553"/>
                  <a:pt x="61553" y="0"/>
                  <a:pt x="137370" y="0"/>
                </a:cubicBezTo>
                <a:close/>
              </a:path>
            </a:pathLst>
          </a:custGeom>
          <a:solidFill>
            <a:srgbClr val="FFFFFF"/>
          </a:solidFill>
          <a:ln w="8467">
            <a:solidFill>
              <a:srgbClr val="E5E5E5"/>
            </a:solidFill>
            <a:prstDash val="solid"/>
          </a:ln>
          <a:effectLst>
            <a:outerShdw blurRad="25758" dist="8586" dir="5400000" algn="bl" rotWithShape="0">
              <a:srgbClr val="000000">
                <a:alpha val="10196"/>
              </a:srgbClr>
            </a:outerShdw>
          </a:effectLst>
        </p:spPr>
        <p:txBody>
          <a:bodyPr/>
          <a:lstStyle/>
          <a:p>
            <a:endParaRPr lang="zh-CN" altLang="en-US"/>
          </a:p>
        </p:txBody>
      </p:sp>
      <p:sp>
        <p:nvSpPr>
          <p:cNvPr id="21" name="Shape 19"/>
          <p:cNvSpPr/>
          <p:nvPr/>
        </p:nvSpPr>
        <p:spPr>
          <a:xfrm>
            <a:off x="6434160" y="1379471"/>
            <a:ext cx="171718" cy="171718"/>
          </a:xfrm>
          <a:custGeom>
            <a:avLst/>
            <a:gdLst/>
            <a:ahLst/>
            <a:cxnLst/>
            <a:rect l="l" t="t" r="r" b="b"/>
            <a:pathLst>
              <a:path w="171718" h="171718">
                <a:moveTo>
                  <a:pt x="21465" y="21465"/>
                </a:moveTo>
                <a:cubicBezTo>
                  <a:pt x="21465" y="15528"/>
                  <a:pt x="16669" y="10732"/>
                  <a:pt x="10732" y="10732"/>
                </a:cubicBezTo>
                <a:cubicBezTo>
                  <a:pt x="4796" y="10732"/>
                  <a:pt x="0" y="15528"/>
                  <a:pt x="0" y="21465"/>
                </a:cubicBezTo>
                <a:lnTo>
                  <a:pt x="0" y="134155"/>
                </a:lnTo>
                <a:cubicBezTo>
                  <a:pt x="0" y="148979"/>
                  <a:pt x="12007" y="160986"/>
                  <a:pt x="26831" y="160986"/>
                </a:cubicBezTo>
                <a:lnTo>
                  <a:pt x="160986" y="160986"/>
                </a:lnTo>
                <a:cubicBezTo>
                  <a:pt x="166922" y="160986"/>
                  <a:pt x="171718" y="156190"/>
                  <a:pt x="171718" y="150254"/>
                </a:cubicBezTo>
                <a:cubicBezTo>
                  <a:pt x="171718" y="144317"/>
                  <a:pt x="166922" y="139521"/>
                  <a:pt x="160986" y="139521"/>
                </a:cubicBezTo>
                <a:lnTo>
                  <a:pt x="26831" y="139521"/>
                </a:lnTo>
                <a:cubicBezTo>
                  <a:pt x="23880" y="139521"/>
                  <a:pt x="21465" y="137106"/>
                  <a:pt x="21465" y="134155"/>
                </a:cubicBezTo>
                <a:lnTo>
                  <a:pt x="21465" y="21465"/>
                </a:lnTo>
                <a:close/>
                <a:moveTo>
                  <a:pt x="157833" y="50509"/>
                </a:moveTo>
                <a:cubicBezTo>
                  <a:pt x="162026" y="46317"/>
                  <a:pt x="162026" y="39509"/>
                  <a:pt x="157833" y="35316"/>
                </a:cubicBezTo>
                <a:cubicBezTo>
                  <a:pt x="153641" y="31124"/>
                  <a:pt x="146833" y="31124"/>
                  <a:pt x="142640" y="35316"/>
                </a:cubicBezTo>
                <a:lnTo>
                  <a:pt x="107324" y="70666"/>
                </a:lnTo>
                <a:lnTo>
                  <a:pt x="88073" y="51448"/>
                </a:lnTo>
                <a:cubicBezTo>
                  <a:pt x="83880" y="47256"/>
                  <a:pt x="77072" y="47256"/>
                  <a:pt x="72880" y="51448"/>
                </a:cubicBezTo>
                <a:lnTo>
                  <a:pt x="40682" y="83646"/>
                </a:lnTo>
                <a:cubicBezTo>
                  <a:pt x="36490" y="87838"/>
                  <a:pt x="36490" y="94646"/>
                  <a:pt x="40682" y="98839"/>
                </a:cubicBezTo>
                <a:cubicBezTo>
                  <a:pt x="44875" y="103031"/>
                  <a:pt x="51683" y="103031"/>
                  <a:pt x="55876" y="98839"/>
                </a:cubicBezTo>
                <a:lnTo>
                  <a:pt x="80493" y="74221"/>
                </a:lnTo>
                <a:lnTo>
                  <a:pt x="99744" y="93472"/>
                </a:lnTo>
                <a:cubicBezTo>
                  <a:pt x="103937" y="97665"/>
                  <a:pt x="110745" y="97665"/>
                  <a:pt x="114937" y="93472"/>
                </a:cubicBezTo>
                <a:lnTo>
                  <a:pt x="157867" y="50543"/>
                </a:lnTo>
                <a:close/>
              </a:path>
            </a:pathLst>
          </a:custGeom>
          <a:solidFill>
            <a:srgbClr val="0071E3"/>
          </a:solidFill>
          <a:ln/>
        </p:spPr>
        <p:txBody>
          <a:bodyPr/>
          <a:lstStyle/>
          <a:p>
            <a:endParaRPr lang="zh-CN" altLang="en-US"/>
          </a:p>
        </p:txBody>
      </p:sp>
      <p:sp>
        <p:nvSpPr>
          <p:cNvPr id="22" name="Text 20"/>
          <p:cNvSpPr/>
          <p:nvPr/>
        </p:nvSpPr>
        <p:spPr>
          <a:xfrm>
            <a:off x="6627343" y="1345127"/>
            <a:ext cx="5100034" cy="240406"/>
          </a:xfrm>
          <a:prstGeom prst="rect">
            <a:avLst/>
          </a:prstGeom>
          <a:noFill/>
          <a:ln/>
        </p:spPr>
        <p:txBody>
          <a:bodyPr wrap="square" lIns="0" tIns="0" rIns="0" bIns="0" rtlCol="0" anchor="ctr"/>
          <a:lstStyle/>
          <a:p>
            <a:pPr>
              <a:lnSpc>
                <a:spcPct val="120000"/>
              </a:lnSpc>
            </a:pPr>
            <a:r>
              <a:rPr lang="en-US" sz="1352" b="1" dirty="0">
                <a:solidFill>
                  <a:srgbClr val="1D1D1D"/>
                </a:solidFill>
                <a:latin typeface="MiSans" pitchFamily="34" charset="0"/>
                <a:ea typeface="MiSans" pitchFamily="34" charset="-122"/>
                <a:cs typeface="MiSans" pitchFamily="34" charset="-120"/>
              </a:rPr>
              <a:t>2025-2026关键数据</a:t>
            </a:r>
            <a:endParaRPr lang="en-US" sz="1600" dirty="0"/>
          </a:p>
        </p:txBody>
      </p:sp>
      <p:sp>
        <p:nvSpPr>
          <p:cNvPr id="23" name="Shape 21"/>
          <p:cNvSpPr/>
          <p:nvPr/>
        </p:nvSpPr>
        <p:spPr>
          <a:xfrm>
            <a:off x="6412695" y="1757251"/>
            <a:ext cx="2541431" cy="995966"/>
          </a:xfrm>
          <a:custGeom>
            <a:avLst/>
            <a:gdLst/>
            <a:ahLst/>
            <a:cxnLst/>
            <a:rect l="l" t="t" r="r" b="b"/>
            <a:pathLst>
              <a:path w="2541431" h="995966">
                <a:moveTo>
                  <a:pt x="103033" y="0"/>
                </a:moveTo>
                <a:lnTo>
                  <a:pt x="2438398" y="0"/>
                </a:lnTo>
                <a:cubicBezTo>
                  <a:pt x="2495302" y="0"/>
                  <a:pt x="2541431" y="46129"/>
                  <a:pt x="2541431" y="103033"/>
                </a:cubicBezTo>
                <a:lnTo>
                  <a:pt x="2541431" y="892933"/>
                </a:lnTo>
                <a:cubicBezTo>
                  <a:pt x="2541431" y="949837"/>
                  <a:pt x="2495302" y="995966"/>
                  <a:pt x="2438398" y="995966"/>
                </a:cubicBezTo>
                <a:lnTo>
                  <a:pt x="103033" y="995966"/>
                </a:lnTo>
                <a:cubicBezTo>
                  <a:pt x="46129" y="995966"/>
                  <a:pt x="0" y="949837"/>
                  <a:pt x="0" y="892933"/>
                </a:cubicBezTo>
                <a:lnTo>
                  <a:pt x="0" y="103033"/>
                </a:lnTo>
                <a:cubicBezTo>
                  <a:pt x="0" y="46167"/>
                  <a:pt x="46167" y="0"/>
                  <a:pt x="103033" y="0"/>
                </a:cubicBezTo>
                <a:close/>
              </a:path>
            </a:pathLst>
          </a:custGeom>
          <a:solidFill>
            <a:srgbClr val="0071E3">
              <a:alpha val="5098"/>
            </a:srgbClr>
          </a:solidFill>
          <a:ln/>
        </p:spPr>
        <p:txBody>
          <a:bodyPr/>
          <a:lstStyle/>
          <a:p>
            <a:endParaRPr lang="zh-CN" altLang="en-US"/>
          </a:p>
        </p:txBody>
      </p:sp>
      <p:sp>
        <p:nvSpPr>
          <p:cNvPr id="24" name="Text 22"/>
          <p:cNvSpPr/>
          <p:nvPr/>
        </p:nvSpPr>
        <p:spPr>
          <a:xfrm>
            <a:off x="6472797" y="1894626"/>
            <a:ext cx="2421228" cy="343437"/>
          </a:xfrm>
          <a:prstGeom prst="rect">
            <a:avLst/>
          </a:prstGeom>
          <a:noFill/>
          <a:ln/>
        </p:spPr>
        <p:txBody>
          <a:bodyPr wrap="square" lIns="0" tIns="0" rIns="0" bIns="0" rtlCol="0" anchor="ctr"/>
          <a:lstStyle/>
          <a:p>
            <a:pPr algn="ctr">
              <a:lnSpc>
                <a:spcPct val="90000"/>
              </a:lnSpc>
            </a:pPr>
            <a:r>
              <a:rPr lang="en-US" sz="2434" b="1" dirty="0">
                <a:solidFill>
                  <a:srgbClr val="0071E3"/>
                </a:solidFill>
                <a:latin typeface="MiSans" pitchFamily="34" charset="0"/>
                <a:ea typeface="MiSans" pitchFamily="34" charset="-122"/>
                <a:cs typeface="MiSans" pitchFamily="34" charset="-120"/>
              </a:rPr>
              <a:t>92%</a:t>
            </a:r>
            <a:endParaRPr lang="en-US" sz="1600" dirty="0"/>
          </a:p>
        </p:txBody>
      </p:sp>
      <p:sp>
        <p:nvSpPr>
          <p:cNvPr id="25" name="Text 23"/>
          <p:cNvSpPr/>
          <p:nvPr/>
        </p:nvSpPr>
        <p:spPr>
          <a:xfrm>
            <a:off x="6520019" y="2272406"/>
            <a:ext cx="2326783" cy="343437"/>
          </a:xfrm>
          <a:prstGeom prst="rect">
            <a:avLst/>
          </a:prstGeom>
          <a:noFill/>
          <a:ln/>
        </p:spPr>
        <p:txBody>
          <a:bodyPr wrap="square" lIns="0" tIns="0" rIns="0" bIns="0" rtlCol="0" anchor="ctr"/>
          <a:lstStyle/>
          <a:p>
            <a:pPr algn="ctr">
              <a:lnSpc>
                <a:spcPct val="120000"/>
              </a:lnSpc>
            </a:pPr>
            <a:r>
              <a:rPr lang="en-US" sz="946" dirty="0">
                <a:solidFill>
                  <a:srgbClr val="86868B"/>
                </a:solidFill>
                <a:latin typeface="MiSans" pitchFamily="34" charset="0"/>
                <a:ea typeface="MiSans" pitchFamily="34" charset="-122"/>
                <a:cs typeface="MiSans" pitchFamily="34" charset="-120"/>
              </a:rPr>
              <a:t>开发者日均使用率</a:t>
            </a:r>
            <a:endParaRPr lang="en-US" sz="1600" dirty="0"/>
          </a:p>
          <a:p>
            <a:pPr algn="ctr">
              <a:lnSpc>
                <a:spcPct val="120000"/>
              </a:lnSpc>
            </a:pPr>
            <a:r>
              <a:rPr lang="en-US" sz="811" dirty="0">
                <a:solidFill>
                  <a:srgbClr val="86868B"/>
                </a:solidFill>
                <a:latin typeface="MiSans" pitchFamily="34" charset="0"/>
                <a:ea typeface="MiSans" pitchFamily="34" charset="-122"/>
                <a:cs typeface="MiSans" pitchFamily="34" charset="-120"/>
              </a:rPr>
              <a:t>(美国开发者)</a:t>
            </a:r>
            <a:endParaRPr lang="en-US" sz="1600" dirty="0"/>
          </a:p>
        </p:txBody>
      </p:sp>
      <p:sp>
        <p:nvSpPr>
          <p:cNvPr id="26" name="Shape 24"/>
          <p:cNvSpPr/>
          <p:nvPr/>
        </p:nvSpPr>
        <p:spPr>
          <a:xfrm>
            <a:off x="9095258" y="1757251"/>
            <a:ext cx="2541431" cy="995966"/>
          </a:xfrm>
          <a:custGeom>
            <a:avLst/>
            <a:gdLst/>
            <a:ahLst/>
            <a:cxnLst/>
            <a:rect l="l" t="t" r="r" b="b"/>
            <a:pathLst>
              <a:path w="2541431" h="995966">
                <a:moveTo>
                  <a:pt x="103033" y="0"/>
                </a:moveTo>
                <a:lnTo>
                  <a:pt x="2438398" y="0"/>
                </a:lnTo>
                <a:cubicBezTo>
                  <a:pt x="2495302" y="0"/>
                  <a:pt x="2541431" y="46129"/>
                  <a:pt x="2541431" y="103033"/>
                </a:cubicBezTo>
                <a:lnTo>
                  <a:pt x="2541431" y="892933"/>
                </a:lnTo>
                <a:cubicBezTo>
                  <a:pt x="2541431" y="949837"/>
                  <a:pt x="2495302" y="995966"/>
                  <a:pt x="2438398" y="995966"/>
                </a:cubicBezTo>
                <a:lnTo>
                  <a:pt x="103033" y="995966"/>
                </a:lnTo>
                <a:cubicBezTo>
                  <a:pt x="46129" y="995966"/>
                  <a:pt x="0" y="949837"/>
                  <a:pt x="0" y="892933"/>
                </a:cubicBezTo>
                <a:lnTo>
                  <a:pt x="0" y="103033"/>
                </a:lnTo>
                <a:cubicBezTo>
                  <a:pt x="0" y="46167"/>
                  <a:pt x="46167" y="0"/>
                  <a:pt x="103033" y="0"/>
                </a:cubicBezTo>
                <a:close/>
              </a:path>
            </a:pathLst>
          </a:custGeom>
          <a:solidFill>
            <a:srgbClr val="0071E3">
              <a:alpha val="5098"/>
            </a:srgbClr>
          </a:solidFill>
          <a:ln/>
        </p:spPr>
        <p:txBody>
          <a:bodyPr/>
          <a:lstStyle/>
          <a:p>
            <a:endParaRPr lang="zh-CN" altLang="en-US"/>
          </a:p>
        </p:txBody>
      </p:sp>
      <p:sp>
        <p:nvSpPr>
          <p:cNvPr id="27" name="Text 25"/>
          <p:cNvSpPr/>
          <p:nvPr/>
        </p:nvSpPr>
        <p:spPr>
          <a:xfrm>
            <a:off x="9155359" y="1894626"/>
            <a:ext cx="2421228" cy="343437"/>
          </a:xfrm>
          <a:prstGeom prst="rect">
            <a:avLst/>
          </a:prstGeom>
          <a:noFill/>
          <a:ln/>
        </p:spPr>
        <p:txBody>
          <a:bodyPr wrap="square" lIns="0" tIns="0" rIns="0" bIns="0" rtlCol="0" anchor="ctr"/>
          <a:lstStyle/>
          <a:p>
            <a:pPr algn="ctr">
              <a:lnSpc>
                <a:spcPct val="90000"/>
              </a:lnSpc>
            </a:pPr>
            <a:r>
              <a:rPr lang="en-US" sz="2434" b="1" dirty="0">
                <a:solidFill>
                  <a:srgbClr val="0071E3"/>
                </a:solidFill>
                <a:latin typeface="MiSans" pitchFamily="34" charset="0"/>
                <a:ea typeface="MiSans" pitchFamily="34" charset="-122"/>
                <a:cs typeface="MiSans" pitchFamily="34" charset="-120"/>
              </a:rPr>
              <a:t>41%</a:t>
            </a:r>
            <a:endParaRPr lang="en-US" sz="1600" dirty="0"/>
          </a:p>
        </p:txBody>
      </p:sp>
      <p:sp>
        <p:nvSpPr>
          <p:cNvPr id="28" name="Text 26"/>
          <p:cNvSpPr/>
          <p:nvPr/>
        </p:nvSpPr>
        <p:spPr>
          <a:xfrm>
            <a:off x="9202582" y="2272406"/>
            <a:ext cx="2326783" cy="343437"/>
          </a:xfrm>
          <a:prstGeom prst="rect">
            <a:avLst/>
          </a:prstGeom>
          <a:noFill/>
          <a:ln/>
        </p:spPr>
        <p:txBody>
          <a:bodyPr wrap="square" lIns="0" tIns="0" rIns="0" bIns="0" rtlCol="0" anchor="ctr"/>
          <a:lstStyle/>
          <a:p>
            <a:pPr algn="ctr">
              <a:lnSpc>
                <a:spcPct val="120000"/>
              </a:lnSpc>
            </a:pPr>
            <a:r>
              <a:rPr lang="en-US" sz="946" dirty="0">
                <a:solidFill>
                  <a:srgbClr val="86868B"/>
                </a:solidFill>
                <a:latin typeface="MiSans" pitchFamily="34" charset="0"/>
                <a:ea typeface="MiSans" pitchFamily="34" charset="-122"/>
                <a:cs typeface="MiSans" pitchFamily="34" charset="-120"/>
              </a:rPr>
              <a:t>AI生成代码占比</a:t>
            </a:r>
            <a:endParaRPr lang="en-US" sz="1600" dirty="0"/>
          </a:p>
          <a:p>
            <a:pPr algn="ctr">
              <a:lnSpc>
                <a:spcPct val="120000"/>
              </a:lnSpc>
            </a:pPr>
            <a:r>
              <a:rPr lang="en-US" sz="811" dirty="0">
                <a:solidFill>
                  <a:srgbClr val="86868B"/>
                </a:solidFill>
                <a:latin typeface="MiSans" pitchFamily="34" charset="0"/>
                <a:ea typeface="MiSans" pitchFamily="34" charset="-122"/>
                <a:cs typeface="MiSans" pitchFamily="34" charset="-120"/>
              </a:rPr>
              <a:t>(全年2560亿行)</a:t>
            </a:r>
            <a:endParaRPr lang="en-US" sz="1600" dirty="0"/>
          </a:p>
        </p:txBody>
      </p:sp>
      <p:sp>
        <p:nvSpPr>
          <p:cNvPr id="29" name="Shape 27"/>
          <p:cNvSpPr/>
          <p:nvPr/>
        </p:nvSpPr>
        <p:spPr>
          <a:xfrm>
            <a:off x="6412695" y="2890592"/>
            <a:ext cx="2541431" cy="995966"/>
          </a:xfrm>
          <a:custGeom>
            <a:avLst/>
            <a:gdLst/>
            <a:ahLst/>
            <a:cxnLst/>
            <a:rect l="l" t="t" r="r" b="b"/>
            <a:pathLst>
              <a:path w="2541431" h="995966">
                <a:moveTo>
                  <a:pt x="103033" y="0"/>
                </a:moveTo>
                <a:lnTo>
                  <a:pt x="2438398" y="0"/>
                </a:lnTo>
                <a:cubicBezTo>
                  <a:pt x="2495302" y="0"/>
                  <a:pt x="2541431" y="46129"/>
                  <a:pt x="2541431" y="103033"/>
                </a:cubicBezTo>
                <a:lnTo>
                  <a:pt x="2541431" y="892933"/>
                </a:lnTo>
                <a:cubicBezTo>
                  <a:pt x="2541431" y="949837"/>
                  <a:pt x="2495302" y="995966"/>
                  <a:pt x="2438398" y="995966"/>
                </a:cubicBezTo>
                <a:lnTo>
                  <a:pt x="103033" y="995966"/>
                </a:lnTo>
                <a:cubicBezTo>
                  <a:pt x="46129" y="995966"/>
                  <a:pt x="0" y="949837"/>
                  <a:pt x="0" y="892933"/>
                </a:cubicBezTo>
                <a:lnTo>
                  <a:pt x="0" y="103033"/>
                </a:lnTo>
                <a:cubicBezTo>
                  <a:pt x="0" y="46167"/>
                  <a:pt x="46167" y="0"/>
                  <a:pt x="103033" y="0"/>
                </a:cubicBezTo>
                <a:close/>
              </a:path>
            </a:pathLst>
          </a:custGeom>
          <a:solidFill>
            <a:srgbClr val="0071E3">
              <a:alpha val="5098"/>
            </a:srgbClr>
          </a:solidFill>
          <a:ln/>
        </p:spPr>
        <p:txBody>
          <a:bodyPr/>
          <a:lstStyle/>
          <a:p>
            <a:endParaRPr lang="zh-CN" altLang="en-US"/>
          </a:p>
        </p:txBody>
      </p:sp>
      <p:sp>
        <p:nvSpPr>
          <p:cNvPr id="30" name="Text 28"/>
          <p:cNvSpPr/>
          <p:nvPr/>
        </p:nvSpPr>
        <p:spPr>
          <a:xfrm>
            <a:off x="6472797" y="3027967"/>
            <a:ext cx="2421228" cy="343437"/>
          </a:xfrm>
          <a:prstGeom prst="rect">
            <a:avLst/>
          </a:prstGeom>
          <a:noFill/>
          <a:ln/>
        </p:spPr>
        <p:txBody>
          <a:bodyPr wrap="square" lIns="0" tIns="0" rIns="0" bIns="0" rtlCol="0" anchor="ctr"/>
          <a:lstStyle/>
          <a:p>
            <a:pPr algn="ctr">
              <a:lnSpc>
                <a:spcPct val="90000"/>
              </a:lnSpc>
            </a:pPr>
            <a:r>
              <a:rPr lang="en-US" sz="2434" b="1" dirty="0">
                <a:solidFill>
                  <a:srgbClr val="0071E3"/>
                </a:solidFill>
                <a:latin typeface="MiSans" pitchFamily="34" charset="0"/>
                <a:ea typeface="MiSans" pitchFamily="34" charset="-122"/>
                <a:cs typeface="MiSans" pitchFamily="34" charset="-120"/>
              </a:rPr>
              <a:t>75%</a:t>
            </a:r>
            <a:endParaRPr lang="en-US" sz="1600" dirty="0"/>
          </a:p>
        </p:txBody>
      </p:sp>
      <p:sp>
        <p:nvSpPr>
          <p:cNvPr id="31" name="Text 29"/>
          <p:cNvSpPr/>
          <p:nvPr/>
        </p:nvSpPr>
        <p:spPr>
          <a:xfrm>
            <a:off x="6520019" y="3405747"/>
            <a:ext cx="2326783" cy="343437"/>
          </a:xfrm>
          <a:prstGeom prst="rect">
            <a:avLst/>
          </a:prstGeom>
          <a:noFill/>
          <a:ln/>
        </p:spPr>
        <p:txBody>
          <a:bodyPr wrap="square" lIns="0" tIns="0" rIns="0" bIns="0" rtlCol="0" anchor="ctr"/>
          <a:lstStyle/>
          <a:p>
            <a:pPr algn="ctr">
              <a:lnSpc>
                <a:spcPct val="120000"/>
              </a:lnSpc>
            </a:pPr>
            <a:r>
              <a:rPr lang="en-US" sz="946" dirty="0">
                <a:solidFill>
                  <a:srgbClr val="86868B"/>
                </a:solidFill>
                <a:latin typeface="MiSans" pitchFamily="34" charset="0"/>
                <a:ea typeface="MiSans" pitchFamily="34" charset="-122"/>
                <a:cs typeface="MiSans" pitchFamily="34" charset="-120"/>
              </a:rPr>
              <a:t>财富500强</a:t>
            </a:r>
            <a:endParaRPr lang="en-US" sz="1600" dirty="0"/>
          </a:p>
          <a:p>
            <a:pPr algn="ctr">
              <a:lnSpc>
                <a:spcPct val="120000"/>
              </a:lnSpc>
            </a:pPr>
            <a:r>
              <a:rPr lang="en-US" sz="946" dirty="0">
                <a:solidFill>
                  <a:srgbClr val="86868B"/>
                </a:solidFill>
                <a:latin typeface="MiSans" pitchFamily="34" charset="0"/>
                <a:ea typeface="MiSans" pitchFamily="34" charset="-122"/>
                <a:cs typeface="MiSans" pitchFamily="34" charset="-120"/>
              </a:rPr>
              <a:t>企业渗透率</a:t>
            </a:r>
            <a:endParaRPr lang="en-US" sz="1600" dirty="0"/>
          </a:p>
        </p:txBody>
      </p:sp>
      <p:sp>
        <p:nvSpPr>
          <p:cNvPr id="32" name="Shape 30"/>
          <p:cNvSpPr/>
          <p:nvPr/>
        </p:nvSpPr>
        <p:spPr>
          <a:xfrm>
            <a:off x="9095258" y="2890592"/>
            <a:ext cx="2541431" cy="995966"/>
          </a:xfrm>
          <a:custGeom>
            <a:avLst/>
            <a:gdLst/>
            <a:ahLst/>
            <a:cxnLst/>
            <a:rect l="l" t="t" r="r" b="b"/>
            <a:pathLst>
              <a:path w="2541431" h="995966">
                <a:moveTo>
                  <a:pt x="103033" y="0"/>
                </a:moveTo>
                <a:lnTo>
                  <a:pt x="2438398" y="0"/>
                </a:lnTo>
                <a:cubicBezTo>
                  <a:pt x="2495302" y="0"/>
                  <a:pt x="2541431" y="46129"/>
                  <a:pt x="2541431" y="103033"/>
                </a:cubicBezTo>
                <a:lnTo>
                  <a:pt x="2541431" y="892933"/>
                </a:lnTo>
                <a:cubicBezTo>
                  <a:pt x="2541431" y="949837"/>
                  <a:pt x="2495302" y="995966"/>
                  <a:pt x="2438398" y="995966"/>
                </a:cubicBezTo>
                <a:lnTo>
                  <a:pt x="103033" y="995966"/>
                </a:lnTo>
                <a:cubicBezTo>
                  <a:pt x="46129" y="995966"/>
                  <a:pt x="0" y="949837"/>
                  <a:pt x="0" y="892933"/>
                </a:cubicBezTo>
                <a:lnTo>
                  <a:pt x="0" y="103033"/>
                </a:lnTo>
                <a:cubicBezTo>
                  <a:pt x="0" y="46167"/>
                  <a:pt x="46167" y="0"/>
                  <a:pt x="103033" y="0"/>
                </a:cubicBezTo>
                <a:close/>
              </a:path>
            </a:pathLst>
          </a:custGeom>
          <a:solidFill>
            <a:srgbClr val="0071E3">
              <a:alpha val="5098"/>
            </a:srgbClr>
          </a:solidFill>
          <a:ln/>
        </p:spPr>
        <p:txBody>
          <a:bodyPr/>
          <a:lstStyle/>
          <a:p>
            <a:endParaRPr lang="zh-CN" altLang="en-US"/>
          </a:p>
        </p:txBody>
      </p:sp>
      <p:sp>
        <p:nvSpPr>
          <p:cNvPr id="33" name="Text 31"/>
          <p:cNvSpPr/>
          <p:nvPr/>
        </p:nvSpPr>
        <p:spPr>
          <a:xfrm>
            <a:off x="9155359" y="3027967"/>
            <a:ext cx="2421228" cy="343437"/>
          </a:xfrm>
          <a:prstGeom prst="rect">
            <a:avLst/>
          </a:prstGeom>
          <a:noFill/>
          <a:ln/>
        </p:spPr>
        <p:txBody>
          <a:bodyPr wrap="square" lIns="0" tIns="0" rIns="0" bIns="0" rtlCol="0" anchor="ctr"/>
          <a:lstStyle/>
          <a:p>
            <a:pPr algn="ctr">
              <a:lnSpc>
                <a:spcPct val="90000"/>
              </a:lnSpc>
            </a:pPr>
            <a:r>
              <a:rPr lang="en-US" sz="2434" b="1" dirty="0">
                <a:solidFill>
                  <a:srgbClr val="0071E3"/>
                </a:solidFill>
                <a:latin typeface="MiSans" pitchFamily="34" charset="0"/>
                <a:ea typeface="MiSans" pitchFamily="34" charset="-122"/>
                <a:cs typeface="MiSans" pitchFamily="34" charset="-120"/>
              </a:rPr>
              <a:t>4%</a:t>
            </a:r>
            <a:endParaRPr lang="en-US" sz="1600" dirty="0"/>
          </a:p>
        </p:txBody>
      </p:sp>
      <p:sp>
        <p:nvSpPr>
          <p:cNvPr id="34" name="Text 32"/>
          <p:cNvSpPr/>
          <p:nvPr/>
        </p:nvSpPr>
        <p:spPr>
          <a:xfrm>
            <a:off x="9202582" y="3405747"/>
            <a:ext cx="2326783" cy="343437"/>
          </a:xfrm>
          <a:prstGeom prst="rect">
            <a:avLst/>
          </a:prstGeom>
          <a:noFill/>
          <a:ln/>
        </p:spPr>
        <p:txBody>
          <a:bodyPr wrap="square" lIns="0" tIns="0" rIns="0" bIns="0" rtlCol="0" anchor="ctr"/>
          <a:lstStyle/>
          <a:p>
            <a:pPr algn="ctr">
              <a:lnSpc>
                <a:spcPct val="120000"/>
              </a:lnSpc>
            </a:pPr>
            <a:r>
              <a:rPr lang="en-US" sz="946" dirty="0">
                <a:solidFill>
                  <a:srgbClr val="86868B"/>
                </a:solidFill>
                <a:latin typeface="MiSans" pitchFamily="34" charset="0"/>
                <a:ea typeface="MiSans" pitchFamily="34" charset="-122"/>
                <a:cs typeface="MiSans" pitchFamily="34" charset="-120"/>
              </a:rPr>
              <a:t>Claude Code提交</a:t>
            </a:r>
            <a:endParaRPr lang="en-US" sz="1600" dirty="0"/>
          </a:p>
          <a:p>
            <a:pPr algn="ctr">
              <a:lnSpc>
                <a:spcPct val="120000"/>
              </a:lnSpc>
            </a:pPr>
            <a:r>
              <a:rPr lang="en-US" sz="946" dirty="0">
                <a:solidFill>
                  <a:srgbClr val="86868B"/>
                </a:solidFill>
                <a:latin typeface="MiSans" pitchFamily="34" charset="0"/>
                <a:ea typeface="MiSans" pitchFamily="34" charset="-122"/>
                <a:cs typeface="MiSans" pitchFamily="34" charset="-120"/>
              </a:rPr>
              <a:t>占GitHub总共</a:t>
            </a:r>
            <a:endParaRPr lang="en-US" sz="1600" dirty="0"/>
          </a:p>
        </p:txBody>
      </p:sp>
      <p:sp>
        <p:nvSpPr>
          <p:cNvPr id="35" name="Shape 33"/>
          <p:cNvSpPr/>
          <p:nvPr/>
        </p:nvSpPr>
        <p:spPr>
          <a:xfrm>
            <a:off x="6218081" y="4270062"/>
            <a:ext cx="5632361" cy="1579808"/>
          </a:xfrm>
          <a:custGeom>
            <a:avLst/>
            <a:gdLst/>
            <a:ahLst/>
            <a:cxnLst/>
            <a:rect l="l" t="t" r="r" b="b"/>
            <a:pathLst>
              <a:path w="5632361" h="1579808">
                <a:moveTo>
                  <a:pt x="34344" y="0"/>
                </a:moveTo>
                <a:lnTo>
                  <a:pt x="5494980" y="0"/>
                </a:lnTo>
                <a:cubicBezTo>
                  <a:pt x="5570853" y="0"/>
                  <a:pt x="5632361" y="61507"/>
                  <a:pt x="5632361" y="137380"/>
                </a:cubicBezTo>
                <a:lnTo>
                  <a:pt x="5632361" y="1442428"/>
                </a:lnTo>
                <a:cubicBezTo>
                  <a:pt x="5632361" y="1518301"/>
                  <a:pt x="5570853" y="1579808"/>
                  <a:pt x="5494980" y="1579808"/>
                </a:cubicBezTo>
                <a:lnTo>
                  <a:pt x="34344" y="1579808"/>
                </a:lnTo>
                <a:cubicBezTo>
                  <a:pt x="15376" y="1579808"/>
                  <a:pt x="0" y="1564432"/>
                  <a:pt x="0" y="1545465"/>
                </a:cubicBezTo>
                <a:lnTo>
                  <a:pt x="0" y="34344"/>
                </a:lnTo>
                <a:cubicBezTo>
                  <a:pt x="0" y="15389"/>
                  <a:pt x="15389" y="0"/>
                  <a:pt x="34344" y="0"/>
                </a:cubicBezTo>
                <a:close/>
              </a:path>
            </a:pathLst>
          </a:custGeom>
          <a:gradFill flip="none" rotWithShape="1">
            <a:gsLst>
              <a:gs pos="0">
                <a:srgbClr val="0071E3">
                  <a:alpha val="10000"/>
                </a:srgbClr>
              </a:gs>
              <a:gs pos="100000">
                <a:srgbClr val="000000">
                  <a:alpha val="0"/>
                </a:srgbClr>
              </a:gs>
            </a:gsLst>
            <a:lin ang="0" scaled="1"/>
          </a:gradFill>
          <a:ln/>
        </p:spPr>
        <p:txBody>
          <a:bodyPr/>
          <a:lstStyle/>
          <a:p>
            <a:endParaRPr lang="zh-CN" altLang="en-US"/>
          </a:p>
        </p:txBody>
      </p:sp>
      <p:sp>
        <p:nvSpPr>
          <p:cNvPr id="36" name="Shape 34"/>
          <p:cNvSpPr/>
          <p:nvPr/>
        </p:nvSpPr>
        <p:spPr>
          <a:xfrm>
            <a:off x="6218081" y="4270062"/>
            <a:ext cx="34344" cy="1579808"/>
          </a:xfrm>
          <a:custGeom>
            <a:avLst/>
            <a:gdLst/>
            <a:ahLst/>
            <a:cxnLst/>
            <a:rect l="l" t="t" r="r" b="b"/>
            <a:pathLst>
              <a:path w="34344" h="1579808">
                <a:moveTo>
                  <a:pt x="34344" y="0"/>
                </a:moveTo>
                <a:lnTo>
                  <a:pt x="34344" y="0"/>
                </a:lnTo>
                <a:lnTo>
                  <a:pt x="34344" y="1579808"/>
                </a:lnTo>
                <a:lnTo>
                  <a:pt x="34344" y="1579808"/>
                </a:lnTo>
                <a:cubicBezTo>
                  <a:pt x="15376" y="1579808"/>
                  <a:pt x="0" y="1564432"/>
                  <a:pt x="0" y="1545465"/>
                </a:cubicBezTo>
                <a:lnTo>
                  <a:pt x="0" y="34344"/>
                </a:lnTo>
                <a:cubicBezTo>
                  <a:pt x="0" y="15376"/>
                  <a:pt x="15376" y="0"/>
                  <a:pt x="34344" y="0"/>
                </a:cubicBezTo>
                <a:close/>
              </a:path>
            </a:pathLst>
          </a:custGeom>
          <a:solidFill>
            <a:srgbClr val="0071E3"/>
          </a:solidFill>
          <a:ln/>
        </p:spPr>
        <p:txBody>
          <a:bodyPr/>
          <a:lstStyle/>
          <a:p>
            <a:endParaRPr lang="zh-CN" altLang="en-US"/>
          </a:p>
        </p:txBody>
      </p:sp>
      <p:sp>
        <p:nvSpPr>
          <p:cNvPr id="37" name="Shape 35"/>
          <p:cNvSpPr/>
          <p:nvPr/>
        </p:nvSpPr>
        <p:spPr>
          <a:xfrm>
            <a:off x="6428436" y="4484710"/>
            <a:ext cx="154546" cy="154546"/>
          </a:xfrm>
          <a:custGeom>
            <a:avLst/>
            <a:gdLst/>
            <a:ahLst/>
            <a:cxnLst/>
            <a:rect l="l" t="t" r="r" b="b"/>
            <a:pathLst>
              <a:path w="154546" h="154546">
                <a:moveTo>
                  <a:pt x="38637" y="96592"/>
                </a:moveTo>
                <a:lnTo>
                  <a:pt x="7395" y="96592"/>
                </a:lnTo>
                <a:cubicBezTo>
                  <a:pt x="-121" y="96592"/>
                  <a:pt x="-4739" y="88411"/>
                  <a:pt x="-875" y="81952"/>
                </a:cubicBezTo>
                <a:lnTo>
                  <a:pt x="15092" y="55329"/>
                </a:lnTo>
                <a:cubicBezTo>
                  <a:pt x="17719" y="50952"/>
                  <a:pt x="22427" y="48296"/>
                  <a:pt x="27529" y="48296"/>
                </a:cubicBezTo>
                <a:lnTo>
                  <a:pt x="56204" y="48296"/>
                </a:lnTo>
                <a:cubicBezTo>
                  <a:pt x="79175" y="9387"/>
                  <a:pt x="113435" y="7425"/>
                  <a:pt x="136345" y="10776"/>
                </a:cubicBezTo>
                <a:cubicBezTo>
                  <a:pt x="140209" y="11350"/>
                  <a:pt x="143227" y="14368"/>
                  <a:pt x="143770" y="18201"/>
                </a:cubicBezTo>
                <a:cubicBezTo>
                  <a:pt x="147121" y="41112"/>
                  <a:pt x="145159" y="75372"/>
                  <a:pt x="106251" y="98342"/>
                </a:cubicBezTo>
                <a:lnTo>
                  <a:pt x="106251" y="127018"/>
                </a:lnTo>
                <a:cubicBezTo>
                  <a:pt x="106251" y="132119"/>
                  <a:pt x="103594" y="136828"/>
                  <a:pt x="99218" y="139454"/>
                </a:cubicBezTo>
                <a:lnTo>
                  <a:pt x="72595" y="155422"/>
                </a:lnTo>
                <a:cubicBezTo>
                  <a:pt x="66165" y="159286"/>
                  <a:pt x="57955" y="154637"/>
                  <a:pt x="57955" y="147151"/>
                </a:cubicBezTo>
                <a:lnTo>
                  <a:pt x="57955" y="115910"/>
                </a:lnTo>
                <a:cubicBezTo>
                  <a:pt x="57955" y="105255"/>
                  <a:pt x="49292" y="96592"/>
                  <a:pt x="38637" y="96592"/>
                </a:cubicBezTo>
                <a:lnTo>
                  <a:pt x="38606" y="96592"/>
                </a:lnTo>
                <a:close/>
                <a:moveTo>
                  <a:pt x="120739" y="48296"/>
                </a:moveTo>
                <a:cubicBezTo>
                  <a:pt x="120739" y="40299"/>
                  <a:pt x="114247" y="33807"/>
                  <a:pt x="106251" y="33807"/>
                </a:cubicBezTo>
                <a:cubicBezTo>
                  <a:pt x="98254" y="33807"/>
                  <a:pt x="91762" y="40299"/>
                  <a:pt x="91762" y="48296"/>
                </a:cubicBezTo>
                <a:cubicBezTo>
                  <a:pt x="91762" y="56292"/>
                  <a:pt x="98254" y="62785"/>
                  <a:pt x="106251" y="62785"/>
                </a:cubicBezTo>
                <a:cubicBezTo>
                  <a:pt x="114247" y="62785"/>
                  <a:pt x="120739" y="56292"/>
                  <a:pt x="120739" y="48296"/>
                </a:cubicBezTo>
                <a:close/>
              </a:path>
            </a:pathLst>
          </a:custGeom>
          <a:solidFill>
            <a:srgbClr val="0071E3"/>
          </a:solidFill>
          <a:ln/>
        </p:spPr>
        <p:txBody>
          <a:bodyPr/>
          <a:lstStyle/>
          <a:p>
            <a:endParaRPr lang="zh-CN" altLang="en-US"/>
          </a:p>
        </p:txBody>
      </p:sp>
      <p:sp>
        <p:nvSpPr>
          <p:cNvPr id="38" name="Text 36"/>
          <p:cNvSpPr/>
          <p:nvPr/>
        </p:nvSpPr>
        <p:spPr>
          <a:xfrm>
            <a:off x="6604447" y="4441781"/>
            <a:ext cx="5151549" cy="240406"/>
          </a:xfrm>
          <a:prstGeom prst="rect">
            <a:avLst/>
          </a:prstGeom>
          <a:noFill/>
          <a:ln/>
        </p:spPr>
        <p:txBody>
          <a:bodyPr wrap="square" lIns="0" tIns="0" rIns="0" bIns="0" rtlCol="0" anchor="ctr"/>
          <a:lstStyle/>
          <a:p>
            <a:pPr>
              <a:lnSpc>
                <a:spcPct val="130000"/>
              </a:lnSpc>
            </a:pPr>
            <a:r>
              <a:rPr lang="en-US" sz="1217" b="1" dirty="0">
                <a:solidFill>
                  <a:srgbClr val="1D1D1D"/>
                </a:solidFill>
                <a:latin typeface="MiSans" pitchFamily="34" charset="0"/>
                <a:ea typeface="MiSans" pitchFamily="34" charset="-122"/>
                <a:cs typeface="MiSans" pitchFamily="34" charset="-120"/>
              </a:rPr>
              <a:t>Claude Code爆发式增长</a:t>
            </a:r>
            <a:endParaRPr lang="en-US" sz="1600" dirty="0"/>
          </a:p>
        </p:txBody>
      </p:sp>
      <p:sp>
        <p:nvSpPr>
          <p:cNvPr id="39" name="Text 37"/>
          <p:cNvSpPr/>
          <p:nvPr/>
        </p:nvSpPr>
        <p:spPr>
          <a:xfrm>
            <a:off x="6406971" y="4785217"/>
            <a:ext cx="5331854" cy="171718"/>
          </a:xfrm>
          <a:prstGeom prst="rect">
            <a:avLst/>
          </a:prstGeom>
          <a:noFill/>
          <a:ln/>
        </p:spPr>
        <p:txBody>
          <a:bodyPr wrap="square" lIns="0" tIns="0" rIns="0" bIns="0" rtlCol="0" anchor="ctr"/>
          <a:lstStyle/>
          <a:p>
            <a:pPr>
              <a:lnSpc>
                <a:spcPct val="120000"/>
              </a:lnSpc>
            </a:pPr>
            <a:r>
              <a:rPr lang="en-US" sz="946" b="1" dirty="0">
                <a:solidFill>
                  <a:srgbClr val="0071E3"/>
                </a:solidFill>
                <a:latin typeface="MiSans" pitchFamily="34" charset="0"/>
                <a:ea typeface="MiSans" pitchFamily="34" charset="-122"/>
                <a:cs typeface="MiSans" pitchFamily="34" charset="-120"/>
              </a:rPr>
              <a:t>500万</a:t>
            </a:r>
            <a:r>
              <a:rPr lang="en-US" sz="946" dirty="0">
                <a:solidFill>
                  <a:srgbClr val="1D1D1D"/>
                </a:solidFill>
                <a:latin typeface="MiSans" pitchFamily="34" charset="0"/>
                <a:ea typeface="MiSans" pitchFamily="34" charset="-122"/>
                <a:cs typeface="MiSans" pitchFamily="34" charset="-120"/>
              </a:rPr>
              <a:t> 周活跃开发者 </a:t>
            </a:r>
            <a:r>
              <a:rPr lang="en-US" sz="946" dirty="0">
                <a:solidFill>
                  <a:srgbClr val="86868B"/>
                </a:solidFill>
                <a:latin typeface="MiSans" pitchFamily="34" charset="0"/>
                <a:ea typeface="MiSans" pitchFamily="34" charset="-122"/>
                <a:cs typeface="MiSans" pitchFamily="34" charset="-120"/>
              </a:rPr>
              <a:t>(发布后6个月)</a:t>
            </a:r>
            <a:endParaRPr lang="en-US" sz="1600" dirty="0"/>
          </a:p>
        </p:txBody>
      </p:sp>
      <p:sp>
        <p:nvSpPr>
          <p:cNvPr id="40" name="Text 38"/>
          <p:cNvSpPr/>
          <p:nvPr/>
        </p:nvSpPr>
        <p:spPr>
          <a:xfrm>
            <a:off x="6406971" y="5025623"/>
            <a:ext cx="5331854" cy="171718"/>
          </a:xfrm>
          <a:prstGeom prst="rect">
            <a:avLst/>
          </a:prstGeom>
          <a:noFill/>
          <a:ln/>
        </p:spPr>
        <p:txBody>
          <a:bodyPr wrap="square" lIns="0" tIns="0" rIns="0" bIns="0" rtlCol="0" anchor="ctr"/>
          <a:lstStyle/>
          <a:p>
            <a:pPr>
              <a:lnSpc>
                <a:spcPct val="120000"/>
              </a:lnSpc>
            </a:pPr>
            <a:r>
              <a:rPr lang="en-US" sz="946" b="1" dirty="0">
                <a:solidFill>
                  <a:srgbClr val="0071E3"/>
                </a:solidFill>
                <a:latin typeface="MiSans" pitchFamily="34" charset="0"/>
                <a:ea typeface="MiSans" pitchFamily="34" charset="-122"/>
                <a:cs typeface="MiSans" pitchFamily="34" charset="-120"/>
              </a:rPr>
              <a:t>60%+</a:t>
            </a:r>
            <a:r>
              <a:rPr lang="en-US" sz="946" dirty="0">
                <a:solidFill>
                  <a:srgbClr val="1D1D1D"/>
                </a:solidFill>
                <a:latin typeface="MiSans" pitchFamily="34" charset="0"/>
                <a:ea typeface="MiSans" pitchFamily="34" charset="-122"/>
                <a:cs typeface="MiSans" pitchFamily="34" charset="-120"/>
              </a:rPr>
              <a:t> 编程类Token占比 </a:t>
            </a:r>
            <a:r>
              <a:rPr lang="en-US" sz="946" dirty="0">
                <a:solidFill>
                  <a:srgbClr val="86868B"/>
                </a:solidFill>
                <a:latin typeface="MiSans" pitchFamily="34" charset="0"/>
                <a:ea typeface="MiSans" pitchFamily="34" charset="-122"/>
                <a:cs typeface="MiSans" pitchFamily="34" charset="-120"/>
              </a:rPr>
              <a:t>(2025 Q4)</a:t>
            </a:r>
            <a:endParaRPr lang="en-US" sz="1600" dirty="0"/>
          </a:p>
        </p:txBody>
      </p:sp>
      <p:sp>
        <p:nvSpPr>
          <p:cNvPr id="41" name="Text 39"/>
          <p:cNvSpPr/>
          <p:nvPr/>
        </p:nvSpPr>
        <p:spPr>
          <a:xfrm>
            <a:off x="6406971" y="5266029"/>
            <a:ext cx="5331854" cy="171718"/>
          </a:xfrm>
          <a:prstGeom prst="rect">
            <a:avLst/>
          </a:prstGeom>
          <a:noFill/>
          <a:ln/>
        </p:spPr>
        <p:txBody>
          <a:bodyPr wrap="square" lIns="0" tIns="0" rIns="0" bIns="0" rtlCol="0" anchor="ctr"/>
          <a:lstStyle/>
          <a:p>
            <a:pPr>
              <a:lnSpc>
                <a:spcPct val="120000"/>
              </a:lnSpc>
            </a:pPr>
            <a:r>
              <a:rPr lang="en-US" sz="946" b="1" dirty="0">
                <a:solidFill>
                  <a:srgbClr val="0071E3"/>
                </a:solidFill>
                <a:latin typeface="MiSans" pitchFamily="34" charset="0"/>
                <a:ea typeface="MiSans" pitchFamily="34" charset="-122"/>
                <a:cs typeface="MiSans" pitchFamily="34" charset="-120"/>
              </a:rPr>
              <a:t>85%</a:t>
            </a:r>
            <a:r>
              <a:rPr lang="en-US" sz="946" dirty="0">
                <a:solidFill>
                  <a:srgbClr val="1D1D1D"/>
                </a:solidFill>
                <a:latin typeface="MiSans" pitchFamily="34" charset="0"/>
                <a:ea typeface="MiSans" pitchFamily="34" charset="-122"/>
                <a:cs typeface="MiSans" pitchFamily="34" charset="-120"/>
              </a:rPr>
              <a:t> Fortune 100企业签约率</a:t>
            </a:r>
            <a:endParaRPr lang="en-US" sz="1600" dirty="0"/>
          </a:p>
        </p:txBody>
      </p:sp>
      <p:sp>
        <p:nvSpPr>
          <p:cNvPr id="42" name="Text 40"/>
          <p:cNvSpPr/>
          <p:nvPr/>
        </p:nvSpPr>
        <p:spPr>
          <a:xfrm>
            <a:off x="6406971" y="5506434"/>
            <a:ext cx="5331854" cy="171718"/>
          </a:xfrm>
          <a:prstGeom prst="rect">
            <a:avLst/>
          </a:prstGeom>
          <a:noFill/>
          <a:ln/>
        </p:spPr>
        <p:txBody>
          <a:bodyPr wrap="square" lIns="0" tIns="0" rIns="0" bIns="0" rtlCol="0" anchor="ctr"/>
          <a:lstStyle/>
          <a:p>
            <a:pPr>
              <a:lnSpc>
                <a:spcPct val="120000"/>
              </a:lnSpc>
            </a:pPr>
            <a:r>
              <a:rPr lang="en-US" sz="946" b="1" dirty="0">
                <a:solidFill>
                  <a:srgbClr val="0071E3"/>
                </a:solidFill>
                <a:latin typeface="MiSans" pitchFamily="34" charset="0"/>
                <a:ea typeface="MiSans" pitchFamily="34" charset="-122"/>
                <a:cs typeface="MiSans" pitchFamily="34" charset="-120"/>
              </a:rPr>
              <a:t>$100亿</a:t>
            </a:r>
            <a:r>
              <a:rPr lang="en-US" sz="946" dirty="0">
                <a:solidFill>
                  <a:srgbClr val="1D1D1D"/>
                </a:solidFill>
                <a:latin typeface="MiSans" pitchFamily="34" charset="0"/>
                <a:ea typeface="MiSans" pitchFamily="34" charset="-122"/>
                <a:cs typeface="MiSans" pitchFamily="34" charset="-120"/>
              </a:rPr>
              <a:t> Anthropic 2025年总营收</a:t>
            </a:r>
            <a:endParaRPr lang="en-US" sz="1600" dirty="0"/>
          </a:p>
        </p:txBody>
      </p:sp>
      <p:sp>
        <p:nvSpPr>
          <p:cNvPr id="43" name="Shape 41"/>
          <p:cNvSpPr/>
          <p:nvPr/>
        </p:nvSpPr>
        <p:spPr>
          <a:xfrm>
            <a:off x="346299" y="6024451"/>
            <a:ext cx="11502265" cy="486535"/>
          </a:xfrm>
          <a:custGeom>
            <a:avLst/>
            <a:gdLst/>
            <a:ahLst/>
            <a:cxnLst/>
            <a:rect l="l" t="t" r="r" b="b"/>
            <a:pathLst>
              <a:path w="11502265" h="486535">
                <a:moveTo>
                  <a:pt x="103029" y="0"/>
                </a:moveTo>
                <a:lnTo>
                  <a:pt x="11399236" y="0"/>
                </a:lnTo>
                <a:cubicBezTo>
                  <a:pt x="11456137" y="0"/>
                  <a:pt x="11502265" y="46128"/>
                  <a:pt x="11502265" y="103029"/>
                </a:cubicBezTo>
                <a:lnTo>
                  <a:pt x="11502265" y="383507"/>
                </a:lnTo>
                <a:cubicBezTo>
                  <a:pt x="11502265" y="440408"/>
                  <a:pt x="11456137" y="486535"/>
                  <a:pt x="11399236" y="486535"/>
                </a:cubicBezTo>
                <a:lnTo>
                  <a:pt x="103029" y="486535"/>
                </a:lnTo>
                <a:cubicBezTo>
                  <a:pt x="46128" y="486535"/>
                  <a:pt x="0" y="440408"/>
                  <a:pt x="0" y="383507"/>
                </a:cubicBezTo>
                <a:lnTo>
                  <a:pt x="0" y="103029"/>
                </a:lnTo>
                <a:cubicBezTo>
                  <a:pt x="0" y="46128"/>
                  <a:pt x="46128" y="0"/>
                  <a:pt x="103029"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44" name="Shape 42"/>
          <p:cNvSpPr/>
          <p:nvPr/>
        </p:nvSpPr>
        <p:spPr>
          <a:xfrm>
            <a:off x="520879" y="6193307"/>
            <a:ext cx="103031" cy="137375"/>
          </a:xfrm>
          <a:custGeom>
            <a:avLst/>
            <a:gdLst/>
            <a:ahLst/>
            <a:cxnLst/>
            <a:rect l="l" t="t" r="r" b="b"/>
            <a:pathLst>
              <a:path w="103031" h="137375">
                <a:moveTo>
                  <a:pt x="78588" y="103031"/>
                </a:moveTo>
                <a:cubicBezTo>
                  <a:pt x="80547" y="97048"/>
                  <a:pt x="84464" y="91628"/>
                  <a:pt x="88891" y="86959"/>
                </a:cubicBezTo>
                <a:cubicBezTo>
                  <a:pt x="97665" y="77729"/>
                  <a:pt x="103031" y="65253"/>
                  <a:pt x="103031" y="51515"/>
                </a:cubicBezTo>
                <a:cubicBezTo>
                  <a:pt x="103031" y="23075"/>
                  <a:pt x="79956" y="0"/>
                  <a:pt x="51515" y="0"/>
                </a:cubicBezTo>
                <a:cubicBezTo>
                  <a:pt x="23075" y="0"/>
                  <a:pt x="0" y="23075"/>
                  <a:pt x="0" y="51515"/>
                </a:cubicBezTo>
                <a:cubicBezTo>
                  <a:pt x="0" y="65253"/>
                  <a:pt x="5366" y="77729"/>
                  <a:pt x="14140" y="86959"/>
                </a:cubicBezTo>
                <a:cubicBezTo>
                  <a:pt x="18567" y="91628"/>
                  <a:pt x="22511" y="97048"/>
                  <a:pt x="24443" y="103031"/>
                </a:cubicBezTo>
                <a:lnTo>
                  <a:pt x="78561" y="103031"/>
                </a:lnTo>
                <a:close/>
                <a:moveTo>
                  <a:pt x="77273" y="115910"/>
                </a:moveTo>
                <a:lnTo>
                  <a:pt x="25758" y="115910"/>
                </a:lnTo>
                <a:lnTo>
                  <a:pt x="25758" y="120203"/>
                </a:lnTo>
                <a:cubicBezTo>
                  <a:pt x="25758" y="132062"/>
                  <a:pt x="35363" y="141668"/>
                  <a:pt x="47223" y="141668"/>
                </a:cubicBezTo>
                <a:lnTo>
                  <a:pt x="55808" y="141668"/>
                </a:lnTo>
                <a:cubicBezTo>
                  <a:pt x="67668" y="141668"/>
                  <a:pt x="77273" y="132062"/>
                  <a:pt x="77273" y="120203"/>
                </a:cubicBezTo>
                <a:lnTo>
                  <a:pt x="77273" y="115910"/>
                </a:lnTo>
                <a:close/>
                <a:moveTo>
                  <a:pt x="49369" y="30051"/>
                </a:moveTo>
                <a:cubicBezTo>
                  <a:pt x="38690" y="30051"/>
                  <a:pt x="30051" y="38690"/>
                  <a:pt x="30051" y="49369"/>
                </a:cubicBezTo>
                <a:cubicBezTo>
                  <a:pt x="30051" y="52938"/>
                  <a:pt x="27180" y="55808"/>
                  <a:pt x="23611" y="55808"/>
                </a:cubicBezTo>
                <a:cubicBezTo>
                  <a:pt x="20043" y="55808"/>
                  <a:pt x="17172" y="52938"/>
                  <a:pt x="17172" y="49369"/>
                </a:cubicBezTo>
                <a:cubicBezTo>
                  <a:pt x="17172" y="31580"/>
                  <a:pt x="31580" y="17172"/>
                  <a:pt x="49369" y="17172"/>
                </a:cubicBezTo>
                <a:cubicBezTo>
                  <a:pt x="52938" y="17172"/>
                  <a:pt x="55808" y="20043"/>
                  <a:pt x="55808" y="23611"/>
                </a:cubicBezTo>
                <a:cubicBezTo>
                  <a:pt x="55808" y="27180"/>
                  <a:pt x="52938" y="30051"/>
                  <a:pt x="49369" y="30051"/>
                </a:cubicBezTo>
                <a:close/>
              </a:path>
            </a:pathLst>
          </a:custGeom>
          <a:solidFill>
            <a:srgbClr val="0071E3"/>
          </a:solidFill>
          <a:ln/>
        </p:spPr>
        <p:txBody>
          <a:bodyPr/>
          <a:lstStyle/>
          <a:p>
            <a:endParaRPr lang="zh-CN" altLang="en-US"/>
          </a:p>
        </p:txBody>
      </p:sp>
      <p:sp>
        <p:nvSpPr>
          <p:cNvPr id="45" name="Text 43"/>
          <p:cNvSpPr/>
          <p:nvPr/>
        </p:nvSpPr>
        <p:spPr>
          <a:xfrm>
            <a:off x="704690" y="6164687"/>
            <a:ext cx="11072324" cy="206062"/>
          </a:xfrm>
          <a:prstGeom prst="rect">
            <a:avLst/>
          </a:prstGeom>
          <a:noFill/>
          <a:ln/>
        </p:spPr>
        <p:txBody>
          <a:bodyPr wrap="square" lIns="0" tIns="0" rIns="0" bIns="0" rtlCol="0" anchor="ctr"/>
          <a:lstStyle/>
          <a:p>
            <a:pPr>
              <a:lnSpc>
                <a:spcPct val="130000"/>
              </a:lnSpc>
            </a:pPr>
            <a:r>
              <a:rPr lang="en-US" sz="1082" b="1" dirty="0">
                <a:solidFill>
                  <a:srgbClr val="1D1D1D"/>
                </a:solidFill>
                <a:latin typeface="MiSans" pitchFamily="34" charset="0"/>
                <a:ea typeface="MiSans" pitchFamily="34" charset="-122"/>
                <a:cs typeface="MiSans" pitchFamily="34" charset="-120"/>
              </a:rPr>
              <a:t>核心洞察：</a:t>
            </a:r>
            <a:r>
              <a:rPr lang="en-US" sz="1082" dirty="0">
                <a:solidFill>
                  <a:srgbClr val="1D1D1D"/>
                </a:solidFill>
                <a:latin typeface="MiSans" pitchFamily="34" charset="0"/>
                <a:ea typeface="MiSans" pitchFamily="34" charset="-122"/>
                <a:cs typeface="MiSans" pitchFamily="34" charset="-120"/>
              </a:rPr>
              <a:t>AI编程已从"工具升级"演变为"范式革命"。2026年，</a:t>
            </a:r>
            <a:r>
              <a:rPr lang="en-US" sz="1082" b="1" dirty="0">
                <a:solidFill>
                  <a:srgbClr val="0071E3"/>
                </a:solidFill>
                <a:latin typeface="MiSans" pitchFamily="34" charset="0"/>
                <a:ea typeface="MiSans" pitchFamily="34" charset="-122"/>
                <a:cs typeface="MiSans" pitchFamily="34" charset="-120"/>
              </a:rPr>
              <a:t>Claude Code 成为事实标准</a:t>
            </a:r>
            <a:r>
              <a:rPr lang="en-US" sz="1082" dirty="0">
                <a:solidFill>
                  <a:srgbClr val="1D1D1D"/>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MiSans" pitchFamily="34" charset="0"/>
                <a:ea typeface="MiSans" pitchFamily="34" charset="-122"/>
                <a:cs typeface="MiSans" pitchFamily="34" charset="-120"/>
              </a:rPr>
              <a:t>02 / 模式对比</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MiSans" pitchFamily="34" charset="0"/>
                <a:ea typeface="MiSans" pitchFamily="34" charset="-122"/>
                <a:cs typeface="MiSans" pitchFamily="34" charset="-120"/>
              </a:rPr>
              <a:t>Vibe Coding vs IDE辅助编程</a:t>
            </a:r>
            <a:endParaRPr lang="en-US" sz="1600" dirty="0"/>
          </a:p>
        </p:txBody>
      </p:sp>
      <p:sp>
        <p:nvSpPr>
          <p:cNvPr id="4" name="Shape 2"/>
          <p:cNvSpPr/>
          <p:nvPr/>
        </p:nvSpPr>
        <p:spPr>
          <a:xfrm>
            <a:off x="320146" y="1050396"/>
            <a:ext cx="11554354" cy="2727854"/>
          </a:xfrm>
          <a:custGeom>
            <a:avLst/>
            <a:gdLst/>
            <a:ahLst/>
            <a:cxnLst/>
            <a:rect l="l" t="t" r="r" b="b"/>
            <a:pathLst>
              <a:path w="11554354" h="2727854">
                <a:moveTo>
                  <a:pt x="127009" y="0"/>
                </a:moveTo>
                <a:lnTo>
                  <a:pt x="11427345" y="0"/>
                </a:lnTo>
                <a:cubicBezTo>
                  <a:pt x="11497490" y="0"/>
                  <a:pt x="11554354" y="56864"/>
                  <a:pt x="11554354" y="127009"/>
                </a:cubicBezTo>
                <a:lnTo>
                  <a:pt x="11554354" y="2600845"/>
                </a:lnTo>
                <a:cubicBezTo>
                  <a:pt x="11554354" y="2670990"/>
                  <a:pt x="11497490" y="2727854"/>
                  <a:pt x="11427345" y="2727854"/>
                </a:cubicBezTo>
                <a:lnTo>
                  <a:pt x="127009" y="2727854"/>
                </a:lnTo>
                <a:cubicBezTo>
                  <a:pt x="56864" y="2727854"/>
                  <a:pt x="0" y="2670990"/>
                  <a:pt x="0" y="2600845"/>
                </a:cubicBezTo>
                <a:lnTo>
                  <a:pt x="0" y="127009"/>
                </a:lnTo>
                <a:cubicBezTo>
                  <a:pt x="0" y="56911"/>
                  <a:pt x="56911" y="0"/>
                  <a:pt x="127009"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2792" y="1053042"/>
          <a:ext cx="11549062" cy="2722566"/>
        </p:xfrm>
        <a:graphic>
          <a:graphicData uri="http://schemas.openxmlformats.org/drawingml/2006/table">
            <a:tbl>
              <a:tblPr/>
              <a:tblGrid>
                <a:gridCol w="2887266">
                  <a:extLst>
                    <a:ext uri="{9D8B030D-6E8A-4147-A177-3AD203B41FA5}">
                      <a16:colId xmlns:a16="http://schemas.microsoft.com/office/drawing/2014/main" val="20000"/>
                    </a:ext>
                  </a:extLst>
                </a:gridCol>
                <a:gridCol w="4330898">
                  <a:extLst>
                    <a:ext uri="{9D8B030D-6E8A-4147-A177-3AD203B41FA5}">
                      <a16:colId xmlns:a16="http://schemas.microsoft.com/office/drawing/2014/main" val="20001"/>
                    </a:ext>
                  </a:extLst>
                </a:gridCol>
                <a:gridCol w="4330898">
                  <a:extLst>
                    <a:ext uri="{9D8B030D-6E8A-4147-A177-3AD203B41FA5}">
                      <a16:colId xmlns:a16="http://schemas.microsoft.com/office/drawing/2014/main" val="20002"/>
                    </a:ext>
                  </a:extLst>
                </a:gridCol>
              </a:tblGrid>
              <a:tr h="453761">
                <a:tc>
                  <a:txBody>
                    <a:bodyPr/>
                    <a:lstStyle/>
                    <a:p>
                      <a:pPr algn="l"/>
                      <a:r>
                        <a:rPr lang="en-US" sz="1100" b="1" u="none" dirty="0">
                          <a:solidFill>
                            <a:srgbClr val="FFFFFF"/>
                          </a:solidFill>
                          <a:latin typeface="微软雅黑" pitchFamily="34" charset="0"/>
                          <a:ea typeface="微软雅黑" pitchFamily="34" charset="-122"/>
                          <a:cs typeface="微软雅黑" pitchFamily="34" charset="-120"/>
                        </a:rPr>
                        <a:t>特征</a:t>
                      </a:r>
                      <a:endParaRPr lang="en-US" sz="11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0" cap="flat" cmpd="sng" algn="ctr">
                      <a:noFill/>
                    </a:lnT>
                    <a:lnB w="0" cap="flat" cmpd="sng" algn="ctr">
                      <a:noFill/>
                    </a:lnB>
                    <a:solidFill>
                      <a:srgbClr val="1D1D1D"/>
                    </a:solidFill>
                  </a:tcPr>
                </a:tc>
                <a:tc>
                  <a:txBody>
                    <a:bodyPr/>
                    <a:lstStyle/>
                    <a:p>
                      <a:pPr algn="l"/>
                      <a:r>
                        <a:rPr lang="en-US" sz="1100" b="1" u="none" dirty="0">
                          <a:solidFill>
                            <a:srgbClr val="FFFFFF"/>
                          </a:solidFill>
                          <a:latin typeface="微软雅黑" pitchFamily="34" charset="0"/>
                          <a:ea typeface="微软雅黑" pitchFamily="34" charset="-122"/>
                          <a:cs typeface="微软雅黑" pitchFamily="34" charset="-120"/>
                        </a:rPr>
                        <a:t>IDE辅助编程</a:t>
                      </a:r>
                      <a:endParaRPr lang="en-US" sz="11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0" cap="flat" cmpd="sng" algn="ctr">
                      <a:noFill/>
                    </a:lnT>
                    <a:lnB w="0" cap="flat" cmpd="sng" algn="ctr">
                      <a:noFill/>
                    </a:lnB>
                    <a:solidFill>
                      <a:srgbClr val="1D1D1D"/>
                    </a:solidFill>
                  </a:tcPr>
                </a:tc>
                <a:tc>
                  <a:txBody>
                    <a:bodyPr/>
                    <a:lstStyle/>
                    <a:p>
                      <a:pPr algn="l"/>
                      <a:r>
                        <a:rPr lang="en-US" sz="1100" b="1" u="none" dirty="0">
                          <a:solidFill>
                            <a:srgbClr val="FFFFFF"/>
                          </a:solidFill>
                          <a:latin typeface="微软雅黑" pitchFamily="34" charset="0"/>
                          <a:ea typeface="微软雅黑" pitchFamily="34" charset="-122"/>
                          <a:cs typeface="微软雅黑" pitchFamily="34" charset="-120"/>
                        </a:rPr>
                        <a:t>Vibe Coding</a:t>
                      </a:r>
                      <a:endParaRPr lang="en-US" sz="11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0" cap="flat" cmpd="sng" algn="ctr">
                      <a:noFill/>
                    </a:lnT>
                    <a:lnB w="0" cap="flat" cmpd="sng" algn="ctr">
                      <a:noFill/>
                    </a:lnB>
                    <a:solidFill>
                      <a:srgbClr val="1D1D1D"/>
                    </a:solidFill>
                  </a:tcPr>
                </a:tc>
                <a:extLst>
                  <a:ext uri="{0D108BD9-81ED-4DB2-BD59-A6C34878D82A}">
                    <a16:rowId xmlns:a16="http://schemas.microsoft.com/office/drawing/2014/main" val="10000"/>
                  </a:ext>
                </a:extLst>
              </a:tr>
              <a:tr h="453761">
                <a:tc>
                  <a:txBody>
                    <a:bodyPr/>
                    <a:lstStyle/>
                    <a:p>
                      <a:r>
                        <a:rPr lang="en-US" sz="1000" b="1" u="none" dirty="0">
                          <a:solidFill>
                            <a:srgbClr val="1D1D1D"/>
                          </a:solidFill>
                          <a:latin typeface="微软雅黑" pitchFamily="34" charset="0"/>
                          <a:ea typeface="微软雅黑" pitchFamily="34" charset="-122"/>
                          <a:cs typeface="微软雅黑" pitchFamily="34" charset="-120"/>
                        </a:rPr>
                        <a:t>角色定位</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0" cap="flat" cmpd="sng" algn="ctr">
                      <a:noFill/>
                    </a:lnT>
                    <a:lnB w="8467" cap="flat" cmpd="sng" algn="ctr">
                      <a:solidFill>
                        <a:srgbClr val="E5E5E5"/>
                      </a:solidFill>
                      <a:prstDash val="solid"/>
                      <a:round/>
                      <a:headEnd type="none" w="med" len="med"/>
                      <a:tailEnd type="none" w="med" len="med"/>
                    </a:lnB>
                    <a:solidFill>
                      <a:srgbClr val="FFFFFF">
                        <a:alpha val="0"/>
                      </a:srgbClr>
                    </a:solidFill>
                  </a:tcPr>
                </a:tc>
                <a:tc>
                  <a:txBody>
                    <a:bodyPr/>
                    <a:lstStyle/>
                    <a:p>
                      <a:r>
                        <a:rPr lang="en-US" sz="1000" u="none" dirty="0">
                          <a:solidFill>
                            <a:srgbClr val="86868B"/>
                          </a:solidFill>
                          <a:latin typeface="微软雅黑" pitchFamily="34" charset="0"/>
                          <a:ea typeface="微软雅黑" pitchFamily="34" charset="-122"/>
                          <a:cs typeface="微软雅黑" pitchFamily="34" charset="-120"/>
                        </a:rPr>
                        <a:t>AI是辅助工具</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0" cap="flat" cmpd="sng" algn="ctr">
                      <a:noFill/>
                    </a:lnT>
                    <a:lnB w="8467" cap="flat" cmpd="sng" algn="ctr">
                      <a:solidFill>
                        <a:srgbClr val="E5E5E5"/>
                      </a:solidFill>
                      <a:prstDash val="solid"/>
                      <a:round/>
                      <a:headEnd type="none" w="med" len="med"/>
                      <a:tailEnd type="none" w="med" len="med"/>
                    </a:lnB>
                    <a:solidFill>
                      <a:srgbClr val="FFFFFF">
                        <a:alpha val="0"/>
                      </a:srgbClr>
                    </a:solidFill>
                  </a:tcPr>
                </a:tc>
                <a:tc>
                  <a:txBody>
                    <a:bodyPr/>
                    <a:lstStyle/>
                    <a:p>
                      <a:r>
                        <a:rPr lang="en-US" sz="1000" b="1" u="none" dirty="0">
                          <a:solidFill>
                            <a:srgbClr val="0071E3"/>
                          </a:solidFill>
                          <a:latin typeface="微软雅黑" pitchFamily="34" charset="0"/>
                          <a:ea typeface="微软雅黑" pitchFamily="34" charset="-122"/>
                          <a:cs typeface="微软雅黑" pitchFamily="34" charset="-120"/>
                        </a:rPr>
                        <a:t>AI是主导开发者</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0" cap="flat" cmpd="sng" algn="ctr">
                      <a:noFill/>
                    </a:lnT>
                    <a:lnB w="8467" cap="flat" cmpd="sng" algn="ctr">
                      <a:solidFill>
                        <a:srgbClr val="E5E5E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1"/>
                  </a:ext>
                </a:extLst>
              </a:tr>
              <a:tr h="453761">
                <a:tc>
                  <a:txBody>
                    <a:bodyPr/>
                    <a:lstStyle/>
                    <a:p>
                      <a:r>
                        <a:rPr lang="en-US" sz="1000" b="1" u="none" dirty="0">
                          <a:solidFill>
                            <a:srgbClr val="1D1D1D"/>
                          </a:solidFill>
                          <a:latin typeface="微软雅黑" pitchFamily="34" charset="0"/>
                          <a:ea typeface="微软雅黑" pitchFamily="34" charset="-122"/>
                          <a:cs typeface="微软雅黑" pitchFamily="34" charset="-120"/>
                        </a:rPr>
                        <a:t>代码编写</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AFAFA"/>
                    </a:solidFill>
                  </a:tcPr>
                </a:tc>
                <a:tc>
                  <a:txBody>
                    <a:bodyPr/>
                    <a:lstStyle/>
                    <a:p>
                      <a:r>
                        <a:rPr lang="en-US" sz="1000" u="none" dirty="0">
                          <a:solidFill>
                            <a:srgbClr val="86868B"/>
                          </a:solidFill>
                          <a:latin typeface="微软雅黑" pitchFamily="34" charset="0"/>
                          <a:ea typeface="微软雅黑" pitchFamily="34" charset="-122"/>
                          <a:cs typeface="微软雅黑" pitchFamily="34" charset="-120"/>
                        </a:rPr>
                        <a:t>开发者手动+AI补全</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AFAFA"/>
                    </a:solidFill>
                  </a:tcPr>
                </a:tc>
                <a:tc>
                  <a:txBody>
                    <a:bodyPr/>
                    <a:lstStyle/>
                    <a:p>
                      <a:r>
                        <a:rPr lang="en-US" sz="1000" b="1" u="none" dirty="0">
                          <a:solidFill>
                            <a:srgbClr val="0071E3"/>
                          </a:solidFill>
                          <a:latin typeface="微软雅黑" pitchFamily="34" charset="0"/>
                          <a:ea typeface="微软雅黑" pitchFamily="34" charset="-122"/>
                          <a:cs typeface="微软雅黑" pitchFamily="34" charset="-120"/>
                        </a:rPr>
                        <a:t>AI完成大部分逻辑</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AFAFA"/>
                    </a:solidFill>
                  </a:tcPr>
                </a:tc>
                <a:extLst>
                  <a:ext uri="{0D108BD9-81ED-4DB2-BD59-A6C34878D82A}">
                    <a16:rowId xmlns:a16="http://schemas.microsoft.com/office/drawing/2014/main" val="10002"/>
                  </a:ext>
                </a:extLst>
              </a:tr>
              <a:tr h="453761">
                <a:tc>
                  <a:txBody>
                    <a:bodyPr/>
                    <a:lstStyle/>
                    <a:p>
                      <a:r>
                        <a:rPr lang="en-US" sz="1000" b="1" u="none" dirty="0">
                          <a:solidFill>
                            <a:srgbClr val="1D1D1D"/>
                          </a:solidFill>
                          <a:latin typeface="微软雅黑" pitchFamily="34" charset="0"/>
                          <a:ea typeface="微软雅黑" pitchFamily="34" charset="-122"/>
                          <a:cs typeface="微软雅黑" pitchFamily="34" charset="-120"/>
                        </a:rPr>
                        <a:t>交互方式</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FFFFF">
                        <a:alpha val="0"/>
                      </a:srgbClr>
                    </a:solidFill>
                  </a:tcPr>
                </a:tc>
                <a:tc>
                  <a:txBody>
                    <a:bodyPr/>
                    <a:lstStyle/>
                    <a:p>
                      <a:r>
                        <a:rPr lang="en-US" sz="1000" u="none" dirty="0">
                          <a:solidFill>
                            <a:srgbClr val="86868B"/>
                          </a:solidFill>
                          <a:latin typeface="微软雅黑" pitchFamily="34" charset="0"/>
                          <a:ea typeface="微软雅黑" pitchFamily="34" charset="-122"/>
                          <a:cs typeface="微软雅黑" pitchFamily="34" charset="-120"/>
                        </a:rPr>
                        <a:t>自动补全/片段</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FFFFF">
                        <a:alpha val="0"/>
                      </a:srgbClr>
                    </a:solidFill>
                  </a:tcPr>
                </a:tc>
                <a:tc>
                  <a:txBody>
                    <a:bodyPr/>
                    <a:lstStyle/>
                    <a:p>
                      <a:r>
                        <a:rPr lang="en-US" sz="1000" b="1" u="none" dirty="0">
                          <a:solidFill>
                            <a:srgbClr val="0071E3"/>
                          </a:solidFill>
                          <a:latin typeface="微软雅黑" pitchFamily="34" charset="0"/>
                          <a:ea typeface="微软雅黑" pitchFamily="34" charset="-122"/>
                          <a:cs typeface="微软雅黑" pitchFamily="34" charset="-120"/>
                        </a:rPr>
                        <a:t>自然语言对话/任务指令</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FFFFF">
                        <a:alpha val="0"/>
                      </a:srgbClr>
                    </a:solidFill>
                  </a:tcPr>
                </a:tc>
                <a:extLst>
                  <a:ext uri="{0D108BD9-81ED-4DB2-BD59-A6C34878D82A}">
                    <a16:rowId xmlns:a16="http://schemas.microsoft.com/office/drawing/2014/main" val="10003"/>
                  </a:ext>
                </a:extLst>
              </a:tr>
              <a:tr h="453761">
                <a:tc>
                  <a:txBody>
                    <a:bodyPr/>
                    <a:lstStyle/>
                    <a:p>
                      <a:r>
                        <a:rPr lang="en-US" sz="1000" b="1" u="none" dirty="0">
                          <a:solidFill>
                            <a:srgbClr val="1D1D1D"/>
                          </a:solidFill>
                          <a:latin typeface="微软雅黑" pitchFamily="34" charset="0"/>
                          <a:ea typeface="微软雅黑" pitchFamily="34" charset="-122"/>
                          <a:cs typeface="微软雅黑" pitchFamily="34" charset="-120"/>
                        </a:rPr>
                        <a:t>知识要求</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AFAFA"/>
                    </a:solidFill>
                  </a:tcPr>
                </a:tc>
                <a:tc>
                  <a:txBody>
                    <a:bodyPr/>
                    <a:lstStyle/>
                    <a:p>
                      <a:r>
                        <a:rPr lang="en-US" sz="1000" u="none" dirty="0">
                          <a:solidFill>
                            <a:srgbClr val="86868B"/>
                          </a:solidFill>
                          <a:latin typeface="微软雅黑" pitchFamily="34" charset="0"/>
                          <a:ea typeface="微软雅黑" pitchFamily="34" charset="-122"/>
                          <a:cs typeface="微软雅黑" pitchFamily="34" charset="-120"/>
                        </a:rPr>
                        <a:t>精通编程语言语法</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AFAFA"/>
                    </a:solidFill>
                  </a:tcPr>
                </a:tc>
                <a:tc>
                  <a:txBody>
                    <a:bodyPr/>
                    <a:lstStyle/>
                    <a:p>
                      <a:r>
                        <a:rPr lang="en-US" sz="1000" b="1" u="none" dirty="0">
                          <a:solidFill>
                            <a:srgbClr val="0071E3"/>
                          </a:solidFill>
                          <a:latin typeface="微软雅黑" pitchFamily="34" charset="0"/>
                          <a:ea typeface="微软雅黑" pitchFamily="34" charset="-122"/>
                          <a:cs typeface="微软雅黑" pitchFamily="34" charset="-120"/>
                        </a:rPr>
                        <a:t>只需理解业务逻辑</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8467" cap="flat" cmpd="sng" algn="ctr">
                      <a:solidFill>
                        <a:srgbClr val="E5E5E5"/>
                      </a:solidFill>
                      <a:prstDash val="solid"/>
                      <a:round/>
                      <a:headEnd type="none" w="med" len="med"/>
                      <a:tailEnd type="none" w="med" len="med"/>
                    </a:lnB>
                    <a:solidFill>
                      <a:srgbClr val="FAFAFA"/>
                    </a:solidFill>
                  </a:tcPr>
                </a:tc>
                <a:extLst>
                  <a:ext uri="{0D108BD9-81ED-4DB2-BD59-A6C34878D82A}">
                    <a16:rowId xmlns:a16="http://schemas.microsoft.com/office/drawing/2014/main" val="10004"/>
                  </a:ext>
                </a:extLst>
              </a:tr>
              <a:tr h="453761">
                <a:tc>
                  <a:txBody>
                    <a:bodyPr/>
                    <a:lstStyle/>
                    <a:p>
                      <a:r>
                        <a:rPr lang="en-US" sz="1000" b="1" u="none" dirty="0">
                          <a:solidFill>
                            <a:srgbClr val="1D1D1D"/>
                          </a:solidFill>
                          <a:latin typeface="微软雅黑" pitchFamily="34" charset="0"/>
                          <a:ea typeface="微软雅黑" pitchFamily="34" charset="-122"/>
                          <a:cs typeface="微软雅黑" pitchFamily="34" charset="-120"/>
                        </a:rPr>
                        <a:t>产出效率</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0" cap="flat" cmpd="sng" algn="ctr">
                      <a:noFill/>
                    </a:lnB>
                    <a:solidFill>
                      <a:srgbClr val="FFFFFF">
                        <a:alpha val="0"/>
                      </a:srgbClr>
                    </a:solidFill>
                  </a:tcPr>
                </a:tc>
                <a:tc>
                  <a:txBody>
                    <a:bodyPr/>
                    <a:lstStyle/>
                    <a:p>
                      <a:r>
                        <a:rPr lang="en-US" sz="1000" u="none" dirty="0">
                          <a:solidFill>
                            <a:srgbClr val="86868B"/>
                          </a:solidFill>
                          <a:latin typeface="微软雅黑" pitchFamily="34" charset="0"/>
                          <a:ea typeface="微软雅黑" pitchFamily="34" charset="-122"/>
                          <a:cs typeface="微软雅黑" pitchFamily="34" charset="-120"/>
                        </a:rPr>
                        <a:t>线性提升</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0" cap="flat" cmpd="sng" algn="ctr">
                      <a:noFill/>
                    </a:lnB>
                    <a:solidFill>
                      <a:srgbClr val="FFFFFF">
                        <a:alpha val="0"/>
                      </a:srgbClr>
                    </a:solidFill>
                  </a:tcPr>
                </a:tc>
                <a:tc>
                  <a:txBody>
                    <a:bodyPr/>
                    <a:lstStyle/>
                    <a:p>
                      <a:r>
                        <a:rPr lang="en-US" sz="1000" b="1" u="none" dirty="0">
                          <a:solidFill>
                            <a:srgbClr val="0071E3"/>
                          </a:solidFill>
                          <a:latin typeface="微软雅黑" pitchFamily="34" charset="0"/>
                          <a:ea typeface="微软雅黑" pitchFamily="34" charset="-122"/>
                          <a:cs typeface="微软雅黑" pitchFamily="34" charset="-120"/>
                        </a:rPr>
                        <a:t>指数级跃升</a:t>
                      </a:r>
                      <a:endParaRPr lang="en-US" sz="1000" dirty="0">
                        <a:latin typeface="微软雅黑" charset="0"/>
                        <a:ea typeface="微软雅黑" charset="0"/>
                        <a:cs typeface="微软雅黑" charset="0"/>
                      </a:endParaRPr>
                    </a:p>
                  </a:txBody>
                  <a:tcPr marL="190500" marR="190500" marT="127000" marB="127000" anchor="ctr">
                    <a:lnL w="0" cap="flat" cmpd="sng" algn="ctr">
                      <a:noFill/>
                    </a:lnL>
                    <a:lnR w="0" cap="flat" cmpd="sng" algn="ctr">
                      <a:noFill/>
                    </a:lnR>
                    <a:lnT w="8467" cap="flat" cmpd="sng" algn="ctr">
                      <a:solidFill>
                        <a:srgbClr val="E5E5E5"/>
                      </a:solidFill>
                      <a:prstDash val="solid"/>
                      <a:round/>
                      <a:headEnd type="none" w="med" len="med"/>
                      <a:tailEnd type="none" w="med" len="med"/>
                    </a:lnT>
                    <a:lnB w="0" cap="flat" cmpd="sng" algn="ctr">
                      <a:noFill/>
                    </a:lnB>
                    <a:solidFill>
                      <a:srgbClr val="FFFFFF">
                        <a:alpha val="0"/>
                      </a:srgbClr>
                    </a:solidFill>
                  </a:tcPr>
                </a:tc>
                <a:extLst>
                  <a:ext uri="{0D108BD9-81ED-4DB2-BD59-A6C34878D82A}">
                    <a16:rowId xmlns:a16="http://schemas.microsoft.com/office/drawing/2014/main" val="10005"/>
                  </a:ext>
                </a:extLst>
              </a:tr>
            </a:tbl>
          </a:graphicData>
        </a:graphic>
      </p:graphicFrame>
      <p:sp>
        <p:nvSpPr>
          <p:cNvPr id="6" name="Shape 3"/>
          <p:cNvSpPr/>
          <p:nvPr/>
        </p:nvSpPr>
        <p:spPr>
          <a:xfrm>
            <a:off x="320146" y="3971396"/>
            <a:ext cx="5680604" cy="2942167"/>
          </a:xfrm>
          <a:custGeom>
            <a:avLst/>
            <a:gdLst/>
            <a:ahLst/>
            <a:cxnLst/>
            <a:rect l="l" t="t" r="r" b="b"/>
            <a:pathLst>
              <a:path w="5680604" h="2942167">
                <a:moveTo>
                  <a:pt x="127013" y="0"/>
                </a:moveTo>
                <a:lnTo>
                  <a:pt x="5553591" y="0"/>
                </a:lnTo>
                <a:cubicBezTo>
                  <a:pt x="5623738" y="0"/>
                  <a:pt x="5680604" y="56866"/>
                  <a:pt x="5680604" y="127013"/>
                </a:cubicBezTo>
                <a:lnTo>
                  <a:pt x="5680604" y="2815153"/>
                </a:lnTo>
                <a:cubicBezTo>
                  <a:pt x="5680604" y="2885301"/>
                  <a:pt x="5623738" y="2942167"/>
                  <a:pt x="5553591" y="2942167"/>
                </a:cubicBezTo>
                <a:lnTo>
                  <a:pt x="127013" y="2942167"/>
                </a:lnTo>
                <a:cubicBezTo>
                  <a:pt x="56866" y="2942167"/>
                  <a:pt x="0" y="2885301"/>
                  <a:pt x="0" y="2815153"/>
                </a:cubicBezTo>
                <a:lnTo>
                  <a:pt x="0" y="127013"/>
                </a:lnTo>
                <a:cubicBezTo>
                  <a:pt x="0" y="56913"/>
                  <a:pt x="56913" y="0"/>
                  <a:pt x="127013"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7" name="Shape 4"/>
          <p:cNvSpPr/>
          <p:nvPr/>
        </p:nvSpPr>
        <p:spPr>
          <a:xfrm>
            <a:off x="533135" y="4196292"/>
            <a:ext cx="158750" cy="158750"/>
          </a:xfrm>
          <a:custGeom>
            <a:avLst/>
            <a:gdLst/>
            <a:ahLst/>
            <a:cxnLst/>
            <a:rect l="l" t="t" r="r" b="b"/>
            <a:pathLst>
              <a:path w="158750" h="158750">
                <a:moveTo>
                  <a:pt x="17270" y="61919"/>
                </a:moveTo>
                <a:lnTo>
                  <a:pt x="26851" y="71500"/>
                </a:lnTo>
                <a:cubicBezTo>
                  <a:pt x="28711" y="73360"/>
                  <a:pt x="31223" y="74414"/>
                  <a:pt x="33858" y="74414"/>
                </a:cubicBezTo>
                <a:lnTo>
                  <a:pt x="40525" y="74414"/>
                </a:lnTo>
                <a:cubicBezTo>
                  <a:pt x="43160" y="74414"/>
                  <a:pt x="45672" y="75468"/>
                  <a:pt x="47532" y="77329"/>
                </a:cubicBezTo>
                <a:lnTo>
                  <a:pt x="56617" y="86413"/>
                </a:lnTo>
                <a:cubicBezTo>
                  <a:pt x="58477" y="88274"/>
                  <a:pt x="59531" y="90785"/>
                  <a:pt x="59531" y="93421"/>
                </a:cubicBezTo>
                <a:lnTo>
                  <a:pt x="59531" y="105048"/>
                </a:lnTo>
                <a:cubicBezTo>
                  <a:pt x="59531" y="107683"/>
                  <a:pt x="60585" y="110195"/>
                  <a:pt x="62446" y="112055"/>
                </a:cubicBezTo>
                <a:lnTo>
                  <a:pt x="66570" y="116179"/>
                </a:lnTo>
                <a:cubicBezTo>
                  <a:pt x="68430" y="118039"/>
                  <a:pt x="69484" y="120551"/>
                  <a:pt x="69484" y="123186"/>
                </a:cubicBezTo>
                <a:lnTo>
                  <a:pt x="69484" y="128984"/>
                </a:lnTo>
                <a:cubicBezTo>
                  <a:pt x="69484" y="134472"/>
                  <a:pt x="73918" y="138906"/>
                  <a:pt x="79406" y="138906"/>
                </a:cubicBezTo>
                <a:cubicBezTo>
                  <a:pt x="84894" y="138906"/>
                  <a:pt x="89328" y="134472"/>
                  <a:pt x="89328" y="128984"/>
                </a:cubicBezTo>
                <a:lnTo>
                  <a:pt x="89328" y="128147"/>
                </a:lnTo>
                <a:cubicBezTo>
                  <a:pt x="89328" y="125512"/>
                  <a:pt x="90382" y="123000"/>
                  <a:pt x="92242" y="121140"/>
                </a:cubicBezTo>
                <a:lnTo>
                  <a:pt x="106288" y="107094"/>
                </a:lnTo>
                <a:cubicBezTo>
                  <a:pt x="108148" y="105234"/>
                  <a:pt x="109203" y="102722"/>
                  <a:pt x="109203" y="100087"/>
                </a:cubicBezTo>
                <a:lnTo>
                  <a:pt x="109203" y="89328"/>
                </a:lnTo>
                <a:cubicBezTo>
                  <a:pt x="109203" y="83840"/>
                  <a:pt x="104769" y="79406"/>
                  <a:pt x="99281" y="79406"/>
                </a:cubicBezTo>
                <a:lnTo>
                  <a:pt x="73639" y="79406"/>
                </a:lnTo>
                <a:cubicBezTo>
                  <a:pt x="71003" y="79406"/>
                  <a:pt x="68492" y="78352"/>
                  <a:pt x="66632" y="76491"/>
                </a:cubicBezTo>
                <a:lnTo>
                  <a:pt x="61671" y="71531"/>
                </a:lnTo>
                <a:cubicBezTo>
                  <a:pt x="60368" y="70228"/>
                  <a:pt x="59624" y="68430"/>
                  <a:pt x="59624" y="66570"/>
                </a:cubicBezTo>
                <a:cubicBezTo>
                  <a:pt x="59624" y="62694"/>
                  <a:pt x="62756" y="59562"/>
                  <a:pt x="66632" y="59562"/>
                </a:cubicBezTo>
                <a:lnTo>
                  <a:pt x="77391" y="59562"/>
                </a:lnTo>
                <a:cubicBezTo>
                  <a:pt x="81266" y="59562"/>
                  <a:pt x="84398" y="56431"/>
                  <a:pt x="84398" y="52555"/>
                </a:cubicBezTo>
                <a:cubicBezTo>
                  <a:pt x="84398" y="50695"/>
                  <a:pt x="83654" y="48896"/>
                  <a:pt x="82352" y="47594"/>
                </a:cubicBezTo>
                <a:lnTo>
                  <a:pt x="76243" y="41486"/>
                </a:lnTo>
                <a:cubicBezTo>
                  <a:pt x="75034" y="40308"/>
                  <a:pt x="74414" y="38788"/>
                  <a:pt x="74414" y="37207"/>
                </a:cubicBezTo>
                <a:cubicBezTo>
                  <a:pt x="74414" y="35626"/>
                  <a:pt x="75034" y="34106"/>
                  <a:pt x="76181" y="32959"/>
                </a:cubicBezTo>
                <a:lnTo>
                  <a:pt x="81545" y="27595"/>
                </a:lnTo>
                <a:cubicBezTo>
                  <a:pt x="83344" y="25797"/>
                  <a:pt x="84367" y="23347"/>
                  <a:pt x="84367" y="20805"/>
                </a:cubicBezTo>
                <a:cubicBezTo>
                  <a:pt x="84367" y="18573"/>
                  <a:pt x="83623" y="16557"/>
                  <a:pt x="82383" y="14945"/>
                </a:cubicBezTo>
                <a:cubicBezTo>
                  <a:pt x="81390" y="14914"/>
                  <a:pt x="80398" y="14883"/>
                  <a:pt x="79406" y="14883"/>
                </a:cubicBezTo>
                <a:cubicBezTo>
                  <a:pt x="49826" y="14883"/>
                  <a:pt x="24929" y="34789"/>
                  <a:pt x="17301" y="61919"/>
                </a:cubicBezTo>
                <a:close/>
                <a:moveTo>
                  <a:pt x="143867" y="79375"/>
                </a:moveTo>
                <a:cubicBezTo>
                  <a:pt x="143867" y="68647"/>
                  <a:pt x="141263" y="58539"/>
                  <a:pt x="136612" y="49671"/>
                </a:cubicBezTo>
                <a:cubicBezTo>
                  <a:pt x="134627" y="49950"/>
                  <a:pt x="132674" y="50881"/>
                  <a:pt x="131062" y="52493"/>
                </a:cubicBezTo>
                <a:lnTo>
                  <a:pt x="126907" y="56648"/>
                </a:lnTo>
                <a:cubicBezTo>
                  <a:pt x="125047" y="58508"/>
                  <a:pt x="123992" y="61020"/>
                  <a:pt x="123992" y="63655"/>
                </a:cubicBezTo>
                <a:lnTo>
                  <a:pt x="123992" y="74414"/>
                </a:lnTo>
                <a:cubicBezTo>
                  <a:pt x="123992" y="79902"/>
                  <a:pt x="128426" y="84336"/>
                  <a:pt x="133914" y="84336"/>
                </a:cubicBezTo>
                <a:lnTo>
                  <a:pt x="141387" y="84336"/>
                </a:lnTo>
                <a:cubicBezTo>
                  <a:pt x="142162" y="84336"/>
                  <a:pt x="142937" y="84243"/>
                  <a:pt x="143650" y="84088"/>
                </a:cubicBezTo>
                <a:cubicBezTo>
                  <a:pt x="143774" y="82538"/>
                  <a:pt x="143805" y="80956"/>
                  <a:pt x="143805" y="79375"/>
                </a:cubicBezTo>
                <a:close/>
                <a:moveTo>
                  <a:pt x="0" y="79375"/>
                </a:moveTo>
                <a:cubicBezTo>
                  <a:pt x="0" y="35567"/>
                  <a:pt x="35567" y="0"/>
                  <a:pt x="79375" y="0"/>
                </a:cubicBezTo>
                <a:cubicBezTo>
                  <a:pt x="123183" y="0"/>
                  <a:pt x="158750" y="35567"/>
                  <a:pt x="158750" y="79375"/>
                </a:cubicBezTo>
                <a:cubicBezTo>
                  <a:pt x="158750" y="123183"/>
                  <a:pt x="123183" y="158750"/>
                  <a:pt x="79375" y="158750"/>
                </a:cubicBezTo>
                <a:cubicBezTo>
                  <a:pt x="35567" y="158750"/>
                  <a:pt x="0" y="123183"/>
                  <a:pt x="0" y="79375"/>
                </a:cubicBezTo>
                <a:close/>
              </a:path>
            </a:pathLst>
          </a:custGeom>
          <a:solidFill>
            <a:srgbClr val="0071E3"/>
          </a:solidFill>
          <a:ln/>
        </p:spPr>
        <p:txBody>
          <a:bodyPr/>
          <a:lstStyle/>
          <a:p>
            <a:endParaRPr lang="zh-CN" altLang="en-US"/>
          </a:p>
        </p:txBody>
      </p:sp>
      <p:sp>
        <p:nvSpPr>
          <p:cNvPr id="8" name="Text 5"/>
          <p:cNvSpPr/>
          <p:nvPr/>
        </p:nvSpPr>
        <p:spPr>
          <a:xfrm>
            <a:off x="711729" y="4164542"/>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国际主流产品</a:t>
            </a:r>
            <a:endParaRPr lang="en-US" sz="1600" dirty="0"/>
          </a:p>
        </p:txBody>
      </p:sp>
      <p:sp>
        <p:nvSpPr>
          <p:cNvPr id="9" name="Shape 6"/>
          <p:cNvSpPr/>
          <p:nvPr/>
        </p:nvSpPr>
        <p:spPr>
          <a:xfrm>
            <a:off x="513292" y="4992688"/>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10" name="Text 7"/>
          <p:cNvSpPr/>
          <p:nvPr/>
        </p:nvSpPr>
        <p:spPr>
          <a:xfrm>
            <a:off x="513292" y="4577292"/>
            <a:ext cx="1238250"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Claude Code</a:t>
            </a:r>
            <a:endParaRPr lang="en-US" sz="1600" dirty="0"/>
          </a:p>
        </p:txBody>
      </p:sp>
      <p:sp>
        <p:nvSpPr>
          <p:cNvPr id="11" name="Text 8"/>
          <p:cNvSpPr/>
          <p:nvPr/>
        </p:nvSpPr>
        <p:spPr>
          <a:xfrm>
            <a:off x="513292" y="4767792"/>
            <a:ext cx="123031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Anthropic · 企业级首选</a:t>
            </a:r>
            <a:endParaRPr lang="en-US" sz="1600" dirty="0"/>
          </a:p>
        </p:txBody>
      </p:sp>
      <p:sp>
        <p:nvSpPr>
          <p:cNvPr id="12" name="Shape 9"/>
          <p:cNvSpPr/>
          <p:nvPr/>
        </p:nvSpPr>
        <p:spPr>
          <a:xfrm>
            <a:off x="5423959" y="4656667"/>
            <a:ext cx="381000" cy="190500"/>
          </a:xfrm>
          <a:custGeom>
            <a:avLst/>
            <a:gdLst/>
            <a:ahLst/>
            <a:cxnLst/>
            <a:rect l="l" t="t" r="r" b="b"/>
            <a:pathLst>
              <a:path w="381000" h="190500">
                <a:moveTo>
                  <a:pt x="95250" y="0"/>
                </a:moveTo>
                <a:lnTo>
                  <a:pt x="285750" y="0"/>
                </a:lnTo>
                <a:cubicBezTo>
                  <a:pt x="338320" y="0"/>
                  <a:pt x="381000" y="42680"/>
                  <a:pt x="381000" y="95250"/>
                </a:cubicBezTo>
                <a:lnTo>
                  <a:pt x="381000" y="95250"/>
                </a:lnTo>
                <a:cubicBezTo>
                  <a:pt x="381000" y="147820"/>
                  <a:pt x="338320" y="190500"/>
                  <a:pt x="285750" y="190500"/>
                </a:cubicBezTo>
                <a:lnTo>
                  <a:pt x="95250" y="190500"/>
                </a:lnTo>
                <a:cubicBezTo>
                  <a:pt x="42680" y="190500"/>
                  <a:pt x="0" y="147820"/>
                  <a:pt x="0" y="95250"/>
                </a:cubicBezTo>
                <a:lnTo>
                  <a:pt x="0" y="95250"/>
                </a:lnTo>
                <a:cubicBezTo>
                  <a:pt x="0" y="42680"/>
                  <a:pt x="42680" y="0"/>
                  <a:pt x="95250" y="0"/>
                </a:cubicBezTo>
                <a:close/>
              </a:path>
            </a:pathLst>
          </a:custGeom>
          <a:solidFill>
            <a:srgbClr val="0071E3">
              <a:alpha val="10196"/>
            </a:srgbClr>
          </a:solidFill>
          <a:ln/>
        </p:spPr>
        <p:txBody>
          <a:bodyPr/>
          <a:lstStyle/>
          <a:p>
            <a:endParaRPr lang="zh-CN" altLang="en-US"/>
          </a:p>
        </p:txBody>
      </p:sp>
      <p:sp>
        <p:nvSpPr>
          <p:cNvPr id="13" name="Text 10"/>
          <p:cNvSpPr/>
          <p:nvPr/>
        </p:nvSpPr>
        <p:spPr>
          <a:xfrm>
            <a:off x="5423959" y="4656667"/>
            <a:ext cx="428625" cy="190500"/>
          </a:xfrm>
          <a:prstGeom prst="rect">
            <a:avLst/>
          </a:prstGeom>
          <a:noFill/>
          <a:ln/>
        </p:spPr>
        <p:txBody>
          <a:bodyPr wrap="square" lIns="95250" tIns="31750" rIns="95250" bIns="31750" rtlCol="0" anchor="ctr"/>
          <a:lstStyle/>
          <a:p>
            <a:pPr>
              <a:lnSpc>
                <a:spcPct val="110000"/>
              </a:lnSpc>
            </a:pPr>
            <a:r>
              <a:rPr lang="en-US" sz="750" dirty="0">
                <a:solidFill>
                  <a:srgbClr val="0071E3"/>
                </a:solidFill>
                <a:latin typeface="MiSans" pitchFamily="34" charset="0"/>
                <a:ea typeface="MiSans" pitchFamily="34" charset="-122"/>
                <a:cs typeface="MiSans" pitchFamily="34" charset="-120"/>
              </a:rPr>
              <a:t>推荐</a:t>
            </a:r>
            <a:endParaRPr lang="en-US" sz="1600" dirty="0"/>
          </a:p>
        </p:txBody>
      </p:sp>
      <p:sp>
        <p:nvSpPr>
          <p:cNvPr id="14" name="Shape 11"/>
          <p:cNvSpPr/>
          <p:nvPr/>
        </p:nvSpPr>
        <p:spPr>
          <a:xfrm>
            <a:off x="513292" y="5569480"/>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15" name="Text 12"/>
          <p:cNvSpPr/>
          <p:nvPr/>
        </p:nvSpPr>
        <p:spPr>
          <a:xfrm>
            <a:off x="513292" y="5154085"/>
            <a:ext cx="12303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OpenCode</a:t>
            </a:r>
            <a:endParaRPr lang="en-US" sz="1600" dirty="0"/>
          </a:p>
        </p:txBody>
      </p:sp>
      <p:sp>
        <p:nvSpPr>
          <p:cNvPr id="16" name="Text 13"/>
          <p:cNvSpPr/>
          <p:nvPr/>
        </p:nvSpPr>
        <p:spPr>
          <a:xfrm>
            <a:off x="513292" y="5344585"/>
            <a:ext cx="1222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社区/开源 · 私有化部署</a:t>
            </a:r>
            <a:endParaRPr lang="en-US" sz="1600" dirty="0"/>
          </a:p>
        </p:txBody>
      </p:sp>
      <p:sp>
        <p:nvSpPr>
          <p:cNvPr id="17" name="Shape 14"/>
          <p:cNvSpPr/>
          <p:nvPr/>
        </p:nvSpPr>
        <p:spPr>
          <a:xfrm>
            <a:off x="5423959" y="5233460"/>
            <a:ext cx="381000" cy="190500"/>
          </a:xfrm>
          <a:custGeom>
            <a:avLst/>
            <a:gdLst/>
            <a:ahLst/>
            <a:cxnLst/>
            <a:rect l="l" t="t" r="r" b="b"/>
            <a:pathLst>
              <a:path w="381000" h="190500">
                <a:moveTo>
                  <a:pt x="95250" y="0"/>
                </a:moveTo>
                <a:lnTo>
                  <a:pt x="285750" y="0"/>
                </a:lnTo>
                <a:cubicBezTo>
                  <a:pt x="338320" y="0"/>
                  <a:pt x="381000" y="42680"/>
                  <a:pt x="381000" y="95250"/>
                </a:cubicBezTo>
                <a:lnTo>
                  <a:pt x="381000" y="95250"/>
                </a:lnTo>
                <a:cubicBezTo>
                  <a:pt x="381000" y="147820"/>
                  <a:pt x="338320" y="190500"/>
                  <a:pt x="285750" y="190500"/>
                </a:cubicBezTo>
                <a:lnTo>
                  <a:pt x="95250" y="190500"/>
                </a:lnTo>
                <a:cubicBezTo>
                  <a:pt x="42680" y="190500"/>
                  <a:pt x="0" y="147820"/>
                  <a:pt x="0" y="95250"/>
                </a:cubicBezTo>
                <a:lnTo>
                  <a:pt x="0" y="95250"/>
                </a:lnTo>
                <a:cubicBezTo>
                  <a:pt x="0" y="42680"/>
                  <a:pt x="42680" y="0"/>
                  <a:pt x="95250" y="0"/>
                </a:cubicBezTo>
                <a:close/>
              </a:path>
            </a:pathLst>
          </a:custGeom>
          <a:solidFill>
            <a:srgbClr val="0071E3">
              <a:alpha val="10196"/>
            </a:srgbClr>
          </a:solidFill>
          <a:ln/>
        </p:spPr>
        <p:txBody>
          <a:bodyPr/>
          <a:lstStyle/>
          <a:p>
            <a:endParaRPr lang="zh-CN" altLang="en-US"/>
          </a:p>
        </p:txBody>
      </p:sp>
      <p:sp>
        <p:nvSpPr>
          <p:cNvPr id="18" name="Text 15"/>
          <p:cNvSpPr/>
          <p:nvPr/>
        </p:nvSpPr>
        <p:spPr>
          <a:xfrm>
            <a:off x="5423959" y="5233460"/>
            <a:ext cx="428625" cy="190500"/>
          </a:xfrm>
          <a:prstGeom prst="rect">
            <a:avLst/>
          </a:prstGeom>
          <a:noFill/>
          <a:ln/>
        </p:spPr>
        <p:txBody>
          <a:bodyPr wrap="square" lIns="95250" tIns="31750" rIns="95250" bIns="31750" rtlCol="0" anchor="ctr"/>
          <a:lstStyle/>
          <a:p>
            <a:pPr>
              <a:lnSpc>
                <a:spcPct val="110000"/>
              </a:lnSpc>
            </a:pPr>
            <a:r>
              <a:rPr lang="en-US" sz="750" dirty="0">
                <a:solidFill>
                  <a:srgbClr val="0071E3"/>
                </a:solidFill>
                <a:latin typeface="MiSans" pitchFamily="34" charset="0"/>
                <a:ea typeface="MiSans" pitchFamily="34" charset="-122"/>
                <a:cs typeface="MiSans" pitchFamily="34" charset="-120"/>
              </a:rPr>
              <a:t>推荐</a:t>
            </a:r>
            <a:endParaRPr lang="en-US" sz="1600" dirty="0"/>
          </a:p>
        </p:txBody>
      </p:sp>
      <p:sp>
        <p:nvSpPr>
          <p:cNvPr id="19" name="Shape 16"/>
          <p:cNvSpPr/>
          <p:nvPr/>
        </p:nvSpPr>
        <p:spPr>
          <a:xfrm>
            <a:off x="513292" y="6146271"/>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20" name="Text 17"/>
          <p:cNvSpPr/>
          <p:nvPr/>
        </p:nvSpPr>
        <p:spPr>
          <a:xfrm>
            <a:off x="513292" y="5730875"/>
            <a:ext cx="89693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Codex CLI</a:t>
            </a:r>
            <a:endParaRPr lang="en-US" sz="1600" dirty="0"/>
          </a:p>
        </p:txBody>
      </p:sp>
      <p:sp>
        <p:nvSpPr>
          <p:cNvPr id="21" name="Text 18"/>
          <p:cNvSpPr/>
          <p:nvPr/>
        </p:nvSpPr>
        <p:spPr>
          <a:xfrm>
            <a:off x="513292" y="5921375"/>
            <a:ext cx="889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OpenAI · 轻量级</a:t>
            </a:r>
            <a:endParaRPr lang="en-US" sz="1600" dirty="0"/>
          </a:p>
        </p:txBody>
      </p:sp>
      <p:sp>
        <p:nvSpPr>
          <p:cNvPr id="22" name="Text 19"/>
          <p:cNvSpPr/>
          <p:nvPr/>
        </p:nvSpPr>
        <p:spPr>
          <a:xfrm>
            <a:off x="513292" y="6307667"/>
            <a:ext cx="124618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GitHub Copilot CLI</a:t>
            </a:r>
            <a:endParaRPr lang="en-US" sz="1600" dirty="0"/>
          </a:p>
        </p:txBody>
      </p:sp>
      <p:sp>
        <p:nvSpPr>
          <p:cNvPr id="23" name="Text 20"/>
          <p:cNvSpPr/>
          <p:nvPr/>
        </p:nvSpPr>
        <p:spPr>
          <a:xfrm>
            <a:off x="513292" y="6498167"/>
            <a:ext cx="123825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GitHub · Git工作流集成</a:t>
            </a:r>
            <a:endParaRPr lang="en-US" sz="1600" dirty="0"/>
          </a:p>
        </p:txBody>
      </p:sp>
      <p:sp>
        <p:nvSpPr>
          <p:cNvPr id="24" name="Shape 21"/>
          <p:cNvSpPr/>
          <p:nvPr/>
        </p:nvSpPr>
        <p:spPr>
          <a:xfrm>
            <a:off x="6193896" y="3971396"/>
            <a:ext cx="5680604" cy="2942167"/>
          </a:xfrm>
          <a:custGeom>
            <a:avLst/>
            <a:gdLst/>
            <a:ahLst/>
            <a:cxnLst/>
            <a:rect l="l" t="t" r="r" b="b"/>
            <a:pathLst>
              <a:path w="5680604" h="2942167">
                <a:moveTo>
                  <a:pt x="127013" y="0"/>
                </a:moveTo>
                <a:lnTo>
                  <a:pt x="5553591" y="0"/>
                </a:lnTo>
                <a:cubicBezTo>
                  <a:pt x="5623738" y="0"/>
                  <a:pt x="5680604" y="56866"/>
                  <a:pt x="5680604" y="127013"/>
                </a:cubicBezTo>
                <a:lnTo>
                  <a:pt x="5680604" y="2815153"/>
                </a:lnTo>
                <a:cubicBezTo>
                  <a:pt x="5680604" y="2885301"/>
                  <a:pt x="5623738" y="2942167"/>
                  <a:pt x="5553591" y="2942167"/>
                </a:cubicBezTo>
                <a:lnTo>
                  <a:pt x="127013" y="2942167"/>
                </a:lnTo>
                <a:cubicBezTo>
                  <a:pt x="56866" y="2942167"/>
                  <a:pt x="0" y="2885301"/>
                  <a:pt x="0" y="2815153"/>
                </a:cubicBezTo>
                <a:lnTo>
                  <a:pt x="0" y="127013"/>
                </a:lnTo>
                <a:cubicBezTo>
                  <a:pt x="0" y="56913"/>
                  <a:pt x="56913" y="0"/>
                  <a:pt x="127013"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25" name="Shape 22"/>
          <p:cNvSpPr/>
          <p:nvPr/>
        </p:nvSpPr>
        <p:spPr>
          <a:xfrm>
            <a:off x="6416807" y="4196292"/>
            <a:ext cx="138906" cy="158750"/>
          </a:xfrm>
          <a:custGeom>
            <a:avLst/>
            <a:gdLst/>
            <a:ahLst/>
            <a:cxnLst/>
            <a:rect l="l" t="t" r="r" b="b"/>
            <a:pathLst>
              <a:path w="138906" h="158750">
                <a:moveTo>
                  <a:pt x="19844" y="9922"/>
                </a:moveTo>
                <a:cubicBezTo>
                  <a:pt x="19844" y="4434"/>
                  <a:pt x="15410" y="0"/>
                  <a:pt x="9922" y="0"/>
                </a:cubicBezTo>
                <a:cubicBezTo>
                  <a:pt x="4434" y="0"/>
                  <a:pt x="0" y="4434"/>
                  <a:pt x="0" y="9922"/>
                </a:cubicBezTo>
                <a:lnTo>
                  <a:pt x="0" y="148828"/>
                </a:lnTo>
                <a:cubicBezTo>
                  <a:pt x="0" y="154316"/>
                  <a:pt x="4434" y="158750"/>
                  <a:pt x="9922" y="158750"/>
                </a:cubicBezTo>
                <a:cubicBezTo>
                  <a:pt x="15410" y="158750"/>
                  <a:pt x="19844" y="154316"/>
                  <a:pt x="19844" y="148828"/>
                </a:cubicBezTo>
                <a:lnTo>
                  <a:pt x="19844" y="111125"/>
                </a:lnTo>
                <a:lnTo>
                  <a:pt x="39284" y="105296"/>
                </a:lnTo>
                <a:cubicBezTo>
                  <a:pt x="52276" y="101389"/>
                  <a:pt x="66291" y="102598"/>
                  <a:pt x="78414" y="108676"/>
                </a:cubicBezTo>
                <a:cubicBezTo>
                  <a:pt x="91653" y="115311"/>
                  <a:pt x="107094" y="116117"/>
                  <a:pt x="120954" y="110908"/>
                </a:cubicBezTo>
                <a:lnTo>
                  <a:pt x="132457" y="106598"/>
                </a:lnTo>
                <a:cubicBezTo>
                  <a:pt x="136333" y="105141"/>
                  <a:pt x="138906" y="101451"/>
                  <a:pt x="138906" y="97296"/>
                </a:cubicBezTo>
                <a:lnTo>
                  <a:pt x="138906" y="20495"/>
                </a:lnTo>
                <a:cubicBezTo>
                  <a:pt x="138906" y="13364"/>
                  <a:pt x="131403" y="8713"/>
                  <a:pt x="125016" y="11906"/>
                </a:cubicBezTo>
                <a:lnTo>
                  <a:pt x="121357" y="13736"/>
                </a:lnTo>
                <a:cubicBezTo>
                  <a:pt x="107435" y="20712"/>
                  <a:pt x="91033" y="20712"/>
                  <a:pt x="77081" y="13736"/>
                </a:cubicBezTo>
                <a:cubicBezTo>
                  <a:pt x="65794" y="8093"/>
                  <a:pt x="52803" y="6976"/>
                  <a:pt x="40742" y="10604"/>
                </a:cubicBezTo>
                <a:lnTo>
                  <a:pt x="19844" y="16867"/>
                </a:lnTo>
                <a:lnTo>
                  <a:pt x="19844" y="9922"/>
                </a:lnTo>
                <a:close/>
              </a:path>
            </a:pathLst>
          </a:custGeom>
          <a:solidFill>
            <a:srgbClr val="0071E3"/>
          </a:solidFill>
          <a:ln/>
        </p:spPr>
        <p:txBody>
          <a:bodyPr/>
          <a:lstStyle/>
          <a:p>
            <a:endParaRPr lang="zh-CN" altLang="en-US"/>
          </a:p>
        </p:txBody>
      </p:sp>
      <p:sp>
        <p:nvSpPr>
          <p:cNvPr id="26" name="Text 23"/>
          <p:cNvSpPr/>
          <p:nvPr/>
        </p:nvSpPr>
        <p:spPr>
          <a:xfrm>
            <a:off x="6585479" y="4164542"/>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国内主流产品</a:t>
            </a:r>
            <a:endParaRPr lang="en-US" sz="1600" dirty="0"/>
          </a:p>
        </p:txBody>
      </p:sp>
      <p:sp>
        <p:nvSpPr>
          <p:cNvPr id="27" name="Shape 24"/>
          <p:cNvSpPr/>
          <p:nvPr/>
        </p:nvSpPr>
        <p:spPr>
          <a:xfrm>
            <a:off x="6387042" y="4992688"/>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28" name="Text 25"/>
          <p:cNvSpPr/>
          <p:nvPr/>
        </p:nvSpPr>
        <p:spPr>
          <a:xfrm>
            <a:off x="6387042" y="4577292"/>
            <a:ext cx="96043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CodeFuse CLI</a:t>
            </a:r>
            <a:endParaRPr lang="en-US" sz="1600" dirty="0"/>
          </a:p>
        </p:txBody>
      </p:sp>
      <p:sp>
        <p:nvSpPr>
          <p:cNvPr id="29" name="Text 26"/>
          <p:cNvSpPr/>
          <p:nvPr/>
        </p:nvSpPr>
        <p:spPr>
          <a:xfrm>
            <a:off x="6387042" y="4767792"/>
            <a:ext cx="9525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蚂蚁集团 · 金融级</a:t>
            </a:r>
            <a:endParaRPr lang="en-US" sz="1600" dirty="0"/>
          </a:p>
        </p:txBody>
      </p:sp>
      <p:sp>
        <p:nvSpPr>
          <p:cNvPr id="30" name="Shape 27"/>
          <p:cNvSpPr/>
          <p:nvPr/>
        </p:nvSpPr>
        <p:spPr>
          <a:xfrm>
            <a:off x="6387042" y="5569480"/>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31" name="Text 28"/>
          <p:cNvSpPr/>
          <p:nvPr/>
        </p:nvSpPr>
        <p:spPr>
          <a:xfrm>
            <a:off x="6387042" y="5154085"/>
            <a:ext cx="8493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文心快码</a:t>
            </a:r>
            <a:endParaRPr lang="en-US" sz="1600" dirty="0"/>
          </a:p>
        </p:txBody>
      </p:sp>
      <p:sp>
        <p:nvSpPr>
          <p:cNvPr id="32" name="Text 29"/>
          <p:cNvSpPr/>
          <p:nvPr/>
        </p:nvSpPr>
        <p:spPr>
          <a:xfrm>
            <a:off x="6387042" y="5344585"/>
            <a:ext cx="841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百度 · 全栈智能</a:t>
            </a:r>
            <a:endParaRPr lang="en-US" sz="1600" dirty="0"/>
          </a:p>
        </p:txBody>
      </p:sp>
      <p:sp>
        <p:nvSpPr>
          <p:cNvPr id="33" name="Shape 30"/>
          <p:cNvSpPr/>
          <p:nvPr/>
        </p:nvSpPr>
        <p:spPr>
          <a:xfrm>
            <a:off x="6387042" y="6146271"/>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34" name="Text 31"/>
          <p:cNvSpPr/>
          <p:nvPr/>
        </p:nvSpPr>
        <p:spPr>
          <a:xfrm>
            <a:off x="6387042" y="5730875"/>
            <a:ext cx="9128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CodeGeeX CLI</a:t>
            </a:r>
            <a:endParaRPr lang="en-US" sz="1600" dirty="0"/>
          </a:p>
        </p:txBody>
      </p:sp>
      <p:sp>
        <p:nvSpPr>
          <p:cNvPr id="35" name="Text 32"/>
          <p:cNvSpPr/>
          <p:nvPr/>
        </p:nvSpPr>
        <p:spPr>
          <a:xfrm>
            <a:off x="6387042" y="5921375"/>
            <a:ext cx="9048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智谱AI · 多语言</a:t>
            </a:r>
            <a:endParaRPr lang="en-US" sz="1600" dirty="0"/>
          </a:p>
        </p:txBody>
      </p:sp>
      <p:sp>
        <p:nvSpPr>
          <p:cNvPr id="36" name="Text 33"/>
          <p:cNvSpPr/>
          <p:nvPr/>
        </p:nvSpPr>
        <p:spPr>
          <a:xfrm>
            <a:off x="6387042" y="6307667"/>
            <a:ext cx="107156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华为云 CodeArts</a:t>
            </a:r>
            <a:endParaRPr lang="en-US" sz="1600" dirty="0"/>
          </a:p>
        </p:txBody>
      </p:sp>
      <p:sp>
        <p:nvSpPr>
          <p:cNvPr id="37" name="Text 34"/>
          <p:cNvSpPr/>
          <p:nvPr/>
        </p:nvSpPr>
        <p:spPr>
          <a:xfrm>
            <a:off x="6387042" y="6498167"/>
            <a:ext cx="106362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华为云 · 全生命周期</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37729" y="337729"/>
            <a:ext cx="11575645" cy="168864"/>
          </a:xfrm>
          <a:prstGeom prst="rect">
            <a:avLst/>
          </a:prstGeom>
          <a:noFill/>
          <a:ln/>
        </p:spPr>
        <p:txBody>
          <a:bodyPr wrap="square" lIns="0" tIns="0" rIns="0" bIns="0" rtlCol="0" anchor="ctr"/>
          <a:lstStyle/>
          <a:p>
            <a:pPr>
              <a:lnSpc>
                <a:spcPct val="120000"/>
              </a:lnSpc>
            </a:pPr>
            <a:r>
              <a:rPr lang="en-US" sz="931" b="1" kern="0" spc="47" dirty="0">
                <a:solidFill>
                  <a:srgbClr val="0071E3"/>
                </a:solidFill>
                <a:latin typeface="MiSans" pitchFamily="34" charset="0"/>
                <a:ea typeface="MiSans" pitchFamily="34" charset="-122"/>
                <a:cs typeface="MiSans" pitchFamily="34" charset="-120"/>
              </a:rPr>
              <a:t>03 / 典型案例</a:t>
            </a:r>
            <a:endParaRPr lang="en-US" sz="1600" dirty="0"/>
          </a:p>
        </p:txBody>
      </p:sp>
      <p:sp>
        <p:nvSpPr>
          <p:cNvPr id="3" name="Text 1"/>
          <p:cNvSpPr/>
          <p:nvPr/>
        </p:nvSpPr>
        <p:spPr>
          <a:xfrm>
            <a:off x="337729" y="574139"/>
            <a:ext cx="11668521" cy="337729"/>
          </a:xfrm>
          <a:prstGeom prst="rect">
            <a:avLst/>
          </a:prstGeom>
          <a:noFill/>
          <a:ln/>
        </p:spPr>
        <p:txBody>
          <a:bodyPr wrap="square" lIns="0" tIns="0" rIns="0" bIns="0" rtlCol="0" anchor="ctr"/>
          <a:lstStyle/>
          <a:p>
            <a:pPr>
              <a:lnSpc>
                <a:spcPct val="90000"/>
              </a:lnSpc>
            </a:pPr>
            <a:r>
              <a:rPr lang="en-US" sz="2393" b="1" dirty="0">
                <a:solidFill>
                  <a:srgbClr val="1D1D1D"/>
                </a:solidFill>
                <a:latin typeface="MiSans" pitchFamily="34" charset="0"/>
                <a:ea typeface="MiSans" pitchFamily="34" charset="-122"/>
                <a:cs typeface="MiSans" pitchFamily="34" charset="-120"/>
              </a:rPr>
              <a:t>数据库密码管理：项目背景</a:t>
            </a:r>
            <a:endParaRPr lang="en-US" sz="1600" dirty="0"/>
          </a:p>
        </p:txBody>
      </p:sp>
      <p:sp>
        <p:nvSpPr>
          <p:cNvPr id="4" name="Shape 2"/>
          <p:cNvSpPr/>
          <p:nvPr/>
        </p:nvSpPr>
        <p:spPr>
          <a:xfrm>
            <a:off x="340543" y="1117319"/>
            <a:ext cx="4480532" cy="2234637"/>
          </a:xfrm>
          <a:custGeom>
            <a:avLst/>
            <a:gdLst/>
            <a:ahLst/>
            <a:cxnLst/>
            <a:rect l="l" t="t" r="r" b="b"/>
            <a:pathLst>
              <a:path w="4480532" h="2234637">
                <a:moveTo>
                  <a:pt x="135084" y="0"/>
                </a:moveTo>
                <a:lnTo>
                  <a:pt x="4345448" y="0"/>
                </a:lnTo>
                <a:cubicBezTo>
                  <a:pt x="4420053" y="0"/>
                  <a:pt x="4480532" y="60479"/>
                  <a:pt x="4480532" y="135084"/>
                </a:cubicBezTo>
                <a:lnTo>
                  <a:pt x="4480532" y="2099553"/>
                </a:lnTo>
                <a:cubicBezTo>
                  <a:pt x="4480532" y="2174158"/>
                  <a:pt x="4420053" y="2234637"/>
                  <a:pt x="4345448" y="2234637"/>
                </a:cubicBezTo>
                <a:lnTo>
                  <a:pt x="135084" y="2234637"/>
                </a:lnTo>
                <a:cubicBezTo>
                  <a:pt x="60529" y="2234637"/>
                  <a:pt x="0" y="2174108"/>
                  <a:pt x="0" y="2099553"/>
                </a:cubicBezTo>
                <a:lnTo>
                  <a:pt x="0" y="135084"/>
                </a:lnTo>
                <a:cubicBezTo>
                  <a:pt x="0" y="60479"/>
                  <a:pt x="60479" y="0"/>
                  <a:pt x="135084"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5" name="Shape 3"/>
          <p:cNvSpPr/>
          <p:nvPr/>
        </p:nvSpPr>
        <p:spPr>
          <a:xfrm>
            <a:off x="545995" y="1322771"/>
            <a:ext cx="405274" cy="405274"/>
          </a:xfrm>
          <a:custGeom>
            <a:avLst/>
            <a:gdLst/>
            <a:ahLst/>
            <a:cxnLst/>
            <a:rect l="l" t="t" r="r" b="b"/>
            <a:pathLst>
              <a:path w="405274" h="405274">
                <a:moveTo>
                  <a:pt x="101319" y="0"/>
                </a:moveTo>
                <a:lnTo>
                  <a:pt x="303956" y="0"/>
                </a:lnTo>
                <a:cubicBezTo>
                  <a:pt x="359912" y="0"/>
                  <a:pt x="405274" y="45362"/>
                  <a:pt x="405274" y="101319"/>
                </a:cubicBezTo>
                <a:lnTo>
                  <a:pt x="405274" y="303956"/>
                </a:lnTo>
                <a:cubicBezTo>
                  <a:pt x="405274" y="359912"/>
                  <a:pt x="359912" y="405274"/>
                  <a:pt x="303956" y="405274"/>
                </a:cubicBezTo>
                <a:lnTo>
                  <a:pt x="101319" y="405274"/>
                </a:lnTo>
                <a:cubicBezTo>
                  <a:pt x="45362" y="405274"/>
                  <a:pt x="0" y="359912"/>
                  <a:pt x="0" y="303956"/>
                </a:cubicBezTo>
                <a:lnTo>
                  <a:pt x="0" y="101319"/>
                </a:lnTo>
                <a:cubicBezTo>
                  <a:pt x="0" y="45399"/>
                  <a:pt x="45399" y="0"/>
                  <a:pt x="101319" y="0"/>
                </a:cubicBezTo>
                <a:close/>
              </a:path>
            </a:pathLst>
          </a:custGeom>
          <a:solidFill>
            <a:srgbClr val="0071E3">
              <a:alpha val="10196"/>
            </a:srgbClr>
          </a:solidFill>
          <a:ln/>
        </p:spPr>
        <p:txBody>
          <a:bodyPr/>
          <a:lstStyle/>
          <a:p>
            <a:endParaRPr lang="zh-CN" altLang="en-US"/>
          </a:p>
        </p:txBody>
      </p:sp>
      <p:sp>
        <p:nvSpPr>
          <p:cNvPr id="6" name="Shape 4"/>
          <p:cNvSpPr/>
          <p:nvPr/>
        </p:nvSpPr>
        <p:spPr>
          <a:xfrm>
            <a:off x="647313" y="1424089"/>
            <a:ext cx="202637" cy="202637"/>
          </a:xfrm>
          <a:custGeom>
            <a:avLst/>
            <a:gdLst/>
            <a:ahLst/>
            <a:cxnLst/>
            <a:rect l="l" t="t" r="r" b="b"/>
            <a:pathLst>
              <a:path w="202637" h="202637">
                <a:moveTo>
                  <a:pt x="101319" y="0"/>
                </a:moveTo>
                <a:cubicBezTo>
                  <a:pt x="103139" y="0"/>
                  <a:pt x="104960" y="396"/>
                  <a:pt x="106622" y="1148"/>
                </a:cubicBezTo>
                <a:lnTo>
                  <a:pt x="181186" y="32770"/>
                </a:lnTo>
                <a:cubicBezTo>
                  <a:pt x="189893" y="36451"/>
                  <a:pt x="196384" y="45039"/>
                  <a:pt x="196344" y="55409"/>
                </a:cubicBezTo>
                <a:cubicBezTo>
                  <a:pt x="196146" y="94670"/>
                  <a:pt x="179999" y="166503"/>
                  <a:pt x="111807" y="199154"/>
                </a:cubicBezTo>
                <a:cubicBezTo>
                  <a:pt x="105197" y="202320"/>
                  <a:pt x="97519" y="202320"/>
                  <a:pt x="90910" y="199154"/>
                </a:cubicBezTo>
                <a:cubicBezTo>
                  <a:pt x="22678" y="166503"/>
                  <a:pt x="6570" y="94670"/>
                  <a:pt x="6372" y="55409"/>
                </a:cubicBezTo>
                <a:cubicBezTo>
                  <a:pt x="6332" y="45039"/>
                  <a:pt x="12823" y="36451"/>
                  <a:pt x="21530" y="32770"/>
                </a:cubicBezTo>
                <a:lnTo>
                  <a:pt x="96055" y="1148"/>
                </a:lnTo>
                <a:cubicBezTo>
                  <a:pt x="97717" y="396"/>
                  <a:pt x="99498" y="0"/>
                  <a:pt x="101319" y="0"/>
                </a:cubicBezTo>
                <a:close/>
                <a:moveTo>
                  <a:pt x="101319" y="26438"/>
                </a:moveTo>
                <a:lnTo>
                  <a:pt x="101319" y="176081"/>
                </a:lnTo>
                <a:cubicBezTo>
                  <a:pt x="155936" y="149643"/>
                  <a:pt x="170619" y="91068"/>
                  <a:pt x="170975" y="56002"/>
                </a:cubicBezTo>
                <a:lnTo>
                  <a:pt x="101319" y="26477"/>
                </a:lnTo>
                <a:lnTo>
                  <a:pt x="101319" y="26477"/>
                </a:lnTo>
                <a:close/>
              </a:path>
            </a:pathLst>
          </a:custGeom>
          <a:solidFill>
            <a:srgbClr val="0071E3"/>
          </a:solidFill>
          <a:ln/>
        </p:spPr>
        <p:txBody>
          <a:bodyPr/>
          <a:lstStyle/>
          <a:p>
            <a:endParaRPr lang="zh-CN" altLang="en-US"/>
          </a:p>
        </p:txBody>
      </p:sp>
      <p:sp>
        <p:nvSpPr>
          <p:cNvPr id="7" name="Text 5"/>
          <p:cNvSpPr/>
          <p:nvPr/>
        </p:nvSpPr>
        <p:spPr>
          <a:xfrm>
            <a:off x="1052587" y="1322771"/>
            <a:ext cx="2338770" cy="236410"/>
          </a:xfrm>
          <a:prstGeom prst="rect">
            <a:avLst/>
          </a:prstGeom>
          <a:noFill/>
          <a:ln/>
        </p:spPr>
        <p:txBody>
          <a:bodyPr wrap="square" lIns="0" tIns="0" rIns="0" bIns="0" rtlCol="0" anchor="ctr"/>
          <a:lstStyle/>
          <a:p>
            <a:pPr>
              <a:lnSpc>
                <a:spcPct val="120000"/>
              </a:lnSpc>
            </a:pPr>
            <a:r>
              <a:rPr lang="en-US" sz="1330" b="1" dirty="0">
                <a:solidFill>
                  <a:srgbClr val="1D1D1D"/>
                </a:solidFill>
                <a:latin typeface="MiSans" pitchFamily="34" charset="0"/>
                <a:ea typeface="MiSans" pitchFamily="34" charset="-122"/>
                <a:cs typeface="MiSans" pitchFamily="34" charset="-120"/>
              </a:rPr>
              <a:t>Database Password Manager</a:t>
            </a:r>
            <a:endParaRPr lang="en-US" sz="1600" dirty="0"/>
          </a:p>
        </p:txBody>
      </p:sp>
      <p:sp>
        <p:nvSpPr>
          <p:cNvPr id="8" name="Text 6"/>
          <p:cNvSpPr/>
          <p:nvPr/>
        </p:nvSpPr>
        <p:spPr>
          <a:xfrm>
            <a:off x="1052587" y="1559181"/>
            <a:ext cx="2313440"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基于SM4国密算法</a:t>
            </a:r>
            <a:endParaRPr lang="en-US" sz="1600" dirty="0"/>
          </a:p>
        </p:txBody>
      </p:sp>
      <p:sp>
        <p:nvSpPr>
          <p:cNvPr id="9" name="Text 7"/>
          <p:cNvSpPr/>
          <p:nvPr/>
        </p:nvSpPr>
        <p:spPr>
          <a:xfrm>
            <a:off x="545995" y="1863136"/>
            <a:ext cx="4137175" cy="439047"/>
          </a:xfrm>
          <a:prstGeom prst="rect">
            <a:avLst/>
          </a:prstGeom>
          <a:noFill/>
          <a:ln/>
        </p:spPr>
        <p:txBody>
          <a:bodyPr wrap="square" lIns="0" tIns="0" rIns="0" bIns="0" rtlCol="0" anchor="ctr"/>
          <a:lstStyle/>
          <a:p>
            <a:pPr>
              <a:lnSpc>
                <a:spcPct val="140000"/>
              </a:lnSpc>
            </a:pPr>
            <a:r>
              <a:rPr lang="en-US" sz="1064" dirty="0">
                <a:solidFill>
                  <a:srgbClr val="1D1D1D"/>
                </a:solidFill>
                <a:latin typeface="MiSans" pitchFamily="34" charset="0"/>
                <a:ea typeface="MiSans" pitchFamily="34" charset="-122"/>
                <a:cs typeface="MiSans" pitchFamily="34" charset="-120"/>
              </a:rPr>
              <a:t>提供</a:t>
            </a:r>
            <a:r>
              <a:rPr lang="en-US" sz="1064" b="1" dirty="0">
                <a:solidFill>
                  <a:srgbClr val="0071E3"/>
                </a:solidFill>
                <a:latin typeface="MiSans" pitchFamily="34" charset="0"/>
                <a:ea typeface="MiSans" pitchFamily="34" charset="-122"/>
                <a:cs typeface="MiSans" pitchFamily="34" charset="-120"/>
              </a:rPr>
              <a:t>7种</a:t>
            </a:r>
            <a:r>
              <a:rPr lang="en-US" sz="1064" dirty="0">
                <a:solidFill>
                  <a:srgbClr val="1D1D1D"/>
                </a:solidFill>
                <a:latin typeface="MiSans" pitchFamily="34" charset="0"/>
                <a:ea typeface="MiSans" pitchFamily="34" charset="-122"/>
                <a:cs typeface="MiSans" pitchFamily="34" charset="-120"/>
              </a:rPr>
              <a:t>核心集成模式，覆盖主流Java技术栈。核心目标是确保生产环境数据库密码不在代码库和配置文件中明文出现。</a:t>
            </a:r>
            <a:endParaRPr lang="en-US" sz="1600" dirty="0"/>
          </a:p>
        </p:txBody>
      </p:sp>
      <p:sp>
        <p:nvSpPr>
          <p:cNvPr id="10" name="Shape 8"/>
          <p:cNvSpPr/>
          <p:nvPr/>
        </p:nvSpPr>
        <p:spPr>
          <a:xfrm>
            <a:off x="545995" y="2437275"/>
            <a:ext cx="4069629" cy="709230"/>
          </a:xfrm>
          <a:custGeom>
            <a:avLst/>
            <a:gdLst/>
            <a:ahLst/>
            <a:cxnLst/>
            <a:rect l="l" t="t" r="r" b="b"/>
            <a:pathLst>
              <a:path w="4069629" h="709230">
                <a:moveTo>
                  <a:pt x="101321" y="0"/>
                </a:moveTo>
                <a:lnTo>
                  <a:pt x="3968308" y="0"/>
                </a:lnTo>
                <a:cubicBezTo>
                  <a:pt x="4024266" y="0"/>
                  <a:pt x="4069629" y="45363"/>
                  <a:pt x="4069629" y="101321"/>
                </a:cubicBezTo>
                <a:lnTo>
                  <a:pt x="4069629" y="607909"/>
                </a:lnTo>
                <a:cubicBezTo>
                  <a:pt x="4069629" y="663867"/>
                  <a:pt x="4024266" y="709230"/>
                  <a:pt x="3968308" y="709230"/>
                </a:cubicBezTo>
                <a:lnTo>
                  <a:pt x="101321" y="709230"/>
                </a:lnTo>
                <a:cubicBezTo>
                  <a:pt x="45363" y="709230"/>
                  <a:pt x="0" y="663867"/>
                  <a:pt x="0" y="607909"/>
                </a:cubicBezTo>
                <a:lnTo>
                  <a:pt x="0" y="101321"/>
                </a:lnTo>
                <a:cubicBezTo>
                  <a:pt x="0" y="45363"/>
                  <a:pt x="45363" y="0"/>
                  <a:pt x="101321" y="0"/>
                </a:cubicBezTo>
                <a:close/>
              </a:path>
            </a:pathLst>
          </a:custGeom>
          <a:solidFill>
            <a:srgbClr val="0071E3">
              <a:alpha val="5098"/>
            </a:srgbClr>
          </a:solidFill>
          <a:ln/>
        </p:spPr>
        <p:txBody>
          <a:bodyPr/>
          <a:lstStyle/>
          <a:p>
            <a:endParaRPr lang="zh-CN" altLang="en-US"/>
          </a:p>
        </p:txBody>
      </p:sp>
      <p:sp>
        <p:nvSpPr>
          <p:cNvPr id="11" name="Text 9"/>
          <p:cNvSpPr/>
          <p:nvPr/>
        </p:nvSpPr>
        <p:spPr>
          <a:xfrm>
            <a:off x="681086" y="2572366"/>
            <a:ext cx="3858548"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核心目标</a:t>
            </a:r>
            <a:endParaRPr lang="en-US" sz="1600" dirty="0"/>
          </a:p>
        </p:txBody>
      </p:sp>
      <p:sp>
        <p:nvSpPr>
          <p:cNvPr id="12" name="Text 10"/>
          <p:cNvSpPr/>
          <p:nvPr/>
        </p:nvSpPr>
        <p:spPr>
          <a:xfrm>
            <a:off x="681086" y="2808776"/>
            <a:ext cx="3866992"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生产环境数据库密码全程加密保护</a:t>
            </a:r>
            <a:endParaRPr lang="en-US" sz="1600" dirty="0"/>
          </a:p>
        </p:txBody>
      </p:sp>
      <p:sp>
        <p:nvSpPr>
          <p:cNvPr id="13" name="Shape 11"/>
          <p:cNvSpPr/>
          <p:nvPr/>
        </p:nvSpPr>
        <p:spPr>
          <a:xfrm>
            <a:off x="340543" y="3526450"/>
            <a:ext cx="4480532" cy="1592953"/>
          </a:xfrm>
          <a:custGeom>
            <a:avLst/>
            <a:gdLst/>
            <a:ahLst/>
            <a:cxnLst/>
            <a:rect l="l" t="t" r="r" b="b"/>
            <a:pathLst>
              <a:path w="4480532" h="1592953">
                <a:moveTo>
                  <a:pt x="135098" y="0"/>
                </a:moveTo>
                <a:lnTo>
                  <a:pt x="4345434" y="0"/>
                </a:lnTo>
                <a:cubicBezTo>
                  <a:pt x="4420046" y="0"/>
                  <a:pt x="4480532" y="60486"/>
                  <a:pt x="4480532" y="135098"/>
                </a:cubicBezTo>
                <a:lnTo>
                  <a:pt x="4480532" y="1457855"/>
                </a:lnTo>
                <a:cubicBezTo>
                  <a:pt x="4480532" y="1532467"/>
                  <a:pt x="4420046" y="1592953"/>
                  <a:pt x="4345434" y="1592953"/>
                </a:cubicBezTo>
                <a:lnTo>
                  <a:pt x="135098" y="1592953"/>
                </a:lnTo>
                <a:cubicBezTo>
                  <a:pt x="60486" y="1592953"/>
                  <a:pt x="0" y="1532467"/>
                  <a:pt x="0" y="1457855"/>
                </a:cubicBezTo>
                <a:lnTo>
                  <a:pt x="0" y="135098"/>
                </a:lnTo>
                <a:cubicBezTo>
                  <a:pt x="0" y="60486"/>
                  <a:pt x="60486" y="0"/>
                  <a:pt x="135098"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14" name="Shape 12"/>
          <p:cNvSpPr/>
          <p:nvPr/>
        </p:nvSpPr>
        <p:spPr>
          <a:xfrm>
            <a:off x="567103" y="3774116"/>
            <a:ext cx="151978" cy="151978"/>
          </a:xfrm>
          <a:custGeom>
            <a:avLst/>
            <a:gdLst/>
            <a:ahLst/>
            <a:cxnLst/>
            <a:rect l="l" t="t" r="r" b="b"/>
            <a:pathLst>
              <a:path w="151978" h="151978">
                <a:moveTo>
                  <a:pt x="99735" y="104485"/>
                </a:moveTo>
                <a:cubicBezTo>
                  <a:pt x="128588" y="104485"/>
                  <a:pt x="151978" y="81094"/>
                  <a:pt x="151978" y="52242"/>
                </a:cubicBezTo>
                <a:cubicBezTo>
                  <a:pt x="151978" y="23390"/>
                  <a:pt x="128588" y="0"/>
                  <a:pt x="99735" y="0"/>
                </a:cubicBezTo>
                <a:cubicBezTo>
                  <a:pt x="70883" y="0"/>
                  <a:pt x="47493" y="23390"/>
                  <a:pt x="47493" y="52242"/>
                </a:cubicBezTo>
                <a:cubicBezTo>
                  <a:pt x="47493" y="57793"/>
                  <a:pt x="48354" y="63166"/>
                  <a:pt x="49957" y="68182"/>
                </a:cubicBezTo>
                <a:lnTo>
                  <a:pt x="2078" y="116061"/>
                </a:lnTo>
                <a:cubicBezTo>
                  <a:pt x="742" y="117397"/>
                  <a:pt x="0" y="119208"/>
                  <a:pt x="0" y="121107"/>
                </a:cubicBezTo>
                <a:lnTo>
                  <a:pt x="0" y="144854"/>
                </a:lnTo>
                <a:cubicBezTo>
                  <a:pt x="0" y="148802"/>
                  <a:pt x="3176" y="151978"/>
                  <a:pt x="7124" y="151978"/>
                </a:cubicBezTo>
                <a:lnTo>
                  <a:pt x="30870" y="151978"/>
                </a:lnTo>
                <a:cubicBezTo>
                  <a:pt x="34818" y="151978"/>
                  <a:pt x="37994" y="148802"/>
                  <a:pt x="37994" y="144854"/>
                </a:cubicBezTo>
                <a:lnTo>
                  <a:pt x="37994" y="132981"/>
                </a:lnTo>
                <a:lnTo>
                  <a:pt x="49868" y="132981"/>
                </a:lnTo>
                <a:cubicBezTo>
                  <a:pt x="53816" y="132981"/>
                  <a:pt x="56992" y="129805"/>
                  <a:pt x="56992" y="125857"/>
                </a:cubicBezTo>
                <a:lnTo>
                  <a:pt x="56992" y="113983"/>
                </a:lnTo>
                <a:lnTo>
                  <a:pt x="68865" y="113983"/>
                </a:lnTo>
                <a:cubicBezTo>
                  <a:pt x="70765" y="113983"/>
                  <a:pt x="72575" y="113241"/>
                  <a:pt x="73911" y="111906"/>
                </a:cubicBezTo>
                <a:lnTo>
                  <a:pt x="83796" y="102021"/>
                </a:lnTo>
                <a:cubicBezTo>
                  <a:pt x="88812" y="103624"/>
                  <a:pt x="94185" y="104485"/>
                  <a:pt x="99735" y="104485"/>
                </a:cubicBezTo>
                <a:close/>
                <a:moveTo>
                  <a:pt x="111609" y="28496"/>
                </a:moveTo>
                <a:cubicBezTo>
                  <a:pt x="118162" y="28496"/>
                  <a:pt x="123482" y="33816"/>
                  <a:pt x="123482" y="40369"/>
                </a:cubicBezTo>
                <a:cubicBezTo>
                  <a:pt x="123482" y="46922"/>
                  <a:pt x="118162" y="52242"/>
                  <a:pt x="111609" y="52242"/>
                </a:cubicBezTo>
                <a:cubicBezTo>
                  <a:pt x="105056" y="52242"/>
                  <a:pt x="99735" y="46922"/>
                  <a:pt x="99735" y="40369"/>
                </a:cubicBezTo>
                <a:cubicBezTo>
                  <a:pt x="99735" y="33816"/>
                  <a:pt x="105056" y="28496"/>
                  <a:pt x="111609" y="28496"/>
                </a:cubicBezTo>
                <a:close/>
              </a:path>
            </a:pathLst>
          </a:custGeom>
          <a:solidFill>
            <a:srgbClr val="0071E3"/>
          </a:solidFill>
          <a:ln/>
        </p:spPr>
        <p:txBody>
          <a:bodyPr/>
          <a:lstStyle/>
          <a:p>
            <a:endParaRPr lang="zh-CN" altLang="en-US"/>
          </a:p>
        </p:txBody>
      </p:sp>
      <p:sp>
        <p:nvSpPr>
          <p:cNvPr id="15" name="Text 13"/>
          <p:cNvSpPr/>
          <p:nvPr/>
        </p:nvSpPr>
        <p:spPr>
          <a:xfrm>
            <a:off x="740188" y="3731900"/>
            <a:ext cx="3951424" cy="236410"/>
          </a:xfrm>
          <a:prstGeom prst="rect">
            <a:avLst/>
          </a:prstGeom>
          <a:noFill/>
          <a:ln/>
        </p:spPr>
        <p:txBody>
          <a:bodyPr wrap="square" lIns="0" tIns="0" rIns="0" bIns="0" rtlCol="0" anchor="ctr"/>
          <a:lstStyle/>
          <a:p>
            <a:pPr>
              <a:lnSpc>
                <a:spcPct val="130000"/>
              </a:lnSpc>
            </a:pPr>
            <a:r>
              <a:rPr lang="en-US" sz="1197" b="1" dirty="0">
                <a:solidFill>
                  <a:srgbClr val="1D1D1D"/>
                </a:solidFill>
                <a:latin typeface="MiSans" pitchFamily="34" charset="0"/>
                <a:ea typeface="MiSans" pitchFamily="34" charset="-122"/>
                <a:cs typeface="MiSans" pitchFamily="34" charset="-120"/>
              </a:rPr>
              <a:t>密码安全需求</a:t>
            </a:r>
            <a:endParaRPr lang="en-US" sz="1600" dirty="0"/>
          </a:p>
        </p:txBody>
      </p:sp>
      <p:sp>
        <p:nvSpPr>
          <p:cNvPr id="16" name="Shape 14"/>
          <p:cNvSpPr/>
          <p:nvPr/>
        </p:nvSpPr>
        <p:spPr>
          <a:xfrm>
            <a:off x="562881" y="4137175"/>
            <a:ext cx="135091" cy="135091"/>
          </a:xfrm>
          <a:custGeom>
            <a:avLst/>
            <a:gdLst/>
            <a:ahLst/>
            <a:cxnLst/>
            <a:rect l="l" t="t" r="r" b="b"/>
            <a:pathLst>
              <a:path w="135091" h="135091">
                <a:moveTo>
                  <a:pt x="67546" y="135091"/>
                </a:moveTo>
                <a:cubicBezTo>
                  <a:pt x="104825" y="135091"/>
                  <a:pt x="135091" y="104825"/>
                  <a:pt x="135091" y="67546"/>
                </a:cubicBezTo>
                <a:cubicBezTo>
                  <a:pt x="135091" y="30266"/>
                  <a:pt x="104825" y="0"/>
                  <a:pt x="67546" y="0"/>
                </a:cubicBezTo>
                <a:cubicBezTo>
                  <a:pt x="30266" y="0"/>
                  <a:pt x="0" y="30266"/>
                  <a:pt x="0" y="67546"/>
                </a:cubicBezTo>
                <a:cubicBezTo>
                  <a:pt x="0" y="104825"/>
                  <a:pt x="30266" y="135091"/>
                  <a:pt x="67546" y="135091"/>
                </a:cubicBezTo>
                <a:close/>
                <a:moveTo>
                  <a:pt x="89815" y="56121"/>
                </a:moveTo>
                <a:lnTo>
                  <a:pt x="68707" y="89894"/>
                </a:lnTo>
                <a:cubicBezTo>
                  <a:pt x="67598" y="91662"/>
                  <a:pt x="65699" y="92770"/>
                  <a:pt x="63614" y="92875"/>
                </a:cubicBezTo>
                <a:cubicBezTo>
                  <a:pt x="61530" y="92981"/>
                  <a:pt x="59525" y="92031"/>
                  <a:pt x="58285" y="90342"/>
                </a:cubicBezTo>
                <a:lnTo>
                  <a:pt x="45620" y="73456"/>
                </a:lnTo>
                <a:cubicBezTo>
                  <a:pt x="43509" y="70659"/>
                  <a:pt x="44089" y="66701"/>
                  <a:pt x="46886" y="64591"/>
                </a:cubicBezTo>
                <a:cubicBezTo>
                  <a:pt x="49683" y="62480"/>
                  <a:pt x="53641" y="63060"/>
                  <a:pt x="55752" y="65857"/>
                </a:cubicBezTo>
                <a:lnTo>
                  <a:pt x="62876" y="75356"/>
                </a:lnTo>
                <a:lnTo>
                  <a:pt x="79076" y="49419"/>
                </a:lnTo>
                <a:cubicBezTo>
                  <a:pt x="80923" y="46464"/>
                  <a:pt x="84828" y="45541"/>
                  <a:pt x="87809" y="47414"/>
                </a:cubicBezTo>
                <a:cubicBezTo>
                  <a:pt x="90791" y="49287"/>
                  <a:pt x="91688" y="53166"/>
                  <a:pt x="89815" y="56147"/>
                </a:cubicBezTo>
                <a:close/>
              </a:path>
            </a:pathLst>
          </a:custGeom>
          <a:solidFill>
            <a:srgbClr val="0071E3"/>
          </a:solidFill>
          <a:ln/>
        </p:spPr>
        <p:txBody>
          <a:bodyPr/>
          <a:lstStyle/>
          <a:p>
            <a:endParaRPr lang="zh-CN" altLang="en-US"/>
          </a:p>
        </p:txBody>
      </p:sp>
      <p:sp>
        <p:nvSpPr>
          <p:cNvPr id="17" name="Text 15"/>
          <p:cNvSpPr/>
          <p:nvPr/>
        </p:nvSpPr>
        <p:spPr>
          <a:xfrm>
            <a:off x="816177" y="4103402"/>
            <a:ext cx="2364100" cy="202637"/>
          </a:xfrm>
          <a:prstGeom prst="rect">
            <a:avLst/>
          </a:prstGeom>
          <a:noFill/>
          <a:ln/>
        </p:spPr>
        <p:txBody>
          <a:bodyPr wrap="square" lIns="0" tIns="0" rIns="0" bIns="0" rtlCol="0" anchor="ctr"/>
          <a:lstStyle/>
          <a:p>
            <a:pPr>
              <a:lnSpc>
                <a:spcPct val="130000"/>
              </a:lnSpc>
            </a:pPr>
            <a:r>
              <a:rPr lang="en-US" sz="1064" dirty="0">
                <a:solidFill>
                  <a:srgbClr val="1D1D1D"/>
                </a:solidFill>
                <a:latin typeface="MiSans" pitchFamily="34" charset="0"/>
                <a:ea typeface="MiSans" pitchFamily="34" charset="-122"/>
                <a:cs typeface="MiSans" pitchFamily="34" charset="-120"/>
              </a:rPr>
              <a:t>生产环境数据库密码不在代码库中出现</a:t>
            </a:r>
            <a:endParaRPr lang="en-US" sz="1600" dirty="0"/>
          </a:p>
        </p:txBody>
      </p:sp>
      <p:sp>
        <p:nvSpPr>
          <p:cNvPr id="18" name="Shape 16"/>
          <p:cNvSpPr/>
          <p:nvPr/>
        </p:nvSpPr>
        <p:spPr>
          <a:xfrm>
            <a:off x="562881" y="4441130"/>
            <a:ext cx="135091" cy="135091"/>
          </a:xfrm>
          <a:custGeom>
            <a:avLst/>
            <a:gdLst/>
            <a:ahLst/>
            <a:cxnLst/>
            <a:rect l="l" t="t" r="r" b="b"/>
            <a:pathLst>
              <a:path w="135091" h="135091">
                <a:moveTo>
                  <a:pt x="67546" y="135091"/>
                </a:moveTo>
                <a:cubicBezTo>
                  <a:pt x="104825" y="135091"/>
                  <a:pt x="135091" y="104825"/>
                  <a:pt x="135091" y="67546"/>
                </a:cubicBezTo>
                <a:cubicBezTo>
                  <a:pt x="135091" y="30266"/>
                  <a:pt x="104825" y="0"/>
                  <a:pt x="67546" y="0"/>
                </a:cubicBezTo>
                <a:cubicBezTo>
                  <a:pt x="30266" y="0"/>
                  <a:pt x="0" y="30266"/>
                  <a:pt x="0" y="67546"/>
                </a:cubicBezTo>
                <a:cubicBezTo>
                  <a:pt x="0" y="104825"/>
                  <a:pt x="30266" y="135091"/>
                  <a:pt x="67546" y="135091"/>
                </a:cubicBezTo>
                <a:close/>
                <a:moveTo>
                  <a:pt x="89815" y="56121"/>
                </a:moveTo>
                <a:lnTo>
                  <a:pt x="68707" y="89894"/>
                </a:lnTo>
                <a:cubicBezTo>
                  <a:pt x="67598" y="91662"/>
                  <a:pt x="65699" y="92770"/>
                  <a:pt x="63614" y="92875"/>
                </a:cubicBezTo>
                <a:cubicBezTo>
                  <a:pt x="61530" y="92981"/>
                  <a:pt x="59525" y="92031"/>
                  <a:pt x="58285" y="90342"/>
                </a:cubicBezTo>
                <a:lnTo>
                  <a:pt x="45620" y="73456"/>
                </a:lnTo>
                <a:cubicBezTo>
                  <a:pt x="43509" y="70659"/>
                  <a:pt x="44089" y="66701"/>
                  <a:pt x="46886" y="64591"/>
                </a:cubicBezTo>
                <a:cubicBezTo>
                  <a:pt x="49683" y="62480"/>
                  <a:pt x="53641" y="63060"/>
                  <a:pt x="55752" y="65857"/>
                </a:cubicBezTo>
                <a:lnTo>
                  <a:pt x="62876" y="75356"/>
                </a:lnTo>
                <a:lnTo>
                  <a:pt x="79076" y="49419"/>
                </a:lnTo>
                <a:cubicBezTo>
                  <a:pt x="80923" y="46464"/>
                  <a:pt x="84828" y="45541"/>
                  <a:pt x="87809" y="47414"/>
                </a:cubicBezTo>
                <a:cubicBezTo>
                  <a:pt x="90791" y="49287"/>
                  <a:pt x="91688" y="53166"/>
                  <a:pt x="89815" y="56147"/>
                </a:cubicBezTo>
                <a:close/>
              </a:path>
            </a:pathLst>
          </a:custGeom>
          <a:solidFill>
            <a:srgbClr val="0071E3"/>
          </a:solidFill>
          <a:ln/>
        </p:spPr>
        <p:txBody>
          <a:bodyPr/>
          <a:lstStyle/>
          <a:p>
            <a:endParaRPr lang="zh-CN" altLang="en-US"/>
          </a:p>
        </p:txBody>
      </p:sp>
      <p:sp>
        <p:nvSpPr>
          <p:cNvPr id="19" name="Text 17"/>
          <p:cNvSpPr/>
          <p:nvPr/>
        </p:nvSpPr>
        <p:spPr>
          <a:xfrm>
            <a:off x="816177" y="4407357"/>
            <a:ext cx="2229008" cy="202637"/>
          </a:xfrm>
          <a:prstGeom prst="rect">
            <a:avLst/>
          </a:prstGeom>
          <a:noFill/>
          <a:ln/>
        </p:spPr>
        <p:txBody>
          <a:bodyPr wrap="square" lIns="0" tIns="0" rIns="0" bIns="0" rtlCol="0" anchor="ctr"/>
          <a:lstStyle/>
          <a:p>
            <a:pPr>
              <a:lnSpc>
                <a:spcPct val="130000"/>
              </a:lnSpc>
            </a:pPr>
            <a:r>
              <a:rPr lang="en-US" sz="1064" dirty="0">
                <a:solidFill>
                  <a:srgbClr val="1D1D1D"/>
                </a:solidFill>
                <a:latin typeface="MiSans" pitchFamily="34" charset="0"/>
                <a:ea typeface="MiSans" pitchFamily="34" charset="-122"/>
                <a:cs typeface="MiSans" pitchFamily="34" charset="-120"/>
              </a:rPr>
              <a:t>不在开放测试环境的各类配置中出现</a:t>
            </a:r>
            <a:endParaRPr lang="en-US" sz="1600" dirty="0"/>
          </a:p>
        </p:txBody>
      </p:sp>
      <p:sp>
        <p:nvSpPr>
          <p:cNvPr id="20" name="Shape 18"/>
          <p:cNvSpPr/>
          <p:nvPr/>
        </p:nvSpPr>
        <p:spPr>
          <a:xfrm>
            <a:off x="562881" y="4745086"/>
            <a:ext cx="135091" cy="135091"/>
          </a:xfrm>
          <a:custGeom>
            <a:avLst/>
            <a:gdLst/>
            <a:ahLst/>
            <a:cxnLst/>
            <a:rect l="l" t="t" r="r" b="b"/>
            <a:pathLst>
              <a:path w="135091" h="135091">
                <a:moveTo>
                  <a:pt x="67546" y="135091"/>
                </a:moveTo>
                <a:cubicBezTo>
                  <a:pt x="104825" y="135091"/>
                  <a:pt x="135091" y="104825"/>
                  <a:pt x="135091" y="67546"/>
                </a:cubicBezTo>
                <a:cubicBezTo>
                  <a:pt x="135091" y="30266"/>
                  <a:pt x="104825" y="0"/>
                  <a:pt x="67546" y="0"/>
                </a:cubicBezTo>
                <a:cubicBezTo>
                  <a:pt x="30266" y="0"/>
                  <a:pt x="0" y="30266"/>
                  <a:pt x="0" y="67546"/>
                </a:cubicBezTo>
                <a:cubicBezTo>
                  <a:pt x="0" y="104825"/>
                  <a:pt x="30266" y="135091"/>
                  <a:pt x="67546" y="135091"/>
                </a:cubicBezTo>
                <a:close/>
                <a:moveTo>
                  <a:pt x="89815" y="56121"/>
                </a:moveTo>
                <a:lnTo>
                  <a:pt x="68707" y="89894"/>
                </a:lnTo>
                <a:cubicBezTo>
                  <a:pt x="67598" y="91662"/>
                  <a:pt x="65699" y="92770"/>
                  <a:pt x="63614" y="92875"/>
                </a:cubicBezTo>
                <a:cubicBezTo>
                  <a:pt x="61530" y="92981"/>
                  <a:pt x="59525" y="92031"/>
                  <a:pt x="58285" y="90342"/>
                </a:cubicBezTo>
                <a:lnTo>
                  <a:pt x="45620" y="73456"/>
                </a:lnTo>
                <a:cubicBezTo>
                  <a:pt x="43509" y="70659"/>
                  <a:pt x="44089" y="66701"/>
                  <a:pt x="46886" y="64591"/>
                </a:cubicBezTo>
                <a:cubicBezTo>
                  <a:pt x="49683" y="62480"/>
                  <a:pt x="53641" y="63060"/>
                  <a:pt x="55752" y="65857"/>
                </a:cubicBezTo>
                <a:lnTo>
                  <a:pt x="62876" y="75356"/>
                </a:lnTo>
                <a:lnTo>
                  <a:pt x="79076" y="49419"/>
                </a:lnTo>
                <a:cubicBezTo>
                  <a:pt x="80923" y="46464"/>
                  <a:pt x="84828" y="45541"/>
                  <a:pt x="87809" y="47414"/>
                </a:cubicBezTo>
                <a:cubicBezTo>
                  <a:pt x="90791" y="49287"/>
                  <a:pt x="91688" y="53166"/>
                  <a:pt x="89815" y="56147"/>
                </a:cubicBezTo>
                <a:close/>
              </a:path>
            </a:pathLst>
          </a:custGeom>
          <a:solidFill>
            <a:srgbClr val="0071E3"/>
          </a:solidFill>
          <a:ln/>
        </p:spPr>
        <p:txBody>
          <a:bodyPr/>
          <a:lstStyle/>
          <a:p>
            <a:endParaRPr lang="zh-CN" altLang="en-US"/>
          </a:p>
        </p:txBody>
      </p:sp>
      <p:sp>
        <p:nvSpPr>
          <p:cNvPr id="21" name="Text 19"/>
          <p:cNvSpPr/>
          <p:nvPr/>
        </p:nvSpPr>
        <p:spPr>
          <a:xfrm>
            <a:off x="816177" y="4711313"/>
            <a:ext cx="2769374" cy="202637"/>
          </a:xfrm>
          <a:prstGeom prst="rect">
            <a:avLst/>
          </a:prstGeom>
          <a:noFill/>
          <a:ln/>
        </p:spPr>
        <p:txBody>
          <a:bodyPr wrap="square" lIns="0" tIns="0" rIns="0" bIns="0" rtlCol="0" anchor="ctr"/>
          <a:lstStyle/>
          <a:p>
            <a:pPr>
              <a:lnSpc>
                <a:spcPct val="130000"/>
              </a:lnSpc>
            </a:pPr>
            <a:r>
              <a:rPr lang="en-US" sz="1064" dirty="0">
                <a:solidFill>
                  <a:srgbClr val="1D1D1D"/>
                </a:solidFill>
                <a:latin typeface="MiSans" pitchFamily="34" charset="0"/>
                <a:ea typeface="MiSans" pitchFamily="34" charset="-122"/>
                <a:cs typeface="MiSans" pitchFamily="34" charset="-120"/>
              </a:rPr>
              <a:t>密码在传输、存储、使用过程中全程加密保护</a:t>
            </a:r>
            <a:endParaRPr lang="en-US" sz="1600" dirty="0"/>
          </a:p>
        </p:txBody>
      </p:sp>
      <p:sp>
        <p:nvSpPr>
          <p:cNvPr id="22" name="Shape 20"/>
          <p:cNvSpPr/>
          <p:nvPr/>
        </p:nvSpPr>
        <p:spPr>
          <a:xfrm>
            <a:off x="5026703" y="1117319"/>
            <a:ext cx="6819302" cy="2563922"/>
          </a:xfrm>
          <a:custGeom>
            <a:avLst/>
            <a:gdLst/>
            <a:ahLst/>
            <a:cxnLst/>
            <a:rect l="l" t="t" r="r" b="b"/>
            <a:pathLst>
              <a:path w="6819302" h="2563922">
                <a:moveTo>
                  <a:pt x="135093" y="0"/>
                </a:moveTo>
                <a:lnTo>
                  <a:pt x="6684209" y="0"/>
                </a:lnTo>
                <a:cubicBezTo>
                  <a:pt x="6758819" y="0"/>
                  <a:pt x="6819302" y="60483"/>
                  <a:pt x="6819302" y="135093"/>
                </a:cubicBezTo>
                <a:lnTo>
                  <a:pt x="6819302" y="2428829"/>
                </a:lnTo>
                <a:cubicBezTo>
                  <a:pt x="6819302" y="2503439"/>
                  <a:pt x="6758819" y="2563922"/>
                  <a:pt x="6684209" y="2563922"/>
                </a:cubicBezTo>
                <a:lnTo>
                  <a:pt x="135093" y="2563922"/>
                </a:lnTo>
                <a:cubicBezTo>
                  <a:pt x="60483" y="2563922"/>
                  <a:pt x="0" y="2503439"/>
                  <a:pt x="0" y="2428829"/>
                </a:cubicBezTo>
                <a:lnTo>
                  <a:pt x="0" y="135093"/>
                </a:lnTo>
                <a:cubicBezTo>
                  <a:pt x="0" y="60533"/>
                  <a:pt x="60533" y="0"/>
                  <a:pt x="135093"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23" name="Shape 21"/>
          <p:cNvSpPr/>
          <p:nvPr/>
        </p:nvSpPr>
        <p:spPr>
          <a:xfrm>
            <a:off x="5232154" y="1356544"/>
            <a:ext cx="211080" cy="168864"/>
          </a:xfrm>
          <a:custGeom>
            <a:avLst/>
            <a:gdLst/>
            <a:ahLst/>
            <a:cxnLst/>
            <a:rect l="l" t="t" r="r" b="b"/>
            <a:pathLst>
              <a:path w="211080" h="168864">
                <a:moveTo>
                  <a:pt x="137169" y="69426"/>
                </a:moveTo>
                <a:cubicBezTo>
                  <a:pt x="141193" y="68337"/>
                  <a:pt x="145415" y="70250"/>
                  <a:pt x="147229" y="73977"/>
                </a:cubicBezTo>
                <a:lnTo>
                  <a:pt x="153363" y="86378"/>
                </a:lnTo>
                <a:cubicBezTo>
                  <a:pt x="156760" y="86840"/>
                  <a:pt x="160091" y="87763"/>
                  <a:pt x="163224" y="89050"/>
                </a:cubicBezTo>
                <a:lnTo>
                  <a:pt x="174768" y="81365"/>
                </a:lnTo>
                <a:cubicBezTo>
                  <a:pt x="178231" y="79056"/>
                  <a:pt x="182815" y="79518"/>
                  <a:pt x="185751" y="82453"/>
                </a:cubicBezTo>
                <a:lnTo>
                  <a:pt x="192083" y="88786"/>
                </a:lnTo>
                <a:cubicBezTo>
                  <a:pt x="195018" y="91721"/>
                  <a:pt x="195480" y="96338"/>
                  <a:pt x="193171" y="99768"/>
                </a:cubicBezTo>
                <a:lnTo>
                  <a:pt x="185487" y="111279"/>
                </a:lnTo>
                <a:cubicBezTo>
                  <a:pt x="186113" y="112829"/>
                  <a:pt x="186674" y="114445"/>
                  <a:pt x="187136" y="116127"/>
                </a:cubicBezTo>
                <a:cubicBezTo>
                  <a:pt x="187598" y="117809"/>
                  <a:pt x="187894" y="119458"/>
                  <a:pt x="188125" y="121140"/>
                </a:cubicBezTo>
                <a:lnTo>
                  <a:pt x="200559" y="127275"/>
                </a:lnTo>
                <a:cubicBezTo>
                  <a:pt x="204286" y="129122"/>
                  <a:pt x="206199" y="133343"/>
                  <a:pt x="205111" y="137334"/>
                </a:cubicBezTo>
                <a:lnTo>
                  <a:pt x="202802" y="145975"/>
                </a:lnTo>
                <a:cubicBezTo>
                  <a:pt x="201714" y="149966"/>
                  <a:pt x="197987" y="152670"/>
                  <a:pt x="193831" y="152407"/>
                </a:cubicBezTo>
                <a:lnTo>
                  <a:pt x="179979" y="151516"/>
                </a:lnTo>
                <a:cubicBezTo>
                  <a:pt x="177901" y="154188"/>
                  <a:pt x="175494" y="156661"/>
                  <a:pt x="172756" y="158772"/>
                </a:cubicBezTo>
                <a:lnTo>
                  <a:pt x="173647" y="172591"/>
                </a:lnTo>
                <a:cubicBezTo>
                  <a:pt x="173910" y="176747"/>
                  <a:pt x="171206" y="180507"/>
                  <a:pt x="167215" y="181562"/>
                </a:cubicBezTo>
                <a:lnTo>
                  <a:pt x="158574" y="183871"/>
                </a:lnTo>
                <a:cubicBezTo>
                  <a:pt x="154550" y="184959"/>
                  <a:pt x="150362" y="183046"/>
                  <a:pt x="148515" y="179319"/>
                </a:cubicBezTo>
                <a:lnTo>
                  <a:pt x="142380" y="166918"/>
                </a:lnTo>
                <a:cubicBezTo>
                  <a:pt x="138983" y="166457"/>
                  <a:pt x="135652" y="165533"/>
                  <a:pt x="132519" y="164247"/>
                </a:cubicBezTo>
                <a:lnTo>
                  <a:pt x="120975" y="171932"/>
                </a:lnTo>
                <a:cubicBezTo>
                  <a:pt x="117512" y="174240"/>
                  <a:pt x="112928" y="173778"/>
                  <a:pt x="109993" y="170843"/>
                </a:cubicBezTo>
                <a:lnTo>
                  <a:pt x="103660" y="164511"/>
                </a:lnTo>
                <a:cubicBezTo>
                  <a:pt x="100725" y="161575"/>
                  <a:pt x="100263" y="156991"/>
                  <a:pt x="102572" y="153528"/>
                </a:cubicBezTo>
                <a:lnTo>
                  <a:pt x="110256" y="141985"/>
                </a:lnTo>
                <a:cubicBezTo>
                  <a:pt x="109630" y="140434"/>
                  <a:pt x="109069" y="138818"/>
                  <a:pt x="108607" y="137136"/>
                </a:cubicBezTo>
                <a:cubicBezTo>
                  <a:pt x="108146" y="135454"/>
                  <a:pt x="107849" y="133772"/>
                  <a:pt x="107618" y="132123"/>
                </a:cubicBezTo>
                <a:lnTo>
                  <a:pt x="95184" y="125989"/>
                </a:lnTo>
                <a:cubicBezTo>
                  <a:pt x="91457" y="124142"/>
                  <a:pt x="89577" y="119920"/>
                  <a:pt x="90633" y="115929"/>
                </a:cubicBezTo>
                <a:lnTo>
                  <a:pt x="92941" y="107288"/>
                </a:lnTo>
                <a:cubicBezTo>
                  <a:pt x="94030" y="103297"/>
                  <a:pt x="97757" y="100593"/>
                  <a:pt x="101912" y="100857"/>
                </a:cubicBezTo>
                <a:lnTo>
                  <a:pt x="115731" y="101747"/>
                </a:lnTo>
                <a:cubicBezTo>
                  <a:pt x="117809" y="99076"/>
                  <a:pt x="120217" y="96602"/>
                  <a:pt x="122954" y="94491"/>
                </a:cubicBezTo>
                <a:lnTo>
                  <a:pt x="122064" y="80705"/>
                </a:lnTo>
                <a:cubicBezTo>
                  <a:pt x="121800" y="76550"/>
                  <a:pt x="124504" y="72790"/>
                  <a:pt x="128495" y="71734"/>
                </a:cubicBezTo>
                <a:lnTo>
                  <a:pt x="137136" y="69426"/>
                </a:lnTo>
                <a:close/>
                <a:moveTo>
                  <a:pt x="147888" y="112136"/>
                </a:moveTo>
                <a:cubicBezTo>
                  <a:pt x="139879" y="112146"/>
                  <a:pt x="133384" y="118655"/>
                  <a:pt x="133393" y="126665"/>
                </a:cubicBezTo>
                <a:cubicBezTo>
                  <a:pt x="133402" y="134674"/>
                  <a:pt x="139912" y="141169"/>
                  <a:pt x="147921" y="141160"/>
                </a:cubicBezTo>
                <a:cubicBezTo>
                  <a:pt x="155930" y="141151"/>
                  <a:pt x="162426" y="134641"/>
                  <a:pt x="162416" y="126632"/>
                </a:cubicBezTo>
                <a:cubicBezTo>
                  <a:pt x="162407" y="118622"/>
                  <a:pt x="155897" y="112127"/>
                  <a:pt x="147888" y="112136"/>
                </a:cubicBezTo>
                <a:close/>
                <a:moveTo>
                  <a:pt x="74175" y="-15006"/>
                </a:moveTo>
                <a:lnTo>
                  <a:pt x="82816" y="-12698"/>
                </a:lnTo>
                <a:cubicBezTo>
                  <a:pt x="86807" y="-11609"/>
                  <a:pt x="89511" y="-7850"/>
                  <a:pt x="89247" y="-3727"/>
                </a:cubicBezTo>
                <a:lnTo>
                  <a:pt x="88357" y="10059"/>
                </a:lnTo>
                <a:cubicBezTo>
                  <a:pt x="91094" y="12170"/>
                  <a:pt x="93502" y="14611"/>
                  <a:pt x="95580" y="17315"/>
                </a:cubicBezTo>
                <a:lnTo>
                  <a:pt x="109432" y="16425"/>
                </a:lnTo>
                <a:cubicBezTo>
                  <a:pt x="113555" y="16161"/>
                  <a:pt x="117314" y="18865"/>
                  <a:pt x="118403" y="22856"/>
                </a:cubicBezTo>
                <a:lnTo>
                  <a:pt x="120712" y="31497"/>
                </a:lnTo>
                <a:cubicBezTo>
                  <a:pt x="121767" y="35488"/>
                  <a:pt x="119887" y="39709"/>
                  <a:pt x="116160" y="41556"/>
                </a:cubicBezTo>
                <a:lnTo>
                  <a:pt x="103726" y="47691"/>
                </a:lnTo>
                <a:cubicBezTo>
                  <a:pt x="103495" y="49373"/>
                  <a:pt x="103166" y="51055"/>
                  <a:pt x="102737" y="52704"/>
                </a:cubicBezTo>
                <a:cubicBezTo>
                  <a:pt x="102308" y="54353"/>
                  <a:pt x="101714" y="56002"/>
                  <a:pt x="101088" y="57552"/>
                </a:cubicBezTo>
                <a:lnTo>
                  <a:pt x="108772" y="69096"/>
                </a:lnTo>
                <a:cubicBezTo>
                  <a:pt x="111081" y="72559"/>
                  <a:pt x="110619" y="77143"/>
                  <a:pt x="107684" y="80079"/>
                </a:cubicBezTo>
                <a:lnTo>
                  <a:pt x="101352" y="86411"/>
                </a:lnTo>
                <a:cubicBezTo>
                  <a:pt x="98416" y="89346"/>
                  <a:pt x="93832" y="89808"/>
                  <a:pt x="90369" y="87499"/>
                </a:cubicBezTo>
                <a:lnTo>
                  <a:pt x="78825" y="79815"/>
                </a:lnTo>
                <a:cubicBezTo>
                  <a:pt x="75692" y="81101"/>
                  <a:pt x="72361" y="82024"/>
                  <a:pt x="68964" y="82486"/>
                </a:cubicBezTo>
                <a:lnTo>
                  <a:pt x="62829" y="94887"/>
                </a:lnTo>
                <a:cubicBezTo>
                  <a:pt x="60982" y="98614"/>
                  <a:pt x="56761" y="100494"/>
                  <a:pt x="52770" y="99439"/>
                </a:cubicBezTo>
                <a:lnTo>
                  <a:pt x="44129" y="97130"/>
                </a:lnTo>
                <a:cubicBezTo>
                  <a:pt x="40105" y="96042"/>
                  <a:pt x="37434" y="92282"/>
                  <a:pt x="37698" y="88159"/>
                </a:cubicBezTo>
                <a:lnTo>
                  <a:pt x="38588" y="74340"/>
                </a:lnTo>
                <a:cubicBezTo>
                  <a:pt x="35851" y="72229"/>
                  <a:pt x="33443" y="69788"/>
                  <a:pt x="31365" y="67084"/>
                </a:cubicBezTo>
                <a:lnTo>
                  <a:pt x="17513" y="67974"/>
                </a:lnTo>
                <a:cubicBezTo>
                  <a:pt x="13390" y="68238"/>
                  <a:pt x="9631" y="65534"/>
                  <a:pt x="8542" y="61543"/>
                </a:cubicBezTo>
                <a:lnTo>
                  <a:pt x="6233" y="52902"/>
                </a:lnTo>
                <a:cubicBezTo>
                  <a:pt x="5178" y="48911"/>
                  <a:pt x="7058" y="44690"/>
                  <a:pt x="10785" y="42843"/>
                </a:cubicBezTo>
                <a:lnTo>
                  <a:pt x="23219" y="36708"/>
                </a:lnTo>
                <a:cubicBezTo>
                  <a:pt x="23450" y="35026"/>
                  <a:pt x="23780" y="33377"/>
                  <a:pt x="24208" y="31695"/>
                </a:cubicBezTo>
                <a:cubicBezTo>
                  <a:pt x="24670" y="30013"/>
                  <a:pt x="25198" y="28397"/>
                  <a:pt x="25857" y="26847"/>
                </a:cubicBezTo>
                <a:lnTo>
                  <a:pt x="18173" y="15336"/>
                </a:lnTo>
                <a:cubicBezTo>
                  <a:pt x="15864" y="11873"/>
                  <a:pt x="16326" y="7289"/>
                  <a:pt x="19261" y="4354"/>
                </a:cubicBezTo>
                <a:lnTo>
                  <a:pt x="25593" y="-1979"/>
                </a:lnTo>
                <a:cubicBezTo>
                  <a:pt x="28529" y="-4914"/>
                  <a:pt x="33113" y="-5376"/>
                  <a:pt x="36576" y="-3067"/>
                </a:cubicBezTo>
                <a:lnTo>
                  <a:pt x="48120" y="4617"/>
                </a:lnTo>
                <a:cubicBezTo>
                  <a:pt x="51253" y="3331"/>
                  <a:pt x="54584" y="2408"/>
                  <a:pt x="57981" y="1946"/>
                </a:cubicBezTo>
                <a:lnTo>
                  <a:pt x="64116" y="-10455"/>
                </a:lnTo>
                <a:cubicBezTo>
                  <a:pt x="65963" y="-14182"/>
                  <a:pt x="70151" y="-16062"/>
                  <a:pt x="74175" y="-15006"/>
                </a:cubicBezTo>
                <a:close/>
                <a:moveTo>
                  <a:pt x="63456" y="27704"/>
                </a:moveTo>
                <a:cubicBezTo>
                  <a:pt x="55447" y="27704"/>
                  <a:pt x="48944" y="34207"/>
                  <a:pt x="48944" y="42216"/>
                </a:cubicBezTo>
                <a:cubicBezTo>
                  <a:pt x="48944" y="50225"/>
                  <a:pt x="55447" y="56728"/>
                  <a:pt x="63456" y="56728"/>
                </a:cubicBezTo>
                <a:cubicBezTo>
                  <a:pt x="71465" y="56728"/>
                  <a:pt x="77968" y="50225"/>
                  <a:pt x="77968" y="42216"/>
                </a:cubicBezTo>
                <a:cubicBezTo>
                  <a:pt x="77968" y="34207"/>
                  <a:pt x="71465" y="27704"/>
                  <a:pt x="63456" y="27704"/>
                </a:cubicBezTo>
                <a:close/>
              </a:path>
            </a:pathLst>
          </a:custGeom>
          <a:solidFill>
            <a:srgbClr val="0071E3"/>
          </a:solidFill>
          <a:ln/>
        </p:spPr>
        <p:txBody>
          <a:bodyPr/>
          <a:lstStyle/>
          <a:p>
            <a:endParaRPr lang="zh-CN" altLang="en-US"/>
          </a:p>
        </p:txBody>
      </p:sp>
      <p:sp>
        <p:nvSpPr>
          <p:cNvPr id="24" name="Text 22"/>
          <p:cNvSpPr/>
          <p:nvPr/>
        </p:nvSpPr>
        <p:spPr>
          <a:xfrm>
            <a:off x="5443234" y="1322771"/>
            <a:ext cx="6281751" cy="236410"/>
          </a:xfrm>
          <a:prstGeom prst="rect">
            <a:avLst/>
          </a:prstGeom>
          <a:noFill/>
          <a:ln/>
        </p:spPr>
        <p:txBody>
          <a:bodyPr wrap="square" lIns="0" tIns="0" rIns="0" bIns="0" rtlCol="0" anchor="ctr"/>
          <a:lstStyle/>
          <a:p>
            <a:pPr>
              <a:lnSpc>
                <a:spcPct val="120000"/>
              </a:lnSpc>
            </a:pPr>
            <a:r>
              <a:rPr lang="en-US" sz="1330" b="1" dirty="0">
                <a:solidFill>
                  <a:srgbClr val="1D1D1D"/>
                </a:solidFill>
                <a:latin typeface="MiSans" pitchFamily="34" charset="0"/>
                <a:ea typeface="MiSans" pitchFamily="34" charset="-122"/>
                <a:cs typeface="MiSans" pitchFamily="34" charset="-120"/>
              </a:rPr>
              <a:t>核心特性</a:t>
            </a:r>
            <a:endParaRPr lang="en-US" sz="1600" dirty="0"/>
          </a:p>
        </p:txBody>
      </p:sp>
      <p:sp>
        <p:nvSpPr>
          <p:cNvPr id="25" name="Shape 23"/>
          <p:cNvSpPr/>
          <p:nvPr/>
        </p:nvSpPr>
        <p:spPr>
          <a:xfrm>
            <a:off x="5234968" y="1730859"/>
            <a:ext cx="3129618" cy="883723"/>
          </a:xfrm>
          <a:custGeom>
            <a:avLst/>
            <a:gdLst/>
            <a:ahLst/>
            <a:cxnLst/>
            <a:rect l="l" t="t" r="r" b="b"/>
            <a:pathLst>
              <a:path w="3129618" h="883723">
                <a:moveTo>
                  <a:pt x="101319" y="0"/>
                </a:moveTo>
                <a:lnTo>
                  <a:pt x="3028299" y="0"/>
                </a:lnTo>
                <a:cubicBezTo>
                  <a:pt x="3084256" y="0"/>
                  <a:pt x="3129618" y="45362"/>
                  <a:pt x="3129618" y="101319"/>
                </a:cubicBezTo>
                <a:lnTo>
                  <a:pt x="3129618" y="782404"/>
                </a:lnTo>
                <a:cubicBezTo>
                  <a:pt x="3129618" y="838361"/>
                  <a:pt x="3084256" y="883723"/>
                  <a:pt x="3028299" y="883723"/>
                </a:cubicBezTo>
                <a:lnTo>
                  <a:pt x="101319" y="883723"/>
                </a:lnTo>
                <a:cubicBezTo>
                  <a:pt x="45362" y="883723"/>
                  <a:pt x="0" y="838361"/>
                  <a:pt x="0" y="782404"/>
                </a:cubicBezTo>
                <a:lnTo>
                  <a:pt x="0" y="101319"/>
                </a:lnTo>
                <a:cubicBezTo>
                  <a:pt x="0" y="45399"/>
                  <a:pt x="45399" y="0"/>
                  <a:pt x="101319" y="0"/>
                </a:cubicBezTo>
                <a:close/>
              </a:path>
            </a:pathLst>
          </a:custGeom>
          <a:solidFill>
            <a:srgbClr val="FAFAFA"/>
          </a:solidFill>
          <a:ln w="8467">
            <a:solidFill>
              <a:srgbClr val="E5E5E5"/>
            </a:solidFill>
            <a:prstDash val="solid"/>
          </a:ln>
        </p:spPr>
        <p:txBody>
          <a:bodyPr/>
          <a:lstStyle/>
          <a:p>
            <a:endParaRPr lang="zh-CN" altLang="en-US"/>
          </a:p>
        </p:txBody>
      </p:sp>
      <p:sp>
        <p:nvSpPr>
          <p:cNvPr id="26" name="Shape 24"/>
          <p:cNvSpPr/>
          <p:nvPr/>
        </p:nvSpPr>
        <p:spPr>
          <a:xfrm>
            <a:off x="5406647" y="1902539"/>
            <a:ext cx="101319" cy="135091"/>
          </a:xfrm>
          <a:custGeom>
            <a:avLst/>
            <a:gdLst/>
            <a:ahLst/>
            <a:cxnLst/>
            <a:rect l="l" t="t" r="r" b="b"/>
            <a:pathLst>
              <a:path w="101319" h="135091">
                <a:moveTo>
                  <a:pt x="33773" y="25330"/>
                </a:moveTo>
                <a:lnTo>
                  <a:pt x="33773" y="42216"/>
                </a:lnTo>
                <a:lnTo>
                  <a:pt x="67546" y="42216"/>
                </a:lnTo>
                <a:lnTo>
                  <a:pt x="67546" y="25330"/>
                </a:lnTo>
                <a:cubicBezTo>
                  <a:pt x="67546" y="16016"/>
                  <a:pt x="59973" y="8443"/>
                  <a:pt x="50659" y="8443"/>
                </a:cubicBezTo>
                <a:cubicBezTo>
                  <a:pt x="41345" y="8443"/>
                  <a:pt x="33773" y="16016"/>
                  <a:pt x="33773" y="25330"/>
                </a:cubicBezTo>
                <a:close/>
                <a:moveTo>
                  <a:pt x="16886" y="42216"/>
                </a:moveTo>
                <a:lnTo>
                  <a:pt x="16886" y="25330"/>
                </a:lnTo>
                <a:cubicBezTo>
                  <a:pt x="16886" y="6675"/>
                  <a:pt x="32005" y="-8443"/>
                  <a:pt x="50659" y="-8443"/>
                </a:cubicBezTo>
                <a:cubicBezTo>
                  <a:pt x="69314" y="-8443"/>
                  <a:pt x="84432" y="6675"/>
                  <a:pt x="84432" y="25330"/>
                </a:cubicBezTo>
                <a:lnTo>
                  <a:pt x="84432" y="42216"/>
                </a:lnTo>
                <a:cubicBezTo>
                  <a:pt x="93746" y="42216"/>
                  <a:pt x="101319" y="49789"/>
                  <a:pt x="101319" y="59102"/>
                </a:cubicBezTo>
                <a:lnTo>
                  <a:pt x="101319" y="118205"/>
                </a:lnTo>
                <a:cubicBezTo>
                  <a:pt x="101319" y="127519"/>
                  <a:pt x="93746" y="135091"/>
                  <a:pt x="84432" y="135091"/>
                </a:cubicBezTo>
                <a:lnTo>
                  <a:pt x="16886" y="135091"/>
                </a:lnTo>
                <a:cubicBezTo>
                  <a:pt x="7573" y="135091"/>
                  <a:pt x="0" y="127519"/>
                  <a:pt x="0" y="118205"/>
                </a:cubicBezTo>
                <a:lnTo>
                  <a:pt x="0" y="59102"/>
                </a:lnTo>
                <a:cubicBezTo>
                  <a:pt x="0" y="49789"/>
                  <a:pt x="7573" y="42216"/>
                  <a:pt x="16886" y="42216"/>
                </a:cubicBezTo>
                <a:close/>
              </a:path>
            </a:pathLst>
          </a:custGeom>
          <a:solidFill>
            <a:srgbClr val="0071E3"/>
          </a:solidFill>
          <a:ln/>
        </p:spPr>
        <p:txBody>
          <a:bodyPr/>
          <a:lstStyle/>
          <a:p>
            <a:endParaRPr lang="zh-CN" altLang="en-US"/>
          </a:p>
        </p:txBody>
      </p:sp>
      <p:sp>
        <p:nvSpPr>
          <p:cNvPr id="27" name="Text 25"/>
          <p:cNvSpPr/>
          <p:nvPr/>
        </p:nvSpPr>
        <p:spPr>
          <a:xfrm>
            <a:off x="5609284" y="1868766"/>
            <a:ext cx="1258039"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SM4-GCM认证加密</a:t>
            </a:r>
            <a:endParaRPr lang="en-US" sz="1600" dirty="0"/>
          </a:p>
        </p:txBody>
      </p:sp>
      <p:sp>
        <p:nvSpPr>
          <p:cNvPr id="28" name="Text 26"/>
          <p:cNvSpPr/>
          <p:nvPr/>
        </p:nvSpPr>
        <p:spPr>
          <a:xfrm>
            <a:off x="5372874" y="2138949"/>
            <a:ext cx="2912909"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采用国密算法，支持认证加密防篡改</a:t>
            </a:r>
            <a:endParaRPr lang="en-US" sz="1600" dirty="0"/>
          </a:p>
        </p:txBody>
      </p:sp>
      <p:sp>
        <p:nvSpPr>
          <p:cNvPr id="29" name="Shape 27"/>
          <p:cNvSpPr/>
          <p:nvPr/>
        </p:nvSpPr>
        <p:spPr>
          <a:xfrm>
            <a:off x="8507505" y="1730859"/>
            <a:ext cx="3129618" cy="883723"/>
          </a:xfrm>
          <a:custGeom>
            <a:avLst/>
            <a:gdLst/>
            <a:ahLst/>
            <a:cxnLst/>
            <a:rect l="l" t="t" r="r" b="b"/>
            <a:pathLst>
              <a:path w="3129618" h="883723">
                <a:moveTo>
                  <a:pt x="101319" y="0"/>
                </a:moveTo>
                <a:lnTo>
                  <a:pt x="3028299" y="0"/>
                </a:lnTo>
                <a:cubicBezTo>
                  <a:pt x="3084256" y="0"/>
                  <a:pt x="3129618" y="45362"/>
                  <a:pt x="3129618" y="101319"/>
                </a:cubicBezTo>
                <a:lnTo>
                  <a:pt x="3129618" y="782404"/>
                </a:lnTo>
                <a:cubicBezTo>
                  <a:pt x="3129618" y="838361"/>
                  <a:pt x="3084256" y="883723"/>
                  <a:pt x="3028299" y="883723"/>
                </a:cubicBezTo>
                <a:lnTo>
                  <a:pt x="101319" y="883723"/>
                </a:lnTo>
                <a:cubicBezTo>
                  <a:pt x="45362" y="883723"/>
                  <a:pt x="0" y="838361"/>
                  <a:pt x="0" y="782404"/>
                </a:cubicBezTo>
                <a:lnTo>
                  <a:pt x="0" y="101319"/>
                </a:lnTo>
                <a:cubicBezTo>
                  <a:pt x="0" y="45399"/>
                  <a:pt x="45399" y="0"/>
                  <a:pt x="101319" y="0"/>
                </a:cubicBezTo>
                <a:close/>
              </a:path>
            </a:pathLst>
          </a:custGeom>
          <a:solidFill>
            <a:srgbClr val="FAFAFA"/>
          </a:solidFill>
          <a:ln w="8467">
            <a:solidFill>
              <a:srgbClr val="E5E5E5"/>
            </a:solidFill>
            <a:prstDash val="solid"/>
          </a:ln>
        </p:spPr>
        <p:txBody>
          <a:bodyPr/>
          <a:lstStyle/>
          <a:p>
            <a:endParaRPr lang="zh-CN" altLang="en-US"/>
          </a:p>
        </p:txBody>
      </p:sp>
      <p:sp>
        <p:nvSpPr>
          <p:cNvPr id="30" name="Shape 28"/>
          <p:cNvSpPr/>
          <p:nvPr/>
        </p:nvSpPr>
        <p:spPr>
          <a:xfrm>
            <a:off x="8662297" y="1902539"/>
            <a:ext cx="135091" cy="135091"/>
          </a:xfrm>
          <a:custGeom>
            <a:avLst/>
            <a:gdLst/>
            <a:ahLst/>
            <a:cxnLst/>
            <a:rect l="l" t="t" r="r" b="b"/>
            <a:pathLst>
              <a:path w="135091" h="135091">
                <a:moveTo>
                  <a:pt x="59102" y="0"/>
                </a:moveTo>
                <a:cubicBezTo>
                  <a:pt x="68416" y="0"/>
                  <a:pt x="75989" y="5673"/>
                  <a:pt x="75989" y="12665"/>
                </a:cubicBezTo>
                <a:cubicBezTo>
                  <a:pt x="75989" y="15409"/>
                  <a:pt x="74828" y="17942"/>
                  <a:pt x="72823" y="20026"/>
                </a:cubicBezTo>
                <a:cubicBezTo>
                  <a:pt x="71081" y="21847"/>
                  <a:pt x="69657" y="24063"/>
                  <a:pt x="69657" y="26596"/>
                </a:cubicBezTo>
                <a:cubicBezTo>
                  <a:pt x="69657" y="30554"/>
                  <a:pt x="72875" y="33773"/>
                  <a:pt x="76833" y="33773"/>
                </a:cubicBezTo>
                <a:lnTo>
                  <a:pt x="88654" y="33773"/>
                </a:lnTo>
                <a:cubicBezTo>
                  <a:pt x="95646" y="33773"/>
                  <a:pt x="101319" y="39446"/>
                  <a:pt x="101319" y="46438"/>
                </a:cubicBezTo>
                <a:lnTo>
                  <a:pt x="101319" y="58258"/>
                </a:lnTo>
                <a:cubicBezTo>
                  <a:pt x="101319" y="62216"/>
                  <a:pt x="104538" y="65435"/>
                  <a:pt x="108495" y="65435"/>
                </a:cubicBezTo>
                <a:cubicBezTo>
                  <a:pt x="111002" y="65435"/>
                  <a:pt x="113245" y="64010"/>
                  <a:pt x="115065" y="62269"/>
                </a:cubicBezTo>
                <a:cubicBezTo>
                  <a:pt x="117150" y="60290"/>
                  <a:pt x="119683" y="59102"/>
                  <a:pt x="122427" y="59102"/>
                </a:cubicBezTo>
                <a:cubicBezTo>
                  <a:pt x="129419" y="59102"/>
                  <a:pt x="135091" y="66675"/>
                  <a:pt x="135091" y="75989"/>
                </a:cubicBezTo>
                <a:cubicBezTo>
                  <a:pt x="135091" y="85303"/>
                  <a:pt x="129419" y="92875"/>
                  <a:pt x="122427" y="92875"/>
                </a:cubicBezTo>
                <a:cubicBezTo>
                  <a:pt x="119683" y="92875"/>
                  <a:pt x="117123" y="91714"/>
                  <a:pt x="115065" y="89709"/>
                </a:cubicBezTo>
                <a:cubicBezTo>
                  <a:pt x="113245" y="87968"/>
                  <a:pt x="111028" y="86543"/>
                  <a:pt x="108495" y="86543"/>
                </a:cubicBezTo>
                <a:cubicBezTo>
                  <a:pt x="104538" y="86543"/>
                  <a:pt x="101319" y="89762"/>
                  <a:pt x="101319" y="93720"/>
                </a:cubicBezTo>
                <a:lnTo>
                  <a:pt x="101319" y="122427"/>
                </a:lnTo>
                <a:cubicBezTo>
                  <a:pt x="101319" y="129419"/>
                  <a:pt x="95646" y="135091"/>
                  <a:pt x="88654" y="135091"/>
                </a:cubicBezTo>
                <a:lnTo>
                  <a:pt x="73667" y="135091"/>
                </a:lnTo>
                <a:cubicBezTo>
                  <a:pt x="70290" y="135091"/>
                  <a:pt x="67546" y="132347"/>
                  <a:pt x="67546" y="128970"/>
                </a:cubicBezTo>
                <a:cubicBezTo>
                  <a:pt x="67546" y="126543"/>
                  <a:pt x="69076" y="124405"/>
                  <a:pt x="71029" y="122954"/>
                </a:cubicBezTo>
                <a:cubicBezTo>
                  <a:pt x="74089" y="120659"/>
                  <a:pt x="75989" y="117493"/>
                  <a:pt x="75989" y="113983"/>
                </a:cubicBezTo>
                <a:cubicBezTo>
                  <a:pt x="75989" y="106991"/>
                  <a:pt x="68416" y="101319"/>
                  <a:pt x="59102" y="101319"/>
                </a:cubicBezTo>
                <a:cubicBezTo>
                  <a:pt x="49789" y="101319"/>
                  <a:pt x="42216" y="106991"/>
                  <a:pt x="42216" y="113983"/>
                </a:cubicBezTo>
                <a:cubicBezTo>
                  <a:pt x="42216" y="117493"/>
                  <a:pt x="44116" y="120659"/>
                  <a:pt x="47176" y="122954"/>
                </a:cubicBezTo>
                <a:cubicBezTo>
                  <a:pt x="49129" y="124405"/>
                  <a:pt x="50659" y="126516"/>
                  <a:pt x="50659" y="128970"/>
                </a:cubicBezTo>
                <a:cubicBezTo>
                  <a:pt x="50659" y="132347"/>
                  <a:pt x="47915" y="135091"/>
                  <a:pt x="44538" y="135091"/>
                </a:cubicBezTo>
                <a:lnTo>
                  <a:pt x="12665" y="135091"/>
                </a:lnTo>
                <a:cubicBezTo>
                  <a:pt x="5673" y="135091"/>
                  <a:pt x="0" y="129419"/>
                  <a:pt x="0" y="122427"/>
                </a:cubicBezTo>
                <a:lnTo>
                  <a:pt x="0" y="90553"/>
                </a:lnTo>
                <a:cubicBezTo>
                  <a:pt x="0" y="87176"/>
                  <a:pt x="2744" y="84432"/>
                  <a:pt x="6121" y="84432"/>
                </a:cubicBezTo>
                <a:cubicBezTo>
                  <a:pt x="8549" y="84432"/>
                  <a:pt x="10686" y="85962"/>
                  <a:pt x="12137" y="87915"/>
                </a:cubicBezTo>
                <a:cubicBezTo>
                  <a:pt x="14433" y="90976"/>
                  <a:pt x="17599" y="92875"/>
                  <a:pt x="21108" y="92875"/>
                </a:cubicBezTo>
                <a:cubicBezTo>
                  <a:pt x="28100" y="92875"/>
                  <a:pt x="33773" y="85303"/>
                  <a:pt x="33773" y="75989"/>
                </a:cubicBezTo>
                <a:cubicBezTo>
                  <a:pt x="33773" y="66675"/>
                  <a:pt x="28100" y="59102"/>
                  <a:pt x="21108" y="59102"/>
                </a:cubicBezTo>
                <a:cubicBezTo>
                  <a:pt x="17599" y="59102"/>
                  <a:pt x="14433" y="61002"/>
                  <a:pt x="12137" y="64063"/>
                </a:cubicBezTo>
                <a:cubicBezTo>
                  <a:pt x="10686" y="66015"/>
                  <a:pt x="8575" y="67546"/>
                  <a:pt x="6121" y="67546"/>
                </a:cubicBezTo>
                <a:cubicBezTo>
                  <a:pt x="2744" y="67546"/>
                  <a:pt x="0" y="64802"/>
                  <a:pt x="0" y="61424"/>
                </a:cubicBezTo>
                <a:lnTo>
                  <a:pt x="0" y="46438"/>
                </a:lnTo>
                <a:cubicBezTo>
                  <a:pt x="0" y="39446"/>
                  <a:pt x="5673" y="33773"/>
                  <a:pt x="12665" y="33773"/>
                </a:cubicBezTo>
                <a:lnTo>
                  <a:pt x="41372" y="33773"/>
                </a:lnTo>
                <a:cubicBezTo>
                  <a:pt x="45330" y="33773"/>
                  <a:pt x="48548" y="30554"/>
                  <a:pt x="48548" y="26596"/>
                </a:cubicBezTo>
                <a:cubicBezTo>
                  <a:pt x="48548" y="24090"/>
                  <a:pt x="47124" y="21847"/>
                  <a:pt x="45382" y="20026"/>
                </a:cubicBezTo>
                <a:cubicBezTo>
                  <a:pt x="43403" y="17942"/>
                  <a:pt x="42216" y="15409"/>
                  <a:pt x="42216" y="12665"/>
                </a:cubicBezTo>
                <a:cubicBezTo>
                  <a:pt x="42216" y="5673"/>
                  <a:pt x="49789" y="0"/>
                  <a:pt x="59102" y="0"/>
                </a:cubicBezTo>
                <a:close/>
              </a:path>
            </a:pathLst>
          </a:custGeom>
          <a:solidFill>
            <a:srgbClr val="0071E3"/>
          </a:solidFill>
          <a:ln/>
        </p:spPr>
        <p:txBody>
          <a:bodyPr/>
          <a:lstStyle/>
          <a:p>
            <a:endParaRPr lang="zh-CN" altLang="en-US"/>
          </a:p>
        </p:txBody>
      </p:sp>
      <p:sp>
        <p:nvSpPr>
          <p:cNvPr id="31" name="Text 29"/>
          <p:cNvSpPr/>
          <p:nvPr/>
        </p:nvSpPr>
        <p:spPr>
          <a:xfrm>
            <a:off x="8881821" y="1868766"/>
            <a:ext cx="810548"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7种集成模式</a:t>
            </a:r>
            <a:endParaRPr lang="en-US" sz="1600" dirty="0"/>
          </a:p>
        </p:txBody>
      </p:sp>
      <p:sp>
        <p:nvSpPr>
          <p:cNvPr id="32" name="Text 30"/>
          <p:cNvSpPr/>
          <p:nvPr/>
        </p:nvSpPr>
        <p:spPr>
          <a:xfrm>
            <a:off x="8645411" y="2138949"/>
            <a:ext cx="2912909" cy="337729"/>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Druid/Spring Boot/Spring/MyBatis/Servlet/纯JDBC/零代码</a:t>
            </a:r>
            <a:endParaRPr lang="en-US" sz="1600" dirty="0"/>
          </a:p>
        </p:txBody>
      </p:sp>
      <p:sp>
        <p:nvSpPr>
          <p:cNvPr id="33" name="Shape 31"/>
          <p:cNvSpPr/>
          <p:nvPr/>
        </p:nvSpPr>
        <p:spPr>
          <a:xfrm>
            <a:off x="5234968" y="2755302"/>
            <a:ext cx="3129618" cy="714859"/>
          </a:xfrm>
          <a:custGeom>
            <a:avLst/>
            <a:gdLst/>
            <a:ahLst/>
            <a:cxnLst/>
            <a:rect l="l" t="t" r="r" b="b"/>
            <a:pathLst>
              <a:path w="3129618" h="714859">
                <a:moveTo>
                  <a:pt x="101317" y="0"/>
                </a:moveTo>
                <a:lnTo>
                  <a:pt x="3028301" y="0"/>
                </a:lnTo>
                <a:cubicBezTo>
                  <a:pt x="3084257" y="0"/>
                  <a:pt x="3129618" y="45361"/>
                  <a:pt x="3129618" y="101317"/>
                </a:cubicBezTo>
                <a:lnTo>
                  <a:pt x="3129618" y="613542"/>
                </a:lnTo>
                <a:cubicBezTo>
                  <a:pt x="3129618" y="669498"/>
                  <a:pt x="3084257" y="714859"/>
                  <a:pt x="3028301" y="714859"/>
                </a:cubicBezTo>
                <a:lnTo>
                  <a:pt x="101317" y="714859"/>
                </a:lnTo>
                <a:cubicBezTo>
                  <a:pt x="45361" y="714859"/>
                  <a:pt x="0" y="669498"/>
                  <a:pt x="0" y="613542"/>
                </a:cubicBezTo>
                <a:lnTo>
                  <a:pt x="0" y="101317"/>
                </a:lnTo>
                <a:cubicBezTo>
                  <a:pt x="0" y="45399"/>
                  <a:pt x="45399" y="0"/>
                  <a:pt x="101317" y="0"/>
                </a:cubicBezTo>
                <a:close/>
              </a:path>
            </a:pathLst>
          </a:custGeom>
          <a:solidFill>
            <a:srgbClr val="FAFAFA"/>
          </a:solidFill>
          <a:ln w="8467">
            <a:solidFill>
              <a:srgbClr val="E5E5E5"/>
            </a:solidFill>
            <a:prstDash val="solid"/>
          </a:ln>
        </p:spPr>
        <p:txBody>
          <a:bodyPr/>
          <a:lstStyle/>
          <a:p>
            <a:endParaRPr lang="zh-CN" altLang="en-US"/>
          </a:p>
        </p:txBody>
      </p:sp>
      <p:sp>
        <p:nvSpPr>
          <p:cNvPr id="34" name="Shape 32"/>
          <p:cNvSpPr/>
          <p:nvPr/>
        </p:nvSpPr>
        <p:spPr>
          <a:xfrm>
            <a:off x="5381317" y="2926981"/>
            <a:ext cx="151978" cy="135091"/>
          </a:xfrm>
          <a:custGeom>
            <a:avLst/>
            <a:gdLst/>
            <a:ahLst/>
            <a:cxnLst/>
            <a:rect l="l" t="t" r="r" b="b"/>
            <a:pathLst>
              <a:path w="151978" h="135091">
                <a:moveTo>
                  <a:pt x="10818" y="-6570"/>
                </a:moveTo>
                <a:cubicBezTo>
                  <a:pt x="8338" y="-9050"/>
                  <a:pt x="4327" y="-9050"/>
                  <a:pt x="1873" y="-6570"/>
                </a:cubicBezTo>
                <a:cubicBezTo>
                  <a:pt x="-580" y="-4090"/>
                  <a:pt x="-607" y="-79"/>
                  <a:pt x="1847" y="2401"/>
                </a:cubicBezTo>
                <a:lnTo>
                  <a:pt x="141160" y="141714"/>
                </a:lnTo>
                <a:cubicBezTo>
                  <a:pt x="143640" y="144194"/>
                  <a:pt x="147651" y="144194"/>
                  <a:pt x="150105" y="141714"/>
                </a:cubicBezTo>
                <a:cubicBezTo>
                  <a:pt x="152558" y="139234"/>
                  <a:pt x="152585" y="135223"/>
                  <a:pt x="150105" y="132770"/>
                </a:cubicBezTo>
                <a:lnTo>
                  <a:pt x="124669" y="107334"/>
                </a:lnTo>
                <a:cubicBezTo>
                  <a:pt x="125382" y="106701"/>
                  <a:pt x="126094" y="106068"/>
                  <a:pt x="126780" y="105435"/>
                </a:cubicBezTo>
                <a:cubicBezTo>
                  <a:pt x="139128" y="93957"/>
                  <a:pt x="147387" y="80263"/>
                  <a:pt x="151318" y="70844"/>
                </a:cubicBezTo>
                <a:cubicBezTo>
                  <a:pt x="152189" y="68759"/>
                  <a:pt x="152189" y="66438"/>
                  <a:pt x="151318" y="64353"/>
                </a:cubicBezTo>
                <a:cubicBezTo>
                  <a:pt x="147387" y="54934"/>
                  <a:pt x="139128" y="41213"/>
                  <a:pt x="126780" y="29762"/>
                </a:cubicBezTo>
                <a:cubicBezTo>
                  <a:pt x="114353" y="18232"/>
                  <a:pt x="97282" y="8496"/>
                  <a:pt x="75963" y="8496"/>
                </a:cubicBezTo>
                <a:cubicBezTo>
                  <a:pt x="60976" y="8496"/>
                  <a:pt x="48100" y="13298"/>
                  <a:pt x="37440" y="20158"/>
                </a:cubicBezTo>
                <a:lnTo>
                  <a:pt x="10818" y="-6570"/>
                </a:lnTo>
                <a:close/>
                <a:moveTo>
                  <a:pt x="53957" y="36596"/>
                </a:moveTo>
                <a:cubicBezTo>
                  <a:pt x="60158" y="32163"/>
                  <a:pt x="67783" y="29551"/>
                  <a:pt x="75989" y="29551"/>
                </a:cubicBezTo>
                <a:cubicBezTo>
                  <a:pt x="96965" y="29551"/>
                  <a:pt x="113983" y="46570"/>
                  <a:pt x="113983" y="67546"/>
                </a:cubicBezTo>
                <a:cubicBezTo>
                  <a:pt x="113983" y="75751"/>
                  <a:pt x="111371" y="83350"/>
                  <a:pt x="106939" y="89577"/>
                </a:cubicBezTo>
                <a:lnTo>
                  <a:pt x="97783" y="80422"/>
                </a:lnTo>
                <a:cubicBezTo>
                  <a:pt x="101134" y="74775"/>
                  <a:pt x="102268" y="67836"/>
                  <a:pt x="100448" y="60976"/>
                </a:cubicBezTo>
                <a:cubicBezTo>
                  <a:pt x="96833" y="47467"/>
                  <a:pt x="82928" y="39446"/>
                  <a:pt x="69419" y="43060"/>
                </a:cubicBezTo>
                <a:cubicBezTo>
                  <a:pt x="67150" y="43667"/>
                  <a:pt x="65013" y="44564"/>
                  <a:pt x="63087" y="45699"/>
                </a:cubicBezTo>
                <a:lnTo>
                  <a:pt x="53931" y="36543"/>
                </a:lnTo>
                <a:close/>
                <a:moveTo>
                  <a:pt x="85831" y="104247"/>
                </a:moveTo>
                <a:cubicBezTo>
                  <a:pt x="82691" y="105092"/>
                  <a:pt x="79393" y="105540"/>
                  <a:pt x="75989" y="105540"/>
                </a:cubicBezTo>
                <a:cubicBezTo>
                  <a:pt x="55013" y="105540"/>
                  <a:pt x="37994" y="88522"/>
                  <a:pt x="37994" y="67546"/>
                </a:cubicBezTo>
                <a:cubicBezTo>
                  <a:pt x="37994" y="64142"/>
                  <a:pt x="38443" y="60844"/>
                  <a:pt x="39287" y="57704"/>
                </a:cubicBezTo>
                <a:lnTo>
                  <a:pt x="18311" y="36728"/>
                </a:lnTo>
                <a:cubicBezTo>
                  <a:pt x="9710" y="46438"/>
                  <a:pt x="3799" y="56728"/>
                  <a:pt x="660" y="64300"/>
                </a:cubicBezTo>
                <a:cubicBezTo>
                  <a:pt x="-211" y="66385"/>
                  <a:pt x="-211" y="68707"/>
                  <a:pt x="660" y="70791"/>
                </a:cubicBezTo>
                <a:cubicBezTo>
                  <a:pt x="4591" y="80211"/>
                  <a:pt x="12850" y="93931"/>
                  <a:pt x="25198" y="105382"/>
                </a:cubicBezTo>
                <a:cubicBezTo>
                  <a:pt x="37625" y="116912"/>
                  <a:pt x="54696" y="126648"/>
                  <a:pt x="76015" y="126648"/>
                </a:cubicBezTo>
                <a:cubicBezTo>
                  <a:pt x="85857" y="126648"/>
                  <a:pt x="94801" y="124564"/>
                  <a:pt x="102796" y="121213"/>
                </a:cubicBezTo>
                <a:lnTo>
                  <a:pt x="85857" y="104274"/>
                </a:lnTo>
                <a:close/>
              </a:path>
            </a:pathLst>
          </a:custGeom>
          <a:solidFill>
            <a:srgbClr val="0071E3"/>
          </a:solidFill>
          <a:ln/>
        </p:spPr>
        <p:txBody>
          <a:bodyPr/>
          <a:lstStyle/>
          <a:p>
            <a:endParaRPr lang="zh-CN" altLang="en-US"/>
          </a:p>
        </p:txBody>
      </p:sp>
      <p:sp>
        <p:nvSpPr>
          <p:cNvPr id="35" name="Text 33"/>
          <p:cNvSpPr/>
          <p:nvPr/>
        </p:nvSpPr>
        <p:spPr>
          <a:xfrm>
            <a:off x="5609284" y="2893208"/>
            <a:ext cx="743003"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应用无感知</a:t>
            </a:r>
            <a:endParaRPr lang="en-US" sz="1600" dirty="0"/>
          </a:p>
        </p:txBody>
      </p:sp>
      <p:sp>
        <p:nvSpPr>
          <p:cNvPr id="36" name="Text 34"/>
          <p:cNvSpPr/>
          <p:nvPr/>
        </p:nvSpPr>
        <p:spPr>
          <a:xfrm>
            <a:off x="5372874" y="3163391"/>
            <a:ext cx="2912909"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文件路径由PasswordService内部固定</a:t>
            </a:r>
            <a:endParaRPr lang="en-US" sz="1600" dirty="0"/>
          </a:p>
        </p:txBody>
      </p:sp>
      <p:sp>
        <p:nvSpPr>
          <p:cNvPr id="37" name="Shape 35"/>
          <p:cNvSpPr/>
          <p:nvPr/>
        </p:nvSpPr>
        <p:spPr>
          <a:xfrm>
            <a:off x="8507505" y="2755302"/>
            <a:ext cx="3129618" cy="714859"/>
          </a:xfrm>
          <a:custGeom>
            <a:avLst/>
            <a:gdLst/>
            <a:ahLst/>
            <a:cxnLst/>
            <a:rect l="l" t="t" r="r" b="b"/>
            <a:pathLst>
              <a:path w="3129618" h="714859">
                <a:moveTo>
                  <a:pt x="101317" y="0"/>
                </a:moveTo>
                <a:lnTo>
                  <a:pt x="3028301" y="0"/>
                </a:lnTo>
                <a:cubicBezTo>
                  <a:pt x="3084257" y="0"/>
                  <a:pt x="3129618" y="45361"/>
                  <a:pt x="3129618" y="101317"/>
                </a:cubicBezTo>
                <a:lnTo>
                  <a:pt x="3129618" y="613542"/>
                </a:lnTo>
                <a:cubicBezTo>
                  <a:pt x="3129618" y="669498"/>
                  <a:pt x="3084257" y="714859"/>
                  <a:pt x="3028301" y="714859"/>
                </a:cubicBezTo>
                <a:lnTo>
                  <a:pt x="101317" y="714859"/>
                </a:lnTo>
                <a:cubicBezTo>
                  <a:pt x="45361" y="714859"/>
                  <a:pt x="0" y="669498"/>
                  <a:pt x="0" y="613542"/>
                </a:cubicBezTo>
                <a:lnTo>
                  <a:pt x="0" y="101317"/>
                </a:lnTo>
                <a:cubicBezTo>
                  <a:pt x="0" y="45399"/>
                  <a:pt x="45399" y="0"/>
                  <a:pt x="101317" y="0"/>
                </a:cubicBezTo>
                <a:close/>
              </a:path>
            </a:pathLst>
          </a:custGeom>
          <a:solidFill>
            <a:srgbClr val="FAFAFA"/>
          </a:solidFill>
          <a:ln w="8467">
            <a:solidFill>
              <a:srgbClr val="E5E5E5"/>
            </a:solidFill>
            <a:prstDash val="solid"/>
          </a:ln>
        </p:spPr>
        <p:txBody>
          <a:bodyPr/>
          <a:lstStyle/>
          <a:p>
            <a:endParaRPr lang="zh-CN" altLang="en-US"/>
          </a:p>
        </p:txBody>
      </p:sp>
      <p:sp>
        <p:nvSpPr>
          <p:cNvPr id="38" name="Shape 36"/>
          <p:cNvSpPr/>
          <p:nvPr/>
        </p:nvSpPr>
        <p:spPr>
          <a:xfrm>
            <a:off x="8653854" y="2926981"/>
            <a:ext cx="151978" cy="135091"/>
          </a:xfrm>
          <a:custGeom>
            <a:avLst/>
            <a:gdLst/>
            <a:ahLst/>
            <a:cxnLst/>
            <a:rect l="l" t="t" r="r" b="b"/>
            <a:pathLst>
              <a:path w="151978" h="135091">
                <a:moveTo>
                  <a:pt x="95197" y="317"/>
                </a:moveTo>
                <a:cubicBezTo>
                  <a:pt x="90712" y="-976"/>
                  <a:pt x="86042" y="1636"/>
                  <a:pt x="84749" y="6121"/>
                </a:cubicBezTo>
                <a:lnTo>
                  <a:pt x="50976" y="124326"/>
                </a:lnTo>
                <a:cubicBezTo>
                  <a:pt x="49683" y="128812"/>
                  <a:pt x="52295" y="133482"/>
                  <a:pt x="56781" y="134775"/>
                </a:cubicBezTo>
                <a:cubicBezTo>
                  <a:pt x="61266" y="136068"/>
                  <a:pt x="65936" y="133456"/>
                  <a:pt x="67229" y="128970"/>
                </a:cubicBezTo>
                <a:lnTo>
                  <a:pt x="101002" y="10765"/>
                </a:lnTo>
                <a:cubicBezTo>
                  <a:pt x="102295" y="6280"/>
                  <a:pt x="99683" y="1609"/>
                  <a:pt x="95197" y="317"/>
                </a:cubicBezTo>
                <a:close/>
                <a:moveTo>
                  <a:pt x="112242" y="36227"/>
                </a:moveTo>
                <a:cubicBezTo>
                  <a:pt x="108944" y="39525"/>
                  <a:pt x="108944" y="44881"/>
                  <a:pt x="112242" y="48179"/>
                </a:cubicBezTo>
                <a:lnTo>
                  <a:pt x="131609" y="67546"/>
                </a:lnTo>
                <a:lnTo>
                  <a:pt x="112242" y="86912"/>
                </a:lnTo>
                <a:cubicBezTo>
                  <a:pt x="108944" y="90210"/>
                  <a:pt x="108944" y="95567"/>
                  <a:pt x="112242" y="98865"/>
                </a:cubicBezTo>
                <a:cubicBezTo>
                  <a:pt x="115540" y="102163"/>
                  <a:pt x="120896" y="102163"/>
                  <a:pt x="124194" y="98865"/>
                </a:cubicBezTo>
                <a:lnTo>
                  <a:pt x="149524" y="73535"/>
                </a:lnTo>
                <a:cubicBezTo>
                  <a:pt x="152822" y="70237"/>
                  <a:pt x="152822" y="64881"/>
                  <a:pt x="149524" y="61583"/>
                </a:cubicBezTo>
                <a:lnTo>
                  <a:pt x="124194" y="36253"/>
                </a:lnTo>
                <a:cubicBezTo>
                  <a:pt x="120896" y="32955"/>
                  <a:pt x="115540" y="32955"/>
                  <a:pt x="112242" y="36253"/>
                </a:cubicBezTo>
                <a:close/>
                <a:moveTo>
                  <a:pt x="39762" y="36227"/>
                </a:moveTo>
                <a:cubicBezTo>
                  <a:pt x="36464" y="32929"/>
                  <a:pt x="31108" y="32929"/>
                  <a:pt x="27810" y="36227"/>
                </a:cubicBezTo>
                <a:lnTo>
                  <a:pt x="2480" y="61556"/>
                </a:lnTo>
                <a:cubicBezTo>
                  <a:pt x="-818" y="64854"/>
                  <a:pt x="-818" y="70211"/>
                  <a:pt x="2480" y="73509"/>
                </a:cubicBezTo>
                <a:lnTo>
                  <a:pt x="27810" y="98838"/>
                </a:lnTo>
                <a:cubicBezTo>
                  <a:pt x="31108" y="102136"/>
                  <a:pt x="36464" y="102136"/>
                  <a:pt x="39762" y="98838"/>
                </a:cubicBezTo>
                <a:cubicBezTo>
                  <a:pt x="43060" y="95540"/>
                  <a:pt x="43060" y="90184"/>
                  <a:pt x="39762" y="86886"/>
                </a:cubicBezTo>
                <a:lnTo>
                  <a:pt x="20396" y="67546"/>
                </a:lnTo>
                <a:lnTo>
                  <a:pt x="39736" y="48179"/>
                </a:lnTo>
                <a:cubicBezTo>
                  <a:pt x="43034" y="44881"/>
                  <a:pt x="43034" y="39525"/>
                  <a:pt x="39736" y="36227"/>
                </a:cubicBezTo>
                <a:close/>
              </a:path>
            </a:pathLst>
          </a:custGeom>
          <a:solidFill>
            <a:srgbClr val="0071E3"/>
          </a:solidFill>
          <a:ln/>
        </p:spPr>
        <p:txBody>
          <a:bodyPr/>
          <a:lstStyle/>
          <a:p>
            <a:endParaRPr lang="zh-CN" altLang="en-US"/>
          </a:p>
        </p:txBody>
      </p:sp>
      <p:sp>
        <p:nvSpPr>
          <p:cNvPr id="39" name="Text 37"/>
          <p:cNvSpPr/>
          <p:nvPr/>
        </p:nvSpPr>
        <p:spPr>
          <a:xfrm>
            <a:off x="8881821" y="2893208"/>
            <a:ext cx="743003"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占位符格式</a:t>
            </a:r>
            <a:endParaRPr lang="en-US" sz="1600" dirty="0"/>
          </a:p>
        </p:txBody>
      </p:sp>
      <p:sp>
        <p:nvSpPr>
          <p:cNvPr id="40" name="Text 38"/>
          <p:cNvSpPr/>
          <p:nvPr/>
        </p:nvSpPr>
        <p:spPr>
          <a:xfrm>
            <a:off x="8645411" y="3163391"/>
            <a:ext cx="2912909"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使用@db_name@格式，应用配置无需知道文件位置</a:t>
            </a:r>
            <a:endParaRPr lang="en-US" sz="1600" dirty="0"/>
          </a:p>
        </p:txBody>
      </p:sp>
      <p:sp>
        <p:nvSpPr>
          <p:cNvPr id="41" name="Shape 39"/>
          <p:cNvSpPr/>
          <p:nvPr/>
        </p:nvSpPr>
        <p:spPr>
          <a:xfrm>
            <a:off x="5026703" y="3852920"/>
            <a:ext cx="6819302" cy="2496377"/>
          </a:xfrm>
          <a:custGeom>
            <a:avLst/>
            <a:gdLst/>
            <a:ahLst/>
            <a:cxnLst/>
            <a:rect l="l" t="t" r="r" b="b"/>
            <a:pathLst>
              <a:path w="6819302" h="2496377">
                <a:moveTo>
                  <a:pt x="135079" y="0"/>
                </a:moveTo>
                <a:lnTo>
                  <a:pt x="6684223" y="0"/>
                </a:lnTo>
                <a:cubicBezTo>
                  <a:pt x="6758825" y="0"/>
                  <a:pt x="6819302" y="60477"/>
                  <a:pt x="6819302" y="135079"/>
                </a:cubicBezTo>
                <a:lnTo>
                  <a:pt x="6819302" y="2361298"/>
                </a:lnTo>
                <a:cubicBezTo>
                  <a:pt x="6819302" y="2435900"/>
                  <a:pt x="6758825" y="2496377"/>
                  <a:pt x="6684223" y="2496377"/>
                </a:cubicBezTo>
                <a:lnTo>
                  <a:pt x="135079" y="2496377"/>
                </a:lnTo>
                <a:cubicBezTo>
                  <a:pt x="60477" y="2496377"/>
                  <a:pt x="0" y="2435900"/>
                  <a:pt x="0" y="2361298"/>
                </a:cubicBezTo>
                <a:lnTo>
                  <a:pt x="0" y="135079"/>
                </a:lnTo>
                <a:cubicBezTo>
                  <a:pt x="0" y="60477"/>
                  <a:pt x="60477" y="0"/>
                  <a:pt x="135079"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42" name="Shape 40"/>
          <p:cNvSpPr/>
          <p:nvPr/>
        </p:nvSpPr>
        <p:spPr>
          <a:xfrm>
            <a:off x="5253262" y="4092145"/>
            <a:ext cx="168864" cy="168864"/>
          </a:xfrm>
          <a:custGeom>
            <a:avLst/>
            <a:gdLst/>
            <a:ahLst/>
            <a:cxnLst/>
            <a:rect l="l" t="t" r="r" b="b"/>
            <a:pathLst>
              <a:path w="168864" h="168864">
                <a:moveTo>
                  <a:pt x="76682" y="1715"/>
                </a:moveTo>
                <a:cubicBezTo>
                  <a:pt x="81596" y="-561"/>
                  <a:pt x="87269" y="-561"/>
                  <a:pt x="92183" y="1715"/>
                </a:cubicBezTo>
                <a:lnTo>
                  <a:pt x="164280" y="35026"/>
                </a:lnTo>
                <a:cubicBezTo>
                  <a:pt x="167083" y="36312"/>
                  <a:pt x="168864" y="39116"/>
                  <a:pt x="168864" y="42216"/>
                </a:cubicBezTo>
                <a:cubicBezTo>
                  <a:pt x="168864" y="45316"/>
                  <a:pt x="167083" y="48120"/>
                  <a:pt x="164280" y="49406"/>
                </a:cubicBezTo>
                <a:lnTo>
                  <a:pt x="92183" y="82717"/>
                </a:lnTo>
                <a:cubicBezTo>
                  <a:pt x="87269" y="84993"/>
                  <a:pt x="81596" y="84993"/>
                  <a:pt x="76682" y="82717"/>
                </a:cubicBezTo>
                <a:lnTo>
                  <a:pt x="4584" y="49406"/>
                </a:lnTo>
                <a:cubicBezTo>
                  <a:pt x="1781" y="48087"/>
                  <a:pt x="0" y="45283"/>
                  <a:pt x="0" y="42216"/>
                </a:cubicBezTo>
                <a:cubicBezTo>
                  <a:pt x="0" y="39149"/>
                  <a:pt x="1781" y="36312"/>
                  <a:pt x="4584" y="35026"/>
                </a:cubicBezTo>
                <a:lnTo>
                  <a:pt x="76682" y="1715"/>
                </a:lnTo>
                <a:close/>
                <a:moveTo>
                  <a:pt x="15864" y="72031"/>
                </a:moveTo>
                <a:lnTo>
                  <a:pt x="70052" y="97064"/>
                </a:lnTo>
                <a:cubicBezTo>
                  <a:pt x="79188" y="101286"/>
                  <a:pt x="89709" y="101286"/>
                  <a:pt x="98845" y="97064"/>
                </a:cubicBezTo>
                <a:lnTo>
                  <a:pt x="153033" y="72031"/>
                </a:lnTo>
                <a:lnTo>
                  <a:pt x="164280" y="77242"/>
                </a:lnTo>
                <a:cubicBezTo>
                  <a:pt x="167083" y="78528"/>
                  <a:pt x="168864" y="81332"/>
                  <a:pt x="168864" y="84432"/>
                </a:cubicBezTo>
                <a:cubicBezTo>
                  <a:pt x="168864" y="87532"/>
                  <a:pt x="167083" y="90336"/>
                  <a:pt x="164280" y="91622"/>
                </a:cubicBezTo>
                <a:lnTo>
                  <a:pt x="92183" y="124933"/>
                </a:lnTo>
                <a:cubicBezTo>
                  <a:pt x="87269" y="127209"/>
                  <a:pt x="81596" y="127209"/>
                  <a:pt x="76682" y="124933"/>
                </a:cubicBezTo>
                <a:lnTo>
                  <a:pt x="4584" y="91622"/>
                </a:lnTo>
                <a:cubicBezTo>
                  <a:pt x="1781" y="90303"/>
                  <a:pt x="0" y="87499"/>
                  <a:pt x="0" y="84432"/>
                </a:cubicBezTo>
                <a:cubicBezTo>
                  <a:pt x="0" y="81365"/>
                  <a:pt x="1781" y="78528"/>
                  <a:pt x="4584" y="77242"/>
                </a:cubicBezTo>
                <a:lnTo>
                  <a:pt x="15831" y="72031"/>
                </a:lnTo>
                <a:close/>
                <a:moveTo>
                  <a:pt x="4584" y="119458"/>
                </a:moveTo>
                <a:lnTo>
                  <a:pt x="15831" y="114247"/>
                </a:lnTo>
                <a:lnTo>
                  <a:pt x="70019" y="139280"/>
                </a:lnTo>
                <a:cubicBezTo>
                  <a:pt x="79155" y="143502"/>
                  <a:pt x="89676" y="143502"/>
                  <a:pt x="98812" y="139280"/>
                </a:cubicBezTo>
                <a:lnTo>
                  <a:pt x="153000" y="114247"/>
                </a:lnTo>
                <a:lnTo>
                  <a:pt x="164247" y="119458"/>
                </a:lnTo>
                <a:cubicBezTo>
                  <a:pt x="167050" y="120745"/>
                  <a:pt x="168831" y="123548"/>
                  <a:pt x="168831" y="126648"/>
                </a:cubicBezTo>
                <a:cubicBezTo>
                  <a:pt x="168831" y="129748"/>
                  <a:pt x="167050" y="132552"/>
                  <a:pt x="164247" y="133838"/>
                </a:cubicBezTo>
                <a:lnTo>
                  <a:pt x="92150" y="167149"/>
                </a:lnTo>
                <a:cubicBezTo>
                  <a:pt x="87236" y="169425"/>
                  <a:pt x="81563" y="169425"/>
                  <a:pt x="76649" y="167149"/>
                </a:cubicBezTo>
                <a:lnTo>
                  <a:pt x="4584" y="133838"/>
                </a:lnTo>
                <a:cubicBezTo>
                  <a:pt x="1781" y="132519"/>
                  <a:pt x="0" y="129715"/>
                  <a:pt x="0" y="126648"/>
                </a:cubicBezTo>
                <a:cubicBezTo>
                  <a:pt x="0" y="123581"/>
                  <a:pt x="1781" y="120745"/>
                  <a:pt x="4584" y="119458"/>
                </a:cubicBezTo>
                <a:close/>
              </a:path>
            </a:pathLst>
          </a:custGeom>
          <a:solidFill>
            <a:srgbClr val="0071E3"/>
          </a:solidFill>
          <a:ln/>
        </p:spPr>
        <p:txBody>
          <a:bodyPr/>
          <a:lstStyle/>
          <a:p>
            <a:endParaRPr lang="zh-CN" altLang="en-US"/>
          </a:p>
        </p:txBody>
      </p:sp>
      <p:sp>
        <p:nvSpPr>
          <p:cNvPr id="43" name="Text 41"/>
          <p:cNvSpPr/>
          <p:nvPr/>
        </p:nvSpPr>
        <p:spPr>
          <a:xfrm>
            <a:off x="5443234" y="4058372"/>
            <a:ext cx="6281751" cy="236410"/>
          </a:xfrm>
          <a:prstGeom prst="rect">
            <a:avLst/>
          </a:prstGeom>
          <a:noFill/>
          <a:ln/>
        </p:spPr>
        <p:txBody>
          <a:bodyPr wrap="square" lIns="0" tIns="0" rIns="0" bIns="0" rtlCol="0" anchor="ctr"/>
          <a:lstStyle/>
          <a:p>
            <a:pPr>
              <a:lnSpc>
                <a:spcPct val="120000"/>
              </a:lnSpc>
            </a:pPr>
            <a:r>
              <a:rPr lang="en-US" sz="1330" b="1" dirty="0">
                <a:solidFill>
                  <a:srgbClr val="1D1D1D"/>
                </a:solidFill>
                <a:latin typeface="MiSans" pitchFamily="34" charset="0"/>
                <a:ea typeface="MiSans" pitchFamily="34" charset="-122"/>
                <a:cs typeface="MiSans" pitchFamily="34" charset="-120"/>
              </a:rPr>
              <a:t>7种集成模式</a:t>
            </a:r>
            <a:endParaRPr lang="en-US" sz="1600" dirty="0"/>
          </a:p>
        </p:txBody>
      </p:sp>
      <p:sp>
        <p:nvSpPr>
          <p:cNvPr id="44" name="Shape 42"/>
          <p:cNvSpPr/>
          <p:nvPr/>
        </p:nvSpPr>
        <p:spPr>
          <a:xfrm>
            <a:off x="5234968" y="4432688"/>
            <a:ext cx="1516964" cy="790848"/>
          </a:xfrm>
          <a:custGeom>
            <a:avLst/>
            <a:gdLst/>
            <a:ahLst/>
            <a:cxnLst/>
            <a:rect l="l" t="t" r="r" b="b"/>
            <a:pathLst>
              <a:path w="1516964" h="790848">
                <a:moveTo>
                  <a:pt x="67546" y="0"/>
                </a:moveTo>
                <a:lnTo>
                  <a:pt x="1449418" y="0"/>
                </a:lnTo>
                <a:cubicBezTo>
                  <a:pt x="1486698" y="0"/>
                  <a:pt x="1516964" y="30266"/>
                  <a:pt x="1516964" y="67546"/>
                </a:cubicBezTo>
                <a:lnTo>
                  <a:pt x="1516964" y="723301"/>
                </a:lnTo>
                <a:cubicBezTo>
                  <a:pt x="1516964" y="760581"/>
                  <a:pt x="1486698" y="790848"/>
                  <a:pt x="1449418" y="790848"/>
                </a:cubicBezTo>
                <a:lnTo>
                  <a:pt x="67546" y="790848"/>
                </a:lnTo>
                <a:cubicBezTo>
                  <a:pt x="30266" y="790848"/>
                  <a:pt x="0" y="760581"/>
                  <a:pt x="0" y="723301"/>
                </a:cubicBezTo>
                <a:lnTo>
                  <a:pt x="0" y="67546"/>
                </a:lnTo>
                <a:cubicBezTo>
                  <a:pt x="0" y="30266"/>
                  <a:pt x="30266" y="0"/>
                  <a:pt x="67546"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45" name="Text 43"/>
          <p:cNvSpPr/>
          <p:nvPr/>
        </p:nvSpPr>
        <p:spPr>
          <a:xfrm>
            <a:off x="5309550" y="4536821"/>
            <a:ext cx="1367801" cy="168864"/>
          </a:xfrm>
          <a:prstGeom prst="rect">
            <a:avLst/>
          </a:prstGeom>
          <a:noFill/>
          <a:ln/>
        </p:spPr>
        <p:txBody>
          <a:bodyPr wrap="square" lIns="0" tIns="0" rIns="0" bIns="0" rtlCol="0" anchor="ctr"/>
          <a:lstStyle/>
          <a:p>
            <a:pPr algn="ctr">
              <a:lnSpc>
                <a:spcPct val="120000"/>
              </a:lnSpc>
            </a:pPr>
            <a:r>
              <a:rPr lang="en-US" sz="931" b="1" dirty="0">
                <a:solidFill>
                  <a:srgbClr val="1D1D1D"/>
                </a:solidFill>
                <a:latin typeface="MiSans" pitchFamily="34" charset="0"/>
                <a:ea typeface="MiSans" pitchFamily="34" charset="-122"/>
                <a:cs typeface="MiSans" pitchFamily="34" charset="-120"/>
              </a:rPr>
              <a:t>方案1</a:t>
            </a:r>
            <a:endParaRPr lang="en-US" sz="1600" dirty="0"/>
          </a:p>
        </p:txBody>
      </p:sp>
      <p:sp>
        <p:nvSpPr>
          <p:cNvPr id="46" name="Text 44"/>
          <p:cNvSpPr/>
          <p:nvPr/>
        </p:nvSpPr>
        <p:spPr>
          <a:xfrm>
            <a:off x="5313772" y="4739458"/>
            <a:ext cx="1359357"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Druid连接池</a:t>
            </a:r>
            <a:endParaRPr lang="en-US" sz="1600" dirty="0"/>
          </a:p>
        </p:txBody>
      </p:sp>
      <p:sp>
        <p:nvSpPr>
          <p:cNvPr id="47" name="Shape 45"/>
          <p:cNvSpPr/>
          <p:nvPr/>
        </p:nvSpPr>
        <p:spPr>
          <a:xfrm>
            <a:off x="5725203" y="4942096"/>
            <a:ext cx="540366" cy="168864"/>
          </a:xfrm>
          <a:custGeom>
            <a:avLst/>
            <a:gdLst/>
            <a:ahLst/>
            <a:cxnLst/>
            <a:rect l="l" t="t" r="r" b="b"/>
            <a:pathLst>
              <a:path w="540366" h="168864">
                <a:moveTo>
                  <a:pt x="33773" y="0"/>
                </a:moveTo>
                <a:lnTo>
                  <a:pt x="506593" y="0"/>
                </a:lnTo>
                <a:cubicBezTo>
                  <a:pt x="525245" y="0"/>
                  <a:pt x="540366" y="15121"/>
                  <a:pt x="540366" y="33773"/>
                </a:cubicBezTo>
                <a:lnTo>
                  <a:pt x="540366" y="135091"/>
                </a:lnTo>
                <a:cubicBezTo>
                  <a:pt x="540366" y="153744"/>
                  <a:pt x="525245" y="168864"/>
                  <a:pt x="506593" y="168864"/>
                </a:cubicBezTo>
                <a:lnTo>
                  <a:pt x="33773" y="168864"/>
                </a:lnTo>
                <a:cubicBezTo>
                  <a:pt x="15133" y="168864"/>
                  <a:pt x="0" y="153731"/>
                  <a:pt x="0" y="135091"/>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48" name="Text 46"/>
          <p:cNvSpPr/>
          <p:nvPr/>
        </p:nvSpPr>
        <p:spPr>
          <a:xfrm>
            <a:off x="5699873" y="4942096"/>
            <a:ext cx="591025"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自动解密</a:t>
            </a:r>
            <a:endParaRPr lang="en-US" sz="1600" dirty="0"/>
          </a:p>
        </p:txBody>
      </p:sp>
      <p:sp>
        <p:nvSpPr>
          <p:cNvPr id="49" name="Shape 47"/>
          <p:cNvSpPr/>
          <p:nvPr/>
        </p:nvSpPr>
        <p:spPr>
          <a:xfrm>
            <a:off x="6862749" y="4432688"/>
            <a:ext cx="1516964" cy="790848"/>
          </a:xfrm>
          <a:custGeom>
            <a:avLst/>
            <a:gdLst/>
            <a:ahLst/>
            <a:cxnLst/>
            <a:rect l="l" t="t" r="r" b="b"/>
            <a:pathLst>
              <a:path w="1516964" h="790848">
                <a:moveTo>
                  <a:pt x="67546" y="0"/>
                </a:moveTo>
                <a:lnTo>
                  <a:pt x="1449418" y="0"/>
                </a:lnTo>
                <a:cubicBezTo>
                  <a:pt x="1486698" y="0"/>
                  <a:pt x="1516964" y="30266"/>
                  <a:pt x="1516964" y="67546"/>
                </a:cubicBezTo>
                <a:lnTo>
                  <a:pt x="1516964" y="723301"/>
                </a:lnTo>
                <a:cubicBezTo>
                  <a:pt x="1516964" y="760581"/>
                  <a:pt x="1486698" y="790848"/>
                  <a:pt x="1449418" y="790848"/>
                </a:cubicBezTo>
                <a:lnTo>
                  <a:pt x="67546" y="790848"/>
                </a:lnTo>
                <a:cubicBezTo>
                  <a:pt x="30266" y="790848"/>
                  <a:pt x="0" y="760581"/>
                  <a:pt x="0" y="723301"/>
                </a:cubicBezTo>
                <a:lnTo>
                  <a:pt x="0" y="67546"/>
                </a:lnTo>
                <a:cubicBezTo>
                  <a:pt x="0" y="30266"/>
                  <a:pt x="30266" y="0"/>
                  <a:pt x="67546"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50" name="Text 48"/>
          <p:cNvSpPr/>
          <p:nvPr/>
        </p:nvSpPr>
        <p:spPr>
          <a:xfrm>
            <a:off x="6937331" y="4536821"/>
            <a:ext cx="1367801" cy="168864"/>
          </a:xfrm>
          <a:prstGeom prst="rect">
            <a:avLst/>
          </a:prstGeom>
          <a:noFill/>
          <a:ln/>
        </p:spPr>
        <p:txBody>
          <a:bodyPr wrap="square" lIns="0" tIns="0" rIns="0" bIns="0" rtlCol="0" anchor="ctr"/>
          <a:lstStyle/>
          <a:p>
            <a:pPr algn="ctr">
              <a:lnSpc>
                <a:spcPct val="120000"/>
              </a:lnSpc>
            </a:pPr>
            <a:r>
              <a:rPr lang="en-US" sz="931" b="1" dirty="0">
                <a:solidFill>
                  <a:srgbClr val="1D1D1D"/>
                </a:solidFill>
                <a:latin typeface="MiSans" pitchFamily="34" charset="0"/>
                <a:ea typeface="MiSans" pitchFamily="34" charset="-122"/>
                <a:cs typeface="MiSans" pitchFamily="34" charset="-120"/>
              </a:rPr>
              <a:t>方案2</a:t>
            </a:r>
            <a:endParaRPr lang="en-US" sz="1600" dirty="0"/>
          </a:p>
        </p:txBody>
      </p:sp>
      <p:sp>
        <p:nvSpPr>
          <p:cNvPr id="51" name="Text 49"/>
          <p:cNvSpPr/>
          <p:nvPr/>
        </p:nvSpPr>
        <p:spPr>
          <a:xfrm>
            <a:off x="6941553" y="4739458"/>
            <a:ext cx="1359357"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Spring Boot</a:t>
            </a:r>
            <a:endParaRPr lang="en-US" sz="1600" dirty="0"/>
          </a:p>
        </p:txBody>
      </p:sp>
      <p:sp>
        <p:nvSpPr>
          <p:cNvPr id="52" name="Shape 50"/>
          <p:cNvSpPr/>
          <p:nvPr/>
        </p:nvSpPr>
        <p:spPr>
          <a:xfrm>
            <a:off x="7352983" y="4942096"/>
            <a:ext cx="540366" cy="168864"/>
          </a:xfrm>
          <a:custGeom>
            <a:avLst/>
            <a:gdLst/>
            <a:ahLst/>
            <a:cxnLst/>
            <a:rect l="l" t="t" r="r" b="b"/>
            <a:pathLst>
              <a:path w="540366" h="168864">
                <a:moveTo>
                  <a:pt x="33773" y="0"/>
                </a:moveTo>
                <a:lnTo>
                  <a:pt x="506593" y="0"/>
                </a:lnTo>
                <a:cubicBezTo>
                  <a:pt x="525245" y="0"/>
                  <a:pt x="540366" y="15121"/>
                  <a:pt x="540366" y="33773"/>
                </a:cubicBezTo>
                <a:lnTo>
                  <a:pt x="540366" y="135091"/>
                </a:lnTo>
                <a:cubicBezTo>
                  <a:pt x="540366" y="153744"/>
                  <a:pt x="525245" y="168864"/>
                  <a:pt x="506593" y="168864"/>
                </a:cubicBezTo>
                <a:lnTo>
                  <a:pt x="33773" y="168864"/>
                </a:lnTo>
                <a:cubicBezTo>
                  <a:pt x="15133" y="168864"/>
                  <a:pt x="0" y="153731"/>
                  <a:pt x="0" y="135091"/>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53" name="Text 51"/>
          <p:cNvSpPr/>
          <p:nvPr/>
        </p:nvSpPr>
        <p:spPr>
          <a:xfrm>
            <a:off x="7327654" y="4942096"/>
            <a:ext cx="591025"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自动解密</a:t>
            </a:r>
            <a:endParaRPr lang="en-US" sz="1600" dirty="0"/>
          </a:p>
        </p:txBody>
      </p:sp>
      <p:sp>
        <p:nvSpPr>
          <p:cNvPr id="54" name="Shape 52"/>
          <p:cNvSpPr/>
          <p:nvPr/>
        </p:nvSpPr>
        <p:spPr>
          <a:xfrm>
            <a:off x="8490618" y="4432688"/>
            <a:ext cx="1516964" cy="790848"/>
          </a:xfrm>
          <a:custGeom>
            <a:avLst/>
            <a:gdLst/>
            <a:ahLst/>
            <a:cxnLst/>
            <a:rect l="l" t="t" r="r" b="b"/>
            <a:pathLst>
              <a:path w="1516964" h="790848">
                <a:moveTo>
                  <a:pt x="67546" y="0"/>
                </a:moveTo>
                <a:lnTo>
                  <a:pt x="1449418" y="0"/>
                </a:lnTo>
                <a:cubicBezTo>
                  <a:pt x="1486698" y="0"/>
                  <a:pt x="1516964" y="30266"/>
                  <a:pt x="1516964" y="67546"/>
                </a:cubicBezTo>
                <a:lnTo>
                  <a:pt x="1516964" y="723301"/>
                </a:lnTo>
                <a:cubicBezTo>
                  <a:pt x="1516964" y="760581"/>
                  <a:pt x="1486698" y="790848"/>
                  <a:pt x="1449418" y="790848"/>
                </a:cubicBezTo>
                <a:lnTo>
                  <a:pt x="67546" y="790848"/>
                </a:lnTo>
                <a:cubicBezTo>
                  <a:pt x="30266" y="790848"/>
                  <a:pt x="0" y="760581"/>
                  <a:pt x="0" y="723301"/>
                </a:cubicBezTo>
                <a:lnTo>
                  <a:pt x="0" y="67546"/>
                </a:lnTo>
                <a:cubicBezTo>
                  <a:pt x="0" y="30266"/>
                  <a:pt x="30266" y="0"/>
                  <a:pt x="67546"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55" name="Text 53"/>
          <p:cNvSpPr/>
          <p:nvPr/>
        </p:nvSpPr>
        <p:spPr>
          <a:xfrm>
            <a:off x="8565200" y="4536821"/>
            <a:ext cx="1367801" cy="168864"/>
          </a:xfrm>
          <a:prstGeom prst="rect">
            <a:avLst/>
          </a:prstGeom>
          <a:noFill/>
          <a:ln/>
        </p:spPr>
        <p:txBody>
          <a:bodyPr wrap="square" lIns="0" tIns="0" rIns="0" bIns="0" rtlCol="0" anchor="ctr"/>
          <a:lstStyle/>
          <a:p>
            <a:pPr algn="ctr">
              <a:lnSpc>
                <a:spcPct val="120000"/>
              </a:lnSpc>
            </a:pPr>
            <a:r>
              <a:rPr lang="en-US" sz="931" b="1" dirty="0">
                <a:solidFill>
                  <a:srgbClr val="1D1D1D"/>
                </a:solidFill>
                <a:latin typeface="MiSans" pitchFamily="34" charset="0"/>
                <a:ea typeface="MiSans" pitchFamily="34" charset="-122"/>
                <a:cs typeface="MiSans" pitchFamily="34" charset="-120"/>
              </a:rPr>
              <a:t>方案3</a:t>
            </a:r>
            <a:endParaRPr lang="en-US" sz="1600" dirty="0"/>
          </a:p>
        </p:txBody>
      </p:sp>
      <p:sp>
        <p:nvSpPr>
          <p:cNvPr id="56" name="Text 54"/>
          <p:cNvSpPr/>
          <p:nvPr/>
        </p:nvSpPr>
        <p:spPr>
          <a:xfrm>
            <a:off x="8569422" y="4739458"/>
            <a:ext cx="1359357"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传统Spring</a:t>
            </a:r>
            <a:endParaRPr lang="en-US" sz="1600" dirty="0"/>
          </a:p>
        </p:txBody>
      </p:sp>
      <p:sp>
        <p:nvSpPr>
          <p:cNvPr id="57" name="Shape 55"/>
          <p:cNvSpPr/>
          <p:nvPr/>
        </p:nvSpPr>
        <p:spPr>
          <a:xfrm>
            <a:off x="8980853" y="4942096"/>
            <a:ext cx="540366" cy="168864"/>
          </a:xfrm>
          <a:custGeom>
            <a:avLst/>
            <a:gdLst/>
            <a:ahLst/>
            <a:cxnLst/>
            <a:rect l="l" t="t" r="r" b="b"/>
            <a:pathLst>
              <a:path w="540366" h="168864">
                <a:moveTo>
                  <a:pt x="33773" y="0"/>
                </a:moveTo>
                <a:lnTo>
                  <a:pt x="506593" y="0"/>
                </a:lnTo>
                <a:cubicBezTo>
                  <a:pt x="525245" y="0"/>
                  <a:pt x="540366" y="15121"/>
                  <a:pt x="540366" y="33773"/>
                </a:cubicBezTo>
                <a:lnTo>
                  <a:pt x="540366" y="135091"/>
                </a:lnTo>
                <a:cubicBezTo>
                  <a:pt x="540366" y="153744"/>
                  <a:pt x="525245" y="168864"/>
                  <a:pt x="506593" y="168864"/>
                </a:cubicBezTo>
                <a:lnTo>
                  <a:pt x="33773" y="168864"/>
                </a:lnTo>
                <a:cubicBezTo>
                  <a:pt x="15133" y="168864"/>
                  <a:pt x="0" y="153731"/>
                  <a:pt x="0" y="135091"/>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58" name="Text 56"/>
          <p:cNvSpPr/>
          <p:nvPr/>
        </p:nvSpPr>
        <p:spPr>
          <a:xfrm>
            <a:off x="8955523" y="4942096"/>
            <a:ext cx="591025"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自动解密</a:t>
            </a:r>
            <a:endParaRPr lang="en-US" sz="1600" dirty="0"/>
          </a:p>
        </p:txBody>
      </p:sp>
      <p:sp>
        <p:nvSpPr>
          <p:cNvPr id="59" name="Shape 57"/>
          <p:cNvSpPr/>
          <p:nvPr/>
        </p:nvSpPr>
        <p:spPr>
          <a:xfrm>
            <a:off x="10118488" y="4432688"/>
            <a:ext cx="1516964" cy="790848"/>
          </a:xfrm>
          <a:custGeom>
            <a:avLst/>
            <a:gdLst/>
            <a:ahLst/>
            <a:cxnLst/>
            <a:rect l="l" t="t" r="r" b="b"/>
            <a:pathLst>
              <a:path w="1516964" h="790848">
                <a:moveTo>
                  <a:pt x="67546" y="0"/>
                </a:moveTo>
                <a:lnTo>
                  <a:pt x="1449418" y="0"/>
                </a:lnTo>
                <a:cubicBezTo>
                  <a:pt x="1486698" y="0"/>
                  <a:pt x="1516964" y="30266"/>
                  <a:pt x="1516964" y="67546"/>
                </a:cubicBezTo>
                <a:lnTo>
                  <a:pt x="1516964" y="723301"/>
                </a:lnTo>
                <a:cubicBezTo>
                  <a:pt x="1516964" y="760581"/>
                  <a:pt x="1486698" y="790848"/>
                  <a:pt x="1449418" y="790848"/>
                </a:cubicBezTo>
                <a:lnTo>
                  <a:pt x="67546" y="790848"/>
                </a:lnTo>
                <a:cubicBezTo>
                  <a:pt x="30266" y="790848"/>
                  <a:pt x="0" y="760581"/>
                  <a:pt x="0" y="723301"/>
                </a:cubicBezTo>
                <a:lnTo>
                  <a:pt x="0" y="67546"/>
                </a:lnTo>
                <a:cubicBezTo>
                  <a:pt x="0" y="30266"/>
                  <a:pt x="30266" y="0"/>
                  <a:pt x="67546"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60" name="Text 58"/>
          <p:cNvSpPr/>
          <p:nvPr/>
        </p:nvSpPr>
        <p:spPr>
          <a:xfrm>
            <a:off x="10193069" y="4536821"/>
            <a:ext cx="1367801" cy="168864"/>
          </a:xfrm>
          <a:prstGeom prst="rect">
            <a:avLst/>
          </a:prstGeom>
          <a:noFill/>
          <a:ln/>
        </p:spPr>
        <p:txBody>
          <a:bodyPr wrap="square" lIns="0" tIns="0" rIns="0" bIns="0" rtlCol="0" anchor="ctr"/>
          <a:lstStyle/>
          <a:p>
            <a:pPr algn="ctr">
              <a:lnSpc>
                <a:spcPct val="120000"/>
              </a:lnSpc>
            </a:pPr>
            <a:r>
              <a:rPr lang="en-US" sz="931" b="1" dirty="0">
                <a:solidFill>
                  <a:srgbClr val="1D1D1D"/>
                </a:solidFill>
                <a:latin typeface="MiSans" pitchFamily="34" charset="0"/>
                <a:ea typeface="MiSans" pitchFamily="34" charset="-122"/>
                <a:cs typeface="MiSans" pitchFamily="34" charset="-120"/>
              </a:rPr>
              <a:t>方案4</a:t>
            </a:r>
            <a:endParaRPr lang="en-US" sz="1600" dirty="0"/>
          </a:p>
        </p:txBody>
      </p:sp>
      <p:sp>
        <p:nvSpPr>
          <p:cNvPr id="61" name="Text 59"/>
          <p:cNvSpPr/>
          <p:nvPr/>
        </p:nvSpPr>
        <p:spPr>
          <a:xfrm>
            <a:off x="10197291" y="4739458"/>
            <a:ext cx="1359357"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MyBatis</a:t>
            </a:r>
            <a:endParaRPr lang="en-US" sz="1600" dirty="0"/>
          </a:p>
        </p:txBody>
      </p:sp>
      <p:sp>
        <p:nvSpPr>
          <p:cNvPr id="62" name="Shape 60"/>
          <p:cNvSpPr/>
          <p:nvPr/>
        </p:nvSpPr>
        <p:spPr>
          <a:xfrm>
            <a:off x="10608722" y="4942096"/>
            <a:ext cx="540366" cy="168864"/>
          </a:xfrm>
          <a:custGeom>
            <a:avLst/>
            <a:gdLst/>
            <a:ahLst/>
            <a:cxnLst/>
            <a:rect l="l" t="t" r="r" b="b"/>
            <a:pathLst>
              <a:path w="540366" h="168864">
                <a:moveTo>
                  <a:pt x="33773" y="0"/>
                </a:moveTo>
                <a:lnTo>
                  <a:pt x="506593" y="0"/>
                </a:lnTo>
                <a:cubicBezTo>
                  <a:pt x="525245" y="0"/>
                  <a:pt x="540366" y="15121"/>
                  <a:pt x="540366" y="33773"/>
                </a:cubicBezTo>
                <a:lnTo>
                  <a:pt x="540366" y="135091"/>
                </a:lnTo>
                <a:cubicBezTo>
                  <a:pt x="540366" y="153744"/>
                  <a:pt x="525245" y="168864"/>
                  <a:pt x="506593" y="168864"/>
                </a:cubicBezTo>
                <a:lnTo>
                  <a:pt x="33773" y="168864"/>
                </a:lnTo>
                <a:cubicBezTo>
                  <a:pt x="15133" y="168864"/>
                  <a:pt x="0" y="153731"/>
                  <a:pt x="0" y="135091"/>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63" name="Text 61"/>
          <p:cNvSpPr/>
          <p:nvPr/>
        </p:nvSpPr>
        <p:spPr>
          <a:xfrm>
            <a:off x="10583393" y="4942096"/>
            <a:ext cx="591025"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自动解密</a:t>
            </a:r>
            <a:endParaRPr lang="en-US" sz="1600" dirty="0"/>
          </a:p>
        </p:txBody>
      </p:sp>
      <p:sp>
        <p:nvSpPr>
          <p:cNvPr id="64" name="Shape 62"/>
          <p:cNvSpPr/>
          <p:nvPr/>
        </p:nvSpPr>
        <p:spPr>
          <a:xfrm>
            <a:off x="5234968" y="5327668"/>
            <a:ext cx="1516964" cy="807734"/>
          </a:xfrm>
          <a:custGeom>
            <a:avLst/>
            <a:gdLst/>
            <a:ahLst/>
            <a:cxnLst/>
            <a:rect l="l" t="t" r="r" b="b"/>
            <a:pathLst>
              <a:path w="1516964" h="807734">
                <a:moveTo>
                  <a:pt x="67543" y="0"/>
                </a:moveTo>
                <a:lnTo>
                  <a:pt x="1449421" y="0"/>
                </a:lnTo>
                <a:cubicBezTo>
                  <a:pt x="1486724" y="0"/>
                  <a:pt x="1516964" y="30240"/>
                  <a:pt x="1516964" y="67543"/>
                </a:cubicBezTo>
                <a:lnTo>
                  <a:pt x="1516964" y="740191"/>
                </a:lnTo>
                <a:cubicBezTo>
                  <a:pt x="1516964" y="777494"/>
                  <a:pt x="1486724" y="807734"/>
                  <a:pt x="1449421" y="807734"/>
                </a:cubicBezTo>
                <a:lnTo>
                  <a:pt x="67543" y="807734"/>
                </a:lnTo>
                <a:cubicBezTo>
                  <a:pt x="30265" y="807734"/>
                  <a:pt x="0" y="777469"/>
                  <a:pt x="0" y="740191"/>
                </a:cubicBezTo>
                <a:lnTo>
                  <a:pt x="0" y="67543"/>
                </a:lnTo>
                <a:cubicBezTo>
                  <a:pt x="0" y="30240"/>
                  <a:pt x="30240" y="0"/>
                  <a:pt x="67543"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65" name="Text 63"/>
          <p:cNvSpPr/>
          <p:nvPr/>
        </p:nvSpPr>
        <p:spPr>
          <a:xfrm>
            <a:off x="5309550" y="5431802"/>
            <a:ext cx="1367801" cy="168864"/>
          </a:xfrm>
          <a:prstGeom prst="rect">
            <a:avLst/>
          </a:prstGeom>
          <a:noFill/>
          <a:ln/>
        </p:spPr>
        <p:txBody>
          <a:bodyPr wrap="square" lIns="0" tIns="0" rIns="0" bIns="0" rtlCol="0" anchor="ctr"/>
          <a:lstStyle/>
          <a:p>
            <a:pPr algn="ctr">
              <a:lnSpc>
                <a:spcPct val="120000"/>
              </a:lnSpc>
            </a:pPr>
            <a:r>
              <a:rPr lang="en-US" sz="931" b="1" dirty="0">
                <a:solidFill>
                  <a:srgbClr val="1D1D1D"/>
                </a:solidFill>
                <a:latin typeface="MiSans" pitchFamily="34" charset="0"/>
                <a:ea typeface="MiSans" pitchFamily="34" charset="-122"/>
                <a:cs typeface="MiSans" pitchFamily="34" charset="-120"/>
              </a:rPr>
              <a:t>方案5</a:t>
            </a:r>
            <a:endParaRPr lang="en-US" sz="1600" dirty="0"/>
          </a:p>
        </p:txBody>
      </p:sp>
      <p:sp>
        <p:nvSpPr>
          <p:cNvPr id="66" name="Text 64"/>
          <p:cNvSpPr/>
          <p:nvPr/>
        </p:nvSpPr>
        <p:spPr>
          <a:xfrm>
            <a:off x="5313772" y="5634439"/>
            <a:ext cx="1359357"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纯JDBC</a:t>
            </a:r>
            <a:endParaRPr lang="en-US" sz="1600" dirty="0"/>
          </a:p>
        </p:txBody>
      </p:sp>
      <p:sp>
        <p:nvSpPr>
          <p:cNvPr id="67" name="Shape 65"/>
          <p:cNvSpPr/>
          <p:nvPr/>
        </p:nvSpPr>
        <p:spPr>
          <a:xfrm>
            <a:off x="5826521" y="5837076"/>
            <a:ext cx="337729" cy="168864"/>
          </a:xfrm>
          <a:custGeom>
            <a:avLst/>
            <a:gdLst/>
            <a:ahLst/>
            <a:cxnLst/>
            <a:rect l="l" t="t" r="r" b="b"/>
            <a:pathLst>
              <a:path w="337729" h="168864">
                <a:moveTo>
                  <a:pt x="33773" y="0"/>
                </a:moveTo>
                <a:lnTo>
                  <a:pt x="303956" y="0"/>
                </a:lnTo>
                <a:cubicBezTo>
                  <a:pt x="322595" y="0"/>
                  <a:pt x="337729" y="15133"/>
                  <a:pt x="337729" y="33773"/>
                </a:cubicBezTo>
                <a:lnTo>
                  <a:pt x="337729" y="135091"/>
                </a:lnTo>
                <a:cubicBezTo>
                  <a:pt x="337729" y="153731"/>
                  <a:pt x="322595" y="168864"/>
                  <a:pt x="303956" y="168864"/>
                </a:cubicBezTo>
                <a:lnTo>
                  <a:pt x="33773" y="168864"/>
                </a:lnTo>
                <a:cubicBezTo>
                  <a:pt x="15133" y="168864"/>
                  <a:pt x="0" y="153731"/>
                  <a:pt x="0" y="135091"/>
                </a:cubicBezTo>
                <a:lnTo>
                  <a:pt x="0" y="33773"/>
                </a:lnTo>
                <a:cubicBezTo>
                  <a:pt x="0" y="15121"/>
                  <a:pt x="15121" y="0"/>
                  <a:pt x="33773" y="0"/>
                </a:cubicBezTo>
                <a:close/>
              </a:path>
            </a:pathLst>
          </a:custGeom>
          <a:solidFill>
            <a:srgbClr val="86868B"/>
          </a:solidFill>
          <a:ln/>
        </p:spPr>
        <p:txBody>
          <a:bodyPr/>
          <a:lstStyle/>
          <a:p>
            <a:endParaRPr lang="zh-CN" altLang="en-US"/>
          </a:p>
        </p:txBody>
      </p:sp>
      <p:sp>
        <p:nvSpPr>
          <p:cNvPr id="68" name="Text 66"/>
          <p:cNvSpPr/>
          <p:nvPr/>
        </p:nvSpPr>
        <p:spPr>
          <a:xfrm>
            <a:off x="5801191" y="5837076"/>
            <a:ext cx="388388"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手动</a:t>
            </a:r>
            <a:endParaRPr lang="en-US" sz="1600" dirty="0"/>
          </a:p>
        </p:txBody>
      </p:sp>
      <p:sp>
        <p:nvSpPr>
          <p:cNvPr id="69" name="Shape 67"/>
          <p:cNvSpPr/>
          <p:nvPr/>
        </p:nvSpPr>
        <p:spPr>
          <a:xfrm>
            <a:off x="6862749" y="5327668"/>
            <a:ext cx="1516964" cy="807734"/>
          </a:xfrm>
          <a:custGeom>
            <a:avLst/>
            <a:gdLst/>
            <a:ahLst/>
            <a:cxnLst/>
            <a:rect l="l" t="t" r="r" b="b"/>
            <a:pathLst>
              <a:path w="1516964" h="807734">
                <a:moveTo>
                  <a:pt x="67543" y="0"/>
                </a:moveTo>
                <a:lnTo>
                  <a:pt x="1449421" y="0"/>
                </a:lnTo>
                <a:cubicBezTo>
                  <a:pt x="1486724" y="0"/>
                  <a:pt x="1516964" y="30240"/>
                  <a:pt x="1516964" y="67543"/>
                </a:cubicBezTo>
                <a:lnTo>
                  <a:pt x="1516964" y="740191"/>
                </a:lnTo>
                <a:cubicBezTo>
                  <a:pt x="1516964" y="777494"/>
                  <a:pt x="1486724" y="807734"/>
                  <a:pt x="1449421" y="807734"/>
                </a:cubicBezTo>
                <a:lnTo>
                  <a:pt x="67543" y="807734"/>
                </a:lnTo>
                <a:cubicBezTo>
                  <a:pt x="30265" y="807734"/>
                  <a:pt x="0" y="777469"/>
                  <a:pt x="0" y="740191"/>
                </a:cubicBezTo>
                <a:lnTo>
                  <a:pt x="0" y="67543"/>
                </a:lnTo>
                <a:cubicBezTo>
                  <a:pt x="0" y="30240"/>
                  <a:pt x="30240" y="0"/>
                  <a:pt x="67543"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70" name="Text 68"/>
          <p:cNvSpPr/>
          <p:nvPr/>
        </p:nvSpPr>
        <p:spPr>
          <a:xfrm>
            <a:off x="6937331" y="5431802"/>
            <a:ext cx="1367801" cy="168864"/>
          </a:xfrm>
          <a:prstGeom prst="rect">
            <a:avLst/>
          </a:prstGeom>
          <a:noFill/>
          <a:ln/>
        </p:spPr>
        <p:txBody>
          <a:bodyPr wrap="square" lIns="0" tIns="0" rIns="0" bIns="0" rtlCol="0" anchor="ctr"/>
          <a:lstStyle/>
          <a:p>
            <a:pPr algn="ctr">
              <a:lnSpc>
                <a:spcPct val="120000"/>
              </a:lnSpc>
            </a:pPr>
            <a:r>
              <a:rPr lang="en-US" sz="931" b="1" dirty="0">
                <a:solidFill>
                  <a:srgbClr val="1D1D1D"/>
                </a:solidFill>
                <a:latin typeface="MiSans" pitchFamily="34" charset="0"/>
                <a:ea typeface="MiSans" pitchFamily="34" charset="-122"/>
                <a:cs typeface="MiSans" pitchFamily="34" charset="-120"/>
              </a:rPr>
              <a:t>方案6</a:t>
            </a:r>
            <a:endParaRPr lang="en-US" sz="1600" dirty="0"/>
          </a:p>
        </p:txBody>
      </p:sp>
      <p:sp>
        <p:nvSpPr>
          <p:cNvPr id="71" name="Text 69"/>
          <p:cNvSpPr/>
          <p:nvPr/>
        </p:nvSpPr>
        <p:spPr>
          <a:xfrm>
            <a:off x="6941553" y="5634439"/>
            <a:ext cx="1359357"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Servlet/Web</a:t>
            </a:r>
            <a:endParaRPr lang="en-US" sz="1600" dirty="0"/>
          </a:p>
        </p:txBody>
      </p:sp>
      <p:sp>
        <p:nvSpPr>
          <p:cNvPr id="72" name="Shape 70"/>
          <p:cNvSpPr/>
          <p:nvPr/>
        </p:nvSpPr>
        <p:spPr>
          <a:xfrm>
            <a:off x="7352983" y="5837076"/>
            <a:ext cx="540366" cy="168864"/>
          </a:xfrm>
          <a:custGeom>
            <a:avLst/>
            <a:gdLst/>
            <a:ahLst/>
            <a:cxnLst/>
            <a:rect l="l" t="t" r="r" b="b"/>
            <a:pathLst>
              <a:path w="540366" h="168864">
                <a:moveTo>
                  <a:pt x="33773" y="0"/>
                </a:moveTo>
                <a:lnTo>
                  <a:pt x="506593" y="0"/>
                </a:lnTo>
                <a:cubicBezTo>
                  <a:pt x="525245" y="0"/>
                  <a:pt x="540366" y="15121"/>
                  <a:pt x="540366" y="33773"/>
                </a:cubicBezTo>
                <a:lnTo>
                  <a:pt x="540366" y="135091"/>
                </a:lnTo>
                <a:cubicBezTo>
                  <a:pt x="540366" y="153744"/>
                  <a:pt x="525245" y="168864"/>
                  <a:pt x="506593" y="168864"/>
                </a:cubicBezTo>
                <a:lnTo>
                  <a:pt x="33773" y="168864"/>
                </a:lnTo>
                <a:cubicBezTo>
                  <a:pt x="15133" y="168864"/>
                  <a:pt x="0" y="153731"/>
                  <a:pt x="0" y="135091"/>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73" name="Text 71"/>
          <p:cNvSpPr/>
          <p:nvPr/>
        </p:nvSpPr>
        <p:spPr>
          <a:xfrm>
            <a:off x="7327654" y="5837076"/>
            <a:ext cx="591025"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自动解密</a:t>
            </a:r>
            <a:endParaRPr lang="en-US" sz="1600" dirty="0"/>
          </a:p>
        </p:txBody>
      </p:sp>
      <p:sp>
        <p:nvSpPr>
          <p:cNvPr id="74" name="Shape 72"/>
          <p:cNvSpPr/>
          <p:nvPr/>
        </p:nvSpPr>
        <p:spPr>
          <a:xfrm>
            <a:off x="8496247" y="5333297"/>
            <a:ext cx="3140875" cy="802105"/>
          </a:xfrm>
          <a:custGeom>
            <a:avLst/>
            <a:gdLst/>
            <a:ahLst/>
            <a:cxnLst/>
            <a:rect l="l" t="t" r="r" b="b"/>
            <a:pathLst>
              <a:path w="3140875" h="802105">
                <a:moveTo>
                  <a:pt x="67545" y="0"/>
                </a:moveTo>
                <a:lnTo>
                  <a:pt x="3073330" y="0"/>
                </a:lnTo>
                <a:cubicBezTo>
                  <a:pt x="3110634" y="0"/>
                  <a:pt x="3140875" y="30241"/>
                  <a:pt x="3140875" y="67545"/>
                </a:cubicBezTo>
                <a:lnTo>
                  <a:pt x="3140875" y="734560"/>
                </a:lnTo>
                <a:cubicBezTo>
                  <a:pt x="3140875" y="771864"/>
                  <a:pt x="3110634" y="802105"/>
                  <a:pt x="3073330" y="802105"/>
                </a:cubicBezTo>
                <a:lnTo>
                  <a:pt x="67545" y="802105"/>
                </a:lnTo>
                <a:cubicBezTo>
                  <a:pt x="30241" y="802105"/>
                  <a:pt x="0" y="771864"/>
                  <a:pt x="0" y="734560"/>
                </a:cubicBezTo>
                <a:lnTo>
                  <a:pt x="0" y="67545"/>
                </a:lnTo>
                <a:cubicBezTo>
                  <a:pt x="0" y="30266"/>
                  <a:pt x="30266" y="0"/>
                  <a:pt x="67545" y="0"/>
                </a:cubicBezTo>
                <a:close/>
              </a:path>
            </a:pathLst>
          </a:custGeom>
          <a:gradFill flip="none" rotWithShape="1">
            <a:gsLst>
              <a:gs pos="0">
                <a:srgbClr val="0071E3">
                  <a:alpha val="20000"/>
                </a:srgbClr>
              </a:gs>
              <a:gs pos="100000">
                <a:srgbClr val="0071E3">
                  <a:alpha val="5000"/>
                </a:srgbClr>
              </a:gs>
            </a:gsLst>
            <a:lin ang="0" scaled="1"/>
          </a:gradFill>
          <a:ln w="25400">
            <a:solidFill>
              <a:srgbClr val="0071E3"/>
            </a:solidFill>
            <a:prstDash val="solid"/>
          </a:ln>
        </p:spPr>
        <p:txBody>
          <a:bodyPr/>
          <a:lstStyle/>
          <a:p>
            <a:endParaRPr lang="zh-CN" altLang="en-US"/>
          </a:p>
        </p:txBody>
      </p:sp>
      <p:sp>
        <p:nvSpPr>
          <p:cNvPr id="75" name="Text 73"/>
          <p:cNvSpPr/>
          <p:nvPr/>
        </p:nvSpPr>
        <p:spPr>
          <a:xfrm>
            <a:off x="8576458" y="5443059"/>
            <a:ext cx="2980454" cy="168864"/>
          </a:xfrm>
          <a:prstGeom prst="rect">
            <a:avLst/>
          </a:prstGeom>
          <a:noFill/>
          <a:ln/>
        </p:spPr>
        <p:txBody>
          <a:bodyPr wrap="square" lIns="0" tIns="0" rIns="0" bIns="0" rtlCol="0" anchor="ctr"/>
          <a:lstStyle/>
          <a:p>
            <a:pPr algn="ctr">
              <a:lnSpc>
                <a:spcPct val="120000"/>
              </a:lnSpc>
            </a:pPr>
            <a:r>
              <a:rPr lang="en-US" sz="931" b="1" dirty="0">
                <a:solidFill>
                  <a:srgbClr val="0071E3"/>
                </a:solidFill>
                <a:latin typeface="MiSans" pitchFamily="34" charset="0"/>
                <a:ea typeface="MiSans" pitchFamily="34" charset="-122"/>
                <a:cs typeface="MiSans" pitchFamily="34" charset="-120"/>
              </a:rPr>
              <a:t>方案7 · 零代码集成</a:t>
            </a:r>
            <a:endParaRPr lang="en-US" sz="1600" dirty="0"/>
          </a:p>
        </p:txBody>
      </p:sp>
      <p:sp>
        <p:nvSpPr>
          <p:cNvPr id="76" name="Text 74"/>
          <p:cNvSpPr/>
          <p:nvPr/>
        </p:nvSpPr>
        <p:spPr>
          <a:xfrm>
            <a:off x="8580679" y="5645696"/>
            <a:ext cx="2972011" cy="135091"/>
          </a:xfrm>
          <a:prstGeom prst="rect">
            <a:avLst/>
          </a:prstGeom>
          <a:noFill/>
          <a:ln/>
        </p:spPr>
        <p:txBody>
          <a:bodyPr wrap="square" lIns="0" tIns="0" rIns="0" bIns="0" rtlCol="0" anchor="ctr"/>
          <a:lstStyle/>
          <a:p>
            <a:pPr algn="ctr">
              <a:lnSpc>
                <a:spcPct val="110000"/>
              </a:lnSpc>
            </a:pPr>
            <a:r>
              <a:rPr lang="en-US" sz="798" dirty="0">
                <a:solidFill>
                  <a:srgbClr val="86868B"/>
                </a:solidFill>
                <a:latin typeface="MiSans" pitchFamily="34" charset="0"/>
                <a:ea typeface="MiSans" pitchFamily="34" charset="-122"/>
                <a:cs typeface="MiSans" pitchFamily="34" charset="-120"/>
              </a:rPr>
              <a:t>通过ServletContext共享DataSource</a:t>
            </a:r>
            <a:endParaRPr lang="en-US" sz="1600" dirty="0"/>
          </a:p>
        </p:txBody>
      </p:sp>
      <p:sp>
        <p:nvSpPr>
          <p:cNvPr id="77" name="Shape 75"/>
          <p:cNvSpPr/>
          <p:nvPr/>
        </p:nvSpPr>
        <p:spPr>
          <a:xfrm>
            <a:off x="9436259" y="5848333"/>
            <a:ext cx="1258039" cy="168864"/>
          </a:xfrm>
          <a:custGeom>
            <a:avLst/>
            <a:gdLst/>
            <a:ahLst/>
            <a:cxnLst/>
            <a:rect l="l" t="t" r="r" b="b"/>
            <a:pathLst>
              <a:path w="1258039" h="168864">
                <a:moveTo>
                  <a:pt x="33773" y="0"/>
                </a:moveTo>
                <a:lnTo>
                  <a:pt x="1224266" y="0"/>
                </a:lnTo>
                <a:cubicBezTo>
                  <a:pt x="1242918" y="0"/>
                  <a:pt x="1258039" y="15121"/>
                  <a:pt x="1258039" y="33773"/>
                </a:cubicBezTo>
                <a:lnTo>
                  <a:pt x="1258039" y="135091"/>
                </a:lnTo>
                <a:cubicBezTo>
                  <a:pt x="1258039" y="153744"/>
                  <a:pt x="1242918" y="168864"/>
                  <a:pt x="1224266" y="168864"/>
                </a:cubicBezTo>
                <a:lnTo>
                  <a:pt x="33773" y="168864"/>
                </a:lnTo>
                <a:cubicBezTo>
                  <a:pt x="15133" y="168864"/>
                  <a:pt x="0" y="153731"/>
                  <a:pt x="0" y="135091"/>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78" name="Text 76"/>
          <p:cNvSpPr/>
          <p:nvPr/>
        </p:nvSpPr>
        <p:spPr>
          <a:xfrm>
            <a:off x="9410929" y="5848333"/>
            <a:ext cx="1308698" cy="168864"/>
          </a:xfrm>
          <a:prstGeom prst="rect">
            <a:avLst/>
          </a:prstGeom>
          <a:noFill/>
          <a:ln/>
        </p:spPr>
        <p:txBody>
          <a:bodyPr wrap="square" lIns="67546" tIns="16886" rIns="67546" bIns="16886" rtlCol="0" anchor="ctr"/>
          <a:lstStyle/>
          <a:p>
            <a:pPr algn="ctr">
              <a:lnSpc>
                <a:spcPct val="110000"/>
              </a:lnSpc>
            </a:pPr>
            <a:r>
              <a:rPr lang="en-US" sz="798" dirty="0">
                <a:solidFill>
                  <a:srgbClr val="FFFFFF"/>
                </a:solidFill>
                <a:latin typeface="MiSans" pitchFamily="34" charset="0"/>
                <a:ea typeface="MiSans" pitchFamily="34" charset="-122"/>
                <a:cs typeface="MiSans" pitchFamily="34" charset="-120"/>
              </a:rPr>
              <a:t>自动解密 · 无需修改代码</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MiSans" pitchFamily="34" charset="0"/>
                <a:ea typeface="MiSans" pitchFamily="34" charset="-122"/>
                <a:cs typeface="MiSans" pitchFamily="34" charset="-120"/>
              </a:rPr>
              <a:t>03 / 典型案例</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MiSans" pitchFamily="34" charset="0"/>
                <a:ea typeface="MiSans" pitchFamily="34" charset="-122"/>
                <a:cs typeface="MiSans" pitchFamily="34" charset="-120"/>
              </a:rPr>
              <a:t>数据库密码管理：AI驱动开发全过程</a:t>
            </a:r>
            <a:endParaRPr lang="en-US" sz="1600" dirty="0"/>
          </a:p>
        </p:txBody>
      </p:sp>
      <p:sp>
        <p:nvSpPr>
          <p:cNvPr id="4" name="Shape 2"/>
          <p:cNvSpPr/>
          <p:nvPr/>
        </p:nvSpPr>
        <p:spPr>
          <a:xfrm>
            <a:off x="320146" y="1018646"/>
            <a:ext cx="5680604" cy="4235979"/>
          </a:xfrm>
          <a:custGeom>
            <a:avLst/>
            <a:gdLst/>
            <a:ahLst/>
            <a:cxnLst/>
            <a:rect l="l" t="t" r="r" b="b"/>
            <a:pathLst>
              <a:path w="5680604" h="4235979">
                <a:moveTo>
                  <a:pt x="126995" y="0"/>
                </a:moveTo>
                <a:lnTo>
                  <a:pt x="5553610" y="0"/>
                </a:lnTo>
                <a:cubicBezTo>
                  <a:pt x="5623747" y="0"/>
                  <a:pt x="5680604" y="56857"/>
                  <a:pt x="5680604" y="126995"/>
                </a:cubicBezTo>
                <a:lnTo>
                  <a:pt x="5680604" y="4108985"/>
                </a:lnTo>
                <a:cubicBezTo>
                  <a:pt x="5680604" y="4179122"/>
                  <a:pt x="5623747" y="4235979"/>
                  <a:pt x="5553610" y="4235979"/>
                </a:cubicBezTo>
                <a:lnTo>
                  <a:pt x="126995" y="4235979"/>
                </a:lnTo>
                <a:cubicBezTo>
                  <a:pt x="56857" y="4235979"/>
                  <a:pt x="0" y="4179122"/>
                  <a:pt x="0" y="4108985"/>
                </a:cubicBezTo>
                <a:lnTo>
                  <a:pt x="0" y="126995"/>
                </a:lnTo>
                <a:cubicBezTo>
                  <a:pt x="0" y="56904"/>
                  <a:pt x="56904" y="0"/>
                  <a:pt x="126995"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5" name="Shape 3"/>
          <p:cNvSpPr/>
          <p:nvPr/>
        </p:nvSpPr>
        <p:spPr>
          <a:xfrm>
            <a:off x="533135" y="1243542"/>
            <a:ext cx="158750" cy="158750"/>
          </a:xfrm>
          <a:custGeom>
            <a:avLst/>
            <a:gdLst/>
            <a:ahLst/>
            <a:cxnLst/>
            <a:rect l="l" t="t" r="r" b="b"/>
            <a:pathLst>
              <a:path w="158750" h="158750">
                <a:moveTo>
                  <a:pt x="155835" y="46695"/>
                </a:moveTo>
                <a:lnTo>
                  <a:pt x="126070" y="76460"/>
                </a:lnTo>
                <a:cubicBezTo>
                  <a:pt x="123217" y="79313"/>
                  <a:pt x="118969" y="80150"/>
                  <a:pt x="115249" y="78600"/>
                </a:cubicBezTo>
                <a:cubicBezTo>
                  <a:pt x="111528" y="77050"/>
                  <a:pt x="109141" y="73453"/>
                  <a:pt x="109141" y="69453"/>
                </a:cubicBezTo>
                <a:lnTo>
                  <a:pt x="109141" y="49609"/>
                </a:lnTo>
                <a:lnTo>
                  <a:pt x="9922" y="49609"/>
                </a:lnTo>
                <a:cubicBezTo>
                  <a:pt x="4434" y="49609"/>
                  <a:pt x="0" y="45176"/>
                  <a:pt x="0" y="39688"/>
                </a:cubicBezTo>
                <a:cubicBezTo>
                  <a:pt x="0" y="34199"/>
                  <a:pt x="4434" y="29766"/>
                  <a:pt x="9922" y="29766"/>
                </a:cubicBezTo>
                <a:lnTo>
                  <a:pt x="109141" y="29766"/>
                </a:lnTo>
                <a:lnTo>
                  <a:pt x="109141" y="9922"/>
                </a:lnTo>
                <a:cubicBezTo>
                  <a:pt x="109141" y="5922"/>
                  <a:pt x="111559" y="2294"/>
                  <a:pt x="115280" y="744"/>
                </a:cubicBezTo>
                <a:cubicBezTo>
                  <a:pt x="119000" y="-806"/>
                  <a:pt x="123248" y="62"/>
                  <a:pt x="126101" y="2884"/>
                </a:cubicBezTo>
                <a:lnTo>
                  <a:pt x="155866" y="32649"/>
                </a:lnTo>
                <a:cubicBezTo>
                  <a:pt x="159742" y="36525"/>
                  <a:pt x="159742" y="42819"/>
                  <a:pt x="155866" y="46695"/>
                </a:cubicBezTo>
                <a:close/>
                <a:moveTo>
                  <a:pt x="32649" y="155835"/>
                </a:moveTo>
                <a:lnTo>
                  <a:pt x="2884" y="126070"/>
                </a:lnTo>
                <a:cubicBezTo>
                  <a:pt x="-992" y="122194"/>
                  <a:pt x="-992" y="115900"/>
                  <a:pt x="2884" y="112024"/>
                </a:cubicBezTo>
                <a:lnTo>
                  <a:pt x="32649" y="82259"/>
                </a:lnTo>
                <a:cubicBezTo>
                  <a:pt x="35502" y="79406"/>
                  <a:pt x="39750" y="78569"/>
                  <a:pt x="43470" y="80119"/>
                </a:cubicBezTo>
                <a:cubicBezTo>
                  <a:pt x="47191" y="81669"/>
                  <a:pt x="49609" y="85297"/>
                  <a:pt x="49609" y="89297"/>
                </a:cubicBezTo>
                <a:lnTo>
                  <a:pt x="49609" y="109141"/>
                </a:lnTo>
                <a:lnTo>
                  <a:pt x="148828" y="109141"/>
                </a:lnTo>
                <a:cubicBezTo>
                  <a:pt x="154316" y="109141"/>
                  <a:pt x="158750" y="113574"/>
                  <a:pt x="158750" y="119062"/>
                </a:cubicBezTo>
                <a:cubicBezTo>
                  <a:pt x="158750" y="124551"/>
                  <a:pt x="154316" y="128984"/>
                  <a:pt x="148828" y="128984"/>
                </a:cubicBezTo>
                <a:lnTo>
                  <a:pt x="49609" y="128984"/>
                </a:lnTo>
                <a:lnTo>
                  <a:pt x="49609" y="148828"/>
                </a:lnTo>
                <a:cubicBezTo>
                  <a:pt x="49609" y="152828"/>
                  <a:pt x="47191" y="156456"/>
                  <a:pt x="43470" y="158006"/>
                </a:cubicBezTo>
                <a:cubicBezTo>
                  <a:pt x="39750" y="159556"/>
                  <a:pt x="35502" y="158688"/>
                  <a:pt x="32649" y="155866"/>
                </a:cubicBezTo>
                <a:close/>
              </a:path>
            </a:pathLst>
          </a:custGeom>
          <a:solidFill>
            <a:srgbClr val="0071E3"/>
          </a:solidFill>
          <a:ln/>
        </p:spPr>
        <p:txBody>
          <a:bodyPr/>
          <a:lstStyle/>
          <a:p>
            <a:endParaRPr lang="zh-CN" altLang="en-US"/>
          </a:p>
        </p:txBody>
      </p:sp>
      <p:sp>
        <p:nvSpPr>
          <p:cNvPr id="6" name="Text 4"/>
          <p:cNvSpPr/>
          <p:nvPr/>
        </p:nvSpPr>
        <p:spPr>
          <a:xfrm>
            <a:off x="711729" y="1211792"/>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开发模式对比</a:t>
            </a:r>
            <a:endParaRPr lang="en-US" sz="1600" dirty="0"/>
          </a:p>
        </p:txBody>
      </p:sp>
      <p:sp>
        <p:nvSpPr>
          <p:cNvPr id="7" name="Shape 5"/>
          <p:cNvSpPr/>
          <p:nvPr/>
        </p:nvSpPr>
        <p:spPr>
          <a:xfrm>
            <a:off x="513292" y="1592792"/>
            <a:ext cx="1698625" cy="412750"/>
          </a:xfrm>
          <a:custGeom>
            <a:avLst/>
            <a:gdLst/>
            <a:ahLst/>
            <a:cxnLst/>
            <a:rect l="l" t="t" r="r" b="b"/>
            <a:pathLst>
              <a:path w="1698625" h="412750">
                <a:moveTo>
                  <a:pt x="63502" y="0"/>
                </a:moveTo>
                <a:lnTo>
                  <a:pt x="1635123" y="0"/>
                </a:lnTo>
                <a:cubicBezTo>
                  <a:pt x="1670194" y="0"/>
                  <a:pt x="1698625" y="28431"/>
                  <a:pt x="1698625" y="63502"/>
                </a:cubicBezTo>
                <a:lnTo>
                  <a:pt x="1698625" y="349248"/>
                </a:lnTo>
                <a:cubicBezTo>
                  <a:pt x="1698625" y="384319"/>
                  <a:pt x="1670194" y="412750"/>
                  <a:pt x="1635123" y="412750"/>
                </a:cubicBezTo>
                <a:lnTo>
                  <a:pt x="63502" y="412750"/>
                </a:lnTo>
                <a:cubicBezTo>
                  <a:pt x="28431" y="412750"/>
                  <a:pt x="0" y="384319"/>
                  <a:pt x="0" y="349248"/>
                </a:cubicBezTo>
                <a:lnTo>
                  <a:pt x="0" y="63502"/>
                </a:lnTo>
                <a:cubicBezTo>
                  <a:pt x="0" y="28454"/>
                  <a:pt x="28454" y="0"/>
                  <a:pt x="63502" y="0"/>
                </a:cubicBezTo>
                <a:close/>
              </a:path>
            </a:pathLst>
          </a:custGeom>
          <a:solidFill>
            <a:srgbClr val="86868B">
              <a:alpha val="10196"/>
            </a:srgbClr>
          </a:solidFill>
          <a:ln/>
        </p:spPr>
        <p:txBody>
          <a:bodyPr/>
          <a:lstStyle/>
          <a:p>
            <a:endParaRPr lang="zh-CN" altLang="en-US"/>
          </a:p>
        </p:txBody>
      </p:sp>
      <p:sp>
        <p:nvSpPr>
          <p:cNvPr id="8" name="Text 6"/>
          <p:cNvSpPr/>
          <p:nvPr/>
        </p:nvSpPr>
        <p:spPr>
          <a:xfrm>
            <a:off x="580760" y="1688042"/>
            <a:ext cx="1563688" cy="158750"/>
          </a:xfrm>
          <a:prstGeom prst="rect">
            <a:avLst/>
          </a:prstGeom>
          <a:noFill/>
          <a:ln/>
        </p:spPr>
        <p:txBody>
          <a:bodyPr wrap="square" lIns="0" tIns="0" rIns="0" bIns="0" rtlCol="0" anchor="ctr"/>
          <a:lstStyle/>
          <a:p>
            <a:pPr algn="ctr">
              <a:lnSpc>
                <a:spcPct val="120000"/>
              </a:lnSpc>
            </a:pPr>
            <a:r>
              <a:rPr lang="en-US" sz="875" b="1" dirty="0">
                <a:solidFill>
                  <a:srgbClr val="1D1D1D"/>
                </a:solidFill>
                <a:latin typeface="MiSans" pitchFamily="34" charset="0"/>
                <a:ea typeface="MiSans" pitchFamily="34" charset="-122"/>
                <a:cs typeface="MiSans" pitchFamily="34" charset="-120"/>
              </a:rPr>
              <a:t>维度</a:t>
            </a:r>
            <a:endParaRPr lang="en-US" sz="1600" dirty="0"/>
          </a:p>
        </p:txBody>
      </p:sp>
      <p:sp>
        <p:nvSpPr>
          <p:cNvPr id="9" name="Shape 7"/>
          <p:cNvSpPr/>
          <p:nvPr/>
        </p:nvSpPr>
        <p:spPr>
          <a:xfrm>
            <a:off x="2308903" y="1592792"/>
            <a:ext cx="1698625" cy="412750"/>
          </a:xfrm>
          <a:custGeom>
            <a:avLst/>
            <a:gdLst/>
            <a:ahLst/>
            <a:cxnLst/>
            <a:rect l="l" t="t" r="r" b="b"/>
            <a:pathLst>
              <a:path w="1698625" h="412750">
                <a:moveTo>
                  <a:pt x="63502" y="0"/>
                </a:moveTo>
                <a:lnTo>
                  <a:pt x="1635123" y="0"/>
                </a:lnTo>
                <a:cubicBezTo>
                  <a:pt x="1670194" y="0"/>
                  <a:pt x="1698625" y="28431"/>
                  <a:pt x="1698625" y="63502"/>
                </a:cubicBezTo>
                <a:lnTo>
                  <a:pt x="1698625" y="349248"/>
                </a:lnTo>
                <a:cubicBezTo>
                  <a:pt x="1698625" y="384319"/>
                  <a:pt x="1670194" y="412750"/>
                  <a:pt x="1635123" y="412750"/>
                </a:cubicBezTo>
                <a:lnTo>
                  <a:pt x="63502" y="412750"/>
                </a:lnTo>
                <a:cubicBezTo>
                  <a:pt x="28431" y="412750"/>
                  <a:pt x="0" y="384319"/>
                  <a:pt x="0" y="349248"/>
                </a:cubicBezTo>
                <a:lnTo>
                  <a:pt x="0" y="63502"/>
                </a:lnTo>
                <a:cubicBezTo>
                  <a:pt x="0" y="28454"/>
                  <a:pt x="28454" y="0"/>
                  <a:pt x="63502" y="0"/>
                </a:cubicBezTo>
                <a:close/>
              </a:path>
            </a:pathLst>
          </a:custGeom>
          <a:solidFill>
            <a:srgbClr val="86868B">
              <a:alpha val="10196"/>
            </a:srgbClr>
          </a:solidFill>
          <a:ln/>
        </p:spPr>
        <p:txBody>
          <a:bodyPr/>
          <a:lstStyle/>
          <a:p>
            <a:endParaRPr lang="zh-CN" altLang="en-US"/>
          </a:p>
        </p:txBody>
      </p:sp>
      <p:sp>
        <p:nvSpPr>
          <p:cNvPr id="10" name="Text 8"/>
          <p:cNvSpPr/>
          <p:nvPr/>
        </p:nvSpPr>
        <p:spPr>
          <a:xfrm>
            <a:off x="2376372" y="1688042"/>
            <a:ext cx="1563688" cy="158750"/>
          </a:xfrm>
          <a:prstGeom prst="rect">
            <a:avLst/>
          </a:prstGeom>
          <a:noFill/>
          <a:ln/>
        </p:spPr>
        <p:txBody>
          <a:bodyPr wrap="square" lIns="0" tIns="0" rIns="0" bIns="0" rtlCol="0" anchor="ctr"/>
          <a:lstStyle/>
          <a:p>
            <a:pPr algn="ctr">
              <a:lnSpc>
                <a:spcPct val="120000"/>
              </a:lnSpc>
            </a:pPr>
            <a:r>
              <a:rPr lang="en-US" sz="875" b="1" dirty="0">
                <a:solidFill>
                  <a:srgbClr val="86868B"/>
                </a:solidFill>
                <a:latin typeface="MiSans" pitchFamily="34" charset="0"/>
                <a:ea typeface="MiSans" pitchFamily="34" charset="-122"/>
                <a:cs typeface="MiSans" pitchFamily="34" charset="-120"/>
              </a:rPr>
              <a:t>传统开发</a:t>
            </a:r>
            <a:endParaRPr lang="en-US" sz="1600" dirty="0"/>
          </a:p>
        </p:txBody>
      </p:sp>
      <p:sp>
        <p:nvSpPr>
          <p:cNvPr id="11" name="Shape 9"/>
          <p:cNvSpPr/>
          <p:nvPr/>
        </p:nvSpPr>
        <p:spPr>
          <a:xfrm>
            <a:off x="4104514" y="1592792"/>
            <a:ext cx="1698625" cy="412750"/>
          </a:xfrm>
          <a:custGeom>
            <a:avLst/>
            <a:gdLst/>
            <a:ahLst/>
            <a:cxnLst/>
            <a:rect l="l" t="t" r="r" b="b"/>
            <a:pathLst>
              <a:path w="1698625" h="412750">
                <a:moveTo>
                  <a:pt x="63502" y="0"/>
                </a:moveTo>
                <a:lnTo>
                  <a:pt x="1635123" y="0"/>
                </a:lnTo>
                <a:cubicBezTo>
                  <a:pt x="1670194" y="0"/>
                  <a:pt x="1698625" y="28431"/>
                  <a:pt x="1698625" y="63502"/>
                </a:cubicBezTo>
                <a:lnTo>
                  <a:pt x="1698625" y="349248"/>
                </a:lnTo>
                <a:cubicBezTo>
                  <a:pt x="1698625" y="384319"/>
                  <a:pt x="1670194" y="412750"/>
                  <a:pt x="1635123" y="412750"/>
                </a:cubicBezTo>
                <a:lnTo>
                  <a:pt x="63502" y="412750"/>
                </a:lnTo>
                <a:cubicBezTo>
                  <a:pt x="28431" y="412750"/>
                  <a:pt x="0" y="384319"/>
                  <a:pt x="0" y="349248"/>
                </a:cubicBezTo>
                <a:lnTo>
                  <a:pt x="0" y="63502"/>
                </a:lnTo>
                <a:cubicBezTo>
                  <a:pt x="0" y="28454"/>
                  <a:pt x="28454" y="0"/>
                  <a:pt x="63502" y="0"/>
                </a:cubicBezTo>
                <a:close/>
              </a:path>
            </a:pathLst>
          </a:custGeom>
          <a:solidFill>
            <a:srgbClr val="0071E3">
              <a:alpha val="10196"/>
            </a:srgbClr>
          </a:solidFill>
          <a:ln/>
        </p:spPr>
        <p:txBody>
          <a:bodyPr/>
          <a:lstStyle/>
          <a:p>
            <a:endParaRPr lang="zh-CN" altLang="en-US"/>
          </a:p>
        </p:txBody>
      </p:sp>
      <p:sp>
        <p:nvSpPr>
          <p:cNvPr id="12" name="Text 10"/>
          <p:cNvSpPr/>
          <p:nvPr/>
        </p:nvSpPr>
        <p:spPr>
          <a:xfrm>
            <a:off x="4171983" y="1688042"/>
            <a:ext cx="1563688" cy="158750"/>
          </a:xfrm>
          <a:prstGeom prst="rect">
            <a:avLst/>
          </a:prstGeom>
          <a:noFill/>
          <a:ln/>
        </p:spPr>
        <p:txBody>
          <a:bodyPr wrap="square" lIns="0" tIns="0" rIns="0" bIns="0" rtlCol="0" anchor="ctr"/>
          <a:lstStyle/>
          <a:p>
            <a:pPr algn="ctr">
              <a:lnSpc>
                <a:spcPct val="120000"/>
              </a:lnSpc>
            </a:pPr>
            <a:r>
              <a:rPr lang="en-US" sz="875" b="1" dirty="0">
                <a:solidFill>
                  <a:srgbClr val="0071E3"/>
                </a:solidFill>
                <a:latin typeface="MiSans" pitchFamily="34" charset="0"/>
                <a:ea typeface="MiSans" pitchFamily="34" charset="-122"/>
                <a:cs typeface="MiSans" pitchFamily="34" charset="-120"/>
              </a:rPr>
              <a:t>AI Agent开发</a:t>
            </a:r>
            <a:endParaRPr lang="en-US" sz="1600" dirty="0"/>
          </a:p>
        </p:txBody>
      </p:sp>
      <p:sp>
        <p:nvSpPr>
          <p:cNvPr id="13" name="Text 11"/>
          <p:cNvSpPr/>
          <p:nvPr/>
        </p:nvSpPr>
        <p:spPr>
          <a:xfrm>
            <a:off x="485510" y="2132542"/>
            <a:ext cx="1754188" cy="158750"/>
          </a:xfrm>
          <a:prstGeom prst="rect">
            <a:avLst/>
          </a:prstGeom>
          <a:noFill/>
          <a:ln/>
        </p:spPr>
        <p:txBody>
          <a:bodyPr wrap="square" lIns="0" tIns="0" rIns="0" bIns="0" rtlCol="0" anchor="ctr"/>
          <a:lstStyle/>
          <a:p>
            <a:pPr algn="ctr">
              <a:lnSpc>
                <a:spcPct val="120000"/>
              </a:lnSpc>
            </a:pPr>
            <a:r>
              <a:rPr lang="en-US" sz="875" b="1" dirty="0">
                <a:solidFill>
                  <a:srgbClr val="1D1D1D"/>
                </a:solidFill>
                <a:latin typeface="MiSans" pitchFamily="34" charset="0"/>
                <a:ea typeface="MiSans" pitchFamily="34" charset="-122"/>
                <a:cs typeface="MiSans" pitchFamily="34" charset="-120"/>
              </a:rPr>
              <a:t>架构设计</a:t>
            </a:r>
            <a:endParaRPr lang="en-US" sz="1600" dirty="0"/>
          </a:p>
        </p:txBody>
      </p:sp>
      <p:sp>
        <p:nvSpPr>
          <p:cNvPr id="14" name="Text 12"/>
          <p:cNvSpPr/>
          <p:nvPr/>
        </p:nvSpPr>
        <p:spPr>
          <a:xfrm>
            <a:off x="2281122" y="2132542"/>
            <a:ext cx="1754188"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2-3天</a:t>
            </a:r>
            <a:endParaRPr lang="en-US" sz="1600" dirty="0"/>
          </a:p>
        </p:txBody>
      </p:sp>
      <p:sp>
        <p:nvSpPr>
          <p:cNvPr id="15" name="Text 13"/>
          <p:cNvSpPr/>
          <p:nvPr/>
        </p:nvSpPr>
        <p:spPr>
          <a:xfrm>
            <a:off x="4076733" y="2132542"/>
            <a:ext cx="1754188" cy="158750"/>
          </a:xfrm>
          <a:prstGeom prst="rect">
            <a:avLst/>
          </a:prstGeom>
          <a:noFill/>
          <a:ln/>
        </p:spPr>
        <p:txBody>
          <a:bodyPr wrap="square" lIns="0" tIns="0" rIns="0" bIns="0" rtlCol="0" anchor="ctr"/>
          <a:lstStyle/>
          <a:p>
            <a:pPr algn="ctr">
              <a:lnSpc>
                <a:spcPct val="120000"/>
              </a:lnSpc>
            </a:pPr>
            <a:r>
              <a:rPr lang="en-US" sz="875" b="1" dirty="0">
                <a:solidFill>
                  <a:srgbClr val="0071E3"/>
                </a:solidFill>
                <a:latin typeface="MiSans" pitchFamily="34" charset="0"/>
                <a:ea typeface="MiSans" pitchFamily="34" charset="-122"/>
                <a:cs typeface="MiSans" pitchFamily="34" charset="-120"/>
              </a:rPr>
              <a:t>30分钟</a:t>
            </a:r>
            <a:endParaRPr lang="en-US" sz="1600" dirty="0"/>
          </a:p>
        </p:txBody>
      </p:sp>
      <p:sp>
        <p:nvSpPr>
          <p:cNvPr id="16" name="Text 14"/>
          <p:cNvSpPr/>
          <p:nvPr/>
        </p:nvSpPr>
        <p:spPr>
          <a:xfrm>
            <a:off x="485510" y="2418292"/>
            <a:ext cx="1754188" cy="158750"/>
          </a:xfrm>
          <a:prstGeom prst="rect">
            <a:avLst/>
          </a:prstGeom>
          <a:noFill/>
          <a:ln/>
        </p:spPr>
        <p:txBody>
          <a:bodyPr wrap="square" lIns="0" tIns="0" rIns="0" bIns="0" rtlCol="0" anchor="ctr"/>
          <a:lstStyle/>
          <a:p>
            <a:pPr algn="ctr">
              <a:lnSpc>
                <a:spcPct val="120000"/>
              </a:lnSpc>
            </a:pPr>
            <a:r>
              <a:rPr lang="en-US" sz="875" b="1" dirty="0">
                <a:solidFill>
                  <a:srgbClr val="1D1D1D"/>
                </a:solidFill>
                <a:latin typeface="MiSans" pitchFamily="34" charset="0"/>
                <a:ea typeface="MiSans" pitchFamily="34" charset="-122"/>
                <a:cs typeface="MiSans" pitchFamily="34" charset="-120"/>
              </a:rPr>
              <a:t>代码生成</a:t>
            </a:r>
            <a:endParaRPr lang="en-US" sz="1600" dirty="0"/>
          </a:p>
        </p:txBody>
      </p:sp>
      <p:sp>
        <p:nvSpPr>
          <p:cNvPr id="17" name="Text 15"/>
          <p:cNvSpPr/>
          <p:nvPr/>
        </p:nvSpPr>
        <p:spPr>
          <a:xfrm>
            <a:off x="2281122" y="2418292"/>
            <a:ext cx="1754188"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逐行编写</a:t>
            </a:r>
            <a:endParaRPr lang="en-US" sz="1600" dirty="0"/>
          </a:p>
        </p:txBody>
      </p:sp>
      <p:sp>
        <p:nvSpPr>
          <p:cNvPr id="18" name="Text 16"/>
          <p:cNvSpPr/>
          <p:nvPr/>
        </p:nvSpPr>
        <p:spPr>
          <a:xfrm>
            <a:off x="4076733" y="2418292"/>
            <a:ext cx="1754188" cy="158750"/>
          </a:xfrm>
          <a:prstGeom prst="rect">
            <a:avLst/>
          </a:prstGeom>
          <a:noFill/>
          <a:ln/>
        </p:spPr>
        <p:txBody>
          <a:bodyPr wrap="square" lIns="0" tIns="0" rIns="0" bIns="0" rtlCol="0" anchor="ctr"/>
          <a:lstStyle/>
          <a:p>
            <a:pPr algn="ctr">
              <a:lnSpc>
                <a:spcPct val="120000"/>
              </a:lnSpc>
            </a:pPr>
            <a:r>
              <a:rPr lang="en-US" sz="875" b="1" dirty="0">
                <a:solidFill>
                  <a:srgbClr val="0071E3"/>
                </a:solidFill>
                <a:latin typeface="MiSans" pitchFamily="34" charset="0"/>
                <a:ea typeface="MiSans" pitchFamily="34" charset="-122"/>
                <a:cs typeface="MiSans" pitchFamily="34" charset="-120"/>
              </a:rPr>
              <a:t>批量生成</a:t>
            </a:r>
            <a:endParaRPr lang="en-US" sz="1600" dirty="0"/>
          </a:p>
        </p:txBody>
      </p:sp>
      <p:sp>
        <p:nvSpPr>
          <p:cNvPr id="19" name="Text 17"/>
          <p:cNvSpPr/>
          <p:nvPr/>
        </p:nvSpPr>
        <p:spPr>
          <a:xfrm>
            <a:off x="485510" y="2704042"/>
            <a:ext cx="1754188" cy="158750"/>
          </a:xfrm>
          <a:prstGeom prst="rect">
            <a:avLst/>
          </a:prstGeom>
          <a:noFill/>
          <a:ln/>
        </p:spPr>
        <p:txBody>
          <a:bodyPr wrap="square" lIns="0" tIns="0" rIns="0" bIns="0" rtlCol="0" anchor="ctr"/>
          <a:lstStyle/>
          <a:p>
            <a:pPr algn="ctr">
              <a:lnSpc>
                <a:spcPct val="120000"/>
              </a:lnSpc>
            </a:pPr>
            <a:r>
              <a:rPr lang="en-US" sz="875" b="1" dirty="0">
                <a:solidFill>
                  <a:srgbClr val="1D1D1D"/>
                </a:solidFill>
                <a:latin typeface="MiSans" pitchFamily="34" charset="0"/>
                <a:ea typeface="MiSans" pitchFamily="34" charset="-122"/>
                <a:cs typeface="MiSans" pitchFamily="34" charset="-120"/>
              </a:rPr>
              <a:t>多框架适配</a:t>
            </a:r>
            <a:endParaRPr lang="en-US" sz="1600" dirty="0"/>
          </a:p>
        </p:txBody>
      </p:sp>
      <p:sp>
        <p:nvSpPr>
          <p:cNvPr id="20" name="Text 18"/>
          <p:cNvSpPr/>
          <p:nvPr/>
        </p:nvSpPr>
        <p:spPr>
          <a:xfrm>
            <a:off x="2281122" y="2704042"/>
            <a:ext cx="1754188"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逐一学习</a:t>
            </a:r>
            <a:endParaRPr lang="en-US" sz="1600" dirty="0"/>
          </a:p>
        </p:txBody>
      </p:sp>
      <p:sp>
        <p:nvSpPr>
          <p:cNvPr id="21" name="Text 19"/>
          <p:cNvSpPr/>
          <p:nvPr/>
        </p:nvSpPr>
        <p:spPr>
          <a:xfrm>
            <a:off x="4076733" y="2704042"/>
            <a:ext cx="1754188" cy="158750"/>
          </a:xfrm>
          <a:prstGeom prst="rect">
            <a:avLst/>
          </a:prstGeom>
          <a:noFill/>
          <a:ln/>
        </p:spPr>
        <p:txBody>
          <a:bodyPr wrap="square" lIns="0" tIns="0" rIns="0" bIns="0" rtlCol="0" anchor="ctr"/>
          <a:lstStyle/>
          <a:p>
            <a:pPr algn="ctr">
              <a:lnSpc>
                <a:spcPct val="120000"/>
              </a:lnSpc>
            </a:pPr>
            <a:r>
              <a:rPr lang="en-US" sz="875" b="1" dirty="0">
                <a:solidFill>
                  <a:srgbClr val="0071E3"/>
                </a:solidFill>
                <a:latin typeface="MiSans" pitchFamily="34" charset="0"/>
                <a:ea typeface="MiSans" pitchFamily="34" charset="-122"/>
                <a:cs typeface="MiSans" pitchFamily="34" charset="-120"/>
              </a:rPr>
              <a:t>AI自动匹配</a:t>
            </a:r>
            <a:endParaRPr lang="en-US" sz="1600" dirty="0"/>
          </a:p>
        </p:txBody>
      </p:sp>
      <p:sp>
        <p:nvSpPr>
          <p:cNvPr id="22" name="Text 20"/>
          <p:cNvSpPr/>
          <p:nvPr/>
        </p:nvSpPr>
        <p:spPr>
          <a:xfrm>
            <a:off x="485510" y="2989792"/>
            <a:ext cx="1754188" cy="158750"/>
          </a:xfrm>
          <a:prstGeom prst="rect">
            <a:avLst/>
          </a:prstGeom>
          <a:noFill/>
          <a:ln/>
        </p:spPr>
        <p:txBody>
          <a:bodyPr wrap="square" lIns="0" tIns="0" rIns="0" bIns="0" rtlCol="0" anchor="ctr"/>
          <a:lstStyle/>
          <a:p>
            <a:pPr algn="ctr">
              <a:lnSpc>
                <a:spcPct val="120000"/>
              </a:lnSpc>
            </a:pPr>
            <a:r>
              <a:rPr lang="en-US" sz="875" b="1" dirty="0">
                <a:solidFill>
                  <a:srgbClr val="1D1D1D"/>
                </a:solidFill>
                <a:latin typeface="MiSans" pitchFamily="34" charset="0"/>
                <a:ea typeface="MiSans" pitchFamily="34" charset="-122"/>
                <a:cs typeface="MiSans" pitchFamily="34" charset="-120"/>
              </a:rPr>
              <a:t>测试验证</a:t>
            </a:r>
            <a:endParaRPr lang="en-US" sz="1600" dirty="0"/>
          </a:p>
        </p:txBody>
      </p:sp>
      <p:sp>
        <p:nvSpPr>
          <p:cNvPr id="23" name="Text 21"/>
          <p:cNvSpPr/>
          <p:nvPr/>
        </p:nvSpPr>
        <p:spPr>
          <a:xfrm>
            <a:off x="2281122" y="2989792"/>
            <a:ext cx="1754188"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手动编写</a:t>
            </a:r>
            <a:endParaRPr lang="en-US" sz="1600" dirty="0"/>
          </a:p>
        </p:txBody>
      </p:sp>
      <p:sp>
        <p:nvSpPr>
          <p:cNvPr id="24" name="Text 22"/>
          <p:cNvSpPr/>
          <p:nvPr/>
        </p:nvSpPr>
        <p:spPr>
          <a:xfrm>
            <a:off x="4076733" y="2989792"/>
            <a:ext cx="1754188" cy="158750"/>
          </a:xfrm>
          <a:prstGeom prst="rect">
            <a:avLst/>
          </a:prstGeom>
          <a:noFill/>
          <a:ln/>
        </p:spPr>
        <p:txBody>
          <a:bodyPr wrap="square" lIns="0" tIns="0" rIns="0" bIns="0" rtlCol="0" anchor="ctr"/>
          <a:lstStyle/>
          <a:p>
            <a:pPr algn="ctr">
              <a:lnSpc>
                <a:spcPct val="120000"/>
              </a:lnSpc>
            </a:pPr>
            <a:r>
              <a:rPr lang="en-US" sz="875" b="1" dirty="0">
                <a:solidFill>
                  <a:srgbClr val="0071E3"/>
                </a:solidFill>
                <a:latin typeface="MiSans" pitchFamily="34" charset="0"/>
                <a:ea typeface="MiSans" pitchFamily="34" charset="-122"/>
                <a:cs typeface="MiSans" pitchFamily="34" charset="-120"/>
              </a:rPr>
              <a:t>AI生成并执行</a:t>
            </a:r>
            <a:endParaRPr lang="en-US" sz="1600" dirty="0"/>
          </a:p>
        </p:txBody>
      </p:sp>
      <p:sp>
        <p:nvSpPr>
          <p:cNvPr id="25" name="Shape 23"/>
          <p:cNvSpPr/>
          <p:nvPr/>
        </p:nvSpPr>
        <p:spPr>
          <a:xfrm>
            <a:off x="6193896" y="1018646"/>
            <a:ext cx="5680604" cy="4235979"/>
          </a:xfrm>
          <a:custGeom>
            <a:avLst/>
            <a:gdLst/>
            <a:ahLst/>
            <a:cxnLst/>
            <a:rect l="l" t="t" r="r" b="b"/>
            <a:pathLst>
              <a:path w="5680604" h="4235979">
                <a:moveTo>
                  <a:pt x="126995" y="0"/>
                </a:moveTo>
                <a:lnTo>
                  <a:pt x="5553610" y="0"/>
                </a:lnTo>
                <a:cubicBezTo>
                  <a:pt x="5623747" y="0"/>
                  <a:pt x="5680604" y="56857"/>
                  <a:pt x="5680604" y="126995"/>
                </a:cubicBezTo>
                <a:lnTo>
                  <a:pt x="5680604" y="4108985"/>
                </a:lnTo>
                <a:cubicBezTo>
                  <a:pt x="5680604" y="4179122"/>
                  <a:pt x="5623747" y="4235979"/>
                  <a:pt x="5553610" y="4235979"/>
                </a:cubicBezTo>
                <a:lnTo>
                  <a:pt x="126995" y="4235979"/>
                </a:lnTo>
                <a:cubicBezTo>
                  <a:pt x="56857" y="4235979"/>
                  <a:pt x="0" y="4179122"/>
                  <a:pt x="0" y="4108985"/>
                </a:cubicBezTo>
                <a:lnTo>
                  <a:pt x="0" y="126995"/>
                </a:lnTo>
                <a:cubicBezTo>
                  <a:pt x="0" y="56904"/>
                  <a:pt x="56904" y="0"/>
                  <a:pt x="126995"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26" name="Shape 24"/>
          <p:cNvSpPr/>
          <p:nvPr/>
        </p:nvSpPr>
        <p:spPr>
          <a:xfrm>
            <a:off x="6406886" y="1243542"/>
            <a:ext cx="158750" cy="158750"/>
          </a:xfrm>
          <a:custGeom>
            <a:avLst/>
            <a:gdLst/>
            <a:ahLst/>
            <a:cxnLst/>
            <a:rect l="l" t="t" r="r" b="b"/>
            <a:pathLst>
              <a:path w="158750" h="158750">
                <a:moveTo>
                  <a:pt x="44741" y="0"/>
                </a:moveTo>
                <a:lnTo>
                  <a:pt x="114195" y="0"/>
                </a:lnTo>
                <a:cubicBezTo>
                  <a:pt x="122411" y="0"/>
                  <a:pt x="129108" y="6759"/>
                  <a:pt x="128798" y="14945"/>
                </a:cubicBezTo>
                <a:cubicBezTo>
                  <a:pt x="128736" y="16588"/>
                  <a:pt x="128674" y="18231"/>
                  <a:pt x="128581" y="19844"/>
                </a:cubicBezTo>
                <a:lnTo>
                  <a:pt x="143960" y="19844"/>
                </a:lnTo>
                <a:cubicBezTo>
                  <a:pt x="152053" y="19844"/>
                  <a:pt x="159184" y="26541"/>
                  <a:pt x="158564" y="35285"/>
                </a:cubicBezTo>
                <a:cubicBezTo>
                  <a:pt x="156239" y="67438"/>
                  <a:pt x="139805" y="85111"/>
                  <a:pt x="121977" y="94351"/>
                </a:cubicBezTo>
                <a:cubicBezTo>
                  <a:pt x="117078" y="96893"/>
                  <a:pt x="112086" y="98785"/>
                  <a:pt x="107342" y="100180"/>
                </a:cubicBezTo>
                <a:cubicBezTo>
                  <a:pt x="101079" y="109048"/>
                  <a:pt x="94568" y="113729"/>
                  <a:pt x="89390" y="116241"/>
                </a:cubicBezTo>
                <a:lnTo>
                  <a:pt x="89390" y="138906"/>
                </a:lnTo>
                <a:lnTo>
                  <a:pt x="109234" y="138906"/>
                </a:lnTo>
                <a:cubicBezTo>
                  <a:pt x="114722" y="138906"/>
                  <a:pt x="119156" y="143340"/>
                  <a:pt x="119156" y="148828"/>
                </a:cubicBezTo>
                <a:cubicBezTo>
                  <a:pt x="119156" y="154316"/>
                  <a:pt x="114722" y="158750"/>
                  <a:pt x="109234" y="158750"/>
                </a:cubicBezTo>
                <a:lnTo>
                  <a:pt x="49702" y="158750"/>
                </a:lnTo>
                <a:cubicBezTo>
                  <a:pt x="44214" y="158750"/>
                  <a:pt x="39781" y="154316"/>
                  <a:pt x="39781" y="148828"/>
                </a:cubicBezTo>
                <a:cubicBezTo>
                  <a:pt x="39781" y="143340"/>
                  <a:pt x="44214" y="138906"/>
                  <a:pt x="49702" y="138906"/>
                </a:cubicBezTo>
                <a:lnTo>
                  <a:pt x="69546" y="138906"/>
                </a:lnTo>
                <a:lnTo>
                  <a:pt x="69546" y="116241"/>
                </a:lnTo>
                <a:cubicBezTo>
                  <a:pt x="64585" y="113854"/>
                  <a:pt x="58415" y="109420"/>
                  <a:pt x="52400" y="101265"/>
                </a:cubicBezTo>
                <a:cubicBezTo>
                  <a:pt x="46695" y="99777"/>
                  <a:pt x="40494" y="97513"/>
                  <a:pt x="34448" y="94103"/>
                </a:cubicBezTo>
                <a:cubicBezTo>
                  <a:pt x="17673" y="84708"/>
                  <a:pt x="2542" y="67004"/>
                  <a:pt x="372" y="35223"/>
                </a:cubicBezTo>
                <a:cubicBezTo>
                  <a:pt x="-217" y="26510"/>
                  <a:pt x="6883" y="19813"/>
                  <a:pt x="14976" y="19813"/>
                </a:cubicBezTo>
                <a:lnTo>
                  <a:pt x="30355" y="19813"/>
                </a:lnTo>
                <a:cubicBezTo>
                  <a:pt x="30262" y="18200"/>
                  <a:pt x="30200" y="16588"/>
                  <a:pt x="30138" y="14914"/>
                </a:cubicBezTo>
                <a:cubicBezTo>
                  <a:pt x="29828" y="6697"/>
                  <a:pt x="36525" y="-31"/>
                  <a:pt x="44741" y="-31"/>
                </a:cubicBezTo>
                <a:close/>
                <a:moveTo>
                  <a:pt x="31471" y="34727"/>
                </a:moveTo>
                <a:lnTo>
                  <a:pt x="15224" y="34727"/>
                </a:lnTo>
                <a:cubicBezTo>
                  <a:pt x="17146" y="60989"/>
                  <a:pt x="29208" y="74135"/>
                  <a:pt x="41641" y="81111"/>
                </a:cubicBezTo>
                <a:cubicBezTo>
                  <a:pt x="37176" y="69546"/>
                  <a:pt x="33486" y="54446"/>
                  <a:pt x="31471" y="34727"/>
                </a:cubicBezTo>
                <a:close/>
                <a:moveTo>
                  <a:pt x="117822" y="79623"/>
                </a:moveTo>
                <a:cubicBezTo>
                  <a:pt x="130380" y="72244"/>
                  <a:pt x="141728" y="59128"/>
                  <a:pt x="143650" y="34727"/>
                </a:cubicBezTo>
                <a:lnTo>
                  <a:pt x="127434" y="34727"/>
                </a:lnTo>
                <a:cubicBezTo>
                  <a:pt x="125512" y="53609"/>
                  <a:pt x="122039" y="68275"/>
                  <a:pt x="117822" y="79623"/>
                </a:cubicBezTo>
                <a:close/>
              </a:path>
            </a:pathLst>
          </a:custGeom>
          <a:solidFill>
            <a:srgbClr val="0071E3"/>
          </a:solidFill>
          <a:ln/>
        </p:spPr>
        <p:txBody>
          <a:bodyPr/>
          <a:lstStyle/>
          <a:p>
            <a:endParaRPr lang="zh-CN" altLang="en-US"/>
          </a:p>
        </p:txBody>
      </p:sp>
      <p:sp>
        <p:nvSpPr>
          <p:cNvPr id="27" name="Text 25"/>
          <p:cNvSpPr/>
          <p:nvPr/>
        </p:nvSpPr>
        <p:spPr>
          <a:xfrm>
            <a:off x="6585479" y="1211792"/>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实际产出</a:t>
            </a:r>
            <a:endParaRPr lang="en-US" sz="1600" dirty="0"/>
          </a:p>
        </p:txBody>
      </p:sp>
      <p:sp>
        <p:nvSpPr>
          <p:cNvPr id="28" name="Shape 26"/>
          <p:cNvSpPr/>
          <p:nvPr/>
        </p:nvSpPr>
        <p:spPr>
          <a:xfrm>
            <a:off x="6387042" y="1592792"/>
            <a:ext cx="2579688" cy="730250"/>
          </a:xfrm>
          <a:custGeom>
            <a:avLst/>
            <a:gdLst/>
            <a:ahLst/>
            <a:cxnLst/>
            <a:rect l="l" t="t" r="r" b="b"/>
            <a:pathLst>
              <a:path w="2579688" h="730250">
                <a:moveTo>
                  <a:pt x="95247" y="0"/>
                </a:moveTo>
                <a:lnTo>
                  <a:pt x="2484441" y="0"/>
                </a:lnTo>
                <a:cubicBezTo>
                  <a:pt x="2537044" y="0"/>
                  <a:pt x="2579688" y="42643"/>
                  <a:pt x="2579688" y="95247"/>
                </a:cubicBezTo>
                <a:lnTo>
                  <a:pt x="2579688" y="635003"/>
                </a:lnTo>
                <a:cubicBezTo>
                  <a:pt x="2579688" y="687607"/>
                  <a:pt x="2537044" y="730250"/>
                  <a:pt x="2484441" y="730250"/>
                </a:cubicBezTo>
                <a:lnTo>
                  <a:pt x="95247" y="730250"/>
                </a:lnTo>
                <a:cubicBezTo>
                  <a:pt x="42643" y="730250"/>
                  <a:pt x="0" y="687607"/>
                  <a:pt x="0" y="635003"/>
                </a:cubicBezTo>
                <a:lnTo>
                  <a:pt x="0" y="95247"/>
                </a:lnTo>
                <a:cubicBezTo>
                  <a:pt x="0" y="42679"/>
                  <a:pt x="42679" y="0"/>
                  <a:pt x="95247" y="0"/>
                </a:cubicBezTo>
                <a:close/>
              </a:path>
            </a:pathLst>
          </a:custGeom>
          <a:solidFill>
            <a:srgbClr val="0071E3">
              <a:alpha val="5098"/>
            </a:srgbClr>
          </a:solidFill>
          <a:ln/>
        </p:spPr>
        <p:txBody>
          <a:bodyPr/>
          <a:lstStyle/>
          <a:p>
            <a:endParaRPr lang="zh-CN" altLang="en-US"/>
          </a:p>
        </p:txBody>
      </p:sp>
      <p:sp>
        <p:nvSpPr>
          <p:cNvPr id="29" name="Text 27"/>
          <p:cNvSpPr/>
          <p:nvPr/>
        </p:nvSpPr>
        <p:spPr>
          <a:xfrm>
            <a:off x="6454511" y="1719792"/>
            <a:ext cx="24447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5个</a:t>
            </a:r>
            <a:endParaRPr lang="en-US" sz="1600" dirty="0"/>
          </a:p>
        </p:txBody>
      </p:sp>
      <p:sp>
        <p:nvSpPr>
          <p:cNvPr id="30" name="Text 28"/>
          <p:cNvSpPr/>
          <p:nvPr/>
        </p:nvSpPr>
        <p:spPr>
          <a:xfrm>
            <a:off x="6486261" y="2037292"/>
            <a:ext cx="2381250"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核心模块</a:t>
            </a:r>
            <a:endParaRPr lang="en-US" sz="1600" dirty="0"/>
          </a:p>
        </p:txBody>
      </p:sp>
      <p:sp>
        <p:nvSpPr>
          <p:cNvPr id="31" name="Shape 29"/>
          <p:cNvSpPr/>
          <p:nvPr/>
        </p:nvSpPr>
        <p:spPr>
          <a:xfrm>
            <a:off x="9096375" y="1592792"/>
            <a:ext cx="2579688" cy="730250"/>
          </a:xfrm>
          <a:custGeom>
            <a:avLst/>
            <a:gdLst/>
            <a:ahLst/>
            <a:cxnLst/>
            <a:rect l="l" t="t" r="r" b="b"/>
            <a:pathLst>
              <a:path w="2579688" h="730250">
                <a:moveTo>
                  <a:pt x="95247" y="0"/>
                </a:moveTo>
                <a:lnTo>
                  <a:pt x="2484441" y="0"/>
                </a:lnTo>
                <a:cubicBezTo>
                  <a:pt x="2537044" y="0"/>
                  <a:pt x="2579688" y="42643"/>
                  <a:pt x="2579688" y="95247"/>
                </a:cubicBezTo>
                <a:lnTo>
                  <a:pt x="2579688" y="635003"/>
                </a:lnTo>
                <a:cubicBezTo>
                  <a:pt x="2579688" y="687607"/>
                  <a:pt x="2537044" y="730250"/>
                  <a:pt x="2484441" y="730250"/>
                </a:cubicBezTo>
                <a:lnTo>
                  <a:pt x="95247" y="730250"/>
                </a:lnTo>
                <a:cubicBezTo>
                  <a:pt x="42643" y="730250"/>
                  <a:pt x="0" y="687607"/>
                  <a:pt x="0" y="635003"/>
                </a:cubicBezTo>
                <a:lnTo>
                  <a:pt x="0" y="95247"/>
                </a:lnTo>
                <a:cubicBezTo>
                  <a:pt x="0" y="42679"/>
                  <a:pt x="42679" y="0"/>
                  <a:pt x="95247" y="0"/>
                </a:cubicBezTo>
                <a:close/>
              </a:path>
            </a:pathLst>
          </a:custGeom>
          <a:solidFill>
            <a:srgbClr val="0071E3">
              <a:alpha val="5098"/>
            </a:srgbClr>
          </a:solidFill>
          <a:ln/>
        </p:spPr>
        <p:txBody>
          <a:bodyPr/>
          <a:lstStyle/>
          <a:p>
            <a:endParaRPr lang="zh-CN" altLang="en-US"/>
          </a:p>
        </p:txBody>
      </p:sp>
      <p:sp>
        <p:nvSpPr>
          <p:cNvPr id="32" name="Text 30"/>
          <p:cNvSpPr/>
          <p:nvPr/>
        </p:nvSpPr>
        <p:spPr>
          <a:xfrm>
            <a:off x="9163844" y="1719792"/>
            <a:ext cx="24447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9个</a:t>
            </a:r>
            <a:endParaRPr lang="en-US" sz="1600" dirty="0"/>
          </a:p>
        </p:txBody>
      </p:sp>
      <p:sp>
        <p:nvSpPr>
          <p:cNvPr id="33" name="Text 31"/>
          <p:cNvSpPr/>
          <p:nvPr/>
        </p:nvSpPr>
        <p:spPr>
          <a:xfrm>
            <a:off x="9195594" y="2037292"/>
            <a:ext cx="2381250"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Demo应用</a:t>
            </a:r>
            <a:endParaRPr lang="en-US" sz="1600" dirty="0"/>
          </a:p>
        </p:txBody>
      </p:sp>
      <p:sp>
        <p:nvSpPr>
          <p:cNvPr id="34" name="Shape 32"/>
          <p:cNvSpPr/>
          <p:nvPr/>
        </p:nvSpPr>
        <p:spPr>
          <a:xfrm>
            <a:off x="6387042" y="2450042"/>
            <a:ext cx="2579688" cy="730250"/>
          </a:xfrm>
          <a:custGeom>
            <a:avLst/>
            <a:gdLst/>
            <a:ahLst/>
            <a:cxnLst/>
            <a:rect l="l" t="t" r="r" b="b"/>
            <a:pathLst>
              <a:path w="2579688" h="730250">
                <a:moveTo>
                  <a:pt x="95247" y="0"/>
                </a:moveTo>
                <a:lnTo>
                  <a:pt x="2484441" y="0"/>
                </a:lnTo>
                <a:cubicBezTo>
                  <a:pt x="2537044" y="0"/>
                  <a:pt x="2579688" y="42643"/>
                  <a:pt x="2579688" y="95247"/>
                </a:cubicBezTo>
                <a:lnTo>
                  <a:pt x="2579688" y="635003"/>
                </a:lnTo>
                <a:cubicBezTo>
                  <a:pt x="2579688" y="687607"/>
                  <a:pt x="2537044" y="730250"/>
                  <a:pt x="2484441" y="730250"/>
                </a:cubicBezTo>
                <a:lnTo>
                  <a:pt x="95247" y="730250"/>
                </a:lnTo>
                <a:cubicBezTo>
                  <a:pt x="42643" y="730250"/>
                  <a:pt x="0" y="687607"/>
                  <a:pt x="0" y="635003"/>
                </a:cubicBezTo>
                <a:lnTo>
                  <a:pt x="0" y="95247"/>
                </a:lnTo>
                <a:cubicBezTo>
                  <a:pt x="0" y="42679"/>
                  <a:pt x="42679" y="0"/>
                  <a:pt x="95247" y="0"/>
                </a:cubicBezTo>
                <a:close/>
              </a:path>
            </a:pathLst>
          </a:custGeom>
          <a:solidFill>
            <a:srgbClr val="0071E3">
              <a:alpha val="5098"/>
            </a:srgbClr>
          </a:solidFill>
          <a:ln/>
        </p:spPr>
        <p:txBody>
          <a:bodyPr/>
          <a:lstStyle/>
          <a:p>
            <a:endParaRPr lang="zh-CN" altLang="en-US"/>
          </a:p>
        </p:txBody>
      </p:sp>
      <p:sp>
        <p:nvSpPr>
          <p:cNvPr id="35" name="Text 33"/>
          <p:cNvSpPr/>
          <p:nvPr/>
        </p:nvSpPr>
        <p:spPr>
          <a:xfrm>
            <a:off x="6454511" y="2577042"/>
            <a:ext cx="24447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15,000+</a:t>
            </a:r>
            <a:endParaRPr lang="en-US" sz="1600" dirty="0"/>
          </a:p>
        </p:txBody>
      </p:sp>
      <p:sp>
        <p:nvSpPr>
          <p:cNvPr id="36" name="Text 34"/>
          <p:cNvSpPr/>
          <p:nvPr/>
        </p:nvSpPr>
        <p:spPr>
          <a:xfrm>
            <a:off x="6486261" y="2894542"/>
            <a:ext cx="2381250" cy="15875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代码行数</a:t>
            </a:r>
            <a:endParaRPr lang="en-US" sz="1600" dirty="0"/>
          </a:p>
        </p:txBody>
      </p:sp>
      <p:sp>
        <p:nvSpPr>
          <p:cNvPr id="37" name="Shape 35"/>
          <p:cNvSpPr/>
          <p:nvPr/>
        </p:nvSpPr>
        <p:spPr>
          <a:xfrm>
            <a:off x="9096375" y="2450042"/>
            <a:ext cx="2579688" cy="730250"/>
          </a:xfrm>
          <a:custGeom>
            <a:avLst/>
            <a:gdLst/>
            <a:ahLst/>
            <a:cxnLst/>
            <a:rect l="l" t="t" r="r" b="b"/>
            <a:pathLst>
              <a:path w="2579688" h="730250">
                <a:moveTo>
                  <a:pt x="95247" y="0"/>
                </a:moveTo>
                <a:lnTo>
                  <a:pt x="2484441" y="0"/>
                </a:lnTo>
                <a:cubicBezTo>
                  <a:pt x="2537044" y="0"/>
                  <a:pt x="2579688" y="42643"/>
                  <a:pt x="2579688" y="95247"/>
                </a:cubicBezTo>
                <a:lnTo>
                  <a:pt x="2579688" y="635003"/>
                </a:lnTo>
                <a:cubicBezTo>
                  <a:pt x="2579688" y="687607"/>
                  <a:pt x="2537044" y="730250"/>
                  <a:pt x="2484441" y="730250"/>
                </a:cubicBezTo>
                <a:lnTo>
                  <a:pt x="95247" y="730250"/>
                </a:lnTo>
                <a:cubicBezTo>
                  <a:pt x="42643" y="730250"/>
                  <a:pt x="0" y="687607"/>
                  <a:pt x="0" y="635003"/>
                </a:cubicBezTo>
                <a:lnTo>
                  <a:pt x="0" y="95247"/>
                </a:lnTo>
                <a:cubicBezTo>
                  <a:pt x="0" y="42679"/>
                  <a:pt x="42679" y="0"/>
                  <a:pt x="95247" y="0"/>
                </a:cubicBezTo>
                <a:close/>
              </a:path>
            </a:pathLst>
          </a:custGeom>
          <a:gradFill flip="none" rotWithShape="1">
            <a:gsLst>
              <a:gs pos="0">
                <a:srgbClr val="0071E3"/>
              </a:gs>
              <a:gs pos="100000">
                <a:srgbClr val="0071E3">
                  <a:alpha val="80000"/>
                </a:srgbClr>
              </a:gs>
            </a:gsLst>
            <a:lin ang="2700000" scaled="1"/>
          </a:gradFill>
          <a:ln/>
        </p:spPr>
        <p:txBody>
          <a:bodyPr/>
          <a:lstStyle/>
          <a:p>
            <a:endParaRPr lang="zh-CN" altLang="en-US"/>
          </a:p>
        </p:txBody>
      </p:sp>
      <p:sp>
        <p:nvSpPr>
          <p:cNvPr id="38" name="Text 36"/>
          <p:cNvSpPr/>
          <p:nvPr/>
        </p:nvSpPr>
        <p:spPr>
          <a:xfrm>
            <a:off x="9163844" y="2577042"/>
            <a:ext cx="2444750" cy="285750"/>
          </a:xfrm>
          <a:prstGeom prst="rect">
            <a:avLst/>
          </a:prstGeom>
          <a:noFill/>
          <a:ln/>
        </p:spPr>
        <p:txBody>
          <a:bodyPr wrap="square" lIns="0" tIns="0" rIns="0" bIns="0" rtlCol="0" anchor="ctr"/>
          <a:lstStyle/>
          <a:p>
            <a:pPr algn="ctr">
              <a:lnSpc>
                <a:spcPct val="100000"/>
              </a:lnSpc>
            </a:pPr>
            <a:r>
              <a:rPr lang="en-US" sz="1875" b="1" dirty="0">
                <a:solidFill>
                  <a:srgbClr val="FFFFFF"/>
                </a:solidFill>
                <a:latin typeface="MiSans" pitchFamily="34" charset="0"/>
                <a:ea typeface="MiSans" pitchFamily="34" charset="-122"/>
                <a:cs typeface="MiSans" pitchFamily="34" charset="-120"/>
              </a:rPr>
              <a:t>1人12天</a:t>
            </a:r>
            <a:endParaRPr lang="en-US" sz="1600" dirty="0"/>
          </a:p>
        </p:txBody>
      </p:sp>
      <p:sp>
        <p:nvSpPr>
          <p:cNvPr id="39" name="Text 37"/>
          <p:cNvSpPr/>
          <p:nvPr/>
        </p:nvSpPr>
        <p:spPr>
          <a:xfrm>
            <a:off x="9195594" y="2894542"/>
            <a:ext cx="2381250" cy="158750"/>
          </a:xfrm>
          <a:prstGeom prst="rect">
            <a:avLst/>
          </a:prstGeom>
          <a:noFill/>
          <a:ln/>
        </p:spPr>
        <p:txBody>
          <a:bodyPr wrap="square" lIns="0" tIns="0" rIns="0" bIns="0" rtlCol="0" anchor="ctr"/>
          <a:lstStyle/>
          <a:p>
            <a:pPr algn="ctr">
              <a:lnSpc>
                <a:spcPct val="120000"/>
              </a:lnSpc>
            </a:pPr>
            <a:r>
              <a:rPr lang="en-US" sz="875" dirty="0">
                <a:solidFill>
                  <a:srgbClr val="FFFFFF">
                    <a:alpha val="90000"/>
                  </a:srgbClr>
                </a:solidFill>
                <a:latin typeface="MiSans" pitchFamily="34" charset="0"/>
                <a:ea typeface="MiSans" pitchFamily="34" charset="-122"/>
                <a:cs typeface="MiSans" pitchFamily="34" charset="-120"/>
              </a:rPr>
              <a:t>传统需2人月+</a:t>
            </a:r>
            <a:endParaRPr lang="en-US" sz="1600" dirty="0"/>
          </a:p>
        </p:txBody>
      </p:sp>
      <p:sp>
        <p:nvSpPr>
          <p:cNvPr id="40" name="Shape 38"/>
          <p:cNvSpPr/>
          <p:nvPr/>
        </p:nvSpPr>
        <p:spPr>
          <a:xfrm>
            <a:off x="6389688" y="3341688"/>
            <a:ext cx="5283729" cy="1719792"/>
          </a:xfrm>
          <a:custGeom>
            <a:avLst/>
            <a:gdLst/>
            <a:ahLst/>
            <a:cxnLst/>
            <a:rect l="l" t="t" r="r" b="b"/>
            <a:pathLst>
              <a:path w="5283729" h="1719792">
                <a:moveTo>
                  <a:pt x="95242" y="0"/>
                </a:moveTo>
                <a:lnTo>
                  <a:pt x="5188487" y="0"/>
                </a:lnTo>
                <a:cubicBezTo>
                  <a:pt x="5241088" y="0"/>
                  <a:pt x="5283729" y="42641"/>
                  <a:pt x="5283729" y="95242"/>
                </a:cubicBezTo>
                <a:lnTo>
                  <a:pt x="5283729" y="1624550"/>
                </a:lnTo>
                <a:cubicBezTo>
                  <a:pt x="5283729" y="1677150"/>
                  <a:pt x="5241088" y="1719792"/>
                  <a:pt x="5188487" y="1719792"/>
                </a:cubicBezTo>
                <a:lnTo>
                  <a:pt x="95242" y="1719792"/>
                </a:lnTo>
                <a:cubicBezTo>
                  <a:pt x="42641" y="1719792"/>
                  <a:pt x="0" y="1677150"/>
                  <a:pt x="0" y="1624550"/>
                </a:cubicBezTo>
                <a:lnTo>
                  <a:pt x="0" y="95242"/>
                </a:lnTo>
                <a:cubicBezTo>
                  <a:pt x="0" y="42677"/>
                  <a:pt x="42677" y="0"/>
                  <a:pt x="95242" y="0"/>
                </a:cubicBezTo>
                <a:close/>
              </a:path>
            </a:pathLst>
          </a:custGeom>
          <a:solidFill>
            <a:srgbClr val="FAFAFA"/>
          </a:solidFill>
          <a:ln w="8467">
            <a:solidFill>
              <a:srgbClr val="E5E5E5"/>
            </a:solidFill>
            <a:prstDash val="solid"/>
          </a:ln>
        </p:spPr>
        <p:txBody>
          <a:bodyPr/>
          <a:lstStyle/>
          <a:p>
            <a:endParaRPr lang="zh-CN" altLang="en-US"/>
          </a:p>
        </p:txBody>
      </p:sp>
      <p:sp>
        <p:nvSpPr>
          <p:cNvPr id="41" name="Text 39"/>
          <p:cNvSpPr/>
          <p:nvPr/>
        </p:nvSpPr>
        <p:spPr>
          <a:xfrm>
            <a:off x="6519334" y="3471335"/>
            <a:ext cx="5080000"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项目结构</a:t>
            </a:r>
            <a:endParaRPr lang="en-US" sz="1600" dirty="0"/>
          </a:p>
        </p:txBody>
      </p:sp>
      <p:sp>
        <p:nvSpPr>
          <p:cNvPr id="42" name="Text 40"/>
          <p:cNvSpPr/>
          <p:nvPr/>
        </p:nvSpPr>
        <p:spPr>
          <a:xfrm>
            <a:off x="6519334" y="3693585"/>
            <a:ext cx="5072063"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db-pwd/</a:t>
            </a:r>
            <a:endParaRPr lang="en-US" sz="1600" dirty="0"/>
          </a:p>
        </p:txBody>
      </p:sp>
      <p:sp>
        <p:nvSpPr>
          <p:cNvPr id="43" name="Text 41"/>
          <p:cNvSpPr/>
          <p:nvPr/>
        </p:nvSpPr>
        <p:spPr>
          <a:xfrm>
            <a:off x="6519334" y="385233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db-pwd-core/ </a:t>
            </a:r>
            <a:r>
              <a:rPr lang="en-US" sz="750" dirty="0">
                <a:solidFill>
                  <a:srgbClr val="0071E3"/>
                </a:solidFill>
                <a:latin typeface="MiSans" pitchFamily="34" charset="0"/>
                <a:ea typeface="MiSans" pitchFamily="34" charset="-122"/>
                <a:cs typeface="MiSans" pitchFamily="34" charset="-120"/>
              </a:rPr>
              <a:t># 核心加解密</a:t>
            </a:r>
            <a:endParaRPr lang="en-US" sz="1600" dirty="0"/>
          </a:p>
        </p:txBody>
      </p:sp>
      <p:sp>
        <p:nvSpPr>
          <p:cNvPr id="44" name="Text 42"/>
          <p:cNvSpPr/>
          <p:nvPr/>
        </p:nvSpPr>
        <p:spPr>
          <a:xfrm>
            <a:off x="6519334" y="401108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db-pwd-druid/ </a:t>
            </a:r>
            <a:r>
              <a:rPr lang="en-US" sz="750" dirty="0">
                <a:solidFill>
                  <a:srgbClr val="0071E3"/>
                </a:solidFill>
                <a:latin typeface="MiSans" pitchFamily="34" charset="0"/>
                <a:ea typeface="MiSans" pitchFamily="34" charset="-122"/>
                <a:cs typeface="MiSans" pitchFamily="34" charset="-120"/>
              </a:rPr>
              <a:t># Druid集成</a:t>
            </a:r>
            <a:endParaRPr lang="en-US" sz="1600" dirty="0"/>
          </a:p>
        </p:txBody>
      </p:sp>
      <p:sp>
        <p:nvSpPr>
          <p:cNvPr id="45" name="Text 43"/>
          <p:cNvSpPr/>
          <p:nvPr/>
        </p:nvSpPr>
        <p:spPr>
          <a:xfrm>
            <a:off x="6519334" y="416983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db-pwd-spring/ </a:t>
            </a:r>
            <a:r>
              <a:rPr lang="en-US" sz="750" dirty="0">
                <a:solidFill>
                  <a:srgbClr val="0071E3"/>
                </a:solidFill>
                <a:latin typeface="MiSans" pitchFamily="34" charset="0"/>
                <a:ea typeface="MiSans" pitchFamily="34" charset="-122"/>
                <a:cs typeface="MiSans" pitchFamily="34" charset="-120"/>
              </a:rPr>
              <a:t># Spring集成</a:t>
            </a:r>
            <a:endParaRPr lang="en-US" sz="1600" dirty="0"/>
          </a:p>
        </p:txBody>
      </p:sp>
      <p:sp>
        <p:nvSpPr>
          <p:cNvPr id="46" name="Text 44"/>
          <p:cNvSpPr/>
          <p:nvPr/>
        </p:nvSpPr>
        <p:spPr>
          <a:xfrm>
            <a:off x="6519334" y="432858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db-pwd-spring-boot-starter/</a:t>
            </a:r>
            <a:endParaRPr lang="en-US" sz="1600" dirty="0"/>
          </a:p>
        </p:txBody>
      </p:sp>
      <p:sp>
        <p:nvSpPr>
          <p:cNvPr id="47" name="Text 45"/>
          <p:cNvSpPr/>
          <p:nvPr/>
        </p:nvSpPr>
        <p:spPr>
          <a:xfrm>
            <a:off x="6519334" y="448733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db-pwd-mybatis/ </a:t>
            </a:r>
            <a:r>
              <a:rPr lang="en-US" sz="750" dirty="0">
                <a:solidFill>
                  <a:srgbClr val="0071E3"/>
                </a:solidFill>
                <a:latin typeface="MiSans" pitchFamily="34" charset="0"/>
                <a:ea typeface="MiSans" pitchFamily="34" charset="-122"/>
                <a:cs typeface="MiSans" pitchFamily="34" charset="-120"/>
              </a:rPr>
              <a:t># MyBatis集成</a:t>
            </a:r>
            <a:endParaRPr lang="en-US" sz="1600" dirty="0"/>
          </a:p>
        </p:txBody>
      </p:sp>
      <p:sp>
        <p:nvSpPr>
          <p:cNvPr id="48" name="Text 46"/>
          <p:cNvSpPr/>
          <p:nvPr/>
        </p:nvSpPr>
        <p:spPr>
          <a:xfrm>
            <a:off x="6519334" y="464608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db-pwd-web/ </a:t>
            </a:r>
            <a:r>
              <a:rPr lang="en-US" sz="750" dirty="0">
                <a:solidFill>
                  <a:srgbClr val="0071E3"/>
                </a:solidFill>
                <a:latin typeface="MiSans" pitchFamily="34" charset="0"/>
                <a:ea typeface="MiSans" pitchFamily="34" charset="-122"/>
                <a:cs typeface="MiSans" pitchFamily="34" charset="-120"/>
              </a:rPr>
              <a:t># Servlet集成</a:t>
            </a:r>
            <a:endParaRPr lang="en-US" sz="1600" dirty="0"/>
          </a:p>
        </p:txBody>
      </p:sp>
      <p:sp>
        <p:nvSpPr>
          <p:cNvPr id="49" name="Text 47"/>
          <p:cNvSpPr/>
          <p:nvPr/>
        </p:nvSpPr>
        <p:spPr>
          <a:xfrm>
            <a:off x="6519334" y="4804835"/>
            <a:ext cx="5072063" cy="127000"/>
          </a:xfrm>
          <a:prstGeom prst="rect">
            <a:avLst/>
          </a:prstGeom>
          <a:noFill/>
          <a:ln/>
        </p:spPr>
        <p:txBody>
          <a:bodyPr wrap="square" lIns="12700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 demos/ </a:t>
            </a:r>
            <a:r>
              <a:rPr lang="en-US" sz="750" dirty="0">
                <a:solidFill>
                  <a:srgbClr val="0071E3"/>
                </a:solidFill>
                <a:latin typeface="MiSans" pitchFamily="34" charset="0"/>
                <a:ea typeface="MiSans" pitchFamily="34" charset="-122"/>
                <a:cs typeface="MiSans" pitchFamily="34" charset="-120"/>
              </a:rPr>
              <a:t># Demo应用(9个)</a:t>
            </a:r>
            <a:endParaRPr lang="en-US" sz="1600" dirty="0"/>
          </a:p>
        </p:txBody>
      </p:sp>
      <p:sp>
        <p:nvSpPr>
          <p:cNvPr id="50" name="Shape 48"/>
          <p:cNvSpPr/>
          <p:nvPr/>
        </p:nvSpPr>
        <p:spPr>
          <a:xfrm>
            <a:off x="320146" y="5421313"/>
            <a:ext cx="11554354" cy="1791229"/>
          </a:xfrm>
          <a:custGeom>
            <a:avLst/>
            <a:gdLst/>
            <a:ahLst/>
            <a:cxnLst/>
            <a:rect l="l" t="t" r="r" b="b"/>
            <a:pathLst>
              <a:path w="11554354" h="1791229">
                <a:moveTo>
                  <a:pt x="126998" y="0"/>
                </a:moveTo>
                <a:lnTo>
                  <a:pt x="11427356" y="0"/>
                </a:lnTo>
                <a:cubicBezTo>
                  <a:pt x="11497495" y="0"/>
                  <a:pt x="11554354" y="56859"/>
                  <a:pt x="11554354" y="126998"/>
                </a:cubicBezTo>
                <a:lnTo>
                  <a:pt x="11554354" y="1664231"/>
                </a:lnTo>
                <a:cubicBezTo>
                  <a:pt x="11554354" y="1734370"/>
                  <a:pt x="11497495" y="1791229"/>
                  <a:pt x="11427356" y="1791229"/>
                </a:cubicBezTo>
                <a:lnTo>
                  <a:pt x="126998" y="1791229"/>
                </a:lnTo>
                <a:cubicBezTo>
                  <a:pt x="56859" y="1791229"/>
                  <a:pt x="0" y="1734370"/>
                  <a:pt x="0" y="1664231"/>
                </a:cubicBezTo>
                <a:lnTo>
                  <a:pt x="0" y="126998"/>
                </a:lnTo>
                <a:cubicBezTo>
                  <a:pt x="0" y="56906"/>
                  <a:pt x="56906" y="0"/>
                  <a:pt x="126998"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51" name="Shape 49"/>
          <p:cNvSpPr/>
          <p:nvPr/>
        </p:nvSpPr>
        <p:spPr>
          <a:xfrm>
            <a:off x="533135" y="5654147"/>
            <a:ext cx="142875" cy="142875"/>
          </a:xfrm>
          <a:custGeom>
            <a:avLst/>
            <a:gdLst/>
            <a:ahLst/>
            <a:cxnLst/>
            <a:rect l="l" t="t" r="r" b="b"/>
            <a:pathLst>
              <a:path w="142875" h="142875">
                <a:moveTo>
                  <a:pt x="8930" y="8930"/>
                </a:moveTo>
                <a:cubicBezTo>
                  <a:pt x="13869" y="8930"/>
                  <a:pt x="17859" y="12920"/>
                  <a:pt x="17859" y="17859"/>
                </a:cubicBezTo>
                <a:lnTo>
                  <a:pt x="17859" y="111621"/>
                </a:lnTo>
                <a:cubicBezTo>
                  <a:pt x="17859" y="114077"/>
                  <a:pt x="19869" y="116086"/>
                  <a:pt x="22324" y="116086"/>
                </a:cubicBezTo>
                <a:lnTo>
                  <a:pt x="133945" y="116086"/>
                </a:lnTo>
                <a:cubicBezTo>
                  <a:pt x="138885" y="116086"/>
                  <a:pt x="142875" y="120076"/>
                  <a:pt x="142875" y="125016"/>
                </a:cubicBezTo>
                <a:cubicBezTo>
                  <a:pt x="142875" y="129955"/>
                  <a:pt x="138885" y="133945"/>
                  <a:pt x="133945" y="133945"/>
                </a:cubicBezTo>
                <a:lnTo>
                  <a:pt x="22324" y="133945"/>
                </a:lnTo>
                <a:cubicBezTo>
                  <a:pt x="9990" y="133945"/>
                  <a:pt x="0" y="123955"/>
                  <a:pt x="0" y="111621"/>
                </a:cubicBezTo>
                <a:lnTo>
                  <a:pt x="0" y="17859"/>
                </a:lnTo>
                <a:cubicBezTo>
                  <a:pt x="0" y="12920"/>
                  <a:pt x="3990" y="8930"/>
                  <a:pt x="8930" y="8930"/>
                </a:cubicBezTo>
                <a:close/>
                <a:moveTo>
                  <a:pt x="35719" y="26789"/>
                </a:moveTo>
                <a:cubicBezTo>
                  <a:pt x="35719" y="21850"/>
                  <a:pt x="39709" y="17859"/>
                  <a:pt x="44648" y="17859"/>
                </a:cubicBezTo>
                <a:lnTo>
                  <a:pt x="98227" y="17859"/>
                </a:lnTo>
                <a:cubicBezTo>
                  <a:pt x="103166" y="17859"/>
                  <a:pt x="107156" y="21850"/>
                  <a:pt x="107156" y="26789"/>
                </a:cubicBezTo>
                <a:cubicBezTo>
                  <a:pt x="107156" y="31728"/>
                  <a:pt x="103166" y="35719"/>
                  <a:pt x="98227" y="35719"/>
                </a:cubicBezTo>
                <a:lnTo>
                  <a:pt x="44648" y="35719"/>
                </a:lnTo>
                <a:cubicBezTo>
                  <a:pt x="39709" y="35719"/>
                  <a:pt x="35719" y="31728"/>
                  <a:pt x="35719" y="26789"/>
                </a:cubicBezTo>
                <a:close/>
                <a:moveTo>
                  <a:pt x="44648" y="49113"/>
                </a:moveTo>
                <a:lnTo>
                  <a:pt x="80367" y="49113"/>
                </a:lnTo>
                <a:cubicBezTo>
                  <a:pt x="85306" y="49113"/>
                  <a:pt x="89297" y="53104"/>
                  <a:pt x="89297" y="58043"/>
                </a:cubicBezTo>
                <a:cubicBezTo>
                  <a:pt x="89297" y="62982"/>
                  <a:pt x="85306" y="66973"/>
                  <a:pt x="80367" y="66973"/>
                </a:cubicBezTo>
                <a:lnTo>
                  <a:pt x="44648" y="66973"/>
                </a:lnTo>
                <a:cubicBezTo>
                  <a:pt x="39709" y="66973"/>
                  <a:pt x="35719" y="62982"/>
                  <a:pt x="35719" y="58043"/>
                </a:cubicBezTo>
                <a:cubicBezTo>
                  <a:pt x="35719" y="53104"/>
                  <a:pt x="39709" y="49113"/>
                  <a:pt x="44648" y="49113"/>
                </a:cubicBezTo>
                <a:close/>
                <a:moveTo>
                  <a:pt x="44648" y="80367"/>
                </a:moveTo>
                <a:lnTo>
                  <a:pt x="116086" y="80367"/>
                </a:lnTo>
                <a:cubicBezTo>
                  <a:pt x="121025" y="80367"/>
                  <a:pt x="125016" y="84358"/>
                  <a:pt x="125016" y="89297"/>
                </a:cubicBezTo>
                <a:cubicBezTo>
                  <a:pt x="125016" y="94236"/>
                  <a:pt x="121025" y="98227"/>
                  <a:pt x="116086" y="98227"/>
                </a:cubicBezTo>
                <a:lnTo>
                  <a:pt x="44648" y="98227"/>
                </a:lnTo>
                <a:cubicBezTo>
                  <a:pt x="39709" y="98227"/>
                  <a:pt x="35719" y="94236"/>
                  <a:pt x="35719" y="89297"/>
                </a:cubicBezTo>
                <a:cubicBezTo>
                  <a:pt x="35719" y="84358"/>
                  <a:pt x="39709" y="80367"/>
                  <a:pt x="44648" y="80367"/>
                </a:cubicBezTo>
                <a:close/>
              </a:path>
            </a:pathLst>
          </a:custGeom>
          <a:solidFill>
            <a:srgbClr val="0071E3"/>
          </a:solidFill>
          <a:ln/>
        </p:spPr>
        <p:txBody>
          <a:bodyPr/>
          <a:lstStyle/>
          <a:p>
            <a:endParaRPr lang="zh-CN" altLang="en-US"/>
          </a:p>
        </p:txBody>
      </p:sp>
      <p:sp>
        <p:nvSpPr>
          <p:cNvPr id="52" name="Text 50"/>
          <p:cNvSpPr/>
          <p:nvPr/>
        </p:nvSpPr>
        <p:spPr>
          <a:xfrm>
            <a:off x="695854" y="5614460"/>
            <a:ext cx="11056938"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MiSans" pitchFamily="34" charset="0"/>
                <a:ea typeface="MiSans" pitchFamily="34" charset="-122"/>
                <a:cs typeface="MiSans" pitchFamily="34" charset="-120"/>
              </a:rPr>
              <a:t>OpenCode实际使用数据（dbpwd项目，1人12天）</a:t>
            </a:r>
            <a:endParaRPr lang="en-US" sz="1600" dirty="0"/>
          </a:p>
        </p:txBody>
      </p:sp>
      <p:sp>
        <p:nvSpPr>
          <p:cNvPr id="53" name="Text 51"/>
          <p:cNvSpPr/>
          <p:nvPr/>
        </p:nvSpPr>
        <p:spPr>
          <a:xfrm>
            <a:off x="453760" y="5963710"/>
            <a:ext cx="22542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722</a:t>
            </a:r>
            <a:endParaRPr lang="en-US" sz="1600" dirty="0"/>
          </a:p>
        </p:txBody>
      </p:sp>
      <p:sp>
        <p:nvSpPr>
          <p:cNvPr id="54" name="Text 52"/>
          <p:cNvSpPr/>
          <p:nvPr/>
        </p:nvSpPr>
        <p:spPr>
          <a:xfrm>
            <a:off x="485510" y="6281210"/>
            <a:ext cx="2190750" cy="31750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会话数</a:t>
            </a:r>
            <a:endParaRPr lang="en-US" sz="1600" dirty="0"/>
          </a:p>
          <a:p>
            <a:pPr algn="ctr">
              <a:lnSpc>
                <a:spcPct val="120000"/>
              </a:lnSpc>
            </a:pPr>
            <a:r>
              <a:rPr lang="en-US" sz="750" dirty="0">
                <a:solidFill>
                  <a:srgbClr val="86868B"/>
                </a:solidFill>
                <a:latin typeface="MiSans" pitchFamily="34" charset="0"/>
                <a:ea typeface="MiSans" pitchFamily="34" charset="-122"/>
                <a:cs typeface="MiSans" pitchFamily="34" charset="-120"/>
              </a:rPr>
              <a:t>日均60个</a:t>
            </a:r>
            <a:endParaRPr lang="en-US" sz="1600" dirty="0"/>
          </a:p>
        </p:txBody>
      </p:sp>
      <p:sp>
        <p:nvSpPr>
          <p:cNvPr id="55" name="Text 53"/>
          <p:cNvSpPr/>
          <p:nvPr/>
        </p:nvSpPr>
        <p:spPr>
          <a:xfrm>
            <a:off x="2712227" y="5963710"/>
            <a:ext cx="22542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1.82亿</a:t>
            </a:r>
            <a:endParaRPr lang="en-US" sz="1600" dirty="0"/>
          </a:p>
        </p:txBody>
      </p:sp>
      <p:sp>
        <p:nvSpPr>
          <p:cNvPr id="56" name="Text 54"/>
          <p:cNvSpPr/>
          <p:nvPr/>
        </p:nvSpPr>
        <p:spPr>
          <a:xfrm>
            <a:off x="2743977" y="6281210"/>
            <a:ext cx="2190750" cy="31750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总Input Tokens</a:t>
            </a:r>
            <a:endParaRPr lang="en-US" sz="1600" dirty="0"/>
          </a:p>
          <a:p>
            <a:pPr algn="ctr">
              <a:lnSpc>
                <a:spcPct val="120000"/>
              </a:lnSpc>
            </a:pPr>
            <a:r>
              <a:rPr lang="en-US" sz="750" dirty="0">
                <a:solidFill>
                  <a:srgbClr val="86868B"/>
                </a:solidFill>
                <a:latin typeface="MiSans" pitchFamily="34" charset="0"/>
                <a:ea typeface="MiSans" pitchFamily="34" charset="-122"/>
                <a:cs typeface="MiSans" pitchFamily="34" charset="-120"/>
              </a:rPr>
              <a:t>日均1516万</a:t>
            </a:r>
            <a:endParaRPr lang="en-US" sz="1600" dirty="0"/>
          </a:p>
        </p:txBody>
      </p:sp>
      <p:sp>
        <p:nvSpPr>
          <p:cNvPr id="57" name="Text 55"/>
          <p:cNvSpPr/>
          <p:nvPr/>
        </p:nvSpPr>
        <p:spPr>
          <a:xfrm>
            <a:off x="4970694" y="5963710"/>
            <a:ext cx="22542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68万</a:t>
            </a:r>
            <a:endParaRPr lang="en-US" sz="1600" dirty="0"/>
          </a:p>
        </p:txBody>
      </p:sp>
      <p:sp>
        <p:nvSpPr>
          <p:cNvPr id="58" name="Text 56"/>
          <p:cNvSpPr/>
          <p:nvPr/>
        </p:nvSpPr>
        <p:spPr>
          <a:xfrm>
            <a:off x="5002444" y="6281210"/>
            <a:ext cx="2190750" cy="31750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平均每会话</a:t>
            </a:r>
            <a:endParaRPr lang="en-US" sz="1600" dirty="0"/>
          </a:p>
          <a:p>
            <a:pPr algn="ctr">
              <a:lnSpc>
                <a:spcPct val="120000"/>
              </a:lnSpc>
            </a:pPr>
            <a:r>
              <a:rPr lang="en-US" sz="750" dirty="0">
                <a:solidFill>
                  <a:srgbClr val="86868B"/>
                </a:solidFill>
                <a:latin typeface="MiSans" pitchFamily="34" charset="0"/>
                <a:ea typeface="MiSans" pitchFamily="34" charset="-122"/>
                <a:cs typeface="MiSans" pitchFamily="34" charset="-120"/>
              </a:rPr>
              <a:t>中位数2.6万</a:t>
            </a:r>
            <a:endParaRPr lang="en-US" sz="1600" dirty="0"/>
          </a:p>
        </p:txBody>
      </p:sp>
      <p:sp>
        <p:nvSpPr>
          <p:cNvPr id="59" name="Text 57"/>
          <p:cNvSpPr/>
          <p:nvPr/>
        </p:nvSpPr>
        <p:spPr>
          <a:xfrm>
            <a:off x="7229161" y="5963710"/>
            <a:ext cx="22542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12天</a:t>
            </a:r>
            <a:endParaRPr lang="en-US" sz="1600" dirty="0"/>
          </a:p>
        </p:txBody>
      </p:sp>
      <p:sp>
        <p:nvSpPr>
          <p:cNvPr id="60" name="Text 58"/>
          <p:cNvSpPr/>
          <p:nvPr/>
        </p:nvSpPr>
        <p:spPr>
          <a:xfrm>
            <a:off x="7260911" y="6281210"/>
            <a:ext cx="2190750" cy="31750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统计周期</a:t>
            </a:r>
            <a:endParaRPr lang="en-US" sz="1600" dirty="0"/>
          </a:p>
          <a:p>
            <a:pPr algn="ctr">
              <a:lnSpc>
                <a:spcPct val="120000"/>
              </a:lnSpc>
            </a:pPr>
            <a:r>
              <a:rPr lang="en-US" sz="750" dirty="0">
                <a:solidFill>
                  <a:srgbClr val="86868B"/>
                </a:solidFill>
                <a:latin typeface="MiSans" pitchFamily="34" charset="0"/>
                <a:ea typeface="MiSans" pitchFamily="34" charset="-122"/>
                <a:cs typeface="MiSans" pitchFamily="34" charset="-120"/>
              </a:rPr>
              <a:t>2026年2月</a:t>
            </a:r>
            <a:endParaRPr lang="en-US" sz="1600" dirty="0"/>
          </a:p>
        </p:txBody>
      </p:sp>
      <p:sp>
        <p:nvSpPr>
          <p:cNvPr id="61" name="Text 59"/>
          <p:cNvSpPr/>
          <p:nvPr/>
        </p:nvSpPr>
        <p:spPr>
          <a:xfrm>
            <a:off x="9487628" y="5963710"/>
            <a:ext cx="2254250" cy="285750"/>
          </a:xfrm>
          <a:prstGeom prst="rect">
            <a:avLst/>
          </a:prstGeom>
          <a:noFill/>
          <a:ln/>
        </p:spPr>
        <p:txBody>
          <a:bodyPr wrap="square" lIns="0" tIns="0" rIns="0" bIns="0" rtlCol="0" anchor="ctr"/>
          <a:lstStyle/>
          <a:p>
            <a:pPr algn="ctr">
              <a:lnSpc>
                <a:spcPct val="100000"/>
              </a:lnSpc>
            </a:pPr>
            <a:r>
              <a:rPr lang="en-US" sz="1875" b="1" dirty="0">
                <a:solidFill>
                  <a:srgbClr val="0071E3"/>
                </a:solidFill>
                <a:latin typeface="MiSans" pitchFamily="34" charset="0"/>
                <a:ea typeface="MiSans" pitchFamily="34" charset="-122"/>
                <a:cs typeface="MiSans" pitchFamily="34" charset="-120"/>
              </a:rPr>
              <a:t>1人</a:t>
            </a:r>
            <a:endParaRPr lang="en-US" sz="1600" dirty="0"/>
          </a:p>
        </p:txBody>
      </p:sp>
      <p:sp>
        <p:nvSpPr>
          <p:cNvPr id="62" name="Text 60"/>
          <p:cNvSpPr/>
          <p:nvPr/>
        </p:nvSpPr>
        <p:spPr>
          <a:xfrm>
            <a:off x="9519378" y="6281210"/>
            <a:ext cx="2190750" cy="317500"/>
          </a:xfrm>
          <a:prstGeom prst="rect">
            <a:avLst/>
          </a:prstGeom>
          <a:noFill/>
          <a:ln/>
        </p:spPr>
        <p:txBody>
          <a:bodyPr wrap="square" lIns="0" tIns="0" rIns="0" bIns="0" rtlCol="0" anchor="ctr"/>
          <a:lstStyle/>
          <a:p>
            <a:pPr algn="ctr">
              <a:lnSpc>
                <a:spcPct val="120000"/>
              </a:lnSpc>
            </a:pPr>
            <a:r>
              <a:rPr lang="en-US" sz="875" dirty="0">
                <a:solidFill>
                  <a:srgbClr val="86868B"/>
                </a:solidFill>
                <a:latin typeface="MiSans" pitchFamily="34" charset="0"/>
                <a:ea typeface="MiSans" pitchFamily="34" charset="-122"/>
                <a:cs typeface="MiSans" pitchFamily="34" charset="-120"/>
              </a:rPr>
              <a:t>用户规模</a:t>
            </a:r>
            <a:endParaRPr lang="en-US" sz="1600" dirty="0"/>
          </a:p>
          <a:p>
            <a:pPr algn="ctr">
              <a:lnSpc>
                <a:spcPct val="120000"/>
              </a:lnSpc>
            </a:pPr>
            <a:r>
              <a:rPr lang="en-US" sz="750" dirty="0">
                <a:solidFill>
                  <a:srgbClr val="86868B"/>
                </a:solidFill>
                <a:latin typeface="MiSans" pitchFamily="34" charset="0"/>
                <a:ea typeface="MiSans" pitchFamily="34" charset="-122"/>
                <a:cs typeface="MiSans" pitchFamily="34" charset="-120"/>
              </a:rPr>
              <a:t>dbpwd项目开发</a:t>
            </a:r>
            <a:endParaRPr lang="en-US" sz="1600" dirty="0"/>
          </a:p>
        </p:txBody>
      </p:sp>
      <p:sp>
        <p:nvSpPr>
          <p:cNvPr id="63" name="Shape 61"/>
          <p:cNvSpPr/>
          <p:nvPr/>
        </p:nvSpPr>
        <p:spPr>
          <a:xfrm>
            <a:off x="513292" y="6728355"/>
            <a:ext cx="11168063" cy="5292"/>
          </a:xfrm>
          <a:custGeom>
            <a:avLst/>
            <a:gdLst/>
            <a:ahLst/>
            <a:cxnLst/>
            <a:rect l="l" t="t" r="r" b="b"/>
            <a:pathLst>
              <a:path w="11168063" h="5292">
                <a:moveTo>
                  <a:pt x="0" y="0"/>
                </a:moveTo>
                <a:lnTo>
                  <a:pt x="11168063" y="0"/>
                </a:lnTo>
                <a:lnTo>
                  <a:pt x="11168063" y="5292"/>
                </a:lnTo>
                <a:lnTo>
                  <a:pt x="0" y="5292"/>
                </a:lnTo>
                <a:lnTo>
                  <a:pt x="0" y="0"/>
                </a:lnTo>
                <a:close/>
              </a:path>
            </a:pathLst>
          </a:custGeom>
          <a:solidFill>
            <a:srgbClr val="E5E5E5"/>
          </a:solidFill>
          <a:ln/>
        </p:spPr>
        <p:txBody>
          <a:bodyPr/>
          <a:lstStyle/>
          <a:p>
            <a:endParaRPr lang="zh-CN" altLang="en-US"/>
          </a:p>
        </p:txBody>
      </p:sp>
      <p:sp>
        <p:nvSpPr>
          <p:cNvPr id="64" name="Text 62"/>
          <p:cNvSpPr/>
          <p:nvPr/>
        </p:nvSpPr>
        <p:spPr>
          <a:xfrm>
            <a:off x="513292" y="6858000"/>
            <a:ext cx="11223625"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模型使用分布：</a:t>
            </a:r>
            <a:r>
              <a:rPr lang="en-US" sz="875" dirty="0">
                <a:solidFill>
                  <a:srgbClr val="86868B"/>
                </a:solidFill>
                <a:latin typeface="MiSans" pitchFamily="34" charset="0"/>
                <a:ea typeface="MiSans" pitchFamily="34" charset="-122"/>
                <a:cs typeface="MiSans" pitchFamily="34" charset="-120"/>
              </a:rPr>
              <a:t>MiniMax M2.5使用最多（699万Input Tokens），Cache Read占比高说明上下文复用效果好</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MiSans" pitchFamily="34" charset="0"/>
                <a:ea typeface="MiSans" pitchFamily="34" charset="-122"/>
                <a:cs typeface="MiSans" pitchFamily="34" charset="-120"/>
              </a:rPr>
              <a:t>03 / 典型案例</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MiSans" pitchFamily="34" charset="0"/>
                <a:ea typeface="MiSans" pitchFamily="34" charset="-122"/>
                <a:cs typeface="MiSans" pitchFamily="34" charset="-120"/>
              </a:rPr>
              <a:t>数据库密码管理：SKILL自动化集成</a:t>
            </a:r>
            <a:endParaRPr lang="en-US" sz="1600" dirty="0"/>
          </a:p>
        </p:txBody>
      </p:sp>
      <p:sp>
        <p:nvSpPr>
          <p:cNvPr id="4" name="Shape 2"/>
          <p:cNvSpPr/>
          <p:nvPr/>
        </p:nvSpPr>
        <p:spPr>
          <a:xfrm>
            <a:off x="320146" y="1018646"/>
            <a:ext cx="5680604" cy="4108979"/>
          </a:xfrm>
          <a:custGeom>
            <a:avLst/>
            <a:gdLst/>
            <a:ahLst/>
            <a:cxnLst/>
            <a:rect l="l" t="t" r="r" b="b"/>
            <a:pathLst>
              <a:path w="5680604" h="4108979">
                <a:moveTo>
                  <a:pt x="127009" y="0"/>
                </a:moveTo>
                <a:lnTo>
                  <a:pt x="5553596" y="0"/>
                </a:lnTo>
                <a:cubicBezTo>
                  <a:pt x="5623741" y="0"/>
                  <a:pt x="5680604" y="56864"/>
                  <a:pt x="5680604" y="127009"/>
                </a:cubicBezTo>
                <a:lnTo>
                  <a:pt x="5680604" y="3981971"/>
                </a:lnTo>
                <a:cubicBezTo>
                  <a:pt x="5680604" y="4052116"/>
                  <a:pt x="5623741" y="4108979"/>
                  <a:pt x="5553596" y="4108979"/>
                </a:cubicBezTo>
                <a:lnTo>
                  <a:pt x="127009" y="4108979"/>
                </a:lnTo>
                <a:cubicBezTo>
                  <a:pt x="56864" y="4108979"/>
                  <a:pt x="0" y="4052116"/>
                  <a:pt x="0" y="3981971"/>
                </a:cubicBezTo>
                <a:lnTo>
                  <a:pt x="0" y="127009"/>
                </a:lnTo>
                <a:cubicBezTo>
                  <a:pt x="0" y="56911"/>
                  <a:pt x="56911" y="0"/>
                  <a:pt x="127009"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5" name="Shape 3"/>
          <p:cNvSpPr/>
          <p:nvPr/>
        </p:nvSpPr>
        <p:spPr>
          <a:xfrm>
            <a:off x="513292" y="1243544"/>
            <a:ext cx="198438" cy="158750"/>
          </a:xfrm>
          <a:custGeom>
            <a:avLst/>
            <a:gdLst/>
            <a:ahLst/>
            <a:cxnLst/>
            <a:rect l="l" t="t" r="r" b="b"/>
            <a:pathLst>
              <a:path w="198438" h="158750">
                <a:moveTo>
                  <a:pt x="109141" y="0"/>
                </a:moveTo>
                <a:cubicBezTo>
                  <a:pt x="109141" y="-5488"/>
                  <a:pt x="104707" y="-9922"/>
                  <a:pt x="99219" y="-9922"/>
                </a:cubicBezTo>
                <a:cubicBezTo>
                  <a:pt x="93731" y="-9922"/>
                  <a:pt x="89297" y="-5488"/>
                  <a:pt x="89297" y="0"/>
                </a:cubicBezTo>
                <a:lnTo>
                  <a:pt x="89297" y="19844"/>
                </a:lnTo>
                <a:lnTo>
                  <a:pt x="59531" y="19844"/>
                </a:lnTo>
                <a:cubicBezTo>
                  <a:pt x="43098" y="19844"/>
                  <a:pt x="29766" y="33176"/>
                  <a:pt x="29766" y="49609"/>
                </a:cubicBezTo>
                <a:lnTo>
                  <a:pt x="29766" y="119062"/>
                </a:lnTo>
                <a:cubicBezTo>
                  <a:pt x="29766" y="135496"/>
                  <a:pt x="43098" y="148828"/>
                  <a:pt x="59531" y="148828"/>
                </a:cubicBezTo>
                <a:lnTo>
                  <a:pt x="138906" y="148828"/>
                </a:lnTo>
                <a:cubicBezTo>
                  <a:pt x="155339" y="148828"/>
                  <a:pt x="168672" y="135496"/>
                  <a:pt x="168672" y="119062"/>
                </a:cubicBezTo>
                <a:lnTo>
                  <a:pt x="168672" y="49609"/>
                </a:lnTo>
                <a:cubicBezTo>
                  <a:pt x="168672" y="33176"/>
                  <a:pt x="155339" y="19844"/>
                  <a:pt x="138906" y="19844"/>
                </a:cubicBezTo>
                <a:lnTo>
                  <a:pt x="109141" y="19844"/>
                </a:lnTo>
                <a:lnTo>
                  <a:pt x="109141" y="0"/>
                </a:lnTo>
                <a:close/>
                <a:moveTo>
                  <a:pt x="49609" y="114102"/>
                </a:moveTo>
                <a:cubicBezTo>
                  <a:pt x="49609" y="109978"/>
                  <a:pt x="52927" y="106660"/>
                  <a:pt x="57051" y="106660"/>
                </a:cubicBezTo>
                <a:lnTo>
                  <a:pt x="66973" y="106660"/>
                </a:lnTo>
                <a:cubicBezTo>
                  <a:pt x="71096" y="106660"/>
                  <a:pt x="74414" y="109978"/>
                  <a:pt x="74414" y="114102"/>
                </a:cubicBezTo>
                <a:cubicBezTo>
                  <a:pt x="74414" y="118225"/>
                  <a:pt x="71096" y="121543"/>
                  <a:pt x="66973" y="121543"/>
                </a:cubicBezTo>
                <a:lnTo>
                  <a:pt x="57051" y="121543"/>
                </a:lnTo>
                <a:cubicBezTo>
                  <a:pt x="52927" y="121543"/>
                  <a:pt x="49609" y="118225"/>
                  <a:pt x="49609" y="114102"/>
                </a:cubicBezTo>
                <a:close/>
                <a:moveTo>
                  <a:pt x="86816" y="114102"/>
                </a:moveTo>
                <a:cubicBezTo>
                  <a:pt x="86816" y="109978"/>
                  <a:pt x="90134" y="106660"/>
                  <a:pt x="94258" y="106660"/>
                </a:cubicBezTo>
                <a:lnTo>
                  <a:pt x="104180" y="106660"/>
                </a:lnTo>
                <a:cubicBezTo>
                  <a:pt x="108303" y="106660"/>
                  <a:pt x="111621" y="109978"/>
                  <a:pt x="111621" y="114102"/>
                </a:cubicBezTo>
                <a:cubicBezTo>
                  <a:pt x="111621" y="118225"/>
                  <a:pt x="108303" y="121543"/>
                  <a:pt x="104180" y="121543"/>
                </a:cubicBezTo>
                <a:lnTo>
                  <a:pt x="94258" y="121543"/>
                </a:lnTo>
                <a:cubicBezTo>
                  <a:pt x="90134" y="121543"/>
                  <a:pt x="86816" y="118225"/>
                  <a:pt x="86816" y="114102"/>
                </a:cubicBezTo>
                <a:close/>
                <a:moveTo>
                  <a:pt x="124023" y="114102"/>
                </a:moveTo>
                <a:cubicBezTo>
                  <a:pt x="124023" y="109978"/>
                  <a:pt x="127341" y="106660"/>
                  <a:pt x="131465" y="106660"/>
                </a:cubicBezTo>
                <a:lnTo>
                  <a:pt x="141387" y="106660"/>
                </a:lnTo>
                <a:cubicBezTo>
                  <a:pt x="145510" y="106660"/>
                  <a:pt x="148828" y="109978"/>
                  <a:pt x="148828" y="114102"/>
                </a:cubicBezTo>
                <a:cubicBezTo>
                  <a:pt x="148828" y="118225"/>
                  <a:pt x="145510" y="121543"/>
                  <a:pt x="141387" y="121543"/>
                </a:cubicBezTo>
                <a:lnTo>
                  <a:pt x="131465" y="121543"/>
                </a:lnTo>
                <a:cubicBezTo>
                  <a:pt x="127341" y="121543"/>
                  <a:pt x="124023" y="118225"/>
                  <a:pt x="124023" y="114102"/>
                </a:cubicBezTo>
                <a:close/>
                <a:moveTo>
                  <a:pt x="69453" y="54570"/>
                </a:moveTo>
                <a:cubicBezTo>
                  <a:pt x="77667" y="54570"/>
                  <a:pt x="84336" y="61239"/>
                  <a:pt x="84336" y="69453"/>
                </a:cubicBezTo>
                <a:cubicBezTo>
                  <a:pt x="84336" y="77667"/>
                  <a:pt x="77667" y="84336"/>
                  <a:pt x="69453" y="84336"/>
                </a:cubicBezTo>
                <a:cubicBezTo>
                  <a:pt x="61239" y="84336"/>
                  <a:pt x="54570" y="77667"/>
                  <a:pt x="54570" y="69453"/>
                </a:cubicBezTo>
                <a:cubicBezTo>
                  <a:pt x="54570" y="61239"/>
                  <a:pt x="61239" y="54570"/>
                  <a:pt x="69453" y="54570"/>
                </a:cubicBezTo>
                <a:close/>
                <a:moveTo>
                  <a:pt x="114102" y="69453"/>
                </a:moveTo>
                <a:cubicBezTo>
                  <a:pt x="114102" y="61239"/>
                  <a:pt x="120770" y="54570"/>
                  <a:pt x="128984" y="54570"/>
                </a:cubicBezTo>
                <a:cubicBezTo>
                  <a:pt x="137198" y="54570"/>
                  <a:pt x="143867" y="61239"/>
                  <a:pt x="143867" y="69453"/>
                </a:cubicBezTo>
                <a:cubicBezTo>
                  <a:pt x="143867" y="77667"/>
                  <a:pt x="137198" y="84336"/>
                  <a:pt x="128984" y="84336"/>
                </a:cubicBezTo>
                <a:cubicBezTo>
                  <a:pt x="120770" y="84336"/>
                  <a:pt x="114102" y="77667"/>
                  <a:pt x="114102" y="69453"/>
                </a:cubicBezTo>
                <a:close/>
                <a:moveTo>
                  <a:pt x="19844" y="69453"/>
                </a:moveTo>
                <a:cubicBezTo>
                  <a:pt x="19844" y="63965"/>
                  <a:pt x="15410" y="59531"/>
                  <a:pt x="9922" y="59531"/>
                </a:cubicBezTo>
                <a:cubicBezTo>
                  <a:pt x="4434" y="59531"/>
                  <a:pt x="0" y="63965"/>
                  <a:pt x="0" y="69453"/>
                </a:cubicBezTo>
                <a:lnTo>
                  <a:pt x="0" y="99219"/>
                </a:lnTo>
                <a:cubicBezTo>
                  <a:pt x="0" y="104707"/>
                  <a:pt x="4434" y="109141"/>
                  <a:pt x="9922" y="109141"/>
                </a:cubicBezTo>
                <a:cubicBezTo>
                  <a:pt x="15410" y="109141"/>
                  <a:pt x="19844" y="104707"/>
                  <a:pt x="19844" y="99219"/>
                </a:cubicBezTo>
                <a:lnTo>
                  <a:pt x="19844" y="69453"/>
                </a:lnTo>
                <a:close/>
                <a:moveTo>
                  <a:pt x="188516" y="59531"/>
                </a:moveTo>
                <a:cubicBezTo>
                  <a:pt x="183028" y="59531"/>
                  <a:pt x="178594" y="63965"/>
                  <a:pt x="178594" y="69453"/>
                </a:cubicBezTo>
                <a:lnTo>
                  <a:pt x="178594" y="99219"/>
                </a:lnTo>
                <a:cubicBezTo>
                  <a:pt x="178594" y="104707"/>
                  <a:pt x="183028" y="109141"/>
                  <a:pt x="188516" y="109141"/>
                </a:cubicBezTo>
                <a:cubicBezTo>
                  <a:pt x="194004" y="109141"/>
                  <a:pt x="198438" y="104707"/>
                  <a:pt x="198438" y="99219"/>
                </a:cubicBezTo>
                <a:lnTo>
                  <a:pt x="198438" y="69453"/>
                </a:lnTo>
                <a:cubicBezTo>
                  <a:pt x="198438" y="63965"/>
                  <a:pt x="194004" y="59531"/>
                  <a:pt x="188516" y="59531"/>
                </a:cubicBezTo>
                <a:close/>
              </a:path>
            </a:pathLst>
          </a:custGeom>
          <a:solidFill>
            <a:srgbClr val="0071E3"/>
          </a:solidFill>
          <a:ln/>
        </p:spPr>
        <p:txBody>
          <a:bodyPr/>
          <a:lstStyle/>
          <a:p>
            <a:endParaRPr lang="zh-CN" altLang="en-US"/>
          </a:p>
        </p:txBody>
      </p:sp>
      <p:sp>
        <p:nvSpPr>
          <p:cNvPr id="6" name="Text 4"/>
          <p:cNvSpPr/>
          <p:nvPr/>
        </p:nvSpPr>
        <p:spPr>
          <a:xfrm>
            <a:off x="711729" y="1211794"/>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db-pwd-integrator 自动化流程</a:t>
            </a:r>
            <a:endParaRPr lang="en-US" sz="1600" dirty="0"/>
          </a:p>
        </p:txBody>
      </p:sp>
      <p:sp>
        <p:nvSpPr>
          <p:cNvPr id="7" name="Shape 5"/>
          <p:cNvSpPr/>
          <p:nvPr/>
        </p:nvSpPr>
        <p:spPr>
          <a:xfrm>
            <a:off x="513292" y="159279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8" name="Text 6"/>
          <p:cNvSpPr/>
          <p:nvPr/>
        </p:nvSpPr>
        <p:spPr>
          <a:xfrm>
            <a:off x="481542" y="159279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1</a:t>
            </a:r>
            <a:endParaRPr lang="en-US" sz="1600" dirty="0"/>
          </a:p>
        </p:txBody>
      </p:sp>
      <p:sp>
        <p:nvSpPr>
          <p:cNvPr id="9" name="Text 7"/>
          <p:cNvSpPr/>
          <p:nvPr/>
        </p:nvSpPr>
        <p:spPr>
          <a:xfrm>
            <a:off x="957792" y="1592794"/>
            <a:ext cx="49133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Phase 1: 项目扫描</a:t>
            </a:r>
            <a:endParaRPr lang="en-US" sz="1600" dirty="0"/>
          </a:p>
        </p:txBody>
      </p:sp>
      <p:sp>
        <p:nvSpPr>
          <p:cNvPr id="10" name="Text 8"/>
          <p:cNvSpPr/>
          <p:nvPr/>
        </p:nvSpPr>
        <p:spPr>
          <a:xfrm>
            <a:off x="957792" y="184679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glob: 查找 pom.xml, build.gradle</a:t>
            </a:r>
            <a:endParaRPr lang="en-US" sz="1600" dirty="0"/>
          </a:p>
        </p:txBody>
      </p:sp>
      <p:sp>
        <p:nvSpPr>
          <p:cNvPr id="11" name="Text 9"/>
          <p:cNvSpPr/>
          <p:nvPr/>
        </p:nvSpPr>
        <p:spPr>
          <a:xfrm>
            <a:off x="957792" y="203729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grep: 检测密码配置模式</a:t>
            </a:r>
            <a:endParaRPr lang="en-US" sz="1600" dirty="0"/>
          </a:p>
        </p:txBody>
      </p:sp>
      <p:sp>
        <p:nvSpPr>
          <p:cNvPr id="12" name="Text 10"/>
          <p:cNvSpPr/>
          <p:nvPr/>
        </p:nvSpPr>
        <p:spPr>
          <a:xfrm>
            <a:off x="957792" y="222779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分析: 识别技术栈类型</a:t>
            </a:r>
            <a:endParaRPr lang="en-US" sz="1600" dirty="0"/>
          </a:p>
        </p:txBody>
      </p:sp>
      <p:sp>
        <p:nvSpPr>
          <p:cNvPr id="13" name="Shape 11"/>
          <p:cNvSpPr/>
          <p:nvPr/>
        </p:nvSpPr>
        <p:spPr>
          <a:xfrm>
            <a:off x="513292" y="25135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14" name="Text 12"/>
          <p:cNvSpPr/>
          <p:nvPr/>
        </p:nvSpPr>
        <p:spPr>
          <a:xfrm>
            <a:off x="481542" y="25135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2</a:t>
            </a:r>
            <a:endParaRPr lang="en-US" sz="1600" dirty="0"/>
          </a:p>
        </p:txBody>
      </p:sp>
      <p:sp>
        <p:nvSpPr>
          <p:cNvPr id="15" name="Text 13"/>
          <p:cNvSpPr/>
          <p:nvPr/>
        </p:nvSpPr>
        <p:spPr>
          <a:xfrm>
            <a:off x="957792" y="2513544"/>
            <a:ext cx="49133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Phase 2: 类型识别</a:t>
            </a:r>
            <a:endParaRPr lang="en-US" sz="1600" dirty="0"/>
          </a:p>
        </p:txBody>
      </p:sp>
      <p:sp>
        <p:nvSpPr>
          <p:cNvPr id="16" name="Text 14"/>
          <p:cNvSpPr/>
          <p:nvPr/>
        </p:nvSpPr>
        <p:spPr>
          <a:xfrm>
            <a:off x="957792" y="276754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优先级匹配：Spring Boot &gt; Spring &gt; MyBatis &gt; Druid &gt; Servlet</a:t>
            </a:r>
            <a:endParaRPr lang="en-US" sz="1600" dirty="0"/>
          </a:p>
        </p:txBody>
      </p:sp>
      <p:sp>
        <p:nvSpPr>
          <p:cNvPr id="17" name="Shape 15"/>
          <p:cNvSpPr/>
          <p:nvPr/>
        </p:nvSpPr>
        <p:spPr>
          <a:xfrm>
            <a:off x="513292" y="305329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18" name="Text 16"/>
          <p:cNvSpPr/>
          <p:nvPr/>
        </p:nvSpPr>
        <p:spPr>
          <a:xfrm>
            <a:off x="481542" y="305329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957792" y="3053294"/>
            <a:ext cx="49133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Phase 3: 执行集成</a:t>
            </a:r>
            <a:endParaRPr lang="en-US" sz="1600" dirty="0"/>
          </a:p>
        </p:txBody>
      </p:sp>
      <p:sp>
        <p:nvSpPr>
          <p:cNvPr id="20" name="Text 18"/>
          <p:cNvSpPr/>
          <p:nvPr/>
        </p:nvSpPr>
        <p:spPr>
          <a:xfrm>
            <a:off x="957792" y="330729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添加 db-pwd-core 依赖</a:t>
            </a:r>
            <a:endParaRPr lang="en-US" sz="1600" dirty="0"/>
          </a:p>
        </p:txBody>
      </p:sp>
      <p:sp>
        <p:nvSpPr>
          <p:cNvPr id="21" name="Text 19"/>
          <p:cNvSpPr/>
          <p:nvPr/>
        </p:nvSpPr>
        <p:spPr>
          <a:xfrm>
            <a:off x="957792" y="349779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替换明文密码为占位符</a:t>
            </a:r>
            <a:endParaRPr lang="en-US" sz="1600" dirty="0"/>
          </a:p>
        </p:txBody>
      </p:sp>
      <p:sp>
        <p:nvSpPr>
          <p:cNvPr id="22" name="Text 20"/>
          <p:cNvSpPr/>
          <p:nvPr/>
        </p:nvSpPr>
        <p:spPr>
          <a:xfrm>
            <a:off x="957792" y="368829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注入 PasswordService 调用</a:t>
            </a:r>
            <a:endParaRPr lang="en-US" sz="1600" dirty="0"/>
          </a:p>
        </p:txBody>
      </p:sp>
      <p:sp>
        <p:nvSpPr>
          <p:cNvPr id="23" name="Shape 21"/>
          <p:cNvSpPr/>
          <p:nvPr/>
        </p:nvSpPr>
        <p:spPr>
          <a:xfrm>
            <a:off x="513292" y="39740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24" name="Text 22"/>
          <p:cNvSpPr/>
          <p:nvPr/>
        </p:nvSpPr>
        <p:spPr>
          <a:xfrm>
            <a:off x="481542" y="39740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4</a:t>
            </a:r>
            <a:endParaRPr lang="en-US" sz="1600" dirty="0"/>
          </a:p>
        </p:txBody>
      </p:sp>
      <p:sp>
        <p:nvSpPr>
          <p:cNvPr id="25" name="Text 23"/>
          <p:cNvSpPr/>
          <p:nvPr/>
        </p:nvSpPr>
        <p:spPr>
          <a:xfrm>
            <a:off x="957792" y="3974044"/>
            <a:ext cx="4913313"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Phase 4: 验证构建</a:t>
            </a:r>
            <a:endParaRPr lang="en-US" sz="1600" dirty="0"/>
          </a:p>
        </p:txBody>
      </p:sp>
      <p:sp>
        <p:nvSpPr>
          <p:cNvPr id="26" name="Text 24"/>
          <p:cNvSpPr/>
          <p:nvPr/>
        </p:nvSpPr>
        <p:spPr>
          <a:xfrm>
            <a:off x="957792" y="4228044"/>
            <a:ext cx="4905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mvn compile 确保集成正确</a:t>
            </a:r>
            <a:endParaRPr lang="en-US" sz="1600" dirty="0"/>
          </a:p>
        </p:txBody>
      </p:sp>
      <p:sp>
        <p:nvSpPr>
          <p:cNvPr id="27" name="Shape 25"/>
          <p:cNvSpPr/>
          <p:nvPr/>
        </p:nvSpPr>
        <p:spPr>
          <a:xfrm>
            <a:off x="6193896" y="1018646"/>
            <a:ext cx="5680604" cy="4108979"/>
          </a:xfrm>
          <a:custGeom>
            <a:avLst/>
            <a:gdLst/>
            <a:ahLst/>
            <a:cxnLst/>
            <a:rect l="l" t="t" r="r" b="b"/>
            <a:pathLst>
              <a:path w="5680604" h="4108979">
                <a:moveTo>
                  <a:pt x="127009" y="0"/>
                </a:moveTo>
                <a:lnTo>
                  <a:pt x="5553596" y="0"/>
                </a:lnTo>
                <a:cubicBezTo>
                  <a:pt x="5623741" y="0"/>
                  <a:pt x="5680604" y="56864"/>
                  <a:pt x="5680604" y="127009"/>
                </a:cubicBezTo>
                <a:lnTo>
                  <a:pt x="5680604" y="3981971"/>
                </a:lnTo>
                <a:cubicBezTo>
                  <a:pt x="5680604" y="4052116"/>
                  <a:pt x="5623741" y="4108979"/>
                  <a:pt x="5553596" y="4108979"/>
                </a:cubicBezTo>
                <a:lnTo>
                  <a:pt x="127009" y="4108979"/>
                </a:lnTo>
                <a:cubicBezTo>
                  <a:pt x="56864" y="4108979"/>
                  <a:pt x="0" y="4052116"/>
                  <a:pt x="0" y="3981971"/>
                </a:cubicBezTo>
                <a:lnTo>
                  <a:pt x="0" y="127009"/>
                </a:lnTo>
                <a:cubicBezTo>
                  <a:pt x="0" y="56911"/>
                  <a:pt x="56911" y="0"/>
                  <a:pt x="127009"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28" name="Shape 26"/>
          <p:cNvSpPr/>
          <p:nvPr/>
        </p:nvSpPr>
        <p:spPr>
          <a:xfrm>
            <a:off x="6396964" y="1243544"/>
            <a:ext cx="178594" cy="158750"/>
          </a:xfrm>
          <a:custGeom>
            <a:avLst/>
            <a:gdLst/>
            <a:ahLst/>
            <a:cxnLst/>
            <a:rect l="l" t="t" r="r" b="b"/>
            <a:pathLst>
              <a:path w="178594" h="158750">
                <a:moveTo>
                  <a:pt x="14883" y="7441"/>
                </a:moveTo>
                <a:cubicBezTo>
                  <a:pt x="14883" y="3318"/>
                  <a:pt x="11565" y="0"/>
                  <a:pt x="7441" y="0"/>
                </a:cubicBezTo>
                <a:cubicBezTo>
                  <a:pt x="3318" y="0"/>
                  <a:pt x="0" y="3318"/>
                  <a:pt x="0" y="7441"/>
                </a:cubicBezTo>
                <a:lnTo>
                  <a:pt x="0" y="121543"/>
                </a:lnTo>
                <a:cubicBezTo>
                  <a:pt x="0" y="131124"/>
                  <a:pt x="7782" y="138906"/>
                  <a:pt x="17363" y="138906"/>
                </a:cubicBezTo>
                <a:lnTo>
                  <a:pt x="74414" y="138906"/>
                </a:lnTo>
                <a:lnTo>
                  <a:pt x="74414" y="124023"/>
                </a:lnTo>
                <a:lnTo>
                  <a:pt x="17363" y="124023"/>
                </a:lnTo>
                <a:cubicBezTo>
                  <a:pt x="15999" y="124023"/>
                  <a:pt x="14883" y="122907"/>
                  <a:pt x="14883" y="121543"/>
                </a:cubicBezTo>
                <a:lnTo>
                  <a:pt x="14883" y="49609"/>
                </a:lnTo>
                <a:lnTo>
                  <a:pt x="74414" y="49609"/>
                </a:lnTo>
                <a:lnTo>
                  <a:pt x="74414" y="34727"/>
                </a:lnTo>
                <a:lnTo>
                  <a:pt x="14883" y="34727"/>
                </a:lnTo>
                <a:lnTo>
                  <a:pt x="14883" y="7441"/>
                </a:lnTo>
                <a:close/>
                <a:moveTo>
                  <a:pt x="104180" y="69453"/>
                </a:moveTo>
                <a:lnTo>
                  <a:pt x="163711" y="69453"/>
                </a:lnTo>
                <a:cubicBezTo>
                  <a:pt x="171927" y="69453"/>
                  <a:pt x="178594" y="62787"/>
                  <a:pt x="178594" y="54570"/>
                </a:cubicBezTo>
                <a:lnTo>
                  <a:pt x="178594" y="24805"/>
                </a:lnTo>
                <a:cubicBezTo>
                  <a:pt x="178594" y="16588"/>
                  <a:pt x="171927" y="9922"/>
                  <a:pt x="163711" y="9922"/>
                </a:cubicBezTo>
                <a:lnTo>
                  <a:pt x="138069" y="9922"/>
                </a:lnTo>
                <a:cubicBezTo>
                  <a:pt x="135434" y="9922"/>
                  <a:pt x="132922" y="8868"/>
                  <a:pt x="131062" y="7007"/>
                </a:cubicBezTo>
                <a:lnTo>
                  <a:pt x="128395" y="4341"/>
                </a:lnTo>
                <a:cubicBezTo>
                  <a:pt x="125605" y="1550"/>
                  <a:pt x="121822" y="-31"/>
                  <a:pt x="117884" y="-31"/>
                </a:cubicBezTo>
                <a:lnTo>
                  <a:pt x="104180" y="0"/>
                </a:lnTo>
                <a:cubicBezTo>
                  <a:pt x="95963" y="0"/>
                  <a:pt x="89297" y="6666"/>
                  <a:pt x="89297" y="14883"/>
                </a:cubicBezTo>
                <a:lnTo>
                  <a:pt x="89297" y="54570"/>
                </a:lnTo>
                <a:cubicBezTo>
                  <a:pt x="89297" y="62787"/>
                  <a:pt x="95963" y="69453"/>
                  <a:pt x="104180" y="69453"/>
                </a:cubicBezTo>
                <a:close/>
                <a:moveTo>
                  <a:pt x="104180" y="158750"/>
                </a:moveTo>
                <a:lnTo>
                  <a:pt x="163711" y="158750"/>
                </a:lnTo>
                <a:cubicBezTo>
                  <a:pt x="171927" y="158750"/>
                  <a:pt x="178594" y="152084"/>
                  <a:pt x="178594" y="143867"/>
                </a:cubicBezTo>
                <a:lnTo>
                  <a:pt x="178594" y="114102"/>
                </a:lnTo>
                <a:cubicBezTo>
                  <a:pt x="178594" y="105885"/>
                  <a:pt x="171927" y="99219"/>
                  <a:pt x="163711" y="99219"/>
                </a:cubicBezTo>
                <a:lnTo>
                  <a:pt x="138069" y="99219"/>
                </a:lnTo>
                <a:cubicBezTo>
                  <a:pt x="135434" y="99219"/>
                  <a:pt x="132922" y="98165"/>
                  <a:pt x="131062" y="96304"/>
                </a:cubicBezTo>
                <a:lnTo>
                  <a:pt x="128395" y="93638"/>
                </a:lnTo>
                <a:cubicBezTo>
                  <a:pt x="125605" y="90847"/>
                  <a:pt x="121822" y="89266"/>
                  <a:pt x="117884" y="89266"/>
                </a:cubicBezTo>
                <a:lnTo>
                  <a:pt x="104180" y="89297"/>
                </a:lnTo>
                <a:cubicBezTo>
                  <a:pt x="95963" y="89297"/>
                  <a:pt x="89297" y="95963"/>
                  <a:pt x="89297" y="104180"/>
                </a:cubicBezTo>
                <a:lnTo>
                  <a:pt x="89297" y="143867"/>
                </a:lnTo>
                <a:cubicBezTo>
                  <a:pt x="89297" y="152084"/>
                  <a:pt x="95963" y="158750"/>
                  <a:pt x="104180" y="158750"/>
                </a:cubicBezTo>
                <a:close/>
              </a:path>
            </a:pathLst>
          </a:custGeom>
          <a:solidFill>
            <a:srgbClr val="0071E3"/>
          </a:solidFill>
          <a:ln/>
        </p:spPr>
        <p:txBody>
          <a:bodyPr/>
          <a:lstStyle/>
          <a:p>
            <a:endParaRPr lang="zh-CN" altLang="en-US"/>
          </a:p>
        </p:txBody>
      </p:sp>
      <p:sp>
        <p:nvSpPr>
          <p:cNvPr id="29" name="Text 27"/>
          <p:cNvSpPr/>
          <p:nvPr/>
        </p:nvSpPr>
        <p:spPr>
          <a:xfrm>
            <a:off x="6585479" y="1211794"/>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SKILL文件结构</a:t>
            </a:r>
            <a:endParaRPr lang="en-US" sz="1600" dirty="0"/>
          </a:p>
        </p:txBody>
      </p:sp>
      <p:sp>
        <p:nvSpPr>
          <p:cNvPr id="30" name="Shape 28"/>
          <p:cNvSpPr/>
          <p:nvPr/>
        </p:nvSpPr>
        <p:spPr>
          <a:xfrm>
            <a:off x="6389688" y="1595440"/>
            <a:ext cx="5283729" cy="1751542"/>
          </a:xfrm>
          <a:custGeom>
            <a:avLst/>
            <a:gdLst/>
            <a:ahLst/>
            <a:cxnLst/>
            <a:rect l="l" t="t" r="r" b="b"/>
            <a:pathLst>
              <a:path w="5283729" h="1751542">
                <a:moveTo>
                  <a:pt x="95249" y="0"/>
                </a:moveTo>
                <a:lnTo>
                  <a:pt x="5188480" y="0"/>
                </a:lnTo>
                <a:cubicBezTo>
                  <a:pt x="5241085" y="0"/>
                  <a:pt x="5283729" y="42644"/>
                  <a:pt x="5283729" y="95249"/>
                </a:cubicBezTo>
                <a:lnTo>
                  <a:pt x="5283729" y="1656293"/>
                </a:lnTo>
                <a:cubicBezTo>
                  <a:pt x="5283729" y="1708897"/>
                  <a:pt x="5241085" y="1751542"/>
                  <a:pt x="5188480" y="1751542"/>
                </a:cubicBezTo>
                <a:lnTo>
                  <a:pt x="95249" y="1751542"/>
                </a:lnTo>
                <a:cubicBezTo>
                  <a:pt x="42644" y="1751542"/>
                  <a:pt x="0" y="1708897"/>
                  <a:pt x="0" y="1656293"/>
                </a:cubicBezTo>
                <a:lnTo>
                  <a:pt x="0" y="95249"/>
                </a:lnTo>
                <a:cubicBezTo>
                  <a:pt x="0" y="42644"/>
                  <a:pt x="42644" y="0"/>
                  <a:pt x="95249" y="0"/>
                </a:cubicBezTo>
                <a:close/>
              </a:path>
            </a:pathLst>
          </a:custGeom>
          <a:solidFill>
            <a:srgbClr val="FAFAFA"/>
          </a:solidFill>
          <a:ln w="8467">
            <a:solidFill>
              <a:srgbClr val="E5E5E5"/>
            </a:solidFill>
            <a:prstDash val="solid"/>
          </a:ln>
        </p:spPr>
        <p:txBody>
          <a:bodyPr/>
          <a:lstStyle/>
          <a:p>
            <a:endParaRPr lang="zh-CN" altLang="en-US"/>
          </a:p>
        </p:txBody>
      </p:sp>
      <p:sp>
        <p:nvSpPr>
          <p:cNvPr id="31" name="Text 29"/>
          <p:cNvSpPr/>
          <p:nvPr/>
        </p:nvSpPr>
        <p:spPr>
          <a:xfrm>
            <a:off x="6519334" y="1725085"/>
            <a:ext cx="5080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skills/</a:t>
            </a:r>
            <a:endParaRPr lang="en-US" sz="1600" dirty="0"/>
          </a:p>
        </p:txBody>
      </p:sp>
      <p:sp>
        <p:nvSpPr>
          <p:cNvPr id="32" name="Text 30"/>
          <p:cNvSpPr/>
          <p:nvPr/>
        </p:nvSpPr>
        <p:spPr>
          <a:xfrm>
            <a:off x="6519334" y="1947335"/>
            <a:ext cx="5080000" cy="158750"/>
          </a:xfrm>
          <a:prstGeom prst="rect">
            <a:avLst/>
          </a:prstGeom>
          <a:noFill/>
          <a:ln/>
        </p:spPr>
        <p:txBody>
          <a:bodyPr wrap="square" lIns="12700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db-pwd-integrator/</a:t>
            </a:r>
            <a:endParaRPr lang="en-US" sz="1600" dirty="0"/>
          </a:p>
        </p:txBody>
      </p:sp>
      <p:sp>
        <p:nvSpPr>
          <p:cNvPr id="33" name="Text 31"/>
          <p:cNvSpPr/>
          <p:nvPr/>
        </p:nvSpPr>
        <p:spPr>
          <a:xfrm>
            <a:off x="6519334" y="2169585"/>
            <a:ext cx="5080000" cy="158750"/>
          </a:xfrm>
          <a:prstGeom prst="rect">
            <a:avLst/>
          </a:prstGeom>
          <a:noFill/>
          <a:ln/>
        </p:spPr>
        <p:txBody>
          <a:bodyPr wrap="square" lIns="25400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a:t>
            </a:r>
            <a:r>
              <a:rPr lang="en-US" sz="875" b="1" dirty="0">
                <a:solidFill>
                  <a:srgbClr val="0071E3"/>
                </a:solidFill>
                <a:latin typeface="MiSans" pitchFamily="34" charset="0"/>
                <a:ea typeface="MiSans" pitchFamily="34" charset="-122"/>
                <a:cs typeface="MiSans" pitchFamily="34" charset="-120"/>
              </a:rPr>
              <a:t>SKILL.md</a:t>
            </a:r>
            <a:r>
              <a:rPr lang="en-US" sz="750" dirty="0">
                <a:solidFill>
                  <a:srgbClr val="86868B"/>
                </a:solidFill>
                <a:latin typeface="MiSans" pitchFamily="34" charset="0"/>
                <a:ea typeface="MiSans" pitchFamily="34" charset="-122"/>
                <a:cs typeface="MiSans" pitchFamily="34" charset="-120"/>
              </a:rPr>
              <a:t>(539行)</a:t>
            </a:r>
            <a:endParaRPr lang="en-US" sz="1600" dirty="0"/>
          </a:p>
        </p:txBody>
      </p:sp>
      <p:sp>
        <p:nvSpPr>
          <p:cNvPr id="34" name="Text 32"/>
          <p:cNvSpPr/>
          <p:nvPr/>
        </p:nvSpPr>
        <p:spPr>
          <a:xfrm>
            <a:off x="6519334" y="2391835"/>
            <a:ext cx="5080000" cy="158750"/>
          </a:xfrm>
          <a:prstGeom prst="rect">
            <a:avLst/>
          </a:prstGeom>
          <a:noFill/>
          <a:ln/>
        </p:spPr>
        <p:txBody>
          <a:bodyPr wrap="square" lIns="25400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references/</a:t>
            </a:r>
            <a:endParaRPr lang="en-US" sz="1600" dirty="0"/>
          </a:p>
        </p:txBody>
      </p:sp>
      <p:sp>
        <p:nvSpPr>
          <p:cNvPr id="35" name="Text 33"/>
          <p:cNvSpPr/>
          <p:nvPr/>
        </p:nvSpPr>
        <p:spPr>
          <a:xfrm>
            <a:off x="6519334" y="2614085"/>
            <a:ext cx="5080000" cy="158750"/>
          </a:xfrm>
          <a:prstGeom prst="rect">
            <a:avLst/>
          </a:prstGeom>
          <a:noFill/>
          <a:ln/>
        </p:spPr>
        <p:txBody>
          <a:bodyPr wrap="square" lIns="38100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a:t>
            </a:r>
            <a:r>
              <a:rPr lang="en-US" sz="875" dirty="0">
                <a:solidFill>
                  <a:srgbClr val="0071E3"/>
                </a:solidFill>
                <a:latin typeface="MiSans" pitchFamily="34" charset="0"/>
                <a:ea typeface="MiSans" pitchFamily="34" charset="-122"/>
                <a:cs typeface="MiSans" pitchFamily="34" charset="-120"/>
              </a:rPr>
              <a:t>code-examples.md</a:t>
            </a:r>
            <a:r>
              <a:rPr lang="en-US" sz="750" dirty="0">
                <a:solidFill>
                  <a:srgbClr val="86868B"/>
                </a:solidFill>
                <a:latin typeface="MiSans" pitchFamily="34" charset="0"/>
                <a:ea typeface="MiSans" pitchFamily="34" charset="-122"/>
                <a:cs typeface="MiSans" pitchFamily="34" charset="-120"/>
              </a:rPr>
              <a:t>(505行)</a:t>
            </a:r>
            <a:endParaRPr lang="en-US" sz="1600" dirty="0"/>
          </a:p>
        </p:txBody>
      </p:sp>
      <p:sp>
        <p:nvSpPr>
          <p:cNvPr id="36" name="Text 34"/>
          <p:cNvSpPr/>
          <p:nvPr/>
        </p:nvSpPr>
        <p:spPr>
          <a:xfrm>
            <a:off x="6519334" y="2836335"/>
            <a:ext cx="5080000" cy="158750"/>
          </a:xfrm>
          <a:prstGeom prst="rect">
            <a:avLst/>
          </a:prstGeom>
          <a:noFill/>
          <a:ln/>
        </p:spPr>
        <p:txBody>
          <a:bodyPr wrap="square" lIns="38100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a:t>
            </a:r>
            <a:r>
              <a:rPr lang="en-US" sz="875" dirty="0">
                <a:solidFill>
                  <a:srgbClr val="0071E3"/>
                </a:solidFill>
                <a:latin typeface="MiSans" pitchFamily="34" charset="0"/>
                <a:ea typeface="MiSans" pitchFamily="34" charset="-122"/>
                <a:cs typeface="MiSans" pitchFamily="34" charset="-120"/>
              </a:rPr>
              <a:t>integration-patterns.md</a:t>
            </a:r>
            <a:endParaRPr lang="en-US" sz="1600" dirty="0"/>
          </a:p>
        </p:txBody>
      </p:sp>
      <p:sp>
        <p:nvSpPr>
          <p:cNvPr id="37" name="Text 35"/>
          <p:cNvSpPr/>
          <p:nvPr/>
        </p:nvSpPr>
        <p:spPr>
          <a:xfrm>
            <a:off x="6519334" y="3058585"/>
            <a:ext cx="5080000" cy="158750"/>
          </a:xfrm>
          <a:prstGeom prst="rect">
            <a:avLst/>
          </a:prstGeom>
          <a:noFill/>
          <a:ln/>
        </p:spPr>
        <p:txBody>
          <a:bodyPr wrap="square" lIns="38100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a:t>
            </a:r>
            <a:r>
              <a:rPr lang="en-US" sz="875" dirty="0">
                <a:solidFill>
                  <a:srgbClr val="0071E3"/>
                </a:solidFill>
                <a:latin typeface="MiSans" pitchFamily="34" charset="0"/>
                <a:ea typeface="MiSans" pitchFamily="34" charset="-122"/>
                <a:cs typeface="MiSans" pitchFamily="34" charset="-120"/>
              </a:rPr>
              <a:t>troubleshooting.md</a:t>
            </a:r>
            <a:endParaRPr lang="en-US" sz="1600" dirty="0"/>
          </a:p>
        </p:txBody>
      </p:sp>
      <p:sp>
        <p:nvSpPr>
          <p:cNvPr id="38" name="Shape 36"/>
          <p:cNvSpPr/>
          <p:nvPr/>
        </p:nvSpPr>
        <p:spPr>
          <a:xfrm>
            <a:off x="6418792" y="3540125"/>
            <a:ext cx="95250" cy="127000"/>
          </a:xfrm>
          <a:custGeom>
            <a:avLst/>
            <a:gdLst/>
            <a:ahLst/>
            <a:cxnLst/>
            <a:rect l="l" t="t" r="r" b="b"/>
            <a:pathLst>
              <a:path w="95250" h="127000">
                <a:moveTo>
                  <a:pt x="0" y="15875"/>
                </a:moveTo>
                <a:cubicBezTo>
                  <a:pt x="0" y="7119"/>
                  <a:pt x="7119" y="0"/>
                  <a:pt x="15875" y="0"/>
                </a:cubicBezTo>
                <a:lnTo>
                  <a:pt x="52958" y="0"/>
                </a:lnTo>
                <a:cubicBezTo>
                  <a:pt x="57175" y="0"/>
                  <a:pt x="61218" y="1662"/>
                  <a:pt x="64195" y="4638"/>
                </a:cubicBezTo>
                <a:lnTo>
                  <a:pt x="90612" y="31080"/>
                </a:lnTo>
                <a:cubicBezTo>
                  <a:pt x="93588" y="34057"/>
                  <a:pt x="95250" y="38100"/>
                  <a:pt x="95250" y="42317"/>
                </a:cubicBezTo>
                <a:lnTo>
                  <a:pt x="95250" y="111125"/>
                </a:lnTo>
                <a:cubicBezTo>
                  <a:pt x="95250" y="119881"/>
                  <a:pt x="88131" y="127000"/>
                  <a:pt x="79375" y="127000"/>
                </a:cubicBezTo>
                <a:lnTo>
                  <a:pt x="15875" y="127000"/>
                </a:lnTo>
                <a:cubicBezTo>
                  <a:pt x="7119" y="127000"/>
                  <a:pt x="0" y="119881"/>
                  <a:pt x="0" y="111125"/>
                </a:cubicBezTo>
                <a:lnTo>
                  <a:pt x="0" y="15875"/>
                </a:lnTo>
                <a:close/>
                <a:moveTo>
                  <a:pt x="51594" y="14511"/>
                </a:moveTo>
                <a:lnTo>
                  <a:pt x="51594" y="37703"/>
                </a:lnTo>
                <a:cubicBezTo>
                  <a:pt x="51594" y="41002"/>
                  <a:pt x="54248" y="43656"/>
                  <a:pt x="57547" y="43656"/>
                </a:cubicBezTo>
                <a:lnTo>
                  <a:pt x="80739" y="43656"/>
                </a:lnTo>
                <a:lnTo>
                  <a:pt x="51594" y="14511"/>
                </a:lnTo>
                <a:close/>
                <a:moveTo>
                  <a:pt x="38249" y="73323"/>
                </a:moveTo>
                <a:cubicBezTo>
                  <a:pt x="40382" y="70817"/>
                  <a:pt x="40109" y="67072"/>
                  <a:pt x="37604" y="64939"/>
                </a:cubicBezTo>
                <a:cubicBezTo>
                  <a:pt x="35099" y="62805"/>
                  <a:pt x="31353" y="63078"/>
                  <a:pt x="29220" y="65584"/>
                </a:cubicBezTo>
                <a:lnTo>
                  <a:pt x="17314" y="79474"/>
                </a:lnTo>
                <a:cubicBezTo>
                  <a:pt x="15404" y="81707"/>
                  <a:pt x="15404" y="84981"/>
                  <a:pt x="17314" y="87213"/>
                </a:cubicBezTo>
                <a:lnTo>
                  <a:pt x="29220" y="101104"/>
                </a:lnTo>
                <a:cubicBezTo>
                  <a:pt x="31353" y="103609"/>
                  <a:pt x="35123" y="103882"/>
                  <a:pt x="37604" y="101749"/>
                </a:cubicBezTo>
                <a:cubicBezTo>
                  <a:pt x="40084" y="99616"/>
                  <a:pt x="40382" y="95845"/>
                  <a:pt x="38249" y="93365"/>
                </a:cubicBezTo>
                <a:lnTo>
                  <a:pt x="29666" y="83344"/>
                </a:lnTo>
                <a:lnTo>
                  <a:pt x="38249" y="73323"/>
                </a:lnTo>
                <a:close/>
                <a:moveTo>
                  <a:pt x="66030" y="65584"/>
                </a:moveTo>
                <a:cubicBezTo>
                  <a:pt x="63897" y="63078"/>
                  <a:pt x="60127" y="62805"/>
                  <a:pt x="57646" y="64939"/>
                </a:cubicBezTo>
                <a:cubicBezTo>
                  <a:pt x="55166" y="67072"/>
                  <a:pt x="54868" y="70842"/>
                  <a:pt x="57001" y="73323"/>
                </a:cubicBezTo>
                <a:lnTo>
                  <a:pt x="65584" y="83344"/>
                </a:lnTo>
                <a:lnTo>
                  <a:pt x="57001" y="93365"/>
                </a:lnTo>
                <a:cubicBezTo>
                  <a:pt x="54868" y="95870"/>
                  <a:pt x="55141" y="99616"/>
                  <a:pt x="57646" y="101749"/>
                </a:cubicBezTo>
                <a:cubicBezTo>
                  <a:pt x="60151" y="103882"/>
                  <a:pt x="63897" y="103609"/>
                  <a:pt x="66030" y="101104"/>
                </a:cubicBezTo>
                <a:lnTo>
                  <a:pt x="77936" y="87213"/>
                </a:lnTo>
                <a:cubicBezTo>
                  <a:pt x="79846" y="84981"/>
                  <a:pt x="79846" y="81707"/>
                  <a:pt x="77936" y="79474"/>
                </a:cubicBezTo>
                <a:lnTo>
                  <a:pt x="66030" y="65584"/>
                </a:lnTo>
                <a:close/>
              </a:path>
            </a:pathLst>
          </a:custGeom>
          <a:solidFill>
            <a:srgbClr val="0071E3"/>
          </a:solidFill>
          <a:ln/>
        </p:spPr>
        <p:txBody>
          <a:bodyPr/>
          <a:lstStyle/>
          <a:p>
            <a:endParaRPr lang="zh-CN" altLang="en-US"/>
          </a:p>
        </p:txBody>
      </p:sp>
      <p:sp>
        <p:nvSpPr>
          <p:cNvPr id="39" name="Text 37"/>
          <p:cNvSpPr/>
          <p:nvPr/>
        </p:nvSpPr>
        <p:spPr>
          <a:xfrm>
            <a:off x="6641042" y="3508375"/>
            <a:ext cx="1579563"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SKILL.md</a:t>
            </a:r>
            <a:endParaRPr lang="en-US" sz="1600" dirty="0"/>
          </a:p>
        </p:txBody>
      </p:sp>
      <p:sp>
        <p:nvSpPr>
          <p:cNvPr id="40" name="Text 38"/>
          <p:cNvSpPr/>
          <p:nvPr/>
        </p:nvSpPr>
        <p:spPr>
          <a:xfrm>
            <a:off x="6641042" y="3667125"/>
            <a:ext cx="1571625"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核心逻辑、工作流程、用户交互模板</a:t>
            </a:r>
            <a:endParaRPr lang="en-US" sz="1600" dirty="0"/>
          </a:p>
        </p:txBody>
      </p:sp>
      <p:sp>
        <p:nvSpPr>
          <p:cNvPr id="41" name="Shape 39"/>
          <p:cNvSpPr/>
          <p:nvPr/>
        </p:nvSpPr>
        <p:spPr>
          <a:xfrm>
            <a:off x="6418792" y="3921125"/>
            <a:ext cx="95250" cy="127000"/>
          </a:xfrm>
          <a:custGeom>
            <a:avLst/>
            <a:gdLst/>
            <a:ahLst/>
            <a:cxnLst/>
            <a:rect l="l" t="t" r="r" b="b"/>
            <a:pathLst>
              <a:path w="95250" h="127000">
                <a:moveTo>
                  <a:pt x="0" y="15875"/>
                </a:moveTo>
                <a:cubicBezTo>
                  <a:pt x="0" y="7119"/>
                  <a:pt x="7119" y="0"/>
                  <a:pt x="15875" y="0"/>
                </a:cubicBezTo>
                <a:lnTo>
                  <a:pt x="52958" y="0"/>
                </a:lnTo>
                <a:cubicBezTo>
                  <a:pt x="57175" y="0"/>
                  <a:pt x="61218" y="1662"/>
                  <a:pt x="64195" y="4638"/>
                </a:cubicBezTo>
                <a:lnTo>
                  <a:pt x="90612" y="31080"/>
                </a:lnTo>
                <a:cubicBezTo>
                  <a:pt x="93588" y="34057"/>
                  <a:pt x="95250" y="38100"/>
                  <a:pt x="95250" y="42317"/>
                </a:cubicBezTo>
                <a:lnTo>
                  <a:pt x="95250" y="111125"/>
                </a:lnTo>
                <a:cubicBezTo>
                  <a:pt x="95250" y="119881"/>
                  <a:pt x="88131" y="127000"/>
                  <a:pt x="79375" y="127000"/>
                </a:cubicBezTo>
                <a:lnTo>
                  <a:pt x="15875" y="127000"/>
                </a:lnTo>
                <a:cubicBezTo>
                  <a:pt x="7119" y="127000"/>
                  <a:pt x="0" y="119881"/>
                  <a:pt x="0" y="111125"/>
                </a:cubicBezTo>
                <a:lnTo>
                  <a:pt x="0" y="15875"/>
                </a:lnTo>
                <a:close/>
                <a:moveTo>
                  <a:pt x="51594" y="14511"/>
                </a:moveTo>
                <a:lnTo>
                  <a:pt x="51594" y="37703"/>
                </a:lnTo>
                <a:cubicBezTo>
                  <a:pt x="51594" y="41002"/>
                  <a:pt x="54248" y="43656"/>
                  <a:pt x="57547" y="43656"/>
                </a:cubicBezTo>
                <a:lnTo>
                  <a:pt x="80739" y="43656"/>
                </a:lnTo>
                <a:lnTo>
                  <a:pt x="51594" y="14511"/>
                </a:lnTo>
                <a:close/>
                <a:moveTo>
                  <a:pt x="38249" y="73323"/>
                </a:moveTo>
                <a:cubicBezTo>
                  <a:pt x="40382" y="70817"/>
                  <a:pt x="40109" y="67072"/>
                  <a:pt x="37604" y="64939"/>
                </a:cubicBezTo>
                <a:cubicBezTo>
                  <a:pt x="35099" y="62805"/>
                  <a:pt x="31353" y="63078"/>
                  <a:pt x="29220" y="65584"/>
                </a:cubicBezTo>
                <a:lnTo>
                  <a:pt x="17314" y="79474"/>
                </a:lnTo>
                <a:cubicBezTo>
                  <a:pt x="15404" y="81707"/>
                  <a:pt x="15404" y="84981"/>
                  <a:pt x="17314" y="87213"/>
                </a:cubicBezTo>
                <a:lnTo>
                  <a:pt x="29220" y="101104"/>
                </a:lnTo>
                <a:cubicBezTo>
                  <a:pt x="31353" y="103609"/>
                  <a:pt x="35123" y="103882"/>
                  <a:pt x="37604" y="101749"/>
                </a:cubicBezTo>
                <a:cubicBezTo>
                  <a:pt x="40084" y="99616"/>
                  <a:pt x="40382" y="95845"/>
                  <a:pt x="38249" y="93365"/>
                </a:cubicBezTo>
                <a:lnTo>
                  <a:pt x="29666" y="83344"/>
                </a:lnTo>
                <a:lnTo>
                  <a:pt x="38249" y="73323"/>
                </a:lnTo>
                <a:close/>
                <a:moveTo>
                  <a:pt x="66030" y="65584"/>
                </a:moveTo>
                <a:cubicBezTo>
                  <a:pt x="63897" y="63078"/>
                  <a:pt x="60127" y="62805"/>
                  <a:pt x="57646" y="64939"/>
                </a:cubicBezTo>
                <a:cubicBezTo>
                  <a:pt x="55166" y="67072"/>
                  <a:pt x="54868" y="70842"/>
                  <a:pt x="57001" y="73323"/>
                </a:cubicBezTo>
                <a:lnTo>
                  <a:pt x="65584" y="83344"/>
                </a:lnTo>
                <a:lnTo>
                  <a:pt x="57001" y="93365"/>
                </a:lnTo>
                <a:cubicBezTo>
                  <a:pt x="54868" y="95870"/>
                  <a:pt x="55141" y="99616"/>
                  <a:pt x="57646" y="101749"/>
                </a:cubicBezTo>
                <a:cubicBezTo>
                  <a:pt x="60151" y="103882"/>
                  <a:pt x="63897" y="103609"/>
                  <a:pt x="66030" y="101104"/>
                </a:cubicBezTo>
                <a:lnTo>
                  <a:pt x="77936" y="87213"/>
                </a:lnTo>
                <a:cubicBezTo>
                  <a:pt x="79846" y="84981"/>
                  <a:pt x="79846" y="81707"/>
                  <a:pt x="77936" y="79474"/>
                </a:cubicBezTo>
                <a:lnTo>
                  <a:pt x="66030" y="65584"/>
                </a:lnTo>
                <a:close/>
              </a:path>
            </a:pathLst>
          </a:custGeom>
          <a:solidFill>
            <a:srgbClr val="0071E3"/>
          </a:solidFill>
          <a:ln/>
        </p:spPr>
        <p:txBody>
          <a:bodyPr/>
          <a:lstStyle/>
          <a:p>
            <a:endParaRPr lang="zh-CN" altLang="en-US"/>
          </a:p>
        </p:txBody>
      </p:sp>
      <p:sp>
        <p:nvSpPr>
          <p:cNvPr id="42" name="Text 40"/>
          <p:cNvSpPr/>
          <p:nvPr/>
        </p:nvSpPr>
        <p:spPr>
          <a:xfrm>
            <a:off x="6641042" y="3889375"/>
            <a:ext cx="1254125"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code-examples.md</a:t>
            </a:r>
            <a:endParaRPr lang="en-US" sz="1600" dirty="0"/>
          </a:p>
        </p:txBody>
      </p:sp>
      <p:sp>
        <p:nvSpPr>
          <p:cNvPr id="43" name="Text 41"/>
          <p:cNvSpPr/>
          <p:nvPr/>
        </p:nvSpPr>
        <p:spPr>
          <a:xfrm>
            <a:off x="6641042" y="4048125"/>
            <a:ext cx="1246188"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6种集成模式的代码修改对照</a:t>
            </a:r>
            <a:endParaRPr lang="en-US" sz="1600" dirty="0"/>
          </a:p>
        </p:txBody>
      </p:sp>
      <p:sp>
        <p:nvSpPr>
          <p:cNvPr id="44" name="Shape 42"/>
          <p:cNvSpPr/>
          <p:nvPr/>
        </p:nvSpPr>
        <p:spPr>
          <a:xfrm>
            <a:off x="6418792" y="4302125"/>
            <a:ext cx="95250" cy="127000"/>
          </a:xfrm>
          <a:custGeom>
            <a:avLst/>
            <a:gdLst/>
            <a:ahLst/>
            <a:cxnLst/>
            <a:rect l="l" t="t" r="r" b="b"/>
            <a:pathLst>
              <a:path w="95250" h="127000">
                <a:moveTo>
                  <a:pt x="0" y="15875"/>
                </a:moveTo>
                <a:cubicBezTo>
                  <a:pt x="0" y="7119"/>
                  <a:pt x="7119" y="0"/>
                  <a:pt x="15875" y="0"/>
                </a:cubicBezTo>
                <a:lnTo>
                  <a:pt x="52958" y="0"/>
                </a:lnTo>
                <a:cubicBezTo>
                  <a:pt x="57175" y="0"/>
                  <a:pt x="61218" y="1662"/>
                  <a:pt x="64195" y="4638"/>
                </a:cubicBezTo>
                <a:lnTo>
                  <a:pt x="90612" y="31080"/>
                </a:lnTo>
                <a:cubicBezTo>
                  <a:pt x="93588" y="34057"/>
                  <a:pt x="95250" y="38100"/>
                  <a:pt x="95250" y="42317"/>
                </a:cubicBezTo>
                <a:lnTo>
                  <a:pt x="95250" y="111125"/>
                </a:lnTo>
                <a:cubicBezTo>
                  <a:pt x="95250" y="119881"/>
                  <a:pt x="88131" y="127000"/>
                  <a:pt x="79375" y="127000"/>
                </a:cubicBezTo>
                <a:lnTo>
                  <a:pt x="15875" y="127000"/>
                </a:lnTo>
                <a:cubicBezTo>
                  <a:pt x="7119" y="127000"/>
                  <a:pt x="0" y="119881"/>
                  <a:pt x="0" y="111125"/>
                </a:cubicBezTo>
                <a:lnTo>
                  <a:pt x="0" y="15875"/>
                </a:lnTo>
                <a:close/>
                <a:moveTo>
                  <a:pt x="51594" y="14511"/>
                </a:moveTo>
                <a:lnTo>
                  <a:pt x="51594" y="37703"/>
                </a:lnTo>
                <a:cubicBezTo>
                  <a:pt x="51594" y="41002"/>
                  <a:pt x="54248" y="43656"/>
                  <a:pt x="57547" y="43656"/>
                </a:cubicBezTo>
                <a:lnTo>
                  <a:pt x="80739" y="43656"/>
                </a:lnTo>
                <a:lnTo>
                  <a:pt x="51594" y="14511"/>
                </a:lnTo>
                <a:close/>
                <a:moveTo>
                  <a:pt x="38249" y="73323"/>
                </a:moveTo>
                <a:cubicBezTo>
                  <a:pt x="40382" y="70817"/>
                  <a:pt x="40109" y="67072"/>
                  <a:pt x="37604" y="64939"/>
                </a:cubicBezTo>
                <a:cubicBezTo>
                  <a:pt x="35099" y="62805"/>
                  <a:pt x="31353" y="63078"/>
                  <a:pt x="29220" y="65584"/>
                </a:cubicBezTo>
                <a:lnTo>
                  <a:pt x="17314" y="79474"/>
                </a:lnTo>
                <a:cubicBezTo>
                  <a:pt x="15404" y="81707"/>
                  <a:pt x="15404" y="84981"/>
                  <a:pt x="17314" y="87213"/>
                </a:cubicBezTo>
                <a:lnTo>
                  <a:pt x="29220" y="101104"/>
                </a:lnTo>
                <a:cubicBezTo>
                  <a:pt x="31353" y="103609"/>
                  <a:pt x="35123" y="103882"/>
                  <a:pt x="37604" y="101749"/>
                </a:cubicBezTo>
                <a:cubicBezTo>
                  <a:pt x="40084" y="99616"/>
                  <a:pt x="40382" y="95845"/>
                  <a:pt x="38249" y="93365"/>
                </a:cubicBezTo>
                <a:lnTo>
                  <a:pt x="29666" y="83344"/>
                </a:lnTo>
                <a:lnTo>
                  <a:pt x="38249" y="73323"/>
                </a:lnTo>
                <a:close/>
                <a:moveTo>
                  <a:pt x="66030" y="65584"/>
                </a:moveTo>
                <a:cubicBezTo>
                  <a:pt x="63897" y="63078"/>
                  <a:pt x="60127" y="62805"/>
                  <a:pt x="57646" y="64939"/>
                </a:cubicBezTo>
                <a:cubicBezTo>
                  <a:pt x="55166" y="67072"/>
                  <a:pt x="54868" y="70842"/>
                  <a:pt x="57001" y="73323"/>
                </a:cubicBezTo>
                <a:lnTo>
                  <a:pt x="65584" y="83344"/>
                </a:lnTo>
                <a:lnTo>
                  <a:pt x="57001" y="93365"/>
                </a:lnTo>
                <a:cubicBezTo>
                  <a:pt x="54868" y="95870"/>
                  <a:pt x="55141" y="99616"/>
                  <a:pt x="57646" y="101749"/>
                </a:cubicBezTo>
                <a:cubicBezTo>
                  <a:pt x="60151" y="103882"/>
                  <a:pt x="63897" y="103609"/>
                  <a:pt x="66030" y="101104"/>
                </a:cubicBezTo>
                <a:lnTo>
                  <a:pt x="77936" y="87213"/>
                </a:lnTo>
                <a:cubicBezTo>
                  <a:pt x="79846" y="84981"/>
                  <a:pt x="79846" y="81707"/>
                  <a:pt x="77936" y="79474"/>
                </a:cubicBezTo>
                <a:lnTo>
                  <a:pt x="66030" y="65584"/>
                </a:lnTo>
                <a:close/>
              </a:path>
            </a:pathLst>
          </a:custGeom>
          <a:solidFill>
            <a:srgbClr val="0071E3"/>
          </a:solidFill>
          <a:ln/>
        </p:spPr>
        <p:txBody>
          <a:bodyPr/>
          <a:lstStyle/>
          <a:p>
            <a:endParaRPr lang="zh-CN" altLang="en-US"/>
          </a:p>
        </p:txBody>
      </p:sp>
      <p:sp>
        <p:nvSpPr>
          <p:cNvPr id="45" name="Text 43"/>
          <p:cNvSpPr/>
          <p:nvPr/>
        </p:nvSpPr>
        <p:spPr>
          <a:xfrm>
            <a:off x="6641042" y="4270375"/>
            <a:ext cx="1270000"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integration-patterns.md</a:t>
            </a:r>
            <a:endParaRPr lang="en-US" sz="1600" dirty="0"/>
          </a:p>
        </p:txBody>
      </p:sp>
      <p:sp>
        <p:nvSpPr>
          <p:cNvPr id="46" name="Text 44"/>
          <p:cNvSpPr/>
          <p:nvPr/>
        </p:nvSpPr>
        <p:spPr>
          <a:xfrm>
            <a:off x="6641042" y="4429125"/>
            <a:ext cx="1262063"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各技术栈的集成细节</a:t>
            </a:r>
            <a:endParaRPr lang="en-US" sz="1600" dirty="0"/>
          </a:p>
        </p:txBody>
      </p:sp>
      <p:sp>
        <p:nvSpPr>
          <p:cNvPr id="47" name="Shape 45"/>
          <p:cNvSpPr/>
          <p:nvPr/>
        </p:nvSpPr>
        <p:spPr>
          <a:xfrm>
            <a:off x="6418792" y="4683125"/>
            <a:ext cx="95250" cy="127000"/>
          </a:xfrm>
          <a:custGeom>
            <a:avLst/>
            <a:gdLst/>
            <a:ahLst/>
            <a:cxnLst/>
            <a:rect l="l" t="t" r="r" b="b"/>
            <a:pathLst>
              <a:path w="95250" h="127000">
                <a:moveTo>
                  <a:pt x="0" y="15875"/>
                </a:moveTo>
                <a:cubicBezTo>
                  <a:pt x="0" y="7119"/>
                  <a:pt x="7119" y="0"/>
                  <a:pt x="15875" y="0"/>
                </a:cubicBezTo>
                <a:lnTo>
                  <a:pt x="52958" y="0"/>
                </a:lnTo>
                <a:cubicBezTo>
                  <a:pt x="57175" y="0"/>
                  <a:pt x="61218" y="1662"/>
                  <a:pt x="64195" y="4638"/>
                </a:cubicBezTo>
                <a:lnTo>
                  <a:pt x="90612" y="31080"/>
                </a:lnTo>
                <a:cubicBezTo>
                  <a:pt x="93588" y="34057"/>
                  <a:pt x="95250" y="38100"/>
                  <a:pt x="95250" y="42317"/>
                </a:cubicBezTo>
                <a:lnTo>
                  <a:pt x="95250" y="111125"/>
                </a:lnTo>
                <a:cubicBezTo>
                  <a:pt x="95250" y="119881"/>
                  <a:pt x="88131" y="127000"/>
                  <a:pt x="79375" y="127000"/>
                </a:cubicBezTo>
                <a:lnTo>
                  <a:pt x="15875" y="127000"/>
                </a:lnTo>
                <a:cubicBezTo>
                  <a:pt x="7119" y="127000"/>
                  <a:pt x="0" y="119881"/>
                  <a:pt x="0" y="111125"/>
                </a:cubicBezTo>
                <a:lnTo>
                  <a:pt x="0" y="15875"/>
                </a:lnTo>
                <a:close/>
                <a:moveTo>
                  <a:pt x="51594" y="14511"/>
                </a:moveTo>
                <a:lnTo>
                  <a:pt x="51594" y="37703"/>
                </a:lnTo>
                <a:cubicBezTo>
                  <a:pt x="51594" y="41002"/>
                  <a:pt x="54248" y="43656"/>
                  <a:pt x="57547" y="43656"/>
                </a:cubicBezTo>
                <a:lnTo>
                  <a:pt x="80739" y="43656"/>
                </a:lnTo>
                <a:lnTo>
                  <a:pt x="51594" y="14511"/>
                </a:lnTo>
                <a:close/>
                <a:moveTo>
                  <a:pt x="38249" y="73323"/>
                </a:moveTo>
                <a:cubicBezTo>
                  <a:pt x="40382" y="70817"/>
                  <a:pt x="40109" y="67072"/>
                  <a:pt x="37604" y="64939"/>
                </a:cubicBezTo>
                <a:cubicBezTo>
                  <a:pt x="35099" y="62805"/>
                  <a:pt x="31353" y="63078"/>
                  <a:pt x="29220" y="65584"/>
                </a:cubicBezTo>
                <a:lnTo>
                  <a:pt x="17314" y="79474"/>
                </a:lnTo>
                <a:cubicBezTo>
                  <a:pt x="15404" y="81707"/>
                  <a:pt x="15404" y="84981"/>
                  <a:pt x="17314" y="87213"/>
                </a:cubicBezTo>
                <a:lnTo>
                  <a:pt x="29220" y="101104"/>
                </a:lnTo>
                <a:cubicBezTo>
                  <a:pt x="31353" y="103609"/>
                  <a:pt x="35123" y="103882"/>
                  <a:pt x="37604" y="101749"/>
                </a:cubicBezTo>
                <a:cubicBezTo>
                  <a:pt x="40084" y="99616"/>
                  <a:pt x="40382" y="95845"/>
                  <a:pt x="38249" y="93365"/>
                </a:cubicBezTo>
                <a:lnTo>
                  <a:pt x="29666" y="83344"/>
                </a:lnTo>
                <a:lnTo>
                  <a:pt x="38249" y="73323"/>
                </a:lnTo>
                <a:close/>
                <a:moveTo>
                  <a:pt x="66030" y="65584"/>
                </a:moveTo>
                <a:cubicBezTo>
                  <a:pt x="63897" y="63078"/>
                  <a:pt x="60127" y="62805"/>
                  <a:pt x="57646" y="64939"/>
                </a:cubicBezTo>
                <a:cubicBezTo>
                  <a:pt x="55166" y="67072"/>
                  <a:pt x="54868" y="70842"/>
                  <a:pt x="57001" y="73323"/>
                </a:cubicBezTo>
                <a:lnTo>
                  <a:pt x="65584" y="83344"/>
                </a:lnTo>
                <a:lnTo>
                  <a:pt x="57001" y="93365"/>
                </a:lnTo>
                <a:cubicBezTo>
                  <a:pt x="54868" y="95870"/>
                  <a:pt x="55141" y="99616"/>
                  <a:pt x="57646" y="101749"/>
                </a:cubicBezTo>
                <a:cubicBezTo>
                  <a:pt x="60151" y="103882"/>
                  <a:pt x="63897" y="103609"/>
                  <a:pt x="66030" y="101104"/>
                </a:cubicBezTo>
                <a:lnTo>
                  <a:pt x="77936" y="87213"/>
                </a:lnTo>
                <a:cubicBezTo>
                  <a:pt x="79846" y="84981"/>
                  <a:pt x="79846" y="81707"/>
                  <a:pt x="77936" y="79474"/>
                </a:cubicBezTo>
                <a:lnTo>
                  <a:pt x="66030" y="65584"/>
                </a:lnTo>
                <a:close/>
              </a:path>
            </a:pathLst>
          </a:custGeom>
          <a:solidFill>
            <a:srgbClr val="0071E3"/>
          </a:solidFill>
          <a:ln/>
        </p:spPr>
        <p:txBody>
          <a:bodyPr/>
          <a:lstStyle/>
          <a:p>
            <a:endParaRPr lang="zh-CN" altLang="en-US"/>
          </a:p>
        </p:txBody>
      </p:sp>
      <p:sp>
        <p:nvSpPr>
          <p:cNvPr id="48" name="Text 46"/>
          <p:cNvSpPr/>
          <p:nvPr/>
        </p:nvSpPr>
        <p:spPr>
          <a:xfrm>
            <a:off x="6641042" y="4651375"/>
            <a:ext cx="1047750"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troubleshooting.md</a:t>
            </a:r>
            <a:endParaRPr lang="en-US" sz="1600" dirty="0"/>
          </a:p>
        </p:txBody>
      </p:sp>
      <p:sp>
        <p:nvSpPr>
          <p:cNvPr id="49" name="Text 47"/>
          <p:cNvSpPr/>
          <p:nvPr/>
        </p:nvSpPr>
        <p:spPr>
          <a:xfrm>
            <a:off x="6641042" y="4810125"/>
            <a:ext cx="1039812" cy="127000"/>
          </a:xfrm>
          <a:prstGeom prst="rect">
            <a:avLst/>
          </a:prstGeom>
          <a:noFill/>
          <a:ln/>
        </p:spPr>
        <p:txBody>
          <a:bodyPr wrap="square" lIns="0" tIns="0" rIns="0" bIns="0" rtlCol="0" anchor="ctr"/>
          <a:lstStyle/>
          <a:p>
            <a:pPr>
              <a:lnSpc>
                <a:spcPct val="110000"/>
              </a:lnSpc>
            </a:pPr>
            <a:r>
              <a:rPr lang="en-US" sz="750" dirty="0">
                <a:solidFill>
                  <a:srgbClr val="86868B"/>
                </a:solidFill>
                <a:latin typeface="MiSans" pitchFamily="34" charset="0"/>
                <a:ea typeface="MiSans" pitchFamily="34" charset="-122"/>
                <a:cs typeface="MiSans" pitchFamily="34" charset="-120"/>
              </a:rPr>
              <a:t>常见问题与解决方案</a:t>
            </a:r>
            <a:endParaRPr lang="en-US" sz="1600" dirty="0"/>
          </a:p>
        </p:txBody>
      </p:sp>
      <p:sp>
        <p:nvSpPr>
          <p:cNvPr id="50" name="Shape 48"/>
          <p:cNvSpPr/>
          <p:nvPr/>
        </p:nvSpPr>
        <p:spPr>
          <a:xfrm>
            <a:off x="333375" y="5291669"/>
            <a:ext cx="5667375" cy="1912938"/>
          </a:xfrm>
          <a:custGeom>
            <a:avLst/>
            <a:gdLst/>
            <a:ahLst/>
            <a:cxnLst/>
            <a:rect l="l" t="t" r="r" b="b"/>
            <a:pathLst>
              <a:path w="5667375" h="1912938">
                <a:moveTo>
                  <a:pt x="31750" y="0"/>
                </a:moveTo>
                <a:lnTo>
                  <a:pt x="5540375" y="0"/>
                </a:lnTo>
                <a:cubicBezTo>
                  <a:pt x="5610515" y="0"/>
                  <a:pt x="5667375" y="56860"/>
                  <a:pt x="5667375" y="127000"/>
                </a:cubicBezTo>
                <a:lnTo>
                  <a:pt x="5667375" y="1785938"/>
                </a:lnTo>
                <a:cubicBezTo>
                  <a:pt x="5667375" y="1856078"/>
                  <a:pt x="5610515" y="1912938"/>
                  <a:pt x="5540375" y="1912938"/>
                </a:cubicBezTo>
                <a:lnTo>
                  <a:pt x="31750" y="1912938"/>
                </a:lnTo>
                <a:cubicBezTo>
                  <a:pt x="14227" y="1912938"/>
                  <a:pt x="0" y="1898711"/>
                  <a:pt x="0" y="1881187"/>
                </a:cubicBezTo>
                <a:lnTo>
                  <a:pt x="0" y="31750"/>
                </a:lnTo>
                <a:cubicBezTo>
                  <a:pt x="0" y="14227"/>
                  <a:pt x="14227" y="0"/>
                  <a:pt x="31750" y="0"/>
                </a:cubicBezTo>
                <a:close/>
              </a:path>
            </a:pathLst>
          </a:custGeom>
          <a:gradFill flip="none" rotWithShape="1">
            <a:gsLst>
              <a:gs pos="0">
                <a:srgbClr val="0071E3">
                  <a:alpha val="10000"/>
                </a:srgbClr>
              </a:gs>
              <a:gs pos="100000">
                <a:srgbClr val="000000">
                  <a:alpha val="0"/>
                </a:srgbClr>
              </a:gs>
            </a:gsLst>
            <a:lin ang="0" scaled="1"/>
          </a:gradFill>
          <a:ln/>
        </p:spPr>
        <p:txBody>
          <a:bodyPr/>
          <a:lstStyle/>
          <a:p>
            <a:endParaRPr lang="zh-CN" altLang="en-US"/>
          </a:p>
        </p:txBody>
      </p:sp>
      <p:sp>
        <p:nvSpPr>
          <p:cNvPr id="51" name="Shape 49"/>
          <p:cNvSpPr/>
          <p:nvPr/>
        </p:nvSpPr>
        <p:spPr>
          <a:xfrm>
            <a:off x="333375" y="5291669"/>
            <a:ext cx="31750" cy="1912938"/>
          </a:xfrm>
          <a:custGeom>
            <a:avLst/>
            <a:gdLst/>
            <a:ahLst/>
            <a:cxnLst/>
            <a:rect l="l" t="t" r="r" b="b"/>
            <a:pathLst>
              <a:path w="31750" h="1912938">
                <a:moveTo>
                  <a:pt x="31750" y="0"/>
                </a:moveTo>
                <a:lnTo>
                  <a:pt x="31750" y="0"/>
                </a:lnTo>
                <a:lnTo>
                  <a:pt x="31750" y="1912938"/>
                </a:lnTo>
                <a:lnTo>
                  <a:pt x="31750" y="1912938"/>
                </a:lnTo>
                <a:cubicBezTo>
                  <a:pt x="14227" y="1912938"/>
                  <a:pt x="0" y="1898711"/>
                  <a:pt x="0" y="1881187"/>
                </a:cubicBezTo>
                <a:lnTo>
                  <a:pt x="0" y="31750"/>
                </a:lnTo>
                <a:cubicBezTo>
                  <a:pt x="0" y="14227"/>
                  <a:pt x="14227" y="0"/>
                  <a:pt x="31750" y="0"/>
                </a:cubicBezTo>
                <a:close/>
              </a:path>
            </a:pathLst>
          </a:custGeom>
          <a:solidFill>
            <a:srgbClr val="0071E3"/>
          </a:solidFill>
          <a:ln/>
        </p:spPr>
        <p:txBody>
          <a:bodyPr/>
          <a:lstStyle/>
          <a:p>
            <a:endParaRPr lang="zh-CN" altLang="en-US"/>
          </a:p>
        </p:txBody>
      </p:sp>
      <p:sp>
        <p:nvSpPr>
          <p:cNvPr id="52" name="Shape 50"/>
          <p:cNvSpPr/>
          <p:nvPr/>
        </p:nvSpPr>
        <p:spPr>
          <a:xfrm>
            <a:off x="527844" y="5490107"/>
            <a:ext cx="142875" cy="142875"/>
          </a:xfrm>
          <a:custGeom>
            <a:avLst/>
            <a:gdLst/>
            <a:ahLst/>
            <a:cxnLst/>
            <a:rect l="l" t="t" r="r" b="b"/>
            <a:pathLst>
              <a:path w="142875" h="142875">
                <a:moveTo>
                  <a:pt x="111203" y="3404"/>
                </a:moveTo>
                <a:lnTo>
                  <a:pt x="86590" y="28017"/>
                </a:lnTo>
                <a:lnTo>
                  <a:pt x="114858" y="56285"/>
                </a:lnTo>
                <a:lnTo>
                  <a:pt x="139471" y="31672"/>
                </a:lnTo>
                <a:cubicBezTo>
                  <a:pt x="141647" y="29468"/>
                  <a:pt x="142875" y="26510"/>
                  <a:pt x="142875" y="23440"/>
                </a:cubicBezTo>
                <a:cubicBezTo>
                  <a:pt x="142875" y="20371"/>
                  <a:pt x="141647" y="17413"/>
                  <a:pt x="139471" y="15208"/>
                </a:cubicBezTo>
                <a:lnTo>
                  <a:pt x="127667" y="3404"/>
                </a:lnTo>
                <a:cubicBezTo>
                  <a:pt x="125462" y="1228"/>
                  <a:pt x="122504" y="0"/>
                  <a:pt x="119435" y="0"/>
                </a:cubicBezTo>
                <a:cubicBezTo>
                  <a:pt x="116365" y="0"/>
                  <a:pt x="113407" y="1228"/>
                  <a:pt x="111203" y="3404"/>
                </a:cubicBezTo>
                <a:close/>
                <a:moveTo>
                  <a:pt x="77130" y="37477"/>
                </a:moveTo>
                <a:lnTo>
                  <a:pt x="3404" y="111203"/>
                </a:lnTo>
                <a:cubicBezTo>
                  <a:pt x="1228" y="113407"/>
                  <a:pt x="0" y="116365"/>
                  <a:pt x="0" y="119435"/>
                </a:cubicBezTo>
                <a:cubicBezTo>
                  <a:pt x="0" y="122504"/>
                  <a:pt x="1228" y="125462"/>
                  <a:pt x="3404" y="127667"/>
                </a:cubicBezTo>
                <a:lnTo>
                  <a:pt x="15208" y="139471"/>
                </a:lnTo>
                <a:cubicBezTo>
                  <a:pt x="17413" y="141647"/>
                  <a:pt x="20371" y="142875"/>
                  <a:pt x="23440" y="142875"/>
                </a:cubicBezTo>
                <a:cubicBezTo>
                  <a:pt x="26510" y="142875"/>
                  <a:pt x="29468" y="141647"/>
                  <a:pt x="31672" y="139471"/>
                </a:cubicBezTo>
                <a:lnTo>
                  <a:pt x="105398" y="65745"/>
                </a:lnTo>
                <a:lnTo>
                  <a:pt x="77130" y="37477"/>
                </a:lnTo>
                <a:close/>
              </a:path>
            </a:pathLst>
          </a:custGeom>
          <a:solidFill>
            <a:srgbClr val="0071E3"/>
          </a:solidFill>
          <a:ln/>
        </p:spPr>
        <p:txBody>
          <a:bodyPr/>
          <a:lstStyle/>
          <a:p>
            <a:endParaRPr lang="zh-CN" altLang="en-US"/>
          </a:p>
        </p:txBody>
      </p:sp>
      <p:sp>
        <p:nvSpPr>
          <p:cNvPr id="53" name="Text 51"/>
          <p:cNvSpPr/>
          <p:nvPr/>
        </p:nvSpPr>
        <p:spPr>
          <a:xfrm>
            <a:off x="690563" y="5450419"/>
            <a:ext cx="5222875"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MiSans" pitchFamily="34" charset="0"/>
                <a:ea typeface="MiSans" pitchFamily="34" charset="-122"/>
                <a:cs typeface="MiSans" pitchFamily="34" charset="-120"/>
              </a:rPr>
              <a:t>SKILL能力</a:t>
            </a:r>
            <a:endParaRPr lang="en-US" sz="1600" dirty="0"/>
          </a:p>
        </p:txBody>
      </p:sp>
      <p:sp>
        <p:nvSpPr>
          <p:cNvPr id="54" name="Shape 52"/>
          <p:cNvSpPr/>
          <p:nvPr/>
        </p:nvSpPr>
        <p:spPr>
          <a:xfrm>
            <a:off x="523875" y="5783794"/>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71E3"/>
          </a:solidFill>
          <a:ln/>
        </p:spPr>
        <p:txBody>
          <a:bodyPr/>
          <a:lstStyle/>
          <a:p>
            <a:endParaRPr lang="zh-CN" altLang="en-US"/>
          </a:p>
        </p:txBody>
      </p:sp>
      <p:sp>
        <p:nvSpPr>
          <p:cNvPr id="55" name="Text 53"/>
          <p:cNvSpPr/>
          <p:nvPr/>
        </p:nvSpPr>
        <p:spPr>
          <a:xfrm>
            <a:off x="730250" y="5767919"/>
            <a:ext cx="1111250"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自动识别7种项目类型</a:t>
            </a:r>
            <a:endParaRPr lang="en-US" sz="1600" dirty="0"/>
          </a:p>
        </p:txBody>
      </p:sp>
      <p:sp>
        <p:nvSpPr>
          <p:cNvPr id="56" name="Shape 54"/>
          <p:cNvSpPr/>
          <p:nvPr/>
        </p:nvSpPr>
        <p:spPr>
          <a:xfrm>
            <a:off x="3238500" y="5783794"/>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71E3"/>
          </a:solidFill>
          <a:ln/>
        </p:spPr>
        <p:txBody>
          <a:bodyPr/>
          <a:lstStyle/>
          <a:p>
            <a:endParaRPr lang="zh-CN" altLang="en-US"/>
          </a:p>
        </p:txBody>
      </p:sp>
      <p:sp>
        <p:nvSpPr>
          <p:cNvPr id="57" name="Text 55"/>
          <p:cNvSpPr/>
          <p:nvPr/>
        </p:nvSpPr>
        <p:spPr>
          <a:xfrm>
            <a:off x="3444875" y="5767919"/>
            <a:ext cx="944563"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自动选择最佳方案</a:t>
            </a:r>
            <a:endParaRPr lang="en-US" sz="1600" dirty="0"/>
          </a:p>
        </p:txBody>
      </p:sp>
      <p:sp>
        <p:nvSpPr>
          <p:cNvPr id="58" name="Shape 56"/>
          <p:cNvSpPr/>
          <p:nvPr/>
        </p:nvSpPr>
        <p:spPr>
          <a:xfrm>
            <a:off x="523875" y="6037794"/>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71E3"/>
          </a:solidFill>
          <a:ln/>
        </p:spPr>
        <p:txBody>
          <a:bodyPr/>
          <a:lstStyle/>
          <a:p>
            <a:endParaRPr lang="zh-CN" altLang="en-US"/>
          </a:p>
        </p:txBody>
      </p:sp>
      <p:sp>
        <p:nvSpPr>
          <p:cNvPr id="59" name="Text 57"/>
          <p:cNvSpPr/>
          <p:nvPr/>
        </p:nvSpPr>
        <p:spPr>
          <a:xfrm>
            <a:off x="730250" y="6021919"/>
            <a:ext cx="944563"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自动生成代码修改</a:t>
            </a:r>
            <a:endParaRPr lang="en-US" sz="1600" dirty="0"/>
          </a:p>
        </p:txBody>
      </p:sp>
      <p:sp>
        <p:nvSpPr>
          <p:cNvPr id="60" name="Shape 58"/>
          <p:cNvSpPr/>
          <p:nvPr/>
        </p:nvSpPr>
        <p:spPr>
          <a:xfrm>
            <a:off x="3238500" y="6037794"/>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71E3"/>
          </a:solidFill>
          <a:ln/>
        </p:spPr>
        <p:txBody>
          <a:bodyPr/>
          <a:lstStyle/>
          <a:p>
            <a:endParaRPr lang="zh-CN" altLang="en-US"/>
          </a:p>
        </p:txBody>
      </p:sp>
      <p:sp>
        <p:nvSpPr>
          <p:cNvPr id="61" name="Text 59"/>
          <p:cNvSpPr/>
          <p:nvPr/>
        </p:nvSpPr>
        <p:spPr>
          <a:xfrm>
            <a:off x="3444875" y="6021919"/>
            <a:ext cx="722313" cy="158750"/>
          </a:xfrm>
          <a:prstGeom prst="rect">
            <a:avLst/>
          </a:prstGeom>
          <a:noFill/>
          <a:ln/>
        </p:spPr>
        <p:txBody>
          <a:bodyPr wrap="square" lIns="0" tIns="0" rIns="0" bIns="0" rtlCol="0" anchor="ctr"/>
          <a:lstStyle/>
          <a:p>
            <a:pPr>
              <a:lnSpc>
                <a:spcPct val="120000"/>
              </a:lnSpc>
            </a:pPr>
            <a:r>
              <a:rPr lang="en-US" sz="875" dirty="0">
                <a:solidFill>
                  <a:srgbClr val="1D1D1D"/>
                </a:solidFill>
                <a:latin typeface="MiSans" pitchFamily="34" charset="0"/>
                <a:ea typeface="MiSans" pitchFamily="34" charset="-122"/>
                <a:cs typeface="MiSans" pitchFamily="34" charset="-120"/>
              </a:rPr>
              <a:t>边界情况处理</a:t>
            </a:r>
            <a:endParaRPr lang="en-US" sz="1600" dirty="0"/>
          </a:p>
        </p:txBody>
      </p:sp>
      <p:sp>
        <p:nvSpPr>
          <p:cNvPr id="62" name="Shape 60"/>
          <p:cNvSpPr/>
          <p:nvPr/>
        </p:nvSpPr>
        <p:spPr>
          <a:xfrm>
            <a:off x="6193896" y="5294315"/>
            <a:ext cx="5680604" cy="1910292"/>
          </a:xfrm>
          <a:custGeom>
            <a:avLst/>
            <a:gdLst/>
            <a:ahLst/>
            <a:cxnLst/>
            <a:rect l="l" t="t" r="r" b="b"/>
            <a:pathLst>
              <a:path w="5680604" h="1910292">
                <a:moveTo>
                  <a:pt x="126996" y="0"/>
                </a:moveTo>
                <a:lnTo>
                  <a:pt x="5553608" y="0"/>
                </a:lnTo>
                <a:cubicBezTo>
                  <a:pt x="5623746" y="0"/>
                  <a:pt x="5680604" y="56858"/>
                  <a:pt x="5680604" y="126996"/>
                </a:cubicBezTo>
                <a:lnTo>
                  <a:pt x="5680604" y="1783295"/>
                </a:lnTo>
                <a:cubicBezTo>
                  <a:pt x="5680604" y="1853434"/>
                  <a:pt x="5623746" y="1910292"/>
                  <a:pt x="5553608" y="1910292"/>
                </a:cubicBezTo>
                <a:lnTo>
                  <a:pt x="126996" y="1910292"/>
                </a:lnTo>
                <a:cubicBezTo>
                  <a:pt x="56858" y="1910292"/>
                  <a:pt x="0" y="1853434"/>
                  <a:pt x="0" y="1783295"/>
                </a:cubicBezTo>
                <a:lnTo>
                  <a:pt x="0" y="126996"/>
                </a:lnTo>
                <a:cubicBezTo>
                  <a:pt x="0" y="56905"/>
                  <a:pt x="56905" y="0"/>
                  <a:pt x="126996"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63" name="Shape 61"/>
          <p:cNvSpPr/>
          <p:nvPr/>
        </p:nvSpPr>
        <p:spPr>
          <a:xfrm>
            <a:off x="6375136" y="5495397"/>
            <a:ext cx="142875" cy="142875"/>
          </a:xfrm>
          <a:custGeom>
            <a:avLst/>
            <a:gdLst/>
            <a:ahLst/>
            <a:cxnLst/>
            <a:rect l="l" t="t" r="r" b="b"/>
            <a:pathLst>
              <a:path w="142875" h="142875">
                <a:moveTo>
                  <a:pt x="2623" y="33096"/>
                </a:moveTo>
                <a:cubicBezTo>
                  <a:pt x="-865" y="29607"/>
                  <a:pt x="-865" y="23943"/>
                  <a:pt x="2623" y="20455"/>
                </a:cubicBezTo>
                <a:cubicBezTo>
                  <a:pt x="6111" y="16966"/>
                  <a:pt x="11776" y="16966"/>
                  <a:pt x="15264" y="20455"/>
                </a:cubicBezTo>
                <a:lnTo>
                  <a:pt x="59913" y="65103"/>
                </a:lnTo>
                <a:cubicBezTo>
                  <a:pt x="63401" y="68591"/>
                  <a:pt x="63401" y="74256"/>
                  <a:pt x="59913" y="77744"/>
                </a:cubicBezTo>
                <a:lnTo>
                  <a:pt x="15264" y="122393"/>
                </a:lnTo>
                <a:cubicBezTo>
                  <a:pt x="11776" y="125881"/>
                  <a:pt x="6111" y="125881"/>
                  <a:pt x="2623" y="122393"/>
                </a:cubicBezTo>
                <a:cubicBezTo>
                  <a:pt x="-865" y="118904"/>
                  <a:pt x="-865" y="113240"/>
                  <a:pt x="2623" y="109751"/>
                </a:cubicBezTo>
                <a:lnTo>
                  <a:pt x="40937" y="71438"/>
                </a:lnTo>
                <a:lnTo>
                  <a:pt x="2623" y="33096"/>
                </a:lnTo>
                <a:close/>
                <a:moveTo>
                  <a:pt x="62508" y="107156"/>
                </a:moveTo>
                <a:lnTo>
                  <a:pt x="133945" y="107156"/>
                </a:lnTo>
                <a:cubicBezTo>
                  <a:pt x="138885" y="107156"/>
                  <a:pt x="142875" y="111147"/>
                  <a:pt x="142875" y="116086"/>
                </a:cubicBezTo>
                <a:cubicBezTo>
                  <a:pt x="142875" y="121025"/>
                  <a:pt x="138885" y="125016"/>
                  <a:pt x="133945" y="125016"/>
                </a:cubicBezTo>
                <a:lnTo>
                  <a:pt x="62508" y="125016"/>
                </a:lnTo>
                <a:cubicBezTo>
                  <a:pt x="57569" y="125016"/>
                  <a:pt x="53578" y="121025"/>
                  <a:pt x="53578" y="116086"/>
                </a:cubicBezTo>
                <a:cubicBezTo>
                  <a:pt x="53578" y="111147"/>
                  <a:pt x="57569" y="107156"/>
                  <a:pt x="62508" y="107156"/>
                </a:cubicBezTo>
                <a:close/>
              </a:path>
            </a:pathLst>
          </a:custGeom>
          <a:solidFill>
            <a:srgbClr val="0071E3"/>
          </a:solidFill>
          <a:ln/>
        </p:spPr>
        <p:txBody>
          <a:bodyPr/>
          <a:lstStyle/>
          <a:p>
            <a:endParaRPr lang="zh-CN" altLang="en-US"/>
          </a:p>
        </p:txBody>
      </p:sp>
      <p:sp>
        <p:nvSpPr>
          <p:cNvPr id="64" name="Text 62"/>
          <p:cNvSpPr/>
          <p:nvPr/>
        </p:nvSpPr>
        <p:spPr>
          <a:xfrm>
            <a:off x="6537854" y="5455710"/>
            <a:ext cx="5246688"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MiSans" pitchFamily="34" charset="0"/>
                <a:ea typeface="MiSans" pitchFamily="34" charset="-122"/>
                <a:cs typeface="MiSans" pitchFamily="34" charset="-120"/>
              </a:rPr>
              <a:t>用户交互示例</a:t>
            </a:r>
            <a:endParaRPr lang="en-US" sz="1600" dirty="0"/>
          </a:p>
        </p:txBody>
      </p:sp>
      <p:sp>
        <p:nvSpPr>
          <p:cNvPr id="65" name="Shape 63"/>
          <p:cNvSpPr/>
          <p:nvPr/>
        </p:nvSpPr>
        <p:spPr>
          <a:xfrm>
            <a:off x="6355292" y="5773210"/>
            <a:ext cx="5357813" cy="1270000"/>
          </a:xfrm>
          <a:custGeom>
            <a:avLst/>
            <a:gdLst/>
            <a:ahLst/>
            <a:cxnLst/>
            <a:rect l="l" t="t" r="r" b="b"/>
            <a:pathLst>
              <a:path w="5357813" h="1270000">
                <a:moveTo>
                  <a:pt x="95250" y="0"/>
                </a:moveTo>
                <a:lnTo>
                  <a:pt x="5262563" y="0"/>
                </a:lnTo>
                <a:cubicBezTo>
                  <a:pt x="5315132" y="0"/>
                  <a:pt x="5357813" y="42680"/>
                  <a:pt x="5357813" y="95250"/>
                </a:cubicBezTo>
                <a:lnTo>
                  <a:pt x="5357813" y="1174750"/>
                </a:lnTo>
                <a:cubicBezTo>
                  <a:pt x="5357813" y="1227320"/>
                  <a:pt x="5315132" y="1270000"/>
                  <a:pt x="5262563" y="1270000"/>
                </a:cubicBezTo>
                <a:lnTo>
                  <a:pt x="95250" y="1270000"/>
                </a:lnTo>
                <a:cubicBezTo>
                  <a:pt x="42680" y="1270000"/>
                  <a:pt x="0" y="1227320"/>
                  <a:pt x="0" y="1174750"/>
                </a:cubicBezTo>
                <a:lnTo>
                  <a:pt x="0" y="95250"/>
                </a:lnTo>
                <a:cubicBezTo>
                  <a:pt x="0" y="42680"/>
                  <a:pt x="42680" y="0"/>
                  <a:pt x="95250" y="0"/>
                </a:cubicBezTo>
                <a:close/>
              </a:path>
            </a:pathLst>
          </a:custGeom>
          <a:solidFill>
            <a:srgbClr val="1D1D1D"/>
          </a:solidFill>
          <a:ln/>
        </p:spPr>
        <p:txBody>
          <a:bodyPr/>
          <a:lstStyle/>
          <a:p>
            <a:endParaRPr lang="zh-CN" altLang="en-US"/>
          </a:p>
        </p:txBody>
      </p:sp>
      <p:sp>
        <p:nvSpPr>
          <p:cNvPr id="66" name="Text 64"/>
          <p:cNvSpPr/>
          <p:nvPr/>
        </p:nvSpPr>
        <p:spPr>
          <a:xfrm>
            <a:off x="6482292" y="5900210"/>
            <a:ext cx="5159375"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 用户输入</a:t>
            </a:r>
            <a:endParaRPr lang="en-US" sz="1600" dirty="0"/>
          </a:p>
        </p:txBody>
      </p:sp>
      <p:sp>
        <p:nvSpPr>
          <p:cNvPr id="67" name="Text 65"/>
          <p:cNvSpPr/>
          <p:nvPr/>
        </p:nvSpPr>
        <p:spPr>
          <a:xfrm>
            <a:off x="6482292" y="6058960"/>
            <a:ext cx="5159375" cy="158750"/>
          </a:xfrm>
          <a:prstGeom prst="rect">
            <a:avLst/>
          </a:prstGeom>
          <a:noFill/>
          <a:ln/>
        </p:spPr>
        <p:txBody>
          <a:bodyPr wrap="square" lIns="0" tIns="0" rIns="0" bIns="0" rtlCol="0" anchor="ctr"/>
          <a:lstStyle/>
          <a:p>
            <a:pPr>
              <a:lnSpc>
                <a:spcPct val="120000"/>
              </a:lnSpc>
            </a:pPr>
            <a:r>
              <a:rPr lang="en-US" sz="875" dirty="0">
                <a:solidFill>
                  <a:srgbClr val="FFFFFF"/>
                </a:solidFill>
                <a:latin typeface="MiSans" pitchFamily="34" charset="0"/>
                <a:ea typeface="MiSans" pitchFamily="34" charset="-122"/>
                <a:cs typeface="MiSans" pitchFamily="34" charset="-120"/>
              </a:rPr>
              <a:t>"帮我集成数据库密码加密"</a:t>
            </a:r>
            <a:endParaRPr lang="en-US" sz="1600" dirty="0"/>
          </a:p>
        </p:txBody>
      </p:sp>
      <p:sp>
        <p:nvSpPr>
          <p:cNvPr id="68" name="Text 66"/>
          <p:cNvSpPr/>
          <p:nvPr/>
        </p:nvSpPr>
        <p:spPr>
          <a:xfrm>
            <a:off x="6482292" y="6281210"/>
            <a:ext cx="5159375"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 AI扫描 → 检测项目类型</a:t>
            </a:r>
            <a:endParaRPr lang="en-US" sz="1600" dirty="0"/>
          </a:p>
        </p:txBody>
      </p:sp>
      <p:sp>
        <p:nvSpPr>
          <p:cNvPr id="69" name="Text 67"/>
          <p:cNvSpPr/>
          <p:nvPr/>
        </p:nvSpPr>
        <p:spPr>
          <a:xfrm>
            <a:off x="6482292" y="6439960"/>
            <a:ext cx="5159375"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 AI推荐 → 匹配最佳方案(7选1)</a:t>
            </a:r>
            <a:endParaRPr lang="en-US" sz="1600" dirty="0"/>
          </a:p>
        </p:txBody>
      </p:sp>
      <p:sp>
        <p:nvSpPr>
          <p:cNvPr id="70" name="Text 68"/>
          <p:cNvSpPr/>
          <p:nvPr/>
        </p:nvSpPr>
        <p:spPr>
          <a:xfrm>
            <a:off x="6482292" y="6598710"/>
            <a:ext cx="5159375"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 AI执行 → 添加依赖、修改配置</a:t>
            </a:r>
            <a:endParaRPr lang="en-US" sz="1600" dirty="0"/>
          </a:p>
        </p:txBody>
      </p:sp>
      <p:sp>
        <p:nvSpPr>
          <p:cNvPr id="71" name="Text 69"/>
          <p:cNvSpPr/>
          <p:nvPr/>
        </p:nvSpPr>
        <p:spPr>
          <a:xfrm>
            <a:off x="6482292" y="6757460"/>
            <a:ext cx="5159375"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 AI验证 → 编译检查</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37729" y="337729"/>
            <a:ext cx="11575645" cy="168864"/>
          </a:xfrm>
          <a:prstGeom prst="rect">
            <a:avLst/>
          </a:prstGeom>
          <a:noFill/>
          <a:ln/>
        </p:spPr>
        <p:txBody>
          <a:bodyPr wrap="square" lIns="0" tIns="0" rIns="0" bIns="0" rtlCol="0" anchor="ctr"/>
          <a:lstStyle/>
          <a:p>
            <a:pPr>
              <a:lnSpc>
                <a:spcPct val="120000"/>
              </a:lnSpc>
            </a:pPr>
            <a:r>
              <a:rPr lang="en-US" sz="931" b="1" kern="0" spc="47" dirty="0">
                <a:solidFill>
                  <a:srgbClr val="0071E3"/>
                </a:solidFill>
                <a:latin typeface="MiSans" pitchFamily="34" charset="0"/>
                <a:ea typeface="MiSans" pitchFamily="34" charset="-122"/>
                <a:cs typeface="MiSans" pitchFamily="34" charset="-120"/>
              </a:rPr>
              <a:t>04 / 模式转型</a:t>
            </a:r>
            <a:endParaRPr lang="en-US" sz="1600" dirty="0"/>
          </a:p>
        </p:txBody>
      </p:sp>
      <p:sp>
        <p:nvSpPr>
          <p:cNvPr id="3" name="Text 1"/>
          <p:cNvSpPr/>
          <p:nvPr/>
        </p:nvSpPr>
        <p:spPr>
          <a:xfrm>
            <a:off x="337729" y="574139"/>
            <a:ext cx="11668521" cy="337729"/>
          </a:xfrm>
          <a:prstGeom prst="rect">
            <a:avLst/>
          </a:prstGeom>
          <a:noFill/>
          <a:ln/>
        </p:spPr>
        <p:txBody>
          <a:bodyPr wrap="square" lIns="0" tIns="0" rIns="0" bIns="0" rtlCol="0" anchor="ctr"/>
          <a:lstStyle/>
          <a:p>
            <a:pPr>
              <a:lnSpc>
                <a:spcPct val="90000"/>
              </a:lnSpc>
            </a:pPr>
            <a:r>
              <a:rPr lang="en-US" sz="2393" b="1" dirty="0">
                <a:solidFill>
                  <a:srgbClr val="1D1D1D"/>
                </a:solidFill>
                <a:latin typeface="MiSans" pitchFamily="34" charset="0"/>
                <a:ea typeface="MiSans" pitchFamily="34" charset="-122"/>
                <a:cs typeface="MiSans" pitchFamily="34" charset="-120"/>
              </a:rPr>
              <a:t>传统模式 vs AI模式：从手册到自动化</a:t>
            </a:r>
            <a:endParaRPr lang="en-US" sz="1600" dirty="0"/>
          </a:p>
        </p:txBody>
      </p:sp>
      <p:sp>
        <p:nvSpPr>
          <p:cNvPr id="4" name="Shape 2"/>
          <p:cNvSpPr/>
          <p:nvPr/>
        </p:nvSpPr>
        <p:spPr>
          <a:xfrm>
            <a:off x="340543" y="1117319"/>
            <a:ext cx="5645695" cy="3593994"/>
          </a:xfrm>
          <a:custGeom>
            <a:avLst/>
            <a:gdLst/>
            <a:ahLst/>
            <a:cxnLst/>
            <a:rect l="l" t="t" r="r" b="b"/>
            <a:pathLst>
              <a:path w="5645695" h="3593994">
                <a:moveTo>
                  <a:pt x="135098" y="0"/>
                </a:moveTo>
                <a:lnTo>
                  <a:pt x="5510597" y="0"/>
                </a:lnTo>
                <a:cubicBezTo>
                  <a:pt x="5585210" y="0"/>
                  <a:pt x="5645695" y="60486"/>
                  <a:pt x="5645695" y="135098"/>
                </a:cubicBezTo>
                <a:lnTo>
                  <a:pt x="5645695" y="3458896"/>
                </a:lnTo>
                <a:cubicBezTo>
                  <a:pt x="5645695" y="3533509"/>
                  <a:pt x="5585210" y="3593994"/>
                  <a:pt x="5510597" y="3593994"/>
                </a:cubicBezTo>
                <a:lnTo>
                  <a:pt x="135098" y="3593994"/>
                </a:lnTo>
                <a:cubicBezTo>
                  <a:pt x="60486" y="3593994"/>
                  <a:pt x="0" y="3533509"/>
                  <a:pt x="0" y="3458896"/>
                </a:cubicBezTo>
                <a:lnTo>
                  <a:pt x="0" y="135098"/>
                </a:lnTo>
                <a:cubicBezTo>
                  <a:pt x="0" y="60486"/>
                  <a:pt x="60486" y="0"/>
                  <a:pt x="135098"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5" name="Shape 3"/>
          <p:cNvSpPr/>
          <p:nvPr/>
        </p:nvSpPr>
        <p:spPr>
          <a:xfrm>
            <a:off x="545995" y="1322773"/>
            <a:ext cx="405274" cy="405274"/>
          </a:xfrm>
          <a:custGeom>
            <a:avLst/>
            <a:gdLst/>
            <a:ahLst/>
            <a:cxnLst/>
            <a:rect l="l" t="t" r="r" b="b"/>
            <a:pathLst>
              <a:path w="405274" h="405274">
                <a:moveTo>
                  <a:pt x="101319" y="0"/>
                </a:moveTo>
                <a:lnTo>
                  <a:pt x="303956" y="0"/>
                </a:lnTo>
                <a:cubicBezTo>
                  <a:pt x="359912" y="0"/>
                  <a:pt x="405274" y="45362"/>
                  <a:pt x="405274" y="101319"/>
                </a:cubicBezTo>
                <a:lnTo>
                  <a:pt x="405274" y="303956"/>
                </a:lnTo>
                <a:cubicBezTo>
                  <a:pt x="405274" y="359912"/>
                  <a:pt x="359912" y="405274"/>
                  <a:pt x="303956" y="405274"/>
                </a:cubicBezTo>
                <a:lnTo>
                  <a:pt x="101319" y="405274"/>
                </a:lnTo>
                <a:cubicBezTo>
                  <a:pt x="45362" y="405274"/>
                  <a:pt x="0" y="359912"/>
                  <a:pt x="0" y="303956"/>
                </a:cubicBezTo>
                <a:lnTo>
                  <a:pt x="0" y="101319"/>
                </a:lnTo>
                <a:cubicBezTo>
                  <a:pt x="0" y="45399"/>
                  <a:pt x="45399" y="0"/>
                  <a:pt x="101319" y="0"/>
                </a:cubicBezTo>
                <a:close/>
              </a:path>
            </a:pathLst>
          </a:custGeom>
          <a:solidFill>
            <a:srgbClr val="86868B">
              <a:alpha val="20000"/>
            </a:srgbClr>
          </a:solidFill>
          <a:ln/>
        </p:spPr>
        <p:txBody>
          <a:bodyPr/>
          <a:lstStyle/>
          <a:p>
            <a:endParaRPr lang="zh-CN" altLang="en-US"/>
          </a:p>
        </p:txBody>
      </p:sp>
      <p:sp>
        <p:nvSpPr>
          <p:cNvPr id="6" name="Shape 4"/>
          <p:cNvSpPr/>
          <p:nvPr/>
        </p:nvSpPr>
        <p:spPr>
          <a:xfrm>
            <a:off x="659978" y="1424091"/>
            <a:ext cx="177307" cy="202637"/>
          </a:xfrm>
          <a:custGeom>
            <a:avLst/>
            <a:gdLst/>
            <a:ahLst/>
            <a:cxnLst/>
            <a:rect l="l" t="t" r="r" b="b"/>
            <a:pathLst>
              <a:path w="177307" h="202637">
                <a:moveTo>
                  <a:pt x="151978" y="202637"/>
                </a:moveTo>
                <a:lnTo>
                  <a:pt x="37994" y="202637"/>
                </a:lnTo>
                <a:cubicBezTo>
                  <a:pt x="17018" y="202637"/>
                  <a:pt x="0" y="185619"/>
                  <a:pt x="0" y="164643"/>
                </a:cubicBezTo>
                <a:lnTo>
                  <a:pt x="0" y="37994"/>
                </a:lnTo>
                <a:cubicBezTo>
                  <a:pt x="0" y="17018"/>
                  <a:pt x="17018" y="0"/>
                  <a:pt x="37994" y="0"/>
                </a:cubicBezTo>
                <a:lnTo>
                  <a:pt x="158310" y="0"/>
                </a:lnTo>
                <a:cubicBezTo>
                  <a:pt x="168798" y="0"/>
                  <a:pt x="177307" y="8509"/>
                  <a:pt x="177307" y="18997"/>
                </a:cubicBezTo>
                <a:lnTo>
                  <a:pt x="177307" y="132981"/>
                </a:lnTo>
                <a:cubicBezTo>
                  <a:pt x="177307" y="141252"/>
                  <a:pt x="172004" y="148297"/>
                  <a:pt x="164643" y="150909"/>
                </a:cubicBezTo>
                <a:lnTo>
                  <a:pt x="164643" y="177307"/>
                </a:lnTo>
                <a:cubicBezTo>
                  <a:pt x="171648" y="177307"/>
                  <a:pt x="177307" y="182967"/>
                  <a:pt x="177307" y="189972"/>
                </a:cubicBezTo>
                <a:cubicBezTo>
                  <a:pt x="177307" y="196978"/>
                  <a:pt x="171648" y="202637"/>
                  <a:pt x="164643" y="202637"/>
                </a:cubicBezTo>
                <a:lnTo>
                  <a:pt x="151978" y="202637"/>
                </a:lnTo>
                <a:close/>
                <a:moveTo>
                  <a:pt x="37994" y="151978"/>
                </a:moveTo>
                <a:cubicBezTo>
                  <a:pt x="30989" y="151978"/>
                  <a:pt x="25330" y="157637"/>
                  <a:pt x="25330" y="164643"/>
                </a:cubicBezTo>
                <a:cubicBezTo>
                  <a:pt x="25330" y="171648"/>
                  <a:pt x="30989" y="177307"/>
                  <a:pt x="37994" y="177307"/>
                </a:cubicBezTo>
                <a:lnTo>
                  <a:pt x="139313" y="177307"/>
                </a:lnTo>
                <a:lnTo>
                  <a:pt x="139313" y="151978"/>
                </a:lnTo>
                <a:lnTo>
                  <a:pt x="37994" y="151978"/>
                </a:lnTo>
                <a:close/>
                <a:moveTo>
                  <a:pt x="50659" y="60158"/>
                </a:moveTo>
                <a:cubicBezTo>
                  <a:pt x="50659" y="65422"/>
                  <a:pt x="54894" y="69657"/>
                  <a:pt x="60158" y="69657"/>
                </a:cubicBezTo>
                <a:lnTo>
                  <a:pt x="129814" y="69657"/>
                </a:lnTo>
                <a:cubicBezTo>
                  <a:pt x="135078" y="69657"/>
                  <a:pt x="139313" y="65422"/>
                  <a:pt x="139313" y="60158"/>
                </a:cubicBezTo>
                <a:cubicBezTo>
                  <a:pt x="139313" y="54894"/>
                  <a:pt x="135078" y="50659"/>
                  <a:pt x="129814" y="50659"/>
                </a:cubicBezTo>
                <a:lnTo>
                  <a:pt x="60158" y="50659"/>
                </a:lnTo>
                <a:cubicBezTo>
                  <a:pt x="54894" y="50659"/>
                  <a:pt x="50659" y="54894"/>
                  <a:pt x="50659" y="60158"/>
                </a:cubicBezTo>
                <a:close/>
                <a:moveTo>
                  <a:pt x="60158" y="88654"/>
                </a:moveTo>
                <a:cubicBezTo>
                  <a:pt x="54894" y="88654"/>
                  <a:pt x="50659" y="92889"/>
                  <a:pt x="50659" y="98152"/>
                </a:cubicBezTo>
                <a:cubicBezTo>
                  <a:pt x="50659" y="103416"/>
                  <a:pt x="54894" y="107651"/>
                  <a:pt x="60158" y="107651"/>
                </a:cubicBezTo>
                <a:lnTo>
                  <a:pt x="129814" y="107651"/>
                </a:lnTo>
                <a:cubicBezTo>
                  <a:pt x="135078" y="107651"/>
                  <a:pt x="139313" y="103416"/>
                  <a:pt x="139313" y="98152"/>
                </a:cubicBezTo>
                <a:cubicBezTo>
                  <a:pt x="139313" y="92889"/>
                  <a:pt x="135078" y="88654"/>
                  <a:pt x="129814" y="88654"/>
                </a:cubicBezTo>
                <a:lnTo>
                  <a:pt x="60158" y="88654"/>
                </a:lnTo>
                <a:close/>
              </a:path>
            </a:pathLst>
          </a:custGeom>
          <a:solidFill>
            <a:srgbClr val="86868B"/>
          </a:solidFill>
          <a:ln/>
        </p:spPr>
        <p:txBody>
          <a:bodyPr/>
          <a:lstStyle/>
          <a:p>
            <a:endParaRPr lang="zh-CN" altLang="en-US"/>
          </a:p>
        </p:txBody>
      </p:sp>
      <p:sp>
        <p:nvSpPr>
          <p:cNvPr id="7" name="Text 5"/>
          <p:cNvSpPr/>
          <p:nvPr/>
        </p:nvSpPr>
        <p:spPr>
          <a:xfrm>
            <a:off x="1052587" y="1390319"/>
            <a:ext cx="911867" cy="270183"/>
          </a:xfrm>
          <a:prstGeom prst="rect">
            <a:avLst/>
          </a:prstGeom>
          <a:noFill/>
          <a:ln/>
        </p:spPr>
        <p:txBody>
          <a:bodyPr wrap="square" lIns="0" tIns="0" rIns="0" bIns="0" rtlCol="0" anchor="ctr"/>
          <a:lstStyle/>
          <a:p>
            <a:pPr>
              <a:lnSpc>
                <a:spcPct val="110000"/>
              </a:lnSpc>
            </a:pPr>
            <a:r>
              <a:rPr lang="en-US" sz="1596" b="1" dirty="0">
                <a:solidFill>
                  <a:srgbClr val="86868B"/>
                </a:solidFill>
                <a:latin typeface="MiSans" pitchFamily="34" charset="0"/>
                <a:ea typeface="MiSans" pitchFamily="34" charset="-122"/>
                <a:cs typeface="MiSans" pitchFamily="34" charset="-120"/>
              </a:rPr>
              <a:t>传统模式</a:t>
            </a:r>
            <a:endParaRPr lang="en-US" sz="1600" dirty="0"/>
          </a:p>
        </p:txBody>
      </p:sp>
      <p:sp>
        <p:nvSpPr>
          <p:cNvPr id="8" name="Shape 6"/>
          <p:cNvSpPr/>
          <p:nvPr/>
        </p:nvSpPr>
        <p:spPr>
          <a:xfrm>
            <a:off x="545995" y="2473864"/>
            <a:ext cx="5234792" cy="5629"/>
          </a:xfrm>
          <a:custGeom>
            <a:avLst/>
            <a:gdLst/>
            <a:ahLst/>
            <a:cxnLst/>
            <a:rect l="l" t="t" r="r" b="b"/>
            <a:pathLst>
              <a:path w="5234792" h="5629">
                <a:moveTo>
                  <a:pt x="0" y="0"/>
                </a:moveTo>
                <a:lnTo>
                  <a:pt x="5234792" y="0"/>
                </a:lnTo>
                <a:lnTo>
                  <a:pt x="5234792" y="5629"/>
                </a:lnTo>
                <a:lnTo>
                  <a:pt x="0" y="5629"/>
                </a:lnTo>
                <a:lnTo>
                  <a:pt x="0" y="0"/>
                </a:lnTo>
                <a:close/>
              </a:path>
            </a:pathLst>
          </a:custGeom>
          <a:solidFill>
            <a:srgbClr val="E5E5E5"/>
          </a:solidFill>
          <a:ln/>
        </p:spPr>
        <p:txBody>
          <a:bodyPr/>
          <a:lstStyle/>
          <a:p>
            <a:endParaRPr lang="zh-CN" altLang="en-US"/>
          </a:p>
        </p:txBody>
      </p:sp>
      <p:sp>
        <p:nvSpPr>
          <p:cNvPr id="9" name="Text 7"/>
          <p:cNvSpPr/>
          <p:nvPr/>
        </p:nvSpPr>
        <p:spPr>
          <a:xfrm>
            <a:off x="545995" y="1998230"/>
            <a:ext cx="776776"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框架开发</a:t>
            </a:r>
            <a:endParaRPr lang="en-US" sz="1600" dirty="0"/>
          </a:p>
        </p:txBody>
      </p:sp>
      <p:sp>
        <p:nvSpPr>
          <p:cNvPr id="10" name="Text 8"/>
          <p:cNvSpPr/>
          <p:nvPr/>
        </p:nvSpPr>
        <p:spPr>
          <a:xfrm>
            <a:off x="545995" y="2200867"/>
            <a:ext cx="768332"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实现底层组件</a:t>
            </a:r>
            <a:endParaRPr lang="en-US" sz="1600" dirty="0"/>
          </a:p>
        </p:txBody>
      </p:sp>
      <p:sp>
        <p:nvSpPr>
          <p:cNvPr id="11" name="Shape 9"/>
          <p:cNvSpPr/>
          <p:nvPr/>
        </p:nvSpPr>
        <p:spPr>
          <a:xfrm>
            <a:off x="5463639" y="2065776"/>
            <a:ext cx="320842" cy="236410"/>
          </a:xfrm>
          <a:custGeom>
            <a:avLst/>
            <a:gdLst/>
            <a:ahLst/>
            <a:cxnLst/>
            <a:rect l="l" t="t" r="r" b="b"/>
            <a:pathLst>
              <a:path w="320842" h="236410">
                <a:moveTo>
                  <a:pt x="118205" y="0"/>
                </a:moveTo>
                <a:lnTo>
                  <a:pt x="202637" y="0"/>
                </a:lnTo>
                <a:cubicBezTo>
                  <a:pt x="267876" y="0"/>
                  <a:pt x="320842" y="52966"/>
                  <a:pt x="320842" y="118205"/>
                </a:cubicBezTo>
                <a:lnTo>
                  <a:pt x="320842" y="118205"/>
                </a:lnTo>
                <a:cubicBezTo>
                  <a:pt x="320842" y="183444"/>
                  <a:pt x="267876" y="236410"/>
                  <a:pt x="202637" y="236410"/>
                </a:cubicBezTo>
                <a:lnTo>
                  <a:pt x="118205" y="236410"/>
                </a:lnTo>
                <a:cubicBezTo>
                  <a:pt x="52966" y="236410"/>
                  <a:pt x="0" y="183444"/>
                  <a:pt x="0" y="118205"/>
                </a:cubicBezTo>
                <a:lnTo>
                  <a:pt x="0" y="118205"/>
                </a:lnTo>
                <a:cubicBezTo>
                  <a:pt x="0" y="52966"/>
                  <a:pt x="52966" y="0"/>
                  <a:pt x="118205" y="0"/>
                </a:cubicBezTo>
                <a:close/>
              </a:path>
            </a:pathLst>
          </a:custGeom>
          <a:solidFill>
            <a:srgbClr val="DCFCE7"/>
          </a:solidFill>
          <a:ln/>
        </p:spPr>
        <p:txBody>
          <a:bodyPr/>
          <a:lstStyle/>
          <a:p>
            <a:endParaRPr lang="zh-CN" altLang="en-US"/>
          </a:p>
        </p:txBody>
      </p:sp>
      <p:sp>
        <p:nvSpPr>
          <p:cNvPr id="12" name="Text 10"/>
          <p:cNvSpPr/>
          <p:nvPr/>
        </p:nvSpPr>
        <p:spPr>
          <a:xfrm>
            <a:off x="5463639" y="2065776"/>
            <a:ext cx="379945" cy="236410"/>
          </a:xfrm>
          <a:prstGeom prst="rect">
            <a:avLst/>
          </a:prstGeom>
          <a:noFill/>
          <a:ln/>
        </p:spPr>
        <p:txBody>
          <a:bodyPr wrap="square" lIns="101319" tIns="33773" rIns="101319" bIns="33773" rtlCol="0" anchor="ctr"/>
          <a:lstStyle/>
          <a:p>
            <a:pPr>
              <a:lnSpc>
                <a:spcPct val="120000"/>
              </a:lnSpc>
            </a:pPr>
            <a:r>
              <a:rPr lang="en-US" sz="931" dirty="0">
                <a:solidFill>
                  <a:srgbClr val="008236"/>
                </a:solidFill>
                <a:latin typeface="MiSans" pitchFamily="34" charset="0"/>
                <a:ea typeface="MiSans" pitchFamily="34" charset="-122"/>
                <a:cs typeface="MiSans" pitchFamily="34" charset="-120"/>
              </a:rPr>
              <a:t>✓</a:t>
            </a:r>
            <a:endParaRPr lang="en-US" sz="1600" dirty="0"/>
          </a:p>
        </p:txBody>
      </p:sp>
      <p:sp>
        <p:nvSpPr>
          <p:cNvPr id="13" name="Shape 11"/>
          <p:cNvSpPr/>
          <p:nvPr/>
        </p:nvSpPr>
        <p:spPr>
          <a:xfrm>
            <a:off x="545995" y="3188722"/>
            <a:ext cx="5234792" cy="5629"/>
          </a:xfrm>
          <a:custGeom>
            <a:avLst/>
            <a:gdLst/>
            <a:ahLst/>
            <a:cxnLst/>
            <a:rect l="l" t="t" r="r" b="b"/>
            <a:pathLst>
              <a:path w="5234792" h="5629">
                <a:moveTo>
                  <a:pt x="0" y="0"/>
                </a:moveTo>
                <a:lnTo>
                  <a:pt x="5234792" y="0"/>
                </a:lnTo>
                <a:lnTo>
                  <a:pt x="5234792" y="5629"/>
                </a:lnTo>
                <a:lnTo>
                  <a:pt x="0" y="5629"/>
                </a:lnTo>
                <a:lnTo>
                  <a:pt x="0" y="0"/>
                </a:lnTo>
                <a:close/>
              </a:path>
            </a:pathLst>
          </a:custGeom>
          <a:solidFill>
            <a:srgbClr val="E5E5E5"/>
          </a:solidFill>
          <a:ln/>
        </p:spPr>
        <p:txBody>
          <a:bodyPr/>
          <a:lstStyle/>
          <a:p>
            <a:endParaRPr lang="zh-CN" altLang="en-US"/>
          </a:p>
        </p:txBody>
      </p:sp>
      <p:sp>
        <p:nvSpPr>
          <p:cNvPr id="14" name="Text 12"/>
          <p:cNvSpPr/>
          <p:nvPr/>
        </p:nvSpPr>
        <p:spPr>
          <a:xfrm>
            <a:off x="545995" y="2713087"/>
            <a:ext cx="776776"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使用手册</a:t>
            </a:r>
            <a:endParaRPr lang="en-US" sz="1600" dirty="0"/>
          </a:p>
        </p:txBody>
      </p:sp>
      <p:sp>
        <p:nvSpPr>
          <p:cNvPr id="15" name="Text 13"/>
          <p:cNvSpPr/>
          <p:nvPr/>
        </p:nvSpPr>
        <p:spPr>
          <a:xfrm>
            <a:off x="545995" y="2915724"/>
            <a:ext cx="768332"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提供集成文档</a:t>
            </a:r>
            <a:endParaRPr lang="en-US" sz="1600" dirty="0"/>
          </a:p>
        </p:txBody>
      </p:sp>
      <p:sp>
        <p:nvSpPr>
          <p:cNvPr id="16" name="Shape 14"/>
          <p:cNvSpPr/>
          <p:nvPr/>
        </p:nvSpPr>
        <p:spPr>
          <a:xfrm>
            <a:off x="5463639" y="2780633"/>
            <a:ext cx="320842" cy="236410"/>
          </a:xfrm>
          <a:custGeom>
            <a:avLst/>
            <a:gdLst/>
            <a:ahLst/>
            <a:cxnLst/>
            <a:rect l="l" t="t" r="r" b="b"/>
            <a:pathLst>
              <a:path w="320842" h="236410">
                <a:moveTo>
                  <a:pt x="118205" y="0"/>
                </a:moveTo>
                <a:lnTo>
                  <a:pt x="202637" y="0"/>
                </a:lnTo>
                <a:cubicBezTo>
                  <a:pt x="267876" y="0"/>
                  <a:pt x="320842" y="52966"/>
                  <a:pt x="320842" y="118205"/>
                </a:cubicBezTo>
                <a:lnTo>
                  <a:pt x="320842" y="118205"/>
                </a:lnTo>
                <a:cubicBezTo>
                  <a:pt x="320842" y="183444"/>
                  <a:pt x="267876" y="236410"/>
                  <a:pt x="202637" y="236410"/>
                </a:cubicBezTo>
                <a:lnTo>
                  <a:pt x="118205" y="236410"/>
                </a:lnTo>
                <a:cubicBezTo>
                  <a:pt x="52966" y="236410"/>
                  <a:pt x="0" y="183444"/>
                  <a:pt x="0" y="118205"/>
                </a:cubicBezTo>
                <a:lnTo>
                  <a:pt x="0" y="118205"/>
                </a:lnTo>
                <a:cubicBezTo>
                  <a:pt x="0" y="52966"/>
                  <a:pt x="52966" y="0"/>
                  <a:pt x="118205" y="0"/>
                </a:cubicBezTo>
                <a:close/>
              </a:path>
            </a:pathLst>
          </a:custGeom>
          <a:solidFill>
            <a:srgbClr val="DCFCE7"/>
          </a:solidFill>
          <a:ln/>
        </p:spPr>
        <p:txBody>
          <a:bodyPr/>
          <a:lstStyle/>
          <a:p>
            <a:endParaRPr lang="zh-CN" altLang="en-US"/>
          </a:p>
        </p:txBody>
      </p:sp>
      <p:sp>
        <p:nvSpPr>
          <p:cNvPr id="17" name="Text 15"/>
          <p:cNvSpPr/>
          <p:nvPr/>
        </p:nvSpPr>
        <p:spPr>
          <a:xfrm>
            <a:off x="5463639" y="2780633"/>
            <a:ext cx="379945" cy="236410"/>
          </a:xfrm>
          <a:prstGeom prst="rect">
            <a:avLst/>
          </a:prstGeom>
          <a:noFill/>
          <a:ln/>
        </p:spPr>
        <p:txBody>
          <a:bodyPr wrap="square" lIns="101319" tIns="33773" rIns="101319" bIns="33773" rtlCol="0" anchor="ctr"/>
          <a:lstStyle/>
          <a:p>
            <a:pPr>
              <a:lnSpc>
                <a:spcPct val="120000"/>
              </a:lnSpc>
            </a:pPr>
            <a:r>
              <a:rPr lang="en-US" sz="931" dirty="0">
                <a:solidFill>
                  <a:srgbClr val="008236"/>
                </a:solidFill>
                <a:latin typeface="MiSans" pitchFamily="34" charset="0"/>
                <a:ea typeface="MiSans" pitchFamily="34" charset="-122"/>
                <a:cs typeface="MiSans" pitchFamily="34" charset="-120"/>
              </a:rPr>
              <a:t>✓</a:t>
            </a:r>
            <a:endParaRPr lang="en-US" sz="1600" dirty="0"/>
          </a:p>
        </p:txBody>
      </p:sp>
      <p:sp>
        <p:nvSpPr>
          <p:cNvPr id="18" name="Text 16"/>
          <p:cNvSpPr/>
          <p:nvPr/>
        </p:nvSpPr>
        <p:spPr>
          <a:xfrm>
            <a:off x="545995" y="3427945"/>
            <a:ext cx="776776"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集成实施</a:t>
            </a:r>
            <a:endParaRPr lang="en-US" sz="1600" dirty="0"/>
          </a:p>
        </p:txBody>
      </p:sp>
      <p:sp>
        <p:nvSpPr>
          <p:cNvPr id="19" name="Text 17"/>
          <p:cNvSpPr/>
          <p:nvPr/>
        </p:nvSpPr>
        <p:spPr>
          <a:xfrm>
            <a:off x="545995" y="3630582"/>
            <a:ext cx="768332" cy="168864"/>
          </a:xfrm>
          <a:prstGeom prst="rect">
            <a:avLst/>
          </a:prstGeom>
          <a:noFill/>
          <a:ln/>
        </p:spPr>
        <p:txBody>
          <a:bodyPr wrap="square" lIns="0" tIns="0" rIns="0" bIns="0" rtlCol="0" anchor="ctr"/>
          <a:lstStyle/>
          <a:p>
            <a:pPr>
              <a:lnSpc>
                <a:spcPct val="120000"/>
              </a:lnSpc>
            </a:pPr>
            <a:r>
              <a:rPr lang="en-US" sz="931" dirty="0">
                <a:solidFill>
                  <a:srgbClr val="86868B"/>
                </a:solidFill>
                <a:latin typeface="MiSans" pitchFamily="34" charset="0"/>
                <a:ea typeface="MiSans" pitchFamily="34" charset="-122"/>
                <a:cs typeface="MiSans" pitchFamily="34" charset="-120"/>
              </a:rPr>
              <a:t>应用自行集成</a:t>
            </a:r>
            <a:endParaRPr lang="en-US" sz="1600" dirty="0"/>
          </a:p>
        </p:txBody>
      </p:sp>
      <p:sp>
        <p:nvSpPr>
          <p:cNvPr id="20" name="Shape 18"/>
          <p:cNvSpPr/>
          <p:nvPr/>
        </p:nvSpPr>
        <p:spPr>
          <a:xfrm>
            <a:off x="4601991" y="3495490"/>
            <a:ext cx="1182050" cy="236410"/>
          </a:xfrm>
          <a:custGeom>
            <a:avLst/>
            <a:gdLst/>
            <a:ahLst/>
            <a:cxnLst/>
            <a:rect l="l" t="t" r="r" b="b"/>
            <a:pathLst>
              <a:path w="1182050" h="236410">
                <a:moveTo>
                  <a:pt x="118205" y="0"/>
                </a:moveTo>
                <a:lnTo>
                  <a:pt x="1063845" y="0"/>
                </a:lnTo>
                <a:cubicBezTo>
                  <a:pt x="1129128" y="0"/>
                  <a:pt x="1182050" y="52922"/>
                  <a:pt x="1182050" y="118205"/>
                </a:cubicBezTo>
                <a:lnTo>
                  <a:pt x="1182050" y="118205"/>
                </a:lnTo>
                <a:cubicBezTo>
                  <a:pt x="1182050" y="183488"/>
                  <a:pt x="1129128" y="236410"/>
                  <a:pt x="1063845" y="236410"/>
                </a:cubicBezTo>
                <a:lnTo>
                  <a:pt x="118205" y="236410"/>
                </a:lnTo>
                <a:cubicBezTo>
                  <a:pt x="52966" y="236410"/>
                  <a:pt x="0" y="183444"/>
                  <a:pt x="0" y="118205"/>
                </a:cubicBezTo>
                <a:lnTo>
                  <a:pt x="0" y="118205"/>
                </a:lnTo>
                <a:cubicBezTo>
                  <a:pt x="0" y="52966"/>
                  <a:pt x="52966" y="0"/>
                  <a:pt x="118205" y="0"/>
                </a:cubicBezTo>
                <a:close/>
              </a:path>
            </a:pathLst>
          </a:custGeom>
          <a:solidFill>
            <a:srgbClr val="FEF9C2"/>
          </a:solidFill>
          <a:ln/>
        </p:spPr>
        <p:txBody>
          <a:bodyPr/>
          <a:lstStyle/>
          <a:p>
            <a:endParaRPr lang="zh-CN" altLang="en-US"/>
          </a:p>
        </p:txBody>
      </p:sp>
      <p:sp>
        <p:nvSpPr>
          <p:cNvPr id="21" name="Text 19"/>
          <p:cNvSpPr/>
          <p:nvPr/>
        </p:nvSpPr>
        <p:spPr>
          <a:xfrm>
            <a:off x="4601991" y="3495490"/>
            <a:ext cx="1241152" cy="236410"/>
          </a:xfrm>
          <a:prstGeom prst="rect">
            <a:avLst/>
          </a:prstGeom>
          <a:noFill/>
          <a:ln/>
        </p:spPr>
        <p:txBody>
          <a:bodyPr wrap="square" lIns="101319" tIns="33773" rIns="101319" bIns="33773" rtlCol="0" anchor="ctr"/>
          <a:lstStyle/>
          <a:p>
            <a:pPr>
              <a:lnSpc>
                <a:spcPct val="120000"/>
              </a:lnSpc>
            </a:pPr>
            <a:r>
              <a:rPr lang="en-US" sz="931" dirty="0">
                <a:solidFill>
                  <a:srgbClr val="A65F00"/>
                </a:solidFill>
                <a:latin typeface="MiSans" pitchFamily="34" charset="0"/>
                <a:ea typeface="MiSans" pitchFamily="34" charset="-122"/>
                <a:cs typeface="MiSans" pitchFamily="34" charset="-120"/>
              </a:rPr>
              <a:t>⚠ 效率低，易出错</a:t>
            </a:r>
            <a:endParaRPr lang="en-US" sz="1600" dirty="0"/>
          </a:p>
        </p:txBody>
      </p:sp>
      <p:sp>
        <p:nvSpPr>
          <p:cNvPr id="22" name="Shape 20"/>
          <p:cNvSpPr/>
          <p:nvPr/>
        </p:nvSpPr>
        <p:spPr>
          <a:xfrm>
            <a:off x="545995" y="4069629"/>
            <a:ext cx="5234792" cy="439047"/>
          </a:xfrm>
          <a:custGeom>
            <a:avLst/>
            <a:gdLst/>
            <a:ahLst/>
            <a:cxnLst/>
            <a:rect l="l" t="t" r="r" b="b"/>
            <a:pathLst>
              <a:path w="5234792" h="439047">
                <a:moveTo>
                  <a:pt x="101319" y="0"/>
                </a:moveTo>
                <a:lnTo>
                  <a:pt x="5133473" y="0"/>
                </a:lnTo>
                <a:cubicBezTo>
                  <a:pt x="5189430" y="0"/>
                  <a:pt x="5234792" y="45362"/>
                  <a:pt x="5234792" y="101319"/>
                </a:cubicBezTo>
                <a:lnTo>
                  <a:pt x="5234792" y="337728"/>
                </a:lnTo>
                <a:cubicBezTo>
                  <a:pt x="5234792" y="393685"/>
                  <a:pt x="5189430" y="439047"/>
                  <a:pt x="5133473" y="439047"/>
                </a:cubicBezTo>
                <a:lnTo>
                  <a:pt x="101319" y="439047"/>
                </a:lnTo>
                <a:cubicBezTo>
                  <a:pt x="45399" y="439047"/>
                  <a:pt x="0" y="393648"/>
                  <a:pt x="0" y="337728"/>
                </a:cubicBezTo>
                <a:lnTo>
                  <a:pt x="0" y="101319"/>
                </a:lnTo>
                <a:cubicBezTo>
                  <a:pt x="0" y="45362"/>
                  <a:pt x="45362" y="0"/>
                  <a:pt x="101319" y="0"/>
                </a:cubicBezTo>
                <a:close/>
              </a:path>
            </a:pathLst>
          </a:custGeom>
          <a:solidFill>
            <a:srgbClr val="86868B">
              <a:alpha val="10196"/>
            </a:srgbClr>
          </a:solidFill>
          <a:ln/>
        </p:spPr>
        <p:txBody>
          <a:bodyPr/>
          <a:lstStyle/>
          <a:p>
            <a:endParaRPr lang="zh-CN" altLang="en-US"/>
          </a:p>
        </p:txBody>
      </p:sp>
      <p:sp>
        <p:nvSpPr>
          <p:cNvPr id="23" name="Text 21"/>
          <p:cNvSpPr/>
          <p:nvPr/>
        </p:nvSpPr>
        <p:spPr>
          <a:xfrm>
            <a:off x="681086" y="4204720"/>
            <a:ext cx="5023712" cy="168864"/>
          </a:xfrm>
          <a:prstGeom prst="rect">
            <a:avLst/>
          </a:prstGeom>
          <a:noFill/>
          <a:ln/>
        </p:spPr>
        <p:txBody>
          <a:bodyPr wrap="square" lIns="0" tIns="0" rIns="0" bIns="0" rtlCol="0" anchor="ctr"/>
          <a:lstStyle/>
          <a:p>
            <a:pPr>
              <a:lnSpc>
                <a:spcPct val="120000"/>
              </a:lnSpc>
            </a:pPr>
            <a:r>
              <a:rPr lang="en-US" sz="931" b="1" dirty="0">
                <a:solidFill>
                  <a:srgbClr val="1D1D1D"/>
                </a:solidFill>
                <a:latin typeface="MiSans" pitchFamily="34" charset="0"/>
                <a:ea typeface="MiSans" pitchFamily="34" charset="-122"/>
                <a:cs typeface="MiSans" pitchFamily="34" charset="-120"/>
              </a:rPr>
              <a:t>痛点：</a:t>
            </a:r>
            <a:r>
              <a:rPr lang="en-US" sz="931" dirty="0">
                <a:solidFill>
                  <a:srgbClr val="86868B"/>
                </a:solidFill>
                <a:latin typeface="MiSans" pitchFamily="34" charset="0"/>
                <a:ea typeface="MiSans" pitchFamily="34" charset="-122"/>
                <a:cs typeface="MiSans" pitchFamily="34" charset="-120"/>
              </a:rPr>
              <a:t>开发者需要阅读大量文档，手动执行集成步骤，学习成本高，出错概率大，执行速度慢</a:t>
            </a:r>
            <a:endParaRPr lang="en-US" sz="1600" dirty="0"/>
          </a:p>
        </p:txBody>
      </p:sp>
      <p:sp>
        <p:nvSpPr>
          <p:cNvPr id="24" name="Shape 22"/>
          <p:cNvSpPr/>
          <p:nvPr/>
        </p:nvSpPr>
        <p:spPr>
          <a:xfrm>
            <a:off x="6198198" y="1117319"/>
            <a:ext cx="5645695" cy="3593994"/>
          </a:xfrm>
          <a:custGeom>
            <a:avLst/>
            <a:gdLst/>
            <a:ahLst/>
            <a:cxnLst/>
            <a:rect l="l" t="t" r="r" b="b"/>
            <a:pathLst>
              <a:path w="5645695" h="3593994">
                <a:moveTo>
                  <a:pt x="135098" y="0"/>
                </a:moveTo>
                <a:lnTo>
                  <a:pt x="5510597" y="0"/>
                </a:lnTo>
                <a:cubicBezTo>
                  <a:pt x="5585210" y="0"/>
                  <a:pt x="5645695" y="60486"/>
                  <a:pt x="5645695" y="135098"/>
                </a:cubicBezTo>
                <a:lnTo>
                  <a:pt x="5645695" y="3458896"/>
                </a:lnTo>
                <a:cubicBezTo>
                  <a:pt x="5645695" y="3533509"/>
                  <a:pt x="5585210" y="3593994"/>
                  <a:pt x="5510597" y="3593994"/>
                </a:cubicBezTo>
                <a:lnTo>
                  <a:pt x="135098" y="3593994"/>
                </a:lnTo>
                <a:cubicBezTo>
                  <a:pt x="60486" y="3593994"/>
                  <a:pt x="0" y="3533509"/>
                  <a:pt x="0" y="3458896"/>
                </a:cubicBezTo>
                <a:lnTo>
                  <a:pt x="0" y="135098"/>
                </a:lnTo>
                <a:cubicBezTo>
                  <a:pt x="0" y="60486"/>
                  <a:pt x="60486" y="0"/>
                  <a:pt x="135098"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25" name="Shape 23"/>
          <p:cNvSpPr/>
          <p:nvPr/>
        </p:nvSpPr>
        <p:spPr>
          <a:xfrm>
            <a:off x="6403650" y="1322773"/>
            <a:ext cx="405274" cy="405274"/>
          </a:xfrm>
          <a:custGeom>
            <a:avLst/>
            <a:gdLst/>
            <a:ahLst/>
            <a:cxnLst/>
            <a:rect l="l" t="t" r="r" b="b"/>
            <a:pathLst>
              <a:path w="405274" h="405274">
                <a:moveTo>
                  <a:pt x="101319" y="0"/>
                </a:moveTo>
                <a:lnTo>
                  <a:pt x="303956" y="0"/>
                </a:lnTo>
                <a:cubicBezTo>
                  <a:pt x="359912" y="0"/>
                  <a:pt x="405274" y="45362"/>
                  <a:pt x="405274" y="101319"/>
                </a:cubicBezTo>
                <a:lnTo>
                  <a:pt x="405274" y="303956"/>
                </a:lnTo>
                <a:cubicBezTo>
                  <a:pt x="405274" y="359912"/>
                  <a:pt x="359912" y="405274"/>
                  <a:pt x="303956" y="405274"/>
                </a:cubicBezTo>
                <a:lnTo>
                  <a:pt x="101319" y="405274"/>
                </a:lnTo>
                <a:cubicBezTo>
                  <a:pt x="45362" y="405274"/>
                  <a:pt x="0" y="359912"/>
                  <a:pt x="0" y="303956"/>
                </a:cubicBezTo>
                <a:lnTo>
                  <a:pt x="0" y="101319"/>
                </a:lnTo>
                <a:cubicBezTo>
                  <a:pt x="0" y="45399"/>
                  <a:pt x="45399" y="0"/>
                  <a:pt x="101319" y="0"/>
                </a:cubicBezTo>
                <a:close/>
              </a:path>
            </a:pathLst>
          </a:custGeom>
          <a:solidFill>
            <a:srgbClr val="0071E3">
              <a:alpha val="10196"/>
            </a:srgbClr>
          </a:solidFill>
          <a:ln/>
        </p:spPr>
        <p:txBody>
          <a:bodyPr/>
          <a:lstStyle/>
          <a:p>
            <a:endParaRPr lang="zh-CN" altLang="en-US"/>
          </a:p>
        </p:txBody>
      </p:sp>
      <p:sp>
        <p:nvSpPr>
          <p:cNvPr id="26" name="Shape 24"/>
          <p:cNvSpPr/>
          <p:nvPr/>
        </p:nvSpPr>
        <p:spPr>
          <a:xfrm>
            <a:off x="6479639" y="1424091"/>
            <a:ext cx="253296" cy="202637"/>
          </a:xfrm>
          <a:custGeom>
            <a:avLst/>
            <a:gdLst/>
            <a:ahLst/>
            <a:cxnLst/>
            <a:rect l="l" t="t" r="r" b="b"/>
            <a:pathLst>
              <a:path w="253296" h="202637">
                <a:moveTo>
                  <a:pt x="139313" y="0"/>
                </a:moveTo>
                <a:cubicBezTo>
                  <a:pt x="139313" y="-7005"/>
                  <a:pt x="133653" y="-12665"/>
                  <a:pt x="126648" y="-12665"/>
                </a:cubicBezTo>
                <a:cubicBezTo>
                  <a:pt x="119643" y="-12665"/>
                  <a:pt x="113983" y="-7005"/>
                  <a:pt x="113983" y="0"/>
                </a:cubicBezTo>
                <a:lnTo>
                  <a:pt x="113983" y="25330"/>
                </a:lnTo>
                <a:lnTo>
                  <a:pt x="75989" y="25330"/>
                </a:lnTo>
                <a:cubicBezTo>
                  <a:pt x="55013" y="25330"/>
                  <a:pt x="37994" y="42348"/>
                  <a:pt x="37994" y="63324"/>
                </a:cubicBezTo>
                <a:lnTo>
                  <a:pt x="37994" y="151978"/>
                </a:lnTo>
                <a:cubicBezTo>
                  <a:pt x="37994" y="172954"/>
                  <a:pt x="55013" y="189972"/>
                  <a:pt x="75989" y="189972"/>
                </a:cubicBezTo>
                <a:lnTo>
                  <a:pt x="177307" y="189972"/>
                </a:lnTo>
                <a:cubicBezTo>
                  <a:pt x="198284" y="189972"/>
                  <a:pt x="215302" y="172954"/>
                  <a:pt x="215302" y="151978"/>
                </a:cubicBezTo>
                <a:lnTo>
                  <a:pt x="215302" y="63324"/>
                </a:lnTo>
                <a:cubicBezTo>
                  <a:pt x="215302" y="42348"/>
                  <a:pt x="198284" y="25330"/>
                  <a:pt x="177307" y="25330"/>
                </a:cubicBezTo>
                <a:lnTo>
                  <a:pt x="139313" y="25330"/>
                </a:lnTo>
                <a:lnTo>
                  <a:pt x="139313" y="0"/>
                </a:lnTo>
                <a:close/>
                <a:moveTo>
                  <a:pt x="63324" y="145645"/>
                </a:moveTo>
                <a:cubicBezTo>
                  <a:pt x="63324" y="140382"/>
                  <a:pt x="67559" y="136147"/>
                  <a:pt x="72823" y="136147"/>
                </a:cubicBezTo>
                <a:lnTo>
                  <a:pt x="85488" y="136147"/>
                </a:lnTo>
                <a:cubicBezTo>
                  <a:pt x="90751" y="136147"/>
                  <a:pt x="94986" y="140382"/>
                  <a:pt x="94986" y="145645"/>
                </a:cubicBezTo>
                <a:cubicBezTo>
                  <a:pt x="94986" y="150909"/>
                  <a:pt x="90751" y="155144"/>
                  <a:pt x="85488" y="155144"/>
                </a:cubicBezTo>
                <a:lnTo>
                  <a:pt x="72823" y="155144"/>
                </a:lnTo>
                <a:cubicBezTo>
                  <a:pt x="67559" y="155144"/>
                  <a:pt x="63324" y="150909"/>
                  <a:pt x="63324" y="145645"/>
                </a:cubicBezTo>
                <a:close/>
                <a:moveTo>
                  <a:pt x="110817" y="145645"/>
                </a:moveTo>
                <a:cubicBezTo>
                  <a:pt x="110817" y="140382"/>
                  <a:pt x="115052" y="136147"/>
                  <a:pt x="120316" y="136147"/>
                </a:cubicBezTo>
                <a:lnTo>
                  <a:pt x="132981" y="136147"/>
                </a:lnTo>
                <a:cubicBezTo>
                  <a:pt x="138244" y="136147"/>
                  <a:pt x="142479" y="140382"/>
                  <a:pt x="142479" y="145645"/>
                </a:cubicBezTo>
                <a:cubicBezTo>
                  <a:pt x="142479" y="150909"/>
                  <a:pt x="138244" y="155144"/>
                  <a:pt x="132981" y="155144"/>
                </a:cubicBezTo>
                <a:lnTo>
                  <a:pt x="120316" y="155144"/>
                </a:lnTo>
                <a:cubicBezTo>
                  <a:pt x="115052" y="155144"/>
                  <a:pt x="110817" y="150909"/>
                  <a:pt x="110817" y="145645"/>
                </a:cubicBezTo>
                <a:close/>
                <a:moveTo>
                  <a:pt x="158310" y="145645"/>
                </a:moveTo>
                <a:cubicBezTo>
                  <a:pt x="158310" y="140382"/>
                  <a:pt x="162545" y="136147"/>
                  <a:pt x="167809" y="136147"/>
                </a:cubicBezTo>
                <a:lnTo>
                  <a:pt x="180474" y="136147"/>
                </a:lnTo>
                <a:cubicBezTo>
                  <a:pt x="185738" y="136147"/>
                  <a:pt x="189972" y="140382"/>
                  <a:pt x="189972" y="145645"/>
                </a:cubicBezTo>
                <a:cubicBezTo>
                  <a:pt x="189972" y="150909"/>
                  <a:pt x="185738" y="155144"/>
                  <a:pt x="180474" y="155144"/>
                </a:cubicBezTo>
                <a:lnTo>
                  <a:pt x="167809" y="155144"/>
                </a:lnTo>
                <a:cubicBezTo>
                  <a:pt x="162545" y="155144"/>
                  <a:pt x="158310" y="150909"/>
                  <a:pt x="158310" y="145645"/>
                </a:cubicBezTo>
                <a:close/>
                <a:moveTo>
                  <a:pt x="88654" y="69657"/>
                </a:moveTo>
                <a:cubicBezTo>
                  <a:pt x="99139" y="69657"/>
                  <a:pt x="107651" y="78169"/>
                  <a:pt x="107651" y="88654"/>
                </a:cubicBezTo>
                <a:cubicBezTo>
                  <a:pt x="107651" y="99139"/>
                  <a:pt x="99139" y="107651"/>
                  <a:pt x="88654" y="107651"/>
                </a:cubicBezTo>
                <a:cubicBezTo>
                  <a:pt x="78169" y="107651"/>
                  <a:pt x="69657" y="99139"/>
                  <a:pt x="69657" y="88654"/>
                </a:cubicBezTo>
                <a:cubicBezTo>
                  <a:pt x="69657" y="78169"/>
                  <a:pt x="78169" y="69657"/>
                  <a:pt x="88654" y="69657"/>
                </a:cubicBezTo>
                <a:close/>
                <a:moveTo>
                  <a:pt x="145645" y="88654"/>
                </a:moveTo>
                <a:cubicBezTo>
                  <a:pt x="145645" y="78169"/>
                  <a:pt x="154158" y="69657"/>
                  <a:pt x="164643" y="69657"/>
                </a:cubicBezTo>
                <a:cubicBezTo>
                  <a:pt x="175128" y="69657"/>
                  <a:pt x="183640" y="78169"/>
                  <a:pt x="183640" y="88654"/>
                </a:cubicBezTo>
                <a:cubicBezTo>
                  <a:pt x="183640" y="99139"/>
                  <a:pt x="175128" y="107651"/>
                  <a:pt x="164643" y="107651"/>
                </a:cubicBezTo>
                <a:cubicBezTo>
                  <a:pt x="154158" y="107651"/>
                  <a:pt x="145645" y="99139"/>
                  <a:pt x="145645" y="88654"/>
                </a:cubicBezTo>
                <a:close/>
                <a:moveTo>
                  <a:pt x="25330" y="88654"/>
                </a:moveTo>
                <a:cubicBezTo>
                  <a:pt x="25330" y="81649"/>
                  <a:pt x="19670" y="75989"/>
                  <a:pt x="12665" y="75989"/>
                </a:cubicBezTo>
                <a:cubicBezTo>
                  <a:pt x="5660" y="75989"/>
                  <a:pt x="0" y="81649"/>
                  <a:pt x="0" y="88654"/>
                </a:cubicBezTo>
                <a:lnTo>
                  <a:pt x="0" y="126648"/>
                </a:lnTo>
                <a:cubicBezTo>
                  <a:pt x="0" y="133653"/>
                  <a:pt x="5660" y="139313"/>
                  <a:pt x="12665" y="139313"/>
                </a:cubicBezTo>
                <a:cubicBezTo>
                  <a:pt x="19670" y="139313"/>
                  <a:pt x="25330" y="133653"/>
                  <a:pt x="25330" y="126648"/>
                </a:cubicBezTo>
                <a:lnTo>
                  <a:pt x="25330" y="88654"/>
                </a:lnTo>
                <a:close/>
                <a:moveTo>
                  <a:pt x="240632" y="75989"/>
                </a:moveTo>
                <a:cubicBezTo>
                  <a:pt x="233626" y="75989"/>
                  <a:pt x="227967" y="81649"/>
                  <a:pt x="227967" y="88654"/>
                </a:cubicBezTo>
                <a:lnTo>
                  <a:pt x="227967" y="126648"/>
                </a:lnTo>
                <a:cubicBezTo>
                  <a:pt x="227967" y="133653"/>
                  <a:pt x="233626" y="139313"/>
                  <a:pt x="240632" y="139313"/>
                </a:cubicBezTo>
                <a:cubicBezTo>
                  <a:pt x="247637" y="139313"/>
                  <a:pt x="253296" y="133653"/>
                  <a:pt x="253296" y="126648"/>
                </a:cubicBezTo>
                <a:lnTo>
                  <a:pt x="253296" y="88654"/>
                </a:lnTo>
                <a:cubicBezTo>
                  <a:pt x="253296" y="81649"/>
                  <a:pt x="247637" y="75989"/>
                  <a:pt x="240632" y="75989"/>
                </a:cubicBezTo>
                <a:close/>
              </a:path>
            </a:pathLst>
          </a:custGeom>
          <a:solidFill>
            <a:srgbClr val="0071E3"/>
          </a:solidFill>
          <a:ln/>
        </p:spPr>
        <p:txBody>
          <a:bodyPr/>
          <a:lstStyle/>
          <a:p>
            <a:endParaRPr lang="zh-CN" altLang="en-US"/>
          </a:p>
        </p:txBody>
      </p:sp>
      <p:sp>
        <p:nvSpPr>
          <p:cNvPr id="27" name="Text 25"/>
          <p:cNvSpPr/>
          <p:nvPr/>
        </p:nvSpPr>
        <p:spPr>
          <a:xfrm>
            <a:off x="6910242" y="1390319"/>
            <a:ext cx="886537" cy="270183"/>
          </a:xfrm>
          <a:prstGeom prst="rect">
            <a:avLst/>
          </a:prstGeom>
          <a:noFill/>
          <a:ln/>
        </p:spPr>
        <p:txBody>
          <a:bodyPr wrap="square" lIns="0" tIns="0" rIns="0" bIns="0" rtlCol="0" anchor="ctr"/>
          <a:lstStyle/>
          <a:p>
            <a:pPr>
              <a:lnSpc>
                <a:spcPct val="110000"/>
              </a:lnSpc>
            </a:pPr>
            <a:r>
              <a:rPr lang="en-US" sz="1596" b="1" dirty="0">
                <a:solidFill>
                  <a:srgbClr val="0071E3"/>
                </a:solidFill>
                <a:latin typeface="MiSans" pitchFamily="34" charset="0"/>
                <a:ea typeface="MiSans" pitchFamily="34" charset="-122"/>
                <a:cs typeface="MiSans" pitchFamily="34" charset="-120"/>
              </a:rPr>
              <a:t>AI新模式</a:t>
            </a:r>
            <a:endParaRPr lang="en-US" sz="1600" dirty="0"/>
          </a:p>
        </p:txBody>
      </p:sp>
      <p:sp>
        <p:nvSpPr>
          <p:cNvPr id="28" name="Shape 26"/>
          <p:cNvSpPr/>
          <p:nvPr/>
        </p:nvSpPr>
        <p:spPr>
          <a:xfrm>
            <a:off x="7800914" y="1407205"/>
            <a:ext cx="1097618" cy="236410"/>
          </a:xfrm>
          <a:custGeom>
            <a:avLst/>
            <a:gdLst/>
            <a:ahLst/>
            <a:cxnLst/>
            <a:rect l="l" t="t" r="r" b="b"/>
            <a:pathLst>
              <a:path w="1097618" h="236410">
                <a:moveTo>
                  <a:pt x="118205" y="0"/>
                </a:moveTo>
                <a:lnTo>
                  <a:pt x="979413" y="0"/>
                </a:lnTo>
                <a:cubicBezTo>
                  <a:pt x="1044696" y="0"/>
                  <a:pt x="1097618" y="52922"/>
                  <a:pt x="1097618" y="118205"/>
                </a:cubicBezTo>
                <a:lnTo>
                  <a:pt x="1097618" y="118205"/>
                </a:lnTo>
                <a:cubicBezTo>
                  <a:pt x="1097618" y="183488"/>
                  <a:pt x="1044696" y="236410"/>
                  <a:pt x="979413" y="236410"/>
                </a:cubicBezTo>
                <a:lnTo>
                  <a:pt x="118205" y="236410"/>
                </a:lnTo>
                <a:cubicBezTo>
                  <a:pt x="52966" y="236410"/>
                  <a:pt x="0" y="183444"/>
                  <a:pt x="0" y="118205"/>
                </a:cubicBezTo>
                <a:lnTo>
                  <a:pt x="0" y="118205"/>
                </a:lnTo>
                <a:cubicBezTo>
                  <a:pt x="0" y="52966"/>
                  <a:pt x="52966" y="0"/>
                  <a:pt x="118205" y="0"/>
                </a:cubicBezTo>
                <a:close/>
              </a:path>
            </a:pathLst>
          </a:custGeom>
          <a:solidFill>
            <a:srgbClr val="0071E3"/>
          </a:solidFill>
          <a:ln/>
        </p:spPr>
        <p:txBody>
          <a:bodyPr/>
          <a:lstStyle/>
          <a:p>
            <a:endParaRPr lang="zh-CN" altLang="en-US"/>
          </a:p>
        </p:txBody>
      </p:sp>
      <p:sp>
        <p:nvSpPr>
          <p:cNvPr id="29" name="Text 27"/>
          <p:cNvSpPr/>
          <p:nvPr/>
        </p:nvSpPr>
        <p:spPr>
          <a:xfrm>
            <a:off x="7800914" y="1407205"/>
            <a:ext cx="1156720" cy="236410"/>
          </a:xfrm>
          <a:prstGeom prst="rect">
            <a:avLst/>
          </a:prstGeom>
          <a:noFill/>
          <a:ln/>
        </p:spPr>
        <p:txBody>
          <a:bodyPr wrap="square" lIns="101319" tIns="33773" rIns="101319" bIns="33773" rtlCol="0" anchor="ctr"/>
          <a:lstStyle/>
          <a:p>
            <a:pPr>
              <a:lnSpc>
                <a:spcPct val="120000"/>
              </a:lnSpc>
            </a:pPr>
            <a:r>
              <a:rPr lang="en-US" sz="931" dirty="0">
                <a:solidFill>
                  <a:srgbClr val="FFFFFF"/>
                </a:solidFill>
                <a:latin typeface="MiSans" pitchFamily="34" charset="0"/>
                <a:ea typeface="MiSans" pitchFamily="34" charset="-122"/>
                <a:cs typeface="MiSans" pitchFamily="34" charset="-120"/>
              </a:rPr>
              <a:t>用SKILL替代手册</a:t>
            </a:r>
            <a:endParaRPr lang="en-US" sz="1600" dirty="0"/>
          </a:p>
        </p:txBody>
      </p:sp>
      <p:sp>
        <p:nvSpPr>
          <p:cNvPr id="30" name="Shape 28"/>
          <p:cNvSpPr/>
          <p:nvPr/>
        </p:nvSpPr>
        <p:spPr>
          <a:xfrm>
            <a:off x="6403650" y="2440091"/>
            <a:ext cx="5234792" cy="5629"/>
          </a:xfrm>
          <a:custGeom>
            <a:avLst/>
            <a:gdLst/>
            <a:ahLst/>
            <a:cxnLst/>
            <a:rect l="l" t="t" r="r" b="b"/>
            <a:pathLst>
              <a:path w="5234792" h="5629">
                <a:moveTo>
                  <a:pt x="0" y="0"/>
                </a:moveTo>
                <a:lnTo>
                  <a:pt x="5234792" y="0"/>
                </a:lnTo>
                <a:lnTo>
                  <a:pt x="5234792" y="5629"/>
                </a:lnTo>
                <a:lnTo>
                  <a:pt x="0" y="5629"/>
                </a:lnTo>
                <a:lnTo>
                  <a:pt x="0" y="0"/>
                </a:lnTo>
                <a:close/>
              </a:path>
            </a:pathLst>
          </a:custGeom>
          <a:solidFill>
            <a:srgbClr val="E5E5E5"/>
          </a:solidFill>
          <a:ln/>
        </p:spPr>
        <p:txBody>
          <a:bodyPr/>
          <a:lstStyle/>
          <a:p>
            <a:endParaRPr lang="zh-CN" altLang="en-US"/>
          </a:p>
        </p:txBody>
      </p:sp>
      <p:sp>
        <p:nvSpPr>
          <p:cNvPr id="31" name="Text 29"/>
          <p:cNvSpPr/>
          <p:nvPr/>
        </p:nvSpPr>
        <p:spPr>
          <a:xfrm>
            <a:off x="6403650" y="2065776"/>
            <a:ext cx="607911"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交互方式</a:t>
            </a:r>
            <a:endParaRPr lang="en-US" sz="1600" dirty="0"/>
          </a:p>
        </p:txBody>
      </p:sp>
      <p:sp>
        <p:nvSpPr>
          <p:cNvPr id="32" name="Text 30"/>
          <p:cNvSpPr/>
          <p:nvPr/>
        </p:nvSpPr>
        <p:spPr>
          <a:xfrm>
            <a:off x="10566242" y="1998230"/>
            <a:ext cx="1072288" cy="168864"/>
          </a:xfrm>
          <a:prstGeom prst="rect">
            <a:avLst/>
          </a:prstGeom>
          <a:noFill/>
          <a:ln/>
        </p:spPr>
        <p:txBody>
          <a:bodyPr wrap="square" lIns="0" tIns="0" rIns="0" bIns="0" rtlCol="0" anchor="ctr"/>
          <a:lstStyle/>
          <a:p>
            <a:pPr algn="r">
              <a:lnSpc>
                <a:spcPct val="120000"/>
              </a:lnSpc>
            </a:pPr>
            <a:r>
              <a:rPr lang="en-US" sz="931" dirty="0">
                <a:solidFill>
                  <a:srgbClr val="86868B"/>
                </a:solidFill>
                <a:latin typeface="MiSans" pitchFamily="34" charset="0"/>
                <a:ea typeface="MiSans" pitchFamily="34" charset="-122"/>
                <a:cs typeface="MiSans" pitchFamily="34" charset="-120"/>
              </a:rPr>
              <a:t>文档阅读+手动操作</a:t>
            </a:r>
            <a:endParaRPr lang="en-US" sz="1600" dirty="0"/>
          </a:p>
        </p:txBody>
      </p:sp>
      <p:sp>
        <p:nvSpPr>
          <p:cNvPr id="33" name="Text 31"/>
          <p:cNvSpPr/>
          <p:nvPr/>
        </p:nvSpPr>
        <p:spPr>
          <a:xfrm>
            <a:off x="10566242" y="2167094"/>
            <a:ext cx="1072288" cy="168864"/>
          </a:xfrm>
          <a:prstGeom prst="rect">
            <a:avLst/>
          </a:prstGeom>
          <a:noFill/>
          <a:ln/>
        </p:spPr>
        <p:txBody>
          <a:bodyPr wrap="square" lIns="0" tIns="0" rIns="0" bIns="0" rtlCol="0" anchor="ctr"/>
          <a:lstStyle/>
          <a:p>
            <a:pPr algn="r">
              <a:lnSpc>
                <a:spcPct val="120000"/>
              </a:lnSpc>
            </a:pPr>
            <a:r>
              <a:rPr lang="en-US" sz="931" b="1" dirty="0">
                <a:solidFill>
                  <a:srgbClr val="0071E3"/>
                </a:solidFill>
                <a:latin typeface="MiSans" pitchFamily="34" charset="0"/>
                <a:ea typeface="MiSans" pitchFamily="34" charset="-122"/>
                <a:cs typeface="MiSans" pitchFamily="34" charset="-120"/>
              </a:rPr>
              <a:t>→ 自然语言指令</a:t>
            </a:r>
            <a:endParaRPr lang="en-US" sz="1600" dirty="0"/>
          </a:p>
        </p:txBody>
      </p:sp>
      <p:sp>
        <p:nvSpPr>
          <p:cNvPr id="34" name="Shape 32"/>
          <p:cNvSpPr/>
          <p:nvPr/>
        </p:nvSpPr>
        <p:spPr>
          <a:xfrm>
            <a:off x="6403650" y="3121176"/>
            <a:ext cx="5234792" cy="5629"/>
          </a:xfrm>
          <a:custGeom>
            <a:avLst/>
            <a:gdLst/>
            <a:ahLst/>
            <a:cxnLst/>
            <a:rect l="l" t="t" r="r" b="b"/>
            <a:pathLst>
              <a:path w="5234792" h="5629">
                <a:moveTo>
                  <a:pt x="0" y="0"/>
                </a:moveTo>
                <a:lnTo>
                  <a:pt x="5234792" y="0"/>
                </a:lnTo>
                <a:lnTo>
                  <a:pt x="5234792" y="5629"/>
                </a:lnTo>
                <a:lnTo>
                  <a:pt x="0" y="5629"/>
                </a:lnTo>
                <a:lnTo>
                  <a:pt x="0" y="0"/>
                </a:lnTo>
                <a:close/>
              </a:path>
            </a:pathLst>
          </a:custGeom>
          <a:solidFill>
            <a:srgbClr val="E5E5E5"/>
          </a:solidFill>
          <a:ln/>
        </p:spPr>
        <p:txBody>
          <a:bodyPr/>
          <a:lstStyle/>
          <a:p>
            <a:endParaRPr lang="zh-CN" altLang="en-US"/>
          </a:p>
        </p:txBody>
      </p:sp>
      <p:sp>
        <p:nvSpPr>
          <p:cNvPr id="35" name="Text 33"/>
          <p:cNvSpPr/>
          <p:nvPr/>
        </p:nvSpPr>
        <p:spPr>
          <a:xfrm>
            <a:off x="6403650" y="2746860"/>
            <a:ext cx="607911"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学习成本</a:t>
            </a:r>
            <a:endParaRPr lang="en-US" sz="1600" dirty="0"/>
          </a:p>
        </p:txBody>
      </p:sp>
      <p:sp>
        <p:nvSpPr>
          <p:cNvPr id="36" name="Text 34"/>
          <p:cNvSpPr/>
          <p:nvPr/>
        </p:nvSpPr>
        <p:spPr>
          <a:xfrm>
            <a:off x="10366859" y="2679314"/>
            <a:ext cx="1274925" cy="168864"/>
          </a:xfrm>
          <a:prstGeom prst="rect">
            <a:avLst/>
          </a:prstGeom>
          <a:noFill/>
          <a:ln/>
        </p:spPr>
        <p:txBody>
          <a:bodyPr wrap="square" lIns="0" tIns="0" rIns="0" bIns="0" rtlCol="0" anchor="ctr"/>
          <a:lstStyle/>
          <a:p>
            <a:pPr algn="r">
              <a:lnSpc>
                <a:spcPct val="120000"/>
              </a:lnSpc>
            </a:pPr>
            <a:r>
              <a:rPr lang="en-US" sz="931" dirty="0">
                <a:solidFill>
                  <a:srgbClr val="86868B"/>
                </a:solidFill>
                <a:latin typeface="MiSans" pitchFamily="34" charset="0"/>
                <a:ea typeface="MiSans" pitchFamily="34" charset="-122"/>
                <a:cs typeface="MiSans" pitchFamily="34" charset="-120"/>
              </a:rPr>
              <a:t>高（需理解细节）</a:t>
            </a:r>
            <a:endParaRPr lang="en-US" sz="1600" dirty="0"/>
          </a:p>
        </p:txBody>
      </p:sp>
      <p:sp>
        <p:nvSpPr>
          <p:cNvPr id="37" name="Text 35"/>
          <p:cNvSpPr/>
          <p:nvPr/>
        </p:nvSpPr>
        <p:spPr>
          <a:xfrm>
            <a:off x="10366859" y="2848179"/>
            <a:ext cx="1274925" cy="168864"/>
          </a:xfrm>
          <a:prstGeom prst="rect">
            <a:avLst/>
          </a:prstGeom>
          <a:noFill/>
          <a:ln/>
        </p:spPr>
        <p:txBody>
          <a:bodyPr wrap="square" lIns="0" tIns="0" rIns="0" bIns="0" rtlCol="0" anchor="ctr"/>
          <a:lstStyle/>
          <a:p>
            <a:pPr algn="r">
              <a:lnSpc>
                <a:spcPct val="120000"/>
              </a:lnSpc>
            </a:pPr>
            <a:r>
              <a:rPr lang="en-US" sz="931" b="1" dirty="0">
                <a:solidFill>
                  <a:srgbClr val="0071E3"/>
                </a:solidFill>
                <a:latin typeface="MiSans" pitchFamily="34" charset="0"/>
                <a:ea typeface="MiSans" pitchFamily="34" charset="-122"/>
                <a:cs typeface="MiSans" pitchFamily="34" charset="-120"/>
              </a:rPr>
              <a:t>→ 低（描述需求即可）</a:t>
            </a:r>
            <a:endParaRPr lang="en-US" sz="1600" dirty="0"/>
          </a:p>
        </p:txBody>
      </p:sp>
      <p:sp>
        <p:nvSpPr>
          <p:cNvPr id="38" name="Shape 36"/>
          <p:cNvSpPr/>
          <p:nvPr/>
        </p:nvSpPr>
        <p:spPr>
          <a:xfrm>
            <a:off x="6403650" y="3802260"/>
            <a:ext cx="5234792" cy="5629"/>
          </a:xfrm>
          <a:custGeom>
            <a:avLst/>
            <a:gdLst/>
            <a:ahLst/>
            <a:cxnLst/>
            <a:rect l="l" t="t" r="r" b="b"/>
            <a:pathLst>
              <a:path w="5234792" h="5629">
                <a:moveTo>
                  <a:pt x="0" y="0"/>
                </a:moveTo>
                <a:lnTo>
                  <a:pt x="5234792" y="0"/>
                </a:lnTo>
                <a:lnTo>
                  <a:pt x="5234792" y="5629"/>
                </a:lnTo>
                <a:lnTo>
                  <a:pt x="0" y="5629"/>
                </a:lnTo>
                <a:lnTo>
                  <a:pt x="0" y="0"/>
                </a:lnTo>
                <a:close/>
              </a:path>
            </a:pathLst>
          </a:custGeom>
          <a:solidFill>
            <a:srgbClr val="E5E5E5"/>
          </a:solidFill>
          <a:ln/>
        </p:spPr>
        <p:txBody>
          <a:bodyPr/>
          <a:lstStyle/>
          <a:p>
            <a:endParaRPr lang="zh-CN" altLang="en-US"/>
          </a:p>
        </p:txBody>
      </p:sp>
      <p:sp>
        <p:nvSpPr>
          <p:cNvPr id="39" name="Text 37"/>
          <p:cNvSpPr/>
          <p:nvPr/>
        </p:nvSpPr>
        <p:spPr>
          <a:xfrm>
            <a:off x="6403650" y="3427945"/>
            <a:ext cx="607911"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出错概率</a:t>
            </a:r>
            <a:endParaRPr lang="en-US" sz="1600" dirty="0"/>
          </a:p>
        </p:txBody>
      </p:sp>
      <p:sp>
        <p:nvSpPr>
          <p:cNvPr id="40" name="Text 38"/>
          <p:cNvSpPr/>
          <p:nvPr/>
        </p:nvSpPr>
        <p:spPr>
          <a:xfrm>
            <a:off x="10485064" y="3360399"/>
            <a:ext cx="1156720" cy="168864"/>
          </a:xfrm>
          <a:prstGeom prst="rect">
            <a:avLst/>
          </a:prstGeom>
          <a:noFill/>
          <a:ln/>
        </p:spPr>
        <p:txBody>
          <a:bodyPr wrap="square" lIns="0" tIns="0" rIns="0" bIns="0" rtlCol="0" anchor="ctr"/>
          <a:lstStyle/>
          <a:p>
            <a:pPr algn="r">
              <a:lnSpc>
                <a:spcPct val="120000"/>
              </a:lnSpc>
            </a:pPr>
            <a:r>
              <a:rPr lang="en-US" sz="931" dirty="0">
                <a:solidFill>
                  <a:srgbClr val="86868B"/>
                </a:solidFill>
                <a:latin typeface="MiSans" pitchFamily="34" charset="0"/>
                <a:ea typeface="MiSans" pitchFamily="34" charset="-122"/>
                <a:cs typeface="MiSans" pitchFamily="34" charset="-120"/>
              </a:rPr>
              <a:t>高（人为失误）</a:t>
            </a:r>
            <a:endParaRPr lang="en-US" sz="1600" dirty="0"/>
          </a:p>
        </p:txBody>
      </p:sp>
      <p:sp>
        <p:nvSpPr>
          <p:cNvPr id="41" name="Text 39"/>
          <p:cNvSpPr/>
          <p:nvPr/>
        </p:nvSpPr>
        <p:spPr>
          <a:xfrm>
            <a:off x="10485064" y="3529263"/>
            <a:ext cx="1156720" cy="168864"/>
          </a:xfrm>
          <a:prstGeom prst="rect">
            <a:avLst/>
          </a:prstGeom>
          <a:noFill/>
          <a:ln/>
        </p:spPr>
        <p:txBody>
          <a:bodyPr wrap="square" lIns="0" tIns="0" rIns="0" bIns="0" rtlCol="0" anchor="ctr"/>
          <a:lstStyle/>
          <a:p>
            <a:pPr algn="r">
              <a:lnSpc>
                <a:spcPct val="120000"/>
              </a:lnSpc>
            </a:pPr>
            <a:r>
              <a:rPr lang="en-US" sz="931" b="1" dirty="0">
                <a:solidFill>
                  <a:srgbClr val="0071E3"/>
                </a:solidFill>
                <a:latin typeface="MiSans" pitchFamily="34" charset="0"/>
                <a:ea typeface="MiSans" pitchFamily="34" charset="-122"/>
                <a:cs typeface="MiSans" pitchFamily="34" charset="-120"/>
              </a:rPr>
              <a:t>→ 低（标准化执行）</a:t>
            </a:r>
            <a:endParaRPr lang="en-US" sz="1600" dirty="0"/>
          </a:p>
        </p:txBody>
      </p:sp>
      <p:sp>
        <p:nvSpPr>
          <p:cNvPr id="42" name="Text 40"/>
          <p:cNvSpPr/>
          <p:nvPr/>
        </p:nvSpPr>
        <p:spPr>
          <a:xfrm>
            <a:off x="6403650" y="4109033"/>
            <a:ext cx="607911" cy="202637"/>
          </a:xfrm>
          <a:prstGeom prst="rect">
            <a:avLst/>
          </a:prstGeom>
          <a:noFill/>
          <a:ln/>
        </p:spPr>
        <p:txBody>
          <a:bodyPr wrap="square" lIns="0" tIns="0" rIns="0" bIns="0" rtlCol="0" anchor="ctr"/>
          <a:lstStyle/>
          <a:p>
            <a:pPr>
              <a:lnSpc>
                <a:spcPct val="130000"/>
              </a:lnSpc>
            </a:pPr>
            <a:r>
              <a:rPr lang="en-US" sz="1064" b="1" dirty="0">
                <a:solidFill>
                  <a:srgbClr val="1D1D1D"/>
                </a:solidFill>
                <a:latin typeface="MiSans" pitchFamily="34" charset="0"/>
                <a:ea typeface="MiSans" pitchFamily="34" charset="-122"/>
                <a:cs typeface="MiSans" pitchFamily="34" charset="-120"/>
              </a:rPr>
              <a:t>执行速度</a:t>
            </a:r>
            <a:endParaRPr lang="en-US" sz="1600" dirty="0"/>
          </a:p>
        </p:txBody>
      </p:sp>
      <p:sp>
        <p:nvSpPr>
          <p:cNvPr id="43" name="Text 41"/>
          <p:cNvSpPr/>
          <p:nvPr/>
        </p:nvSpPr>
        <p:spPr>
          <a:xfrm>
            <a:off x="11076089" y="4041488"/>
            <a:ext cx="565695" cy="168864"/>
          </a:xfrm>
          <a:prstGeom prst="rect">
            <a:avLst/>
          </a:prstGeom>
          <a:noFill/>
          <a:ln/>
        </p:spPr>
        <p:txBody>
          <a:bodyPr wrap="square" lIns="0" tIns="0" rIns="0" bIns="0" rtlCol="0" anchor="ctr"/>
          <a:lstStyle/>
          <a:p>
            <a:pPr algn="r">
              <a:lnSpc>
                <a:spcPct val="120000"/>
              </a:lnSpc>
            </a:pPr>
            <a:r>
              <a:rPr lang="en-US" sz="931" dirty="0">
                <a:solidFill>
                  <a:srgbClr val="86868B"/>
                </a:solidFill>
                <a:latin typeface="MiSans" pitchFamily="34" charset="0"/>
                <a:ea typeface="MiSans" pitchFamily="34" charset="-122"/>
                <a:cs typeface="MiSans" pitchFamily="34" charset="-120"/>
              </a:rPr>
              <a:t>天级</a:t>
            </a:r>
            <a:endParaRPr lang="en-US" sz="1600" dirty="0"/>
          </a:p>
        </p:txBody>
      </p:sp>
      <p:sp>
        <p:nvSpPr>
          <p:cNvPr id="44" name="Text 42"/>
          <p:cNvSpPr/>
          <p:nvPr/>
        </p:nvSpPr>
        <p:spPr>
          <a:xfrm>
            <a:off x="11076089" y="4210352"/>
            <a:ext cx="565695" cy="168864"/>
          </a:xfrm>
          <a:prstGeom prst="rect">
            <a:avLst/>
          </a:prstGeom>
          <a:noFill/>
          <a:ln/>
        </p:spPr>
        <p:txBody>
          <a:bodyPr wrap="square" lIns="0" tIns="0" rIns="0" bIns="0" rtlCol="0" anchor="ctr"/>
          <a:lstStyle/>
          <a:p>
            <a:pPr algn="r">
              <a:lnSpc>
                <a:spcPct val="120000"/>
              </a:lnSpc>
            </a:pPr>
            <a:r>
              <a:rPr lang="en-US" sz="931" b="1" dirty="0">
                <a:solidFill>
                  <a:srgbClr val="0071E3"/>
                </a:solidFill>
                <a:latin typeface="MiSans" pitchFamily="34" charset="0"/>
                <a:ea typeface="MiSans" pitchFamily="34" charset="-122"/>
                <a:cs typeface="MiSans" pitchFamily="34" charset="-120"/>
              </a:rPr>
              <a:t>→ 分钟级</a:t>
            </a:r>
            <a:endParaRPr lang="en-US" sz="1600" dirty="0"/>
          </a:p>
        </p:txBody>
      </p:sp>
      <p:sp>
        <p:nvSpPr>
          <p:cNvPr id="45" name="Shape 43"/>
          <p:cNvSpPr/>
          <p:nvPr/>
        </p:nvSpPr>
        <p:spPr>
          <a:xfrm>
            <a:off x="340543" y="4922396"/>
            <a:ext cx="5645695" cy="1255224"/>
          </a:xfrm>
          <a:custGeom>
            <a:avLst/>
            <a:gdLst/>
            <a:ahLst/>
            <a:cxnLst/>
            <a:rect l="l" t="t" r="r" b="b"/>
            <a:pathLst>
              <a:path w="5645695" h="1255224">
                <a:moveTo>
                  <a:pt x="135087" y="0"/>
                </a:moveTo>
                <a:lnTo>
                  <a:pt x="5510608" y="0"/>
                </a:lnTo>
                <a:cubicBezTo>
                  <a:pt x="5585215" y="0"/>
                  <a:pt x="5645695" y="60481"/>
                  <a:pt x="5645695" y="135087"/>
                </a:cubicBezTo>
                <a:lnTo>
                  <a:pt x="5645695" y="1120137"/>
                </a:lnTo>
                <a:cubicBezTo>
                  <a:pt x="5645695" y="1194744"/>
                  <a:pt x="5585215" y="1255224"/>
                  <a:pt x="5510608" y="1255224"/>
                </a:cubicBezTo>
                <a:lnTo>
                  <a:pt x="135087" y="1255224"/>
                </a:lnTo>
                <a:cubicBezTo>
                  <a:pt x="60481" y="1255224"/>
                  <a:pt x="0" y="1194744"/>
                  <a:pt x="0" y="1120137"/>
                </a:cubicBezTo>
                <a:lnTo>
                  <a:pt x="0" y="135087"/>
                </a:lnTo>
                <a:cubicBezTo>
                  <a:pt x="0" y="60481"/>
                  <a:pt x="60481" y="0"/>
                  <a:pt x="135087" y="0"/>
                </a:cubicBezTo>
                <a:close/>
              </a:path>
            </a:pathLst>
          </a:custGeom>
          <a:solidFill>
            <a:srgbClr val="FFFFFF"/>
          </a:solidFill>
          <a:ln w="8467">
            <a:solidFill>
              <a:srgbClr val="E5E5E5"/>
            </a:solidFill>
            <a:prstDash val="solid"/>
          </a:ln>
          <a:effectLst>
            <a:outerShdw blurRad="25330" dist="8443" dir="5400000" algn="bl" rotWithShape="0">
              <a:srgbClr val="000000">
                <a:alpha val="10196"/>
              </a:srgbClr>
            </a:outerShdw>
          </a:effectLst>
        </p:spPr>
        <p:txBody>
          <a:bodyPr/>
          <a:lstStyle/>
          <a:p>
            <a:endParaRPr lang="zh-CN" altLang="en-US"/>
          </a:p>
        </p:txBody>
      </p:sp>
      <p:sp>
        <p:nvSpPr>
          <p:cNvPr id="46" name="Shape 44"/>
          <p:cNvSpPr/>
          <p:nvPr/>
        </p:nvSpPr>
        <p:spPr>
          <a:xfrm>
            <a:off x="576601" y="5170062"/>
            <a:ext cx="132981" cy="151978"/>
          </a:xfrm>
          <a:custGeom>
            <a:avLst/>
            <a:gdLst/>
            <a:ahLst/>
            <a:cxnLst/>
            <a:rect l="l" t="t" r="r" b="b"/>
            <a:pathLst>
              <a:path w="132981" h="151978">
                <a:moveTo>
                  <a:pt x="23747" y="30870"/>
                </a:moveTo>
                <a:cubicBezTo>
                  <a:pt x="27678" y="30870"/>
                  <a:pt x="30870" y="27678"/>
                  <a:pt x="30870" y="23747"/>
                </a:cubicBezTo>
                <a:cubicBezTo>
                  <a:pt x="30870" y="19815"/>
                  <a:pt x="27678" y="16623"/>
                  <a:pt x="23747" y="16623"/>
                </a:cubicBezTo>
                <a:cubicBezTo>
                  <a:pt x="19815" y="16623"/>
                  <a:pt x="16623" y="19815"/>
                  <a:pt x="16623" y="23747"/>
                </a:cubicBezTo>
                <a:cubicBezTo>
                  <a:pt x="16623" y="27678"/>
                  <a:pt x="19815" y="30870"/>
                  <a:pt x="23747" y="30870"/>
                </a:cubicBezTo>
                <a:close/>
                <a:moveTo>
                  <a:pt x="47493" y="23747"/>
                </a:moveTo>
                <a:cubicBezTo>
                  <a:pt x="47493" y="33483"/>
                  <a:pt x="41645" y="41853"/>
                  <a:pt x="33245" y="45504"/>
                </a:cubicBezTo>
                <a:lnTo>
                  <a:pt x="33245" y="66490"/>
                </a:lnTo>
                <a:lnTo>
                  <a:pt x="85488" y="66490"/>
                </a:lnTo>
                <a:cubicBezTo>
                  <a:pt x="93354" y="66490"/>
                  <a:pt x="99735" y="60108"/>
                  <a:pt x="99735" y="52242"/>
                </a:cubicBezTo>
                <a:lnTo>
                  <a:pt x="99735" y="45504"/>
                </a:lnTo>
                <a:cubicBezTo>
                  <a:pt x="91335" y="41853"/>
                  <a:pt x="85488" y="33483"/>
                  <a:pt x="85488" y="23747"/>
                </a:cubicBezTo>
                <a:cubicBezTo>
                  <a:pt x="85488" y="10627"/>
                  <a:pt x="96114" y="0"/>
                  <a:pt x="109234" y="0"/>
                </a:cubicBezTo>
                <a:cubicBezTo>
                  <a:pt x="122354" y="0"/>
                  <a:pt x="132981" y="10627"/>
                  <a:pt x="132981" y="23747"/>
                </a:cubicBezTo>
                <a:cubicBezTo>
                  <a:pt x="132981" y="33483"/>
                  <a:pt x="127133" y="41853"/>
                  <a:pt x="118733" y="45504"/>
                </a:cubicBezTo>
                <a:lnTo>
                  <a:pt x="118733" y="52242"/>
                </a:lnTo>
                <a:cubicBezTo>
                  <a:pt x="118733" y="70616"/>
                  <a:pt x="103861" y="85488"/>
                  <a:pt x="85488" y="85488"/>
                </a:cubicBezTo>
                <a:lnTo>
                  <a:pt x="33245" y="85488"/>
                </a:lnTo>
                <a:lnTo>
                  <a:pt x="33245" y="106474"/>
                </a:lnTo>
                <a:cubicBezTo>
                  <a:pt x="41645" y="110125"/>
                  <a:pt x="47493" y="118495"/>
                  <a:pt x="47493" y="128231"/>
                </a:cubicBezTo>
                <a:cubicBezTo>
                  <a:pt x="47493" y="141351"/>
                  <a:pt x="36866" y="151978"/>
                  <a:pt x="23747" y="151978"/>
                </a:cubicBezTo>
                <a:cubicBezTo>
                  <a:pt x="10627" y="151978"/>
                  <a:pt x="0" y="141351"/>
                  <a:pt x="0" y="128231"/>
                </a:cubicBezTo>
                <a:cubicBezTo>
                  <a:pt x="0" y="118495"/>
                  <a:pt x="5848" y="110125"/>
                  <a:pt x="14248" y="106474"/>
                </a:cubicBezTo>
                <a:lnTo>
                  <a:pt x="14248" y="45534"/>
                </a:lnTo>
                <a:cubicBezTo>
                  <a:pt x="5848" y="41853"/>
                  <a:pt x="0" y="33483"/>
                  <a:pt x="0" y="23747"/>
                </a:cubicBezTo>
                <a:cubicBezTo>
                  <a:pt x="0" y="10627"/>
                  <a:pt x="10627" y="0"/>
                  <a:pt x="23747" y="0"/>
                </a:cubicBezTo>
                <a:cubicBezTo>
                  <a:pt x="36866" y="0"/>
                  <a:pt x="47493" y="10627"/>
                  <a:pt x="47493" y="23747"/>
                </a:cubicBezTo>
                <a:close/>
                <a:moveTo>
                  <a:pt x="116358" y="23747"/>
                </a:moveTo>
                <a:cubicBezTo>
                  <a:pt x="116358" y="19815"/>
                  <a:pt x="113166" y="16623"/>
                  <a:pt x="109234" y="16623"/>
                </a:cubicBezTo>
                <a:cubicBezTo>
                  <a:pt x="105302" y="16623"/>
                  <a:pt x="102110" y="19815"/>
                  <a:pt x="102110" y="23747"/>
                </a:cubicBezTo>
                <a:cubicBezTo>
                  <a:pt x="102110" y="27678"/>
                  <a:pt x="105302" y="30870"/>
                  <a:pt x="109234" y="30870"/>
                </a:cubicBezTo>
                <a:cubicBezTo>
                  <a:pt x="113166" y="30870"/>
                  <a:pt x="116358" y="27678"/>
                  <a:pt x="116358" y="23747"/>
                </a:cubicBezTo>
                <a:close/>
                <a:moveTo>
                  <a:pt x="23747" y="135355"/>
                </a:moveTo>
                <a:cubicBezTo>
                  <a:pt x="27678" y="135355"/>
                  <a:pt x="30870" y="132163"/>
                  <a:pt x="30870" y="128231"/>
                </a:cubicBezTo>
                <a:cubicBezTo>
                  <a:pt x="30870" y="124299"/>
                  <a:pt x="27678" y="121107"/>
                  <a:pt x="23747" y="121107"/>
                </a:cubicBezTo>
                <a:cubicBezTo>
                  <a:pt x="19815" y="121107"/>
                  <a:pt x="16623" y="124299"/>
                  <a:pt x="16623" y="128231"/>
                </a:cubicBezTo>
                <a:cubicBezTo>
                  <a:pt x="16623" y="132163"/>
                  <a:pt x="19815" y="135355"/>
                  <a:pt x="23747" y="135355"/>
                </a:cubicBezTo>
                <a:close/>
              </a:path>
            </a:pathLst>
          </a:custGeom>
          <a:solidFill>
            <a:srgbClr val="0071E3"/>
          </a:solidFill>
          <a:ln/>
        </p:spPr>
        <p:txBody>
          <a:bodyPr/>
          <a:lstStyle/>
          <a:p>
            <a:endParaRPr lang="zh-CN" altLang="en-US"/>
          </a:p>
        </p:txBody>
      </p:sp>
      <p:sp>
        <p:nvSpPr>
          <p:cNvPr id="47" name="Text 45"/>
          <p:cNvSpPr/>
          <p:nvPr/>
        </p:nvSpPr>
        <p:spPr>
          <a:xfrm>
            <a:off x="740188" y="5127846"/>
            <a:ext cx="5116587" cy="236410"/>
          </a:xfrm>
          <a:prstGeom prst="rect">
            <a:avLst/>
          </a:prstGeom>
          <a:noFill/>
          <a:ln/>
        </p:spPr>
        <p:txBody>
          <a:bodyPr wrap="square" lIns="0" tIns="0" rIns="0" bIns="0" rtlCol="0" anchor="ctr"/>
          <a:lstStyle/>
          <a:p>
            <a:pPr>
              <a:lnSpc>
                <a:spcPct val="130000"/>
              </a:lnSpc>
            </a:pPr>
            <a:r>
              <a:rPr lang="en-US" sz="1197" b="1" dirty="0">
                <a:solidFill>
                  <a:srgbClr val="1D1D1D"/>
                </a:solidFill>
                <a:latin typeface="MiSans" pitchFamily="34" charset="0"/>
                <a:ea typeface="MiSans" pitchFamily="34" charset="-122"/>
                <a:cs typeface="MiSans" pitchFamily="34" charset="-120"/>
              </a:rPr>
              <a:t>自动化集成改造流程</a:t>
            </a:r>
            <a:endParaRPr lang="en-US" sz="1600" dirty="0"/>
          </a:p>
        </p:txBody>
      </p:sp>
      <p:sp>
        <p:nvSpPr>
          <p:cNvPr id="48" name="Shape 46"/>
          <p:cNvSpPr/>
          <p:nvPr/>
        </p:nvSpPr>
        <p:spPr>
          <a:xfrm>
            <a:off x="545995" y="5499348"/>
            <a:ext cx="818992" cy="472820"/>
          </a:xfrm>
          <a:custGeom>
            <a:avLst/>
            <a:gdLst/>
            <a:ahLst/>
            <a:cxnLst/>
            <a:rect l="l" t="t" r="r" b="b"/>
            <a:pathLst>
              <a:path w="818992" h="472820">
                <a:moveTo>
                  <a:pt x="67547" y="0"/>
                </a:moveTo>
                <a:lnTo>
                  <a:pt x="751445" y="0"/>
                </a:lnTo>
                <a:cubicBezTo>
                  <a:pt x="788750" y="0"/>
                  <a:pt x="818992" y="30242"/>
                  <a:pt x="818992" y="67547"/>
                </a:cubicBezTo>
                <a:lnTo>
                  <a:pt x="818992" y="405273"/>
                </a:lnTo>
                <a:cubicBezTo>
                  <a:pt x="818992" y="442578"/>
                  <a:pt x="788750" y="472820"/>
                  <a:pt x="751445" y="472820"/>
                </a:cubicBezTo>
                <a:lnTo>
                  <a:pt x="67547" y="472820"/>
                </a:lnTo>
                <a:cubicBezTo>
                  <a:pt x="30242" y="472820"/>
                  <a:pt x="0" y="442578"/>
                  <a:pt x="0" y="405273"/>
                </a:cubicBezTo>
                <a:lnTo>
                  <a:pt x="0" y="67547"/>
                </a:lnTo>
                <a:cubicBezTo>
                  <a:pt x="0" y="30267"/>
                  <a:pt x="30267" y="0"/>
                  <a:pt x="67547" y="0"/>
                </a:cubicBezTo>
                <a:close/>
              </a:path>
            </a:pathLst>
          </a:custGeom>
          <a:solidFill>
            <a:srgbClr val="0071E3">
              <a:alpha val="10196"/>
            </a:srgbClr>
          </a:solidFill>
          <a:ln/>
        </p:spPr>
        <p:txBody>
          <a:bodyPr/>
          <a:lstStyle/>
          <a:p>
            <a:endParaRPr lang="zh-CN" altLang="en-US"/>
          </a:p>
        </p:txBody>
      </p:sp>
      <p:sp>
        <p:nvSpPr>
          <p:cNvPr id="49" name="Text 47"/>
          <p:cNvSpPr/>
          <p:nvPr/>
        </p:nvSpPr>
        <p:spPr>
          <a:xfrm>
            <a:off x="545995" y="5499348"/>
            <a:ext cx="878094" cy="472820"/>
          </a:xfrm>
          <a:prstGeom prst="rect">
            <a:avLst/>
          </a:prstGeom>
          <a:noFill/>
          <a:ln/>
        </p:spPr>
        <p:txBody>
          <a:bodyPr wrap="square" lIns="135091" tIns="67546" rIns="135091" bIns="67546" rtlCol="0" anchor="ctr"/>
          <a:lstStyle/>
          <a:p>
            <a:pPr>
              <a:lnSpc>
                <a:spcPct val="120000"/>
              </a:lnSpc>
            </a:pPr>
            <a:r>
              <a:rPr lang="en-US" sz="931" b="1" dirty="0">
                <a:solidFill>
                  <a:srgbClr val="0071E3"/>
                </a:solidFill>
                <a:latin typeface="MiSans" pitchFamily="34" charset="0"/>
                <a:ea typeface="MiSans" pitchFamily="34" charset="-122"/>
                <a:cs typeface="MiSans" pitchFamily="34" charset="-120"/>
              </a:rPr>
              <a:t>应用项目仓库</a:t>
            </a:r>
            <a:endParaRPr lang="en-US" sz="1600" dirty="0"/>
          </a:p>
        </p:txBody>
      </p:sp>
      <p:sp>
        <p:nvSpPr>
          <p:cNvPr id="50" name="Shape 48"/>
          <p:cNvSpPr/>
          <p:nvPr/>
        </p:nvSpPr>
        <p:spPr>
          <a:xfrm>
            <a:off x="1431301" y="5676655"/>
            <a:ext cx="118205" cy="118205"/>
          </a:xfrm>
          <a:custGeom>
            <a:avLst/>
            <a:gdLst/>
            <a:ahLst/>
            <a:cxnLst/>
            <a:rect l="l" t="t" r="r" b="b"/>
            <a:pathLst>
              <a:path w="118205" h="118205">
                <a:moveTo>
                  <a:pt x="116035" y="64320"/>
                </a:moveTo>
                <a:cubicBezTo>
                  <a:pt x="118921" y="61434"/>
                  <a:pt x="118921" y="56748"/>
                  <a:pt x="116035" y="53862"/>
                </a:cubicBezTo>
                <a:lnTo>
                  <a:pt x="79096" y="16923"/>
                </a:lnTo>
                <a:cubicBezTo>
                  <a:pt x="76210" y="14037"/>
                  <a:pt x="71523" y="14037"/>
                  <a:pt x="68637" y="16923"/>
                </a:cubicBezTo>
                <a:cubicBezTo>
                  <a:pt x="65752" y="19809"/>
                  <a:pt x="65752" y="24495"/>
                  <a:pt x="68637" y="27381"/>
                </a:cubicBezTo>
                <a:lnTo>
                  <a:pt x="92971" y="51715"/>
                </a:lnTo>
                <a:lnTo>
                  <a:pt x="7388" y="51715"/>
                </a:lnTo>
                <a:cubicBezTo>
                  <a:pt x="3301" y="51715"/>
                  <a:pt x="0" y="55016"/>
                  <a:pt x="0" y="59102"/>
                </a:cubicBezTo>
                <a:cubicBezTo>
                  <a:pt x="0" y="63189"/>
                  <a:pt x="3301" y="66490"/>
                  <a:pt x="7388" y="66490"/>
                </a:cubicBezTo>
                <a:lnTo>
                  <a:pt x="92971" y="66490"/>
                </a:lnTo>
                <a:lnTo>
                  <a:pt x="68637" y="90824"/>
                </a:lnTo>
                <a:cubicBezTo>
                  <a:pt x="65752" y="93710"/>
                  <a:pt x="65752" y="98396"/>
                  <a:pt x="68637" y="101282"/>
                </a:cubicBezTo>
                <a:cubicBezTo>
                  <a:pt x="71523" y="104168"/>
                  <a:pt x="76210" y="104168"/>
                  <a:pt x="79096" y="101282"/>
                </a:cubicBezTo>
                <a:lnTo>
                  <a:pt x="116035" y="64343"/>
                </a:lnTo>
                <a:close/>
              </a:path>
            </a:pathLst>
          </a:custGeom>
          <a:solidFill>
            <a:srgbClr val="86868B"/>
          </a:solidFill>
          <a:ln/>
        </p:spPr>
        <p:txBody>
          <a:bodyPr/>
          <a:lstStyle/>
          <a:p>
            <a:endParaRPr lang="zh-CN" altLang="en-US"/>
          </a:p>
        </p:txBody>
      </p:sp>
      <p:sp>
        <p:nvSpPr>
          <p:cNvPr id="51" name="Shape 49"/>
          <p:cNvSpPr/>
          <p:nvPr/>
        </p:nvSpPr>
        <p:spPr>
          <a:xfrm>
            <a:off x="1617051" y="5499348"/>
            <a:ext cx="717673" cy="472820"/>
          </a:xfrm>
          <a:custGeom>
            <a:avLst/>
            <a:gdLst/>
            <a:ahLst/>
            <a:cxnLst/>
            <a:rect l="l" t="t" r="r" b="b"/>
            <a:pathLst>
              <a:path w="717673" h="472820">
                <a:moveTo>
                  <a:pt x="67547" y="0"/>
                </a:moveTo>
                <a:lnTo>
                  <a:pt x="650126" y="0"/>
                </a:lnTo>
                <a:cubicBezTo>
                  <a:pt x="687431" y="0"/>
                  <a:pt x="717673" y="30242"/>
                  <a:pt x="717673" y="67547"/>
                </a:cubicBezTo>
                <a:lnTo>
                  <a:pt x="717673" y="405273"/>
                </a:lnTo>
                <a:cubicBezTo>
                  <a:pt x="717673" y="442578"/>
                  <a:pt x="687431" y="472820"/>
                  <a:pt x="650126" y="472820"/>
                </a:cubicBezTo>
                <a:lnTo>
                  <a:pt x="67547" y="472820"/>
                </a:lnTo>
                <a:cubicBezTo>
                  <a:pt x="30242" y="472820"/>
                  <a:pt x="0" y="442578"/>
                  <a:pt x="0" y="405273"/>
                </a:cubicBezTo>
                <a:lnTo>
                  <a:pt x="0" y="67547"/>
                </a:lnTo>
                <a:cubicBezTo>
                  <a:pt x="0" y="30267"/>
                  <a:pt x="30267" y="0"/>
                  <a:pt x="67547" y="0"/>
                </a:cubicBezTo>
                <a:close/>
              </a:path>
            </a:pathLst>
          </a:custGeom>
          <a:solidFill>
            <a:srgbClr val="0071E3">
              <a:alpha val="10196"/>
            </a:srgbClr>
          </a:solidFill>
          <a:ln/>
        </p:spPr>
        <p:txBody>
          <a:bodyPr/>
          <a:lstStyle/>
          <a:p>
            <a:endParaRPr lang="zh-CN" altLang="en-US"/>
          </a:p>
        </p:txBody>
      </p:sp>
      <p:sp>
        <p:nvSpPr>
          <p:cNvPr id="52" name="Text 50"/>
          <p:cNvSpPr/>
          <p:nvPr/>
        </p:nvSpPr>
        <p:spPr>
          <a:xfrm>
            <a:off x="1617051" y="5499348"/>
            <a:ext cx="776776" cy="472820"/>
          </a:xfrm>
          <a:prstGeom prst="rect">
            <a:avLst/>
          </a:prstGeom>
          <a:noFill/>
          <a:ln/>
        </p:spPr>
        <p:txBody>
          <a:bodyPr wrap="square" lIns="135091" tIns="67546" rIns="135091" bIns="67546" rtlCol="0" anchor="ctr"/>
          <a:lstStyle/>
          <a:p>
            <a:pPr>
              <a:lnSpc>
                <a:spcPct val="120000"/>
              </a:lnSpc>
            </a:pPr>
            <a:r>
              <a:rPr lang="en-US" sz="931" b="1" dirty="0">
                <a:solidFill>
                  <a:srgbClr val="0071E3"/>
                </a:solidFill>
                <a:latin typeface="MiSans" pitchFamily="34" charset="0"/>
                <a:ea typeface="MiSans" pitchFamily="34" charset="-122"/>
                <a:cs typeface="MiSans" pitchFamily="34" charset="-120"/>
              </a:rPr>
              <a:t>AI拉取分支</a:t>
            </a:r>
            <a:endParaRPr lang="en-US" sz="1600" dirty="0"/>
          </a:p>
        </p:txBody>
      </p:sp>
      <p:sp>
        <p:nvSpPr>
          <p:cNvPr id="53" name="Shape 51"/>
          <p:cNvSpPr/>
          <p:nvPr/>
        </p:nvSpPr>
        <p:spPr>
          <a:xfrm>
            <a:off x="2401479" y="5676655"/>
            <a:ext cx="118205" cy="118205"/>
          </a:xfrm>
          <a:custGeom>
            <a:avLst/>
            <a:gdLst/>
            <a:ahLst/>
            <a:cxnLst/>
            <a:rect l="l" t="t" r="r" b="b"/>
            <a:pathLst>
              <a:path w="118205" h="118205">
                <a:moveTo>
                  <a:pt x="116035" y="64320"/>
                </a:moveTo>
                <a:cubicBezTo>
                  <a:pt x="118921" y="61434"/>
                  <a:pt x="118921" y="56748"/>
                  <a:pt x="116035" y="53862"/>
                </a:cubicBezTo>
                <a:lnTo>
                  <a:pt x="79096" y="16923"/>
                </a:lnTo>
                <a:cubicBezTo>
                  <a:pt x="76210" y="14037"/>
                  <a:pt x="71523" y="14037"/>
                  <a:pt x="68637" y="16923"/>
                </a:cubicBezTo>
                <a:cubicBezTo>
                  <a:pt x="65752" y="19809"/>
                  <a:pt x="65752" y="24495"/>
                  <a:pt x="68637" y="27381"/>
                </a:cubicBezTo>
                <a:lnTo>
                  <a:pt x="92971" y="51715"/>
                </a:lnTo>
                <a:lnTo>
                  <a:pt x="7388" y="51715"/>
                </a:lnTo>
                <a:cubicBezTo>
                  <a:pt x="3301" y="51715"/>
                  <a:pt x="0" y="55016"/>
                  <a:pt x="0" y="59102"/>
                </a:cubicBezTo>
                <a:cubicBezTo>
                  <a:pt x="0" y="63189"/>
                  <a:pt x="3301" y="66490"/>
                  <a:pt x="7388" y="66490"/>
                </a:cubicBezTo>
                <a:lnTo>
                  <a:pt x="92971" y="66490"/>
                </a:lnTo>
                <a:lnTo>
                  <a:pt x="68637" y="90824"/>
                </a:lnTo>
                <a:cubicBezTo>
                  <a:pt x="65752" y="93710"/>
                  <a:pt x="65752" y="98396"/>
                  <a:pt x="68637" y="101282"/>
                </a:cubicBezTo>
                <a:cubicBezTo>
                  <a:pt x="71523" y="104168"/>
                  <a:pt x="76210" y="104168"/>
                  <a:pt x="79096" y="101282"/>
                </a:cubicBezTo>
                <a:lnTo>
                  <a:pt x="116035" y="64343"/>
                </a:lnTo>
                <a:close/>
              </a:path>
            </a:pathLst>
          </a:custGeom>
          <a:solidFill>
            <a:srgbClr val="86868B"/>
          </a:solidFill>
          <a:ln/>
        </p:spPr>
        <p:txBody>
          <a:bodyPr/>
          <a:lstStyle/>
          <a:p>
            <a:endParaRPr lang="zh-CN" altLang="en-US"/>
          </a:p>
        </p:txBody>
      </p:sp>
      <p:sp>
        <p:nvSpPr>
          <p:cNvPr id="54" name="Shape 52"/>
          <p:cNvSpPr/>
          <p:nvPr/>
        </p:nvSpPr>
        <p:spPr>
          <a:xfrm>
            <a:off x="2587229" y="5499348"/>
            <a:ext cx="869651" cy="472820"/>
          </a:xfrm>
          <a:custGeom>
            <a:avLst/>
            <a:gdLst/>
            <a:ahLst/>
            <a:cxnLst/>
            <a:rect l="l" t="t" r="r" b="b"/>
            <a:pathLst>
              <a:path w="869651" h="472820">
                <a:moveTo>
                  <a:pt x="67547" y="0"/>
                </a:moveTo>
                <a:lnTo>
                  <a:pt x="802104" y="0"/>
                </a:lnTo>
                <a:cubicBezTo>
                  <a:pt x="839409" y="0"/>
                  <a:pt x="869651" y="30242"/>
                  <a:pt x="869651" y="67547"/>
                </a:cubicBezTo>
                <a:lnTo>
                  <a:pt x="869651" y="405273"/>
                </a:lnTo>
                <a:cubicBezTo>
                  <a:pt x="869651" y="442578"/>
                  <a:pt x="839409" y="472820"/>
                  <a:pt x="802104" y="472820"/>
                </a:cubicBezTo>
                <a:lnTo>
                  <a:pt x="67547" y="472820"/>
                </a:lnTo>
                <a:cubicBezTo>
                  <a:pt x="30242" y="472820"/>
                  <a:pt x="0" y="442578"/>
                  <a:pt x="0" y="405273"/>
                </a:cubicBezTo>
                <a:lnTo>
                  <a:pt x="0" y="67547"/>
                </a:lnTo>
                <a:cubicBezTo>
                  <a:pt x="0" y="30267"/>
                  <a:pt x="30267" y="0"/>
                  <a:pt x="67547" y="0"/>
                </a:cubicBezTo>
                <a:close/>
              </a:path>
            </a:pathLst>
          </a:custGeom>
          <a:solidFill>
            <a:srgbClr val="0071E3">
              <a:alpha val="10196"/>
            </a:srgbClr>
          </a:solidFill>
          <a:ln/>
        </p:spPr>
        <p:txBody>
          <a:bodyPr/>
          <a:lstStyle/>
          <a:p>
            <a:endParaRPr lang="zh-CN" altLang="en-US"/>
          </a:p>
        </p:txBody>
      </p:sp>
      <p:sp>
        <p:nvSpPr>
          <p:cNvPr id="55" name="Text 53"/>
          <p:cNvSpPr/>
          <p:nvPr/>
        </p:nvSpPr>
        <p:spPr>
          <a:xfrm>
            <a:off x="2587229" y="5499348"/>
            <a:ext cx="928753" cy="472820"/>
          </a:xfrm>
          <a:prstGeom prst="rect">
            <a:avLst/>
          </a:prstGeom>
          <a:noFill/>
          <a:ln/>
        </p:spPr>
        <p:txBody>
          <a:bodyPr wrap="square" lIns="135091" tIns="67546" rIns="135091" bIns="67546" rtlCol="0" anchor="ctr"/>
          <a:lstStyle/>
          <a:p>
            <a:pPr>
              <a:lnSpc>
                <a:spcPct val="120000"/>
              </a:lnSpc>
            </a:pPr>
            <a:r>
              <a:rPr lang="en-US" sz="931" b="1" dirty="0">
                <a:solidFill>
                  <a:srgbClr val="0071E3"/>
                </a:solidFill>
                <a:latin typeface="MiSans" pitchFamily="34" charset="0"/>
                <a:ea typeface="MiSans" pitchFamily="34" charset="-122"/>
                <a:cs typeface="MiSans" pitchFamily="34" charset="-120"/>
              </a:rPr>
              <a:t>自动执行SKILL</a:t>
            </a:r>
            <a:endParaRPr lang="en-US" sz="1600" dirty="0"/>
          </a:p>
        </p:txBody>
      </p:sp>
      <p:sp>
        <p:nvSpPr>
          <p:cNvPr id="56" name="Shape 54"/>
          <p:cNvSpPr/>
          <p:nvPr/>
        </p:nvSpPr>
        <p:spPr>
          <a:xfrm>
            <a:off x="3527504" y="5676655"/>
            <a:ext cx="118205" cy="118205"/>
          </a:xfrm>
          <a:custGeom>
            <a:avLst/>
            <a:gdLst/>
            <a:ahLst/>
            <a:cxnLst/>
            <a:rect l="l" t="t" r="r" b="b"/>
            <a:pathLst>
              <a:path w="118205" h="118205">
                <a:moveTo>
                  <a:pt x="116035" y="64320"/>
                </a:moveTo>
                <a:cubicBezTo>
                  <a:pt x="118921" y="61434"/>
                  <a:pt x="118921" y="56748"/>
                  <a:pt x="116035" y="53862"/>
                </a:cubicBezTo>
                <a:lnTo>
                  <a:pt x="79096" y="16923"/>
                </a:lnTo>
                <a:cubicBezTo>
                  <a:pt x="76210" y="14037"/>
                  <a:pt x="71523" y="14037"/>
                  <a:pt x="68637" y="16923"/>
                </a:cubicBezTo>
                <a:cubicBezTo>
                  <a:pt x="65752" y="19809"/>
                  <a:pt x="65752" y="24495"/>
                  <a:pt x="68637" y="27381"/>
                </a:cubicBezTo>
                <a:lnTo>
                  <a:pt x="92971" y="51715"/>
                </a:lnTo>
                <a:lnTo>
                  <a:pt x="7388" y="51715"/>
                </a:lnTo>
                <a:cubicBezTo>
                  <a:pt x="3301" y="51715"/>
                  <a:pt x="0" y="55016"/>
                  <a:pt x="0" y="59102"/>
                </a:cubicBezTo>
                <a:cubicBezTo>
                  <a:pt x="0" y="63189"/>
                  <a:pt x="3301" y="66490"/>
                  <a:pt x="7388" y="66490"/>
                </a:cubicBezTo>
                <a:lnTo>
                  <a:pt x="92971" y="66490"/>
                </a:lnTo>
                <a:lnTo>
                  <a:pt x="68637" y="90824"/>
                </a:lnTo>
                <a:cubicBezTo>
                  <a:pt x="65752" y="93710"/>
                  <a:pt x="65752" y="98396"/>
                  <a:pt x="68637" y="101282"/>
                </a:cubicBezTo>
                <a:cubicBezTo>
                  <a:pt x="71523" y="104168"/>
                  <a:pt x="76210" y="104168"/>
                  <a:pt x="79096" y="101282"/>
                </a:cubicBezTo>
                <a:lnTo>
                  <a:pt x="116035" y="64343"/>
                </a:lnTo>
                <a:close/>
              </a:path>
            </a:pathLst>
          </a:custGeom>
          <a:solidFill>
            <a:srgbClr val="86868B"/>
          </a:solidFill>
          <a:ln/>
        </p:spPr>
        <p:txBody>
          <a:bodyPr/>
          <a:lstStyle/>
          <a:p>
            <a:endParaRPr lang="zh-CN" altLang="en-US"/>
          </a:p>
        </p:txBody>
      </p:sp>
      <p:sp>
        <p:nvSpPr>
          <p:cNvPr id="57" name="Shape 55"/>
          <p:cNvSpPr/>
          <p:nvPr/>
        </p:nvSpPr>
        <p:spPr>
          <a:xfrm>
            <a:off x="3713255" y="5499348"/>
            <a:ext cx="911867" cy="472820"/>
          </a:xfrm>
          <a:custGeom>
            <a:avLst/>
            <a:gdLst/>
            <a:ahLst/>
            <a:cxnLst/>
            <a:rect l="l" t="t" r="r" b="b"/>
            <a:pathLst>
              <a:path w="911867" h="472820">
                <a:moveTo>
                  <a:pt x="67547" y="0"/>
                </a:moveTo>
                <a:lnTo>
                  <a:pt x="844320" y="0"/>
                </a:lnTo>
                <a:cubicBezTo>
                  <a:pt x="881625" y="0"/>
                  <a:pt x="911867" y="30242"/>
                  <a:pt x="911867" y="67547"/>
                </a:cubicBezTo>
                <a:lnTo>
                  <a:pt x="911867" y="405273"/>
                </a:lnTo>
                <a:cubicBezTo>
                  <a:pt x="911867" y="442578"/>
                  <a:pt x="881625" y="472820"/>
                  <a:pt x="844320" y="472820"/>
                </a:cubicBezTo>
                <a:lnTo>
                  <a:pt x="67547" y="472820"/>
                </a:lnTo>
                <a:cubicBezTo>
                  <a:pt x="30242" y="472820"/>
                  <a:pt x="0" y="442578"/>
                  <a:pt x="0" y="405273"/>
                </a:cubicBezTo>
                <a:lnTo>
                  <a:pt x="0" y="67547"/>
                </a:lnTo>
                <a:cubicBezTo>
                  <a:pt x="0" y="30267"/>
                  <a:pt x="30267" y="0"/>
                  <a:pt x="67547" y="0"/>
                </a:cubicBezTo>
                <a:close/>
              </a:path>
            </a:pathLst>
          </a:custGeom>
          <a:solidFill>
            <a:srgbClr val="0071E3">
              <a:alpha val="10196"/>
            </a:srgbClr>
          </a:solidFill>
          <a:ln/>
        </p:spPr>
        <p:txBody>
          <a:bodyPr/>
          <a:lstStyle/>
          <a:p>
            <a:endParaRPr lang="zh-CN" altLang="en-US"/>
          </a:p>
        </p:txBody>
      </p:sp>
      <p:sp>
        <p:nvSpPr>
          <p:cNvPr id="58" name="Text 56"/>
          <p:cNvSpPr/>
          <p:nvPr/>
        </p:nvSpPr>
        <p:spPr>
          <a:xfrm>
            <a:off x="3713255" y="5499348"/>
            <a:ext cx="970970" cy="472820"/>
          </a:xfrm>
          <a:prstGeom prst="rect">
            <a:avLst/>
          </a:prstGeom>
          <a:noFill/>
          <a:ln/>
        </p:spPr>
        <p:txBody>
          <a:bodyPr wrap="square" lIns="135091" tIns="67546" rIns="135091" bIns="67546" rtlCol="0" anchor="ctr"/>
          <a:lstStyle/>
          <a:p>
            <a:pPr>
              <a:lnSpc>
                <a:spcPct val="120000"/>
              </a:lnSpc>
            </a:pPr>
            <a:r>
              <a:rPr lang="en-US" sz="931" b="1" dirty="0">
                <a:solidFill>
                  <a:srgbClr val="0071E3"/>
                </a:solidFill>
                <a:latin typeface="MiSans" pitchFamily="34" charset="0"/>
                <a:ea typeface="MiSans" pitchFamily="34" charset="-122"/>
                <a:cs typeface="MiSans" pitchFamily="34" charset="-120"/>
              </a:rPr>
              <a:t>提交并添加标签</a:t>
            </a:r>
            <a:endParaRPr lang="en-US" sz="1600" dirty="0"/>
          </a:p>
        </p:txBody>
      </p:sp>
      <p:sp>
        <p:nvSpPr>
          <p:cNvPr id="59" name="Shape 57"/>
          <p:cNvSpPr/>
          <p:nvPr/>
        </p:nvSpPr>
        <p:spPr>
          <a:xfrm>
            <a:off x="4689765" y="5676655"/>
            <a:ext cx="118205" cy="118205"/>
          </a:xfrm>
          <a:custGeom>
            <a:avLst/>
            <a:gdLst/>
            <a:ahLst/>
            <a:cxnLst/>
            <a:rect l="l" t="t" r="r" b="b"/>
            <a:pathLst>
              <a:path w="118205" h="118205">
                <a:moveTo>
                  <a:pt x="116035" y="64320"/>
                </a:moveTo>
                <a:cubicBezTo>
                  <a:pt x="118921" y="61434"/>
                  <a:pt x="118921" y="56748"/>
                  <a:pt x="116035" y="53862"/>
                </a:cubicBezTo>
                <a:lnTo>
                  <a:pt x="79096" y="16923"/>
                </a:lnTo>
                <a:cubicBezTo>
                  <a:pt x="76210" y="14037"/>
                  <a:pt x="71523" y="14037"/>
                  <a:pt x="68637" y="16923"/>
                </a:cubicBezTo>
                <a:cubicBezTo>
                  <a:pt x="65752" y="19809"/>
                  <a:pt x="65752" y="24495"/>
                  <a:pt x="68637" y="27381"/>
                </a:cubicBezTo>
                <a:lnTo>
                  <a:pt x="92971" y="51715"/>
                </a:lnTo>
                <a:lnTo>
                  <a:pt x="7388" y="51715"/>
                </a:lnTo>
                <a:cubicBezTo>
                  <a:pt x="3301" y="51715"/>
                  <a:pt x="0" y="55016"/>
                  <a:pt x="0" y="59102"/>
                </a:cubicBezTo>
                <a:cubicBezTo>
                  <a:pt x="0" y="63189"/>
                  <a:pt x="3301" y="66490"/>
                  <a:pt x="7388" y="66490"/>
                </a:cubicBezTo>
                <a:lnTo>
                  <a:pt x="92971" y="66490"/>
                </a:lnTo>
                <a:lnTo>
                  <a:pt x="68637" y="90824"/>
                </a:lnTo>
                <a:cubicBezTo>
                  <a:pt x="65752" y="93710"/>
                  <a:pt x="65752" y="98396"/>
                  <a:pt x="68637" y="101282"/>
                </a:cubicBezTo>
                <a:cubicBezTo>
                  <a:pt x="71523" y="104168"/>
                  <a:pt x="76210" y="104168"/>
                  <a:pt x="79096" y="101282"/>
                </a:cubicBezTo>
                <a:lnTo>
                  <a:pt x="116035" y="64343"/>
                </a:lnTo>
                <a:close/>
              </a:path>
            </a:pathLst>
          </a:custGeom>
          <a:solidFill>
            <a:srgbClr val="86868B"/>
          </a:solidFill>
          <a:ln/>
        </p:spPr>
        <p:txBody>
          <a:bodyPr/>
          <a:lstStyle/>
          <a:p>
            <a:endParaRPr lang="zh-CN" altLang="en-US"/>
          </a:p>
        </p:txBody>
      </p:sp>
      <p:sp>
        <p:nvSpPr>
          <p:cNvPr id="60" name="Shape 58"/>
          <p:cNvSpPr/>
          <p:nvPr/>
        </p:nvSpPr>
        <p:spPr>
          <a:xfrm>
            <a:off x="4875516" y="5499348"/>
            <a:ext cx="911867" cy="472820"/>
          </a:xfrm>
          <a:custGeom>
            <a:avLst/>
            <a:gdLst/>
            <a:ahLst/>
            <a:cxnLst/>
            <a:rect l="l" t="t" r="r" b="b"/>
            <a:pathLst>
              <a:path w="911867" h="472820">
                <a:moveTo>
                  <a:pt x="67547" y="0"/>
                </a:moveTo>
                <a:lnTo>
                  <a:pt x="844320" y="0"/>
                </a:lnTo>
                <a:cubicBezTo>
                  <a:pt x="881625" y="0"/>
                  <a:pt x="911867" y="30242"/>
                  <a:pt x="911867" y="67547"/>
                </a:cubicBezTo>
                <a:lnTo>
                  <a:pt x="911867" y="405273"/>
                </a:lnTo>
                <a:cubicBezTo>
                  <a:pt x="911867" y="442578"/>
                  <a:pt x="881625" y="472820"/>
                  <a:pt x="844320" y="472820"/>
                </a:cubicBezTo>
                <a:lnTo>
                  <a:pt x="67547" y="472820"/>
                </a:lnTo>
                <a:cubicBezTo>
                  <a:pt x="30242" y="472820"/>
                  <a:pt x="0" y="442578"/>
                  <a:pt x="0" y="405273"/>
                </a:cubicBezTo>
                <a:lnTo>
                  <a:pt x="0" y="67547"/>
                </a:lnTo>
                <a:cubicBezTo>
                  <a:pt x="0" y="30267"/>
                  <a:pt x="30267" y="0"/>
                  <a:pt x="67547" y="0"/>
                </a:cubicBezTo>
                <a:close/>
              </a:path>
            </a:pathLst>
          </a:custGeom>
          <a:solidFill>
            <a:srgbClr val="0071E3">
              <a:alpha val="10196"/>
            </a:srgbClr>
          </a:solidFill>
          <a:ln/>
        </p:spPr>
        <p:txBody>
          <a:bodyPr/>
          <a:lstStyle/>
          <a:p>
            <a:endParaRPr lang="zh-CN" altLang="en-US"/>
          </a:p>
        </p:txBody>
      </p:sp>
      <p:sp>
        <p:nvSpPr>
          <p:cNvPr id="61" name="Text 59"/>
          <p:cNvSpPr/>
          <p:nvPr/>
        </p:nvSpPr>
        <p:spPr>
          <a:xfrm>
            <a:off x="4875516" y="5499348"/>
            <a:ext cx="970970" cy="472820"/>
          </a:xfrm>
          <a:prstGeom prst="rect">
            <a:avLst/>
          </a:prstGeom>
          <a:noFill/>
          <a:ln/>
        </p:spPr>
        <p:txBody>
          <a:bodyPr wrap="square" lIns="135091" tIns="67546" rIns="135091" bIns="67546" rtlCol="0" anchor="ctr"/>
          <a:lstStyle/>
          <a:p>
            <a:pPr>
              <a:lnSpc>
                <a:spcPct val="120000"/>
              </a:lnSpc>
            </a:pPr>
            <a:r>
              <a:rPr lang="en-US" sz="931" b="1" dirty="0">
                <a:solidFill>
                  <a:srgbClr val="0071E3"/>
                </a:solidFill>
                <a:latin typeface="MiSans" pitchFamily="34" charset="0"/>
                <a:ea typeface="MiSans" pitchFamily="34" charset="-122"/>
                <a:cs typeface="MiSans" pitchFamily="34" charset="-120"/>
              </a:rPr>
              <a:t>项目组审核合并</a:t>
            </a:r>
            <a:endParaRPr lang="en-US" sz="1600" dirty="0"/>
          </a:p>
        </p:txBody>
      </p:sp>
      <p:sp>
        <p:nvSpPr>
          <p:cNvPr id="62" name="Shape 60"/>
          <p:cNvSpPr/>
          <p:nvPr/>
        </p:nvSpPr>
        <p:spPr>
          <a:xfrm>
            <a:off x="6212270" y="4919582"/>
            <a:ext cx="5640066" cy="1258039"/>
          </a:xfrm>
          <a:custGeom>
            <a:avLst/>
            <a:gdLst/>
            <a:ahLst/>
            <a:cxnLst/>
            <a:rect l="l" t="t" r="r" b="b"/>
            <a:pathLst>
              <a:path w="5640066" h="1258039">
                <a:moveTo>
                  <a:pt x="33773" y="0"/>
                </a:moveTo>
                <a:lnTo>
                  <a:pt x="5504978" y="0"/>
                </a:lnTo>
                <a:cubicBezTo>
                  <a:pt x="5579585" y="0"/>
                  <a:pt x="5640066" y="60481"/>
                  <a:pt x="5640066" y="135088"/>
                </a:cubicBezTo>
                <a:lnTo>
                  <a:pt x="5640066" y="1122951"/>
                </a:lnTo>
                <a:cubicBezTo>
                  <a:pt x="5640066" y="1197558"/>
                  <a:pt x="5579585" y="1258039"/>
                  <a:pt x="5504978" y="1258039"/>
                </a:cubicBezTo>
                <a:lnTo>
                  <a:pt x="33773" y="1258039"/>
                </a:lnTo>
                <a:cubicBezTo>
                  <a:pt x="15121" y="1258039"/>
                  <a:pt x="0" y="1242918"/>
                  <a:pt x="0" y="1224266"/>
                </a:cubicBezTo>
                <a:lnTo>
                  <a:pt x="0" y="33773"/>
                </a:lnTo>
                <a:cubicBezTo>
                  <a:pt x="0" y="15121"/>
                  <a:pt x="15121" y="0"/>
                  <a:pt x="33773" y="0"/>
                </a:cubicBezTo>
                <a:close/>
              </a:path>
            </a:pathLst>
          </a:custGeom>
          <a:gradFill flip="none" rotWithShape="1">
            <a:gsLst>
              <a:gs pos="0">
                <a:srgbClr val="0071E3">
                  <a:alpha val="10000"/>
                </a:srgbClr>
              </a:gs>
              <a:gs pos="100000">
                <a:srgbClr val="000000">
                  <a:alpha val="0"/>
                </a:srgbClr>
              </a:gs>
            </a:gsLst>
            <a:lin ang="0" scaled="1"/>
          </a:gradFill>
          <a:ln/>
        </p:spPr>
        <p:txBody>
          <a:bodyPr/>
          <a:lstStyle/>
          <a:p>
            <a:endParaRPr lang="zh-CN" altLang="en-US"/>
          </a:p>
        </p:txBody>
      </p:sp>
      <p:sp>
        <p:nvSpPr>
          <p:cNvPr id="63" name="Shape 61"/>
          <p:cNvSpPr/>
          <p:nvPr/>
        </p:nvSpPr>
        <p:spPr>
          <a:xfrm>
            <a:off x="6212270" y="4919582"/>
            <a:ext cx="33773" cy="1258039"/>
          </a:xfrm>
          <a:custGeom>
            <a:avLst/>
            <a:gdLst/>
            <a:ahLst/>
            <a:cxnLst/>
            <a:rect l="l" t="t" r="r" b="b"/>
            <a:pathLst>
              <a:path w="33773" h="1258039">
                <a:moveTo>
                  <a:pt x="33773" y="0"/>
                </a:moveTo>
                <a:lnTo>
                  <a:pt x="33773" y="0"/>
                </a:lnTo>
                <a:lnTo>
                  <a:pt x="33773" y="1258039"/>
                </a:lnTo>
                <a:lnTo>
                  <a:pt x="33773" y="1258039"/>
                </a:lnTo>
                <a:cubicBezTo>
                  <a:pt x="15121" y="1258039"/>
                  <a:pt x="0" y="1242918"/>
                  <a:pt x="0" y="1224266"/>
                </a:cubicBezTo>
                <a:lnTo>
                  <a:pt x="0" y="33773"/>
                </a:lnTo>
                <a:cubicBezTo>
                  <a:pt x="0" y="15121"/>
                  <a:pt x="15121" y="0"/>
                  <a:pt x="33773" y="0"/>
                </a:cubicBezTo>
                <a:close/>
              </a:path>
            </a:pathLst>
          </a:custGeom>
          <a:solidFill>
            <a:srgbClr val="0071E3"/>
          </a:solidFill>
          <a:ln/>
        </p:spPr>
        <p:txBody>
          <a:bodyPr/>
          <a:lstStyle/>
          <a:p>
            <a:endParaRPr lang="zh-CN" altLang="en-US"/>
          </a:p>
        </p:txBody>
      </p:sp>
      <p:sp>
        <p:nvSpPr>
          <p:cNvPr id="64" name="Shape 62"/>
          <p:cNvSpPr/>
          <p:nvPr/>
        </p:nvSpPr>
        <p:spPr>
          <a:xfrm>
            <a:off x="6452902" y="5164435"/>
            <a:ext cx="151978" cy="151978"/>
          </a:xfrm>
          <a:custGeom>
            <a:avLst/>
            <a:gdLst/>
            <a:ahLst/>
            <a:cxnLst/>
            <a:rect l="l" t="t" r="r" b="b"/>
            <a:pathLst>
              <a:path w="151978" h="151978">
                <a:moveTo>
                  <a:pt x="75989" y="151978"/>
                </a:moveTo>
                <a:cubicBezTo>
                  <a:pt x="117928" y="151978"/>
                  <a:pt x="151978" y="117928"/>
                  <a:pt x="151978" y="75989"/>
                </a:cubicBezTo>
                <a:cubicBezTo>
                  <a:pt x="151978" y="34049"/>
                  <a:pt x="117928" y="0"/>
                  <a:pt x="75989" y="0"/>
                </a:cubicBezTo>
                <a:cubicBezTo>
                  <a:pt x="34049" y="0"/>
                  <a:pt x="0" y="34049"/>
                  <a:pt x="0" y="75989"/>
                </a:cubicBezTo>
                <a:cubicBezTo>
                  <a:pt x="0" y="117928"/>
                  <a:pt x="34049" y="151978"/>
                  <a:pt x="75989" y="151978"/>
                </a:cubicBezTo>
                <a:close/>
                <a:moveTo>
                  <a:pt x="75989" y="52242"/>
                </a:moveTo>
                <a:cubicBezTo>
                  <a:pt x="70735" y="52242"/>
                  <a:pt x="66490" y="56487"/>
                  <a:pt x="66490" y="61741"/>
                </a:cubicBezTo>
                <a:cubicBezTo>
                  <a:pt x="66490" y="65689"/>
                  <a:pt x="63314" y="68865"/>
                  <a:pt x="59366" y="68865"/>
                </a:cubicBezTo>
                <a:cubicBezTo>
                  <a:pt x="55418" y="68865"/>
                  <a:pt x="52242" y="65689"/>
                  <a:pt x="52242" y="61741"/>
                </a:cubicBezTo>
                <a:cubicBezTo>
                  <a:pt x="52242" y="48621"/>
                  <a:pt x="62869" y="37994"/>
                  <a:pt x="75989" y="37994"/>
                </a:cubicBezTo>
                <a:cubicBezTo>
                  <a:pt x="89109" y="37994"/>
                  <a:pt x="99735" y="48621"/>
                  <a:pt x="99735" y="61741"/>
                </a:cubicBezTo>
                <a:cubicBezTo>
                  <a:pt x="99735" y="75751"/>
                  <a:pt x="89050" y="81688"/>
                  <a:pt x="83113" y="83855"/>
                </a:cubicBezTo>
                <a:lnTo>
                  <a:pt x="83113" y="84983"/>
                </a:lnTo>
                <a:cubicBezTo>
                  <a:pt x="83113" y="88931"/>
                  <a:pt x="79937" y="92107"/>
                  <a:pt x="75989" y="92107"/>
                </a:cubicBezTo>
                <a:cubicBezTo>
                  <a:pt x="72041" y="92107"/>
                  <a:pt x="68865" y="88931"/>
                  <a:pt x="68865" y="84983"/>
                </a:cubicBezTo>
                <a:lnTo>
                  <a:pt x="68865" y="82579"/>
                </a:lnTo>
                <a:cubicBezTo>
                  <a:pt x="68865" y="76494"/>
                  <a:pt x="73258" y="72130"/>
                  <a:pt x="77800" y="70646"/>
                </a:cubicBezTo>
                <a:cubicBezTo>
                  <a:pt x="79699" y="70023"/>
                  <a:pt x="81718" y="69013"/>
                  <a:pt x="83202" y="67589"/>
                </a:cubicBezTo>
                <a:cubicBezTo>
                  <a:pt x="84478" y="66342"/>
                  <a:pt x="85488" y="64620"/>
                  <a:pt x="85488" y="61771"/>
                </a:cubicBezTo>
                <a:cubicBezTo>
                  <a:pt x="85488" y="56517"/>
                  <a:pt x="81243" y="52272"/>
                  <a:pt x="75989" y="52272"/>
                </a:cubicBezTo>
                <a:close/>
                <a:moveTo>
                  <a:pt x="66490" y="109234"/>
                </a:moveTo>
                <a:cubicBezTo>
                  <a:pt x="66490" y="103992"/>
                  <a:pt x="70746" y="99735"/>
                  <a:pt x="75989" y="99735"/>
                </a:cubicBezTo>
                <a:cubicBezTo>
                  <a:pt x="81231" y="99735"/>
                  <a:pt x="85488" y="103992"/>
                  <a:pt x="85488" y="109234"/>
                </a:cubicBezTo>
                <a:cubicBezTo>
                  <a:pt x="85488" y="114477"/>
                  <a:pt x="81231" y="118733"/>
                  <a:pt x="75989" y="118733"/>
                </a:cubicBezTo>
                <a:cubicBezTo>
                  <a:pt x="70746" y="118733"/>
                  <a:pt x="66490" y="114477"/>
                  <a:pt x="66490" y="109234"/>
                </a:cubicBezTo>
                <a:close/>
              </a:path>
            </a:pathLst>
          </a:custGeom>
          <a:solidFill>
            <a:srgbClr val="0071E3"/>
          </a:solidFill>
          <a:ln/>
        </p:spPr>
        <p:txBody>
          <a:bodyPr/>
          <a:lstStyle/>
          <a:p>
            <a:endParaRPr lang="zh-CN" altLang="en-US"/>
          </a:p>
        </p:txBody>
      </p:sp>
      <p:sp>
        <p:nvSpPr>
          <p:cNvPr id="65" name="Text 63"/>
          <p:cNvSpPr/>
          <p:nvPr/>
        </p:nvSpPr>
        <p:spPr>
          <a:xfrm>
            <a:off x="6625988" y="5122219"/>
            <a:ext cx="5099701" cy="236410"/>
          </a:xfrm>
          <a:prstGeom prst="rect">
            <a:avLst/>
          </a:prstGeom>
          <a:noFill/>
          <a:ln/>
        </p:spPr>
        <p:txBody>
          <a:bodyPr wrap="square" lIns="0" tIns="0" rIns="0" bIns="0" rtlCol="0" anchor="ctr"/>
          <a:lstStyle/>
          <a:p>
            <a:pPr>
              <a:lnSpc>
                <a:spcPct val="130000"/>
              </a:lnSpc>
            </a:pPr>
            <a:r>
              <a:rPr lang="en-US" sz="1197" b="1" dirty="0">
                <a:solidFill>
                  <a:srgbClr val="1D1D1D"/>
                </a:solidFill>
                <a:latin typeface="MiSans" pitchFamily="34" charset="0"/>
                <a:ea typeface="MiSans" pitchFamily="34" charset="-122"/>
                <a:cs typeface="MiSans" pitchFamily="34" charset="-120"/>
              </a:rPr>
              <a:t>为什么适合自动化</a:t>
            </a:r>
            <a:endParaRPr lang="en-US" sz="1600" dirty="0"/>
          </a:p>
        </p:txBody>
      </p:sp>
      <p:sp>
        <p:nvSpPr>
          <p:cNvPr id="66" name="Shape 64"/>
          <p:cNvSpPr/>
          <p:nvPr/>
        </p:nvSpPr>
        <p:spPr>
          <a:xfrm>
            <a:off x="6457124" y="5527493"/>
            <a:ext cx="118205" cy="135091"/>
          </a:xfrm>
          <a:custGeom>
            <a:avLst/>
            <a:gdLst/>
            <a:ahLst/>
            <a:cxnLst/>
            <a:rect l="l" t="t" r="r" b="b"/>
            <a:pathLst>
              <a:path w="118205" h="135091">
                <a:moveTo>
                  <a:pt x="114722" y="18496"/>
                </a:moveTo>
                <a:cubicBezTo>
                  <a:pt x="118495" y="21240"/>
                  <a:pt x="119340" y="26517"/>
                  <a:pt x="116595" y="30290"/>
                </a:cubicBezTo>
                <a:lnTo>
                  <a:pt x="49050" y="123165"/>
                </a:lnTo>
                <a:cubicBezTo>
                  <a:pt x="47599" y="125171"/>
                  <a:pt x="45356" y="126411"/>
                  <a:pt x="42876" y="126622"/>
                </a:cubicBezTo>
                <a:cubicBezTo>
                  <a:pt x="40395" y="126833"/>
                  <a:pt x="37994" y="125909"/>
                  <a:pt x="36253" y="124168"/>
                </a:cubicBezTo>
                <a:lnTo>
                  <a:pt x="2480" y="90395"/>
                </a:lnTo>
                <a:cubicBezTo>
                  <a:pt x="-818" y="87097"/>
                  <a:pt x="-818" y="81741"/>
                  <a:pt x="2480" y="78443"/>
                </a:cubicBezTo>
                <a:cubicBezTo>
                  <a:pt x="5778" y="75145"/>
                  <a:pt x="11134" y="75145"/>
                  <a:pt x="14433" y="78443"/>
                </a:cubicBezTo>
                <a:lnTo>
                  <a:pt x="41213" y="105224"/>
                </a:lnTo>
                <a:lnTo>
                  <a:pt x="102954" y="20343"/>
                </a:lnTo>
                <a:cubicBezTo>
                  <a:pt x="105698" y="16570"/>
                  <a:pt x="110975" y="15725"/>
                  <a:pt x="114749" y="18470"/>
                </a:cubicBezTo>
                <a:close/>
              </a:path>
            </a:pathLst>
          </a:custGeom>
          <a:solidFill>
            <a:srgbClr val="0071E3"/>
          </a:solidFill>
          <a:ln/>
        </p:spPr>
        <p:txBody>
          <a:bodyPr/>
          <a:lstStyle/>
          <a:p>
            <a:endParaRPr lang="zh-CN" altLang="en-US"/>
          </a:p>
        </p:txBody>
      </p:sp>
      <p:sp>
        <p:nvSpPr>
          <p:cNvPr id="67" name="Text 65"/>
          <p:cNvSpPr/>
          <p:nvPr/>
        </p:nvSpPr>
        <p:spPr>
          <a:xfrm>
            <a:off x="6668204" y="5493720"/>
            <a:ext cx="2068587" cy="168864"/>
          </a:xfrm>
          <a:prstGeom prst="rect">
            <a:avLst/>
          </a:prstGeom>
          <a:noFill/>
          <a:ln/>
        </p:spPr>
        <p:txBody>
          <a:bodyPr wrap="square" lIns="0" tIns="0" rIns="0" bIns="0" rtlCol="0" anchor="ctr"/>
          <a:lstStyle/>
          <a:p>
            <a:pPr>
              <a:lnSpc>
                <a:spcPct val="120000"/>
              </a:lnSpc>
            </a:pPr>
            <a:r>
              <a:rPr lang="en-US" sz="931" dirty="0">
                <a:solidFill>
                  <a:srgbClr val="1D1D1D"/>
                </a:solidFill>
                <a:latin typeface="MiSans" pitchFamily="34" charset="0"/>
                <a:ea typeface="MiSans" pitchFamily="34" charset="-122"/>
                <a:cs typeface="MiSans" pitchFamily="34" charset="-120"/>
              </a:rPr>
              <a:t>影响范围小（以配置和少量代码为主）</a:t>
            </a:r>
            <a:endParaRPr lang="en-US" sz="1600" dirty="0"/>
          </a:p>
        </p:txBody>
      </p:sp>
      <p:sp>
        <p:nvSpPr>
          <p:cNvPr id="68" name="Shape 66"/>
          <p:cNvSpPr/>
          <p:nvPr/>
        </p:nvSpPr>
        <p:spPr>
          <a:xfrm>
            <a:off x="9115768" y="5527493"/>
            <a:ext cx="118205" cy="135091"/>
          </a:xfrm>
          <a:custGeom>
            <a:avLst/>
            <a:gdLst/>
            <a:ahLst/>
            <a:cxnLst/>
            <a:rect l="l" t="t" r="r" b="b"/>
            <a:pathLst>
              <a:path w="118205" h="135091">
                <a:moveTo>
                  <a:pt x="114722" y="18496"/>
                </a:moveTo>
                <a:cubicBezTo>
                  <a:pt x="118495" y="21240"/>
                  <a:pt x="119340" y="26517"/>
                  <a:pt x="116595" y="30290"/>
                </a:cubicBezTo>
                <a:lnTo>
                  <a:pt x="49050" y="123165"/>
                </a:lnTo>
                <a:cubicBezTo>
                  <a:pt x="47599" y="125171"/>
                  <a:pt x="45356" y="126411"/>
                  <a:pt x="42876" y="126622"/>
                </a:cubicBezTo>
                <a:cubicBezTo>
                  <a:pt x="40395" y="126833"/>
                  <a:pt x="37994" y="125909"/>
                  <a:pt x="36253" y="124168"/>
                </a:cubicBezTo>
                <a:lnTo>
                  <a:pt x="2480" y="90395"/>
                </a:lnTo>
                <a:cubicBezTo>
                  <a:pt x="-818" y="87097"/>
                  <a:pt x="-818" y="81741"/>
                  <a:pt x="2480" y="78443"/>
                </a:cubicBezTo>
                <a:cubicBezTo>
                  <a:pt x="5778" y="75145"/>
                  <a:pt x="11134" y="75145"/>
                  <a:pt x="14433" y="78443"/>
                </a:cubicBezTo>
                <a:lnTo>
                  <a:pt x="41213" y="105224"/>
                </a:lnTo>
                <a:lnTo>
                  <a:pt x="102954" y="20343"/>
                </a:lnTo>
                <a:cubicBezTo>
                  <a:pt x="105698" y="16570"/>
                  <a:pt x="110975" y="15725"/>
                  <a:pt x="114749" y="18470"/>
                </a:cubicBezTo>
                <a:close/>
              </a:path>
            </a:pathLst>
          </a:custGeom>
          <a:solidFill>
            <a:srgbClr val="0071E3"/>
          </a:solidFill>
          <a:ln/>
        </p:spPr>
        <p:txBody>
          <a:bodyPr/>
          <a:lstStyle/>
          <a:p>
            <a:endParaRPr lang="zh-CN" altLang="en-US"/>
          </a:p>
        </p:txBody>
      </p:sp>
      <p:sp>
        <p:nvSpPr>
          <p:cNvPr id="69" name="Text 67"/>
          <p:cNvSpPr/>
          <p:nvPr/>
        </p:nvSpPr>
        <p:spPr>
          <a:xfrm>
            <a:off x="9326848" y="5493720"/>
            <a:ext cx="1359357" cy="168864"/>
          </a:xfrm>
          <a:prstGeom prst="rect">
            <a:avLst/>
          </a:prstGeom>
          <a:noFill/>
          <a:ln/>
        </p:spPr>
        <p:txBody>
          <a:bodyPr wrap="square" lIns="0" tIns="0" rIns="0" bIns="0" rtlCol="0" anchor="ctr"/>
          <a:lstStyle/>
          <a:p>
            <a:pPr>
              <a:lnSpc>
                <a:spcPct val="120000"/>
              </a:lnSpc>
            </a:pPr>
            <a:r>
              <a:rPr lang="en-US" sz="931" dirty="0">
                <a:solidFill>
                  <a:srgbClr val="1D1D1D"/>
                </a:solidFill>
                <a:latin typeface="MiSans" pitchFamily="34" charset="0"/>
                <a:ea typeface="MiSans" pitchFamily="34" charset="-122"/>
                <a:cs typeface="MiSans" pitchFamily="34" charset="-120"/>
              </a:rPr>
              <a:t>改造文件应用通常不修改</a:t>
            </a:r>
            <a:endParaRPr lang="en-US" sz="1600" dirty="0"/>
          </a:p>
        </p:txBody>
      </p:sp>
      <p:sp>
        <p:nvSpPr>
          <p:cNvPr id="70" name="Shape 68"/>
          <p:cNvSpPr/>
          <p:nvPr/>
        </p:nvSpPr>
        <p:spPr>
          <a:xfrm>
            <a:off x="6457124" y="5797676"/>
            <a:ext cx="118205" cy="135091"/>
          </a:xfrm>
          <a:custGeom>
            <a:avLst/>
            <a:gdLst/>
            <a:ahLst/>
            <a:cxnLst/>
            <a:rect l="l" t="t" r="r" b="b"/>
            <a:pathLst>
              <a:path w="118205" h="135091">
                <a:moveTo>
                  <a:pt x="114722" y="18496"/>
                </a:moveTo>
                <a:cubicBezTo>
                  <a:pt x="118495" y="21240"/>
                  <a:pt x="119340" y="26517"/>
                  <a:pt x="116595" y="30290"/>
                </a:cubicBezTo>
                <a:lnTo>
                  <a:pt x="49050" y="123165"/>
                </a:lnTo>
                <a:cubicBezTo>
                  <a:pt x="47599" y="125171"/>
                  <a:pt x="45356" y="126411"/>
                  <a:pt x="42876" y="126622"/>
                </a:cubicBezTo>
                <a:cubicBezTo>
                  <a:pt x="40395" y="126833"/>
                  <a:pt x="37994" y="125909"/>
                  <a:pt x="36253" y="124168"/>
                </a:cubicBezTo>
                <a:lnTo>
                  <a:pt x="2480" y="90395"/>
                </a:lnTo>
                <a:cubicBezTo>
                  <a:pt x="-818" y="87097"/>
                  <a:pt x="-818" y="81741"/>
                  <a:pt x="2480" y="78443"/>
                </a:cubicBezTo>
                <a:cubicBezTo>
                  <a:pt x="5778" y="75145"/>
                  <a:pt x="11134" y="75145"/>
                  <a:pt x="14433" y="78443"/>
                </a:cubicBezTo>
                <a:lnTo>
                  <a:pt x="41213" y="105224"/>
                </a:lnTo>
                <a:lnTo>
                  <a:pt x="102954" y="20343"/>
                </a:lnTo>
                <a:cubicBezTo>
                  <a:pt x="105698" y="16570"/>
                  <a:pt x="110975" y="15725"/>
                  <a:pt x="114749" y="18470"/>
                </a:cubicBezTo>
                <a:close/>
              </a:path>
            </a:pathLst>
          </a:custGeom>
          <a:solidFill>
            <a:srgbClr val="0071E3"/>
          </a:solidFill>
          <a:ln/>
        </p:spPr>
        <p:txBody>
          <a:bodyPr/>
          <a:lstStyle/>
          <a:p>
            <a:endParaRPr lang="zh-CN" altLang="en-US"/>
          </a:p>
        </p:txBody>
      </p:sp>
      <p:sp>
        <p:nvSpPr>
          <p:cNvPr id="71" name="Text 69"/>
          <p:cNvSpPr/>
          <p:nvPr/>
        </p:nvSpPr>
        <p:spPr>
          <a:xfrm>
            <a:off x="6668204" y="5763903"/>
            <a:ext cx="1477562" cy="168864"/>
          </a:xfrm>
          <a:prstGeom prst="rect">
            <a:avLst/>
          </a:prstGeom>
          <a:noFill/>
          <a:ln/>
        </p:spPr>
        <p:txBody>
          <a:bodyPr wrap="square" lIns="0" tIns="0" rIns="0" bIns="0" rtlCol="0" anchor="ctr"/>
          <a:lstStyle/>
          <a:p>
            <a:pPr>
              <a:lnSpc>
                <a:spcPct val="120000"/>
              </a:lnSpc>
            </a:pPr>
            <a:r>
              <a:rPr lang="en-US" sz="931" dirty="0">
                <a:solidFill>
                  <a:srgbClr val="1D1D1D"/>
                </a:solidFill>
                <a:latin typeface="MiSans" pitchFamily="34" charset="0"/>
                <a:ea typeface="MiSans" pitchFamily="34" charset="-122"/>
                <a:cs typeface="MiSans" pitchFamily="34" charset="-120"/>
              </a:rPr>
              <a:t>分支模式可回滚，风险可控</a:t>
            </a:r>
            <a:endParaRPr lang="en-US" sz="1600" dirty="0"/>
          </a:p>
        </p:txBody>
      </p:sp>
      <p:sp>
        <p:nvSpPr>
          <p:cNvPr id="72" name="Shape 70"/>
          <p:cNvSpPr/>
          <p:nvPr/>
        </p:nvSpPr>
        <p:spPr>
          <a:xfrm>
            <a:off x="9115768" y="5797676"/>
            <a:ext cx="118205" cy="135091"/>
          </a:xfrm>
          <a:custGeom>
            <a:avLst/>
            <a:gdLst/>
            <a:ahLst/>
            <a:cxnLst/>
            <a:rect l="l" t="t" r="r" b="b"/>
            <a:pathLst>
              <a:path w="118205" h="135091">
                <a:moveTo>
                  <a:pt x="114722" y="18496"/>
                </a:moveTo>
                <a:cubicBezTo>
                  <a:pt x="118495" y="21240"/>
                  <a:pt x="119340" y="26517"/>
                  <a:pt x="116595" y="30290"/>
                </a:cubicBezTo>
                <a:lnTo>
                  <a:pt x="49050" y="123165"/>
                </a:lnTo>
                <a:cubicBezTo>
                  <a:pt x="47599" y="125171"/>
                  <a:pt x="45356" y="126411"/>
                  <a:pt x="42876" y="126622"/>
                </a:cubicBezTo>
                <a:cubicBezTo>
                  <a:pt x="40395" y="126833"/>
                  <a:pt x="37994" y="125909"/>
                  <a:pt x="36253" y="124168"/>
                </a:cubicBezTo>
                <a:lnTo>
                  <a:pt x="2480" y="90395"/>
                </a:lnTo>
                <a:cubicBezTo>
                  <a:pt x="-818" y="87097"/>
                  <a:pt x="-818" y="81741"/>
                  <a:pt x="2480" y="78443"/>
                </a:cubicBezTo>
                <a:cubicBezTo>
                  <a:pt x="5778" y="75145"/>
                  <a:pt x="11134" y="75145"/>
                  <a:pt x="14433" y="78443"/>
                </a:cubicBezTo>
                <a:lnTo>
                  <a:pt x="41213" y="105224"/>
                </a:lnTo>
                <a:lnTo>
                  <a:pt x="102954" y="20343"/>
                </a:lnTo>
                <a:cubicBezTo>
                  <a:pt x="105698" y="16570"/>
                  <a:pt x="110975" y="15725"/>
                  <a:pt x="114749" y="18470"/>
                </a:cubicBezTo>
                <a:close/>
              </a:path>
            </a:pathLst>
          </a:custGeom>
          <a:solidFill>
            <a:srgbClr val="0071E3"/>
          </a:solidFill>
          <a:ln/>
        </p:spPr>
        <p:txBody>
          <a:bodyPr/>
          <a:lstStyle/>
          <a:p>
            <a:endParaRPr lang="zh-CN" altLang="en-US"/>
          </a:p>
        </p:txBody>
      </p:sp>
      <p:sp>
        <p:nvSpPr>
          <p:cNvPr id="73" name="Text 71"/>
          <p:cNvSpPr/>
          <p:nvPr/>
        </p:nvSpPr>
        <p:spPr>
          <a:xfrm>
            <a:off x="9326848" y="5763903"/>
            <a:ext cx="1004742" cy="168864"/>
          </a:xfrm>
          <a:prstGeom prst="rect">
            <a:avLst/>
          </a:prstGeom>
          <a:noFill/>
          <a:ln/>
        </p:spPr>
        <p:txBody>
          <a:bodyPr wrap="square" lIns="0" tIns="0" rIns="0" bIns="0" rtlCol="0" anchor="ctr"/>
          <a:lstStyle/>
          <a:p>
            <a:pPr>
              <a:lnSpc>
                <a:spcPct val="120000"/>
              </a:lnSpc>
            </a:pPr>
            <a:r>
              <a:rPr lang="en-US" sz="931" dirty="0">
                <a:solidFill>
                  <a:srgbClr val="1D1D1D"/>
                </a:solidFill>
                <a:latin typeface="MiSans" pitchFamily="34" charset="0"/>
                <a:ea typeface="MiSans" pitchFamily="34" charset="-122"/>
                <a:cs typeface="MiSans" pitchFamily="34" charset="-120"/>
              </a:rPr>
              <a:t>标准化保证一致性</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MiSans" pitchFamily="34" charset="0"/>
                <a:ea typeface="MiSans" pitchFamily="34" charset="-122"/>
                <a:cs typeface="MiSans" pitchFamily="34" charset="-120"/>
              </a:rPr>
              <a:t>05 / 方法论</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D1D1D"/>
                </a:solidFill>
                <a:latin typeface="MiSans" pitchFamily="34" charset="0"/>
                <a:ea typeface="MiSans" pitchFamily="34" charset="-122"/>
                <a:cs typeface="MiSans" pitchFamily="34" charset="-120"/>
              </a:rPr>
              <a:t>适用场景与方法论</a:t>
            </a:r>
            <a:endParaRPr lang="en-US" sz="1600" dirty="0"/>
          </a:p>
        </p:txBody>
      </p:sp>
      <p:sp>
        <p:nvSpPr>
          <p:cNvPr id="4" name="Shape 2"/>
          <p:cNvSpPr/>
          <p:nvPr/>
        </p:nvSpPr>
        <p:spPr>
          <a:xfrm>
            <a:off x="320146" y="1050396"/>
            <a:ext cx="5680604" cy="3997854"/>
          </a:xfrm>
          <a:custGeom>
            <a:avLst/>
            <a:gdLst/>
            <a:ahLst/>
            <a:cxnLst/>
            <a:rect l="l" t="t" r="r" b="b"/>
            <a:pathLst>
              <a:path w="5680604" h="3997854">
                <a:moveTo>
                  <a:pt x="127012" y="0"/>
                </a:moveTo>
                <a:lnTo>
                  <a:pt x="5553592" y="0"/>
                </a:lnTo>
                <a:cubicBezTo>
                  <a:pt x="5623739" y="0"/>
                  <a:pt x="5680604" y="56865"/>
                  <a:pt x="5680604" y="127012"/>
                </a:cubicBezTo>
                <a:lnTo>
                  <a:pt x="5680604" y="3870842"/>
                </a:lnTo>
                <a:cubicBezTo>
                  <a:pt x="5680604" y="3940989"/>
                  <a:pt x="5623739" y="3997854"/>
                  <a:pt x="5553592" y="3997854"/>
                </a:cubicBezTo>
                <a:lnTo>
                  <a:pt x="127012" y="3997854"/>
                </a:lnTo>
                <a:cubicBezTo>
                  <a:pt x="56865" y="3997854"/>
                  <a:pt x="0" y="3940989"/>
                  <a:pt x="0" y="3870842"/>
                </a:cubicBezTo>
                <a:lnTo>
                  <a:pt x="0" y="127012"/>
                </a:lnTo>
                <a:cubicBezTo>
                  <a:pt x="0" y="56912"/>
                  <a:pt x="56912" y="0"/>
                  <a:pt x="127012"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5" name="Shape 3"/>
          <p:cNvSpPr/>
          <p:nvPr/>
        </p:nvSpPr>
        <p:spPr>
          <a:xfrm>
            <a:off x="543057" y="1275294"/>
            <a:ext cx="138906" cy="158750"/>
          </a:xfrm>
          <a:custGeom>
            <a:avLst/>
            <a:gdLst/>
            <a:ahLst/>
            <a:cxnLst/>
            <a:rect l="l" t="t" r="r" b="b"/>
            <a:pathLst>
              <a:path w="138906" h="158750">
                <a:moveTo>
                  <a:pt x="0" y="29766"/>
                </a:moveTo>
                <a:cubicBezTo>
                  <a:pt x="0" y="18821"/>
                  <a:pt x="8899" y="9922"/>
                  <a:pt x="19844" y="9922"/>
                </a:cubicBezTo>
                <a:lnTo>
                  <a:pt x="119062" y="9922"/>
                </a:lnTo>
                <a:cubicBezTo>
                  <a:pt x="130008" y="9922"/>
                  <a:pt x="138906" y="18821"/>
                  <a:pt x="138906" y="29766"/>
                </a:cubicBezTo>
                <a:lnTo>
                  <a:pt x="138906" y="128984"/>
                </a:lnTo>
                <a:cubicBezTo>
                  <a:pt x="138906" y="139929"/>
                  <a:pt x="130008" y="148828"/>
                  <a:pt x="119062" y="148828"/>
                </a:cubicBezTo>
                <a:lnTo>
                  <a:pt x="19844" y="148828"/>
                </a:lnTo>
                <a:cubicBezTo>
                  <a:pt x="8899" y="148828"/>
                  <a:pt x="0" y="139929"/>
                  <a:pt x="0" y="128984"/>
                </a:cubicBezTo>
                <a:lnTo>
                  <a:pt x="0" y="29766"/>
                </a:lnTo>
                <a:close/>
                <a:moveTo>
                  <a:pt x="19844" y="29766"/>
                </a:moveTo>
                <a:lnTo>
                  <a:pt x="19844" y="49609"/>
                </a:lnTo>
                <a:lnTo>
                  <a:pt x="39688" y="49609"/>
                </a:lnTo>
                <a:lnTo>
                  <a:pt x="39688" y="29766"/>
                </a:lnTo>
                <a:lnTo>
                  <a:pt x="19844" y="29766"/>
                </a:lnTo>
                <a:close/>
                <a:moveTo>
                  <a:pt x="119062" y="29766"/>
                </a:moveTo>
                <a:lnTo>
                  <a:pt x="59531" y="29766"/>
                </a:lnTo>
                <a:lnTo>
                  <a:pt x="59531" y="49609"/>
                </a:lnTo>
                <a:lnTo>
                  <a:pt x="119062" y="49609"/>
                </a:lnTo>
                <a:lnTo>
                  <a:pt x="119062" y="29766"/>
                </a:lnTo>
                <a:close/>
                <a:moveTo>
                  <a:pt x="19844" y="69453"/>
                </a:moveTo>
                <a:lnTo>
                  <a:pt x="19844" y="89297"/>
                </a:lnTo>
                <a:lnTo>
                  <a:pt x="39688" y="89297"/>
                </a:lnTo>
                <a:lnTo>
                  <a:pt x="39688" y="69453"/>
                </a:lnTo>
                <a:lnTo>
                  <a:pt x="19844" y="69453"/>
                </a:lnTo>
                <a:close/>
                <a:moveTo>
                  <a:pt x="119062" y="69453"/>
                </a:moveTo>
                <a:lnTo>
                  <a:pt x="59531" y="69453"/>
                </a:lnTo>
                <a:lnTo>
                  <a:pt x="59531" y="89297"/>
                </a:lnTo>
                <a:lnTo>
                  <a:pt x="119062" y="89297"/>
                </a:lnTo>
                <a:lnTo>
                  <a:pt x="119062" y="69453"/>
                </a:lnTo>
                <a:close/>
                <a:moveTo>
                  <a:pt x="19844" y="109141"/>
                </a:moveTo>
                <a:lnTo>
                  <a:pt x="19844" y="128984"/>
                </a:lnTo>
                <a:lnTo>
                  <a:pt x="39688" y="128984"/>
                </a:lnTo>
                <a:lnTo>
                  <a:pt x="39688" y="109141"/>
                </a:lnTo>
                <a:lnTo>
                  <a:pt x="19844" y="109141"/>
                </a:lnTo>
                <a:close/>
                <a:moveTo>
                  <a:pt x="119062" y="109141"/>
                </a:moveTo>
                <a:lnTo>
                  <a:pt x="59531" y="109141"/>
                </a:lnTo>
                <a:lnTo>
                  <a:pt x="59531" y="128984"/>
                </a:lnTo>
                <a:lnTo>
                  <a:pt x="119062" y="128984"/>
                </a:lnTo>
                <a:lnTo>
                  <a:pt x="119062" y="109141"/>
                </a:lnTo>
                <a:close/>
              </a:path>
            </a:pathLst>
          </a:custGeom>
          <a:solidFill>
            <a:srgbClr val="0071E3"/>
          </a:solidFill>
          <a:ln/>
        </p:spPr>
        <p:txBody>
          <a:bodyPr/>
          <a:lstStyle/>
          <a:p>
            <a:endParaRPr lang="zh-CN" altLang="en-US"/>
          </a:p>
        </p:txBody>
      </p:sp>
      <p:sp>
        <p:nvSpPr>
          <p:cNvPr id="6" name="Text 4"/>
          <p:cNvSpPr/>
          <p:nvPr/>
        </p:nvSpPr>
        <p:spPr>
          <a:xfrm>
            <a:off x="711729" y="1243544"/>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适用场景分析</a:t>
            </a:r>
            <a:endParaRPr lang="en-US" sz="1600" dirty="0"/>
          </a:p>
        </p:txBody>
      </p:sp>
      <p:sp>
        <p:nvSpPr>
          <p:cNvPr id="7" name="Shape 5"/>
          <p:cNvSpPr/>
          <p:nvPr/>
        </p:nvSpPr>
        <p:spPr>
          <a:xfrm>
            <a:off x="513292" y="2166940"/>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8" name="Shape 6"/>
          <p:cNvSpPr/>
          <p:nvPr/>
        </p:nvSpPr>
        <p:spPr>
          <a:xfrm>
            <a:off x="513292" y="1735669"/>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71E3">
              <a:alpha val="10196"/>
            </a:srgbClr>
          </a:solidFill>
          <a:ln/>
        </p:spPr>
        <p:txBody>
          <a:bodyPr/>
          <a:lstStyle/>
          <a:p>
            <a:endParaRPr lang="zh-CN" altLang="en-US"/>
          </a:p>
        </p:txBody>
      </p:sp>
      <p:sp>
        <p:nvSpPr>
          <p:cNvPr id="9" name="Shape 7"/>
          <p:cNvSpPr/>
          <p:nvPr/>
        </p:nvSpPr>
        <p:spPr>
          <a:xfrm>
            <a:off x="608542" y="1830919"/>
            <a:ext cx="127000" cy="127000"/>
          </a:xfrm>
          <a:custGeom>
            <a:avLst/>
            <a:gdLst/>
            <a:ahLst/>
            <a:cxnLst/>
            <a:rect l="l" t="t" r="r" b="b"/>
            <a:pathLst>
              <a:path w="127000" h="127000">
                <a:moveTo>
                  <a:pt x="31750" y="79375"/>
                </a:moveTo>
                <a:lnTo>
                  <a:pt x="6077" y="79375"/>
                </a:lnTo>
                <a:cubicBezTo>
                  <a:pt x="-99" y="79375"/>
                  <a:pt x="-3894" y="72653"/>
                  <a:pt x="-719" y="67345"/>
                </a:cubicBezTo>
                <a:lnTo>
                  <a:pt x="12402" y="45467"/>
                </a:lnTo>
                <a:cubicBezTo>
                  <a:pt x="14560" y="41870"/>
                  <a:pt x="18430" y="39688"/>
                  <a:pt x="22622" y="39688"/>
                </a:cubicBezTo>
                <a:lnTo>
                  <a:pt x="46186" y="39688"/>
                </a:lnTo>
                <a:cubicBezTo>
                  <a:pt x="65063" y="7714"/>
                  <a:pt x="93216" y="6102"/>
                  <a:pt x="112043" y="8855"/>
                </a:cubicBezTo>
                <a:cubicBezTo>
                  <a:pt x="115218" y="9327"/>
                  <a:pt x="117698" y="11807"/>
                  <a:pt x="118145" y="14957"/>
                </a:cubicBezTo>
                <a:cubicBezTo>
                  <a:pt x="120898" y="33784"/>
                  <a:pt x="119286" y="61937"/>
                  <a:pt x="87313" y="80814"/>
                </a:cubicBezTo>
                <a:lnTo>
                  <a:pt x="87313" y="104378"/>
                </a:lnTo>
                <a:cubicBezTo>
                  <a:pt x="87313" y="108570"/>
                  <a:pt x="85130" y="112440"/>
                  <a:pt x="81533" y="114598"/>
                </a:cubicBezTo>
                <a:lnTo>
                  <a:pt x="59655" y="127719"/>
                </a:lnTo>
                <a:cubicBezTo>
                  <a:pt x="54372" y="130894"/>
                  <a:pt x="47625" y="127074"/>
                  <a:pt x="47625" y="120923"/>
                </a:cubicBezTo>
                <a:lnTo>
                  <a:pt x="47625" y="95250"/>
                </a:lnTo>
                <a:cubicBezTo>
                  <a:pt x="47625" y="86494"/>
                  <a:pt x="40506" y="79375"/>
                  <a:pt x="31750" y="79375"/>
                </a:cubicBezTo>
                <a:lnTo>
                  <a:pt x="31725" y="79375"/>
                </a:lnTo>
                <a:close/>
                <a:moveTo>
                  <a:pt x="99219" y="39688"/>
                </a:moveTo>
                <a:cubicBezTo>
                  <a:pt x="99219" y="33116"/>
                  <a:pt x="93884" y="27781"/>
                  <a:pt x="87313" y="27781"/>
                </a:cubicBezTo>
                <a:cubicBezTo>
                  <a:pt x="80741" y="27781"/>
                  <a:pt x="75406" y="33116"/>
                  <a:pt x="75406" y="39688"/>
                </a:cubicBezTo>
                <a:cubicBezTo>
                  <a:pt x="75406" y="46259"/>
                  <a:pt x="80741" y="51594"/>
                  <a:pt x="87313" y="51594"/>
                </a:cubicBezTo>
                <a:cubicBezTo>
                  <a:pt x="93884" y="51594"/>
                  <a:pt x="99219" y="46259"/>
                  <a:pt x="99219" y="39688"/>
                </a:cubicBezTo>
                <a:close/>
              </a:path>
            </a:pathLst>
          </a:custGeom>
          <a:solidFill>
            <a:srgbClr val="0071E3"/>
          </a:solidFill>
          <a:ln/>
        </p:spPr>
        <p:txBody>
          <a:bodyPr/>
          <a:lstStyle/>
          <a:p>
            <a:endParaRPr lang="zh-CN" altLang="en-US"/>
          </a:p>
        </p:txBody>
      </p:sp>
      <p:sp>
        <p:nvSpPr>
          <p:cNvPr id="10" name="Text 8"/>
          <p:cNvSpPr/>
          <p:nvPr/>
        </p:nvSpPr>
        <p:spPr>
          <a:xfrm>
            <a:off x="926042" y="1719794"/>
            <a:ext cx="825500"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全新项目开发</a:t>
            </a:r>
            <a:endParaRPr lang="en-US" sz="1600" dirty="0"/>
          </a:p>
        </p:txBody>
      </p:sp>
      <p:sp>
        <p:nvSpPr>
          <p:cNvPr id="11" name="Text 9"/>
          <p:cNvSpPr/>
          <p:nvPr/>
        </p:nvSpPr>
        <p:spPr>
          <a:xfrm>
            <a:off x="926042" y="1910294"/>
            <a:ext cx="81756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从0到1最快</a:t>
            </a:r>
            <a:endParaRPr lang="en-US" sz="1600" dirty="0"/>
          </a:p>
        </p:txBody>
      </p:sp>
      <p:sp>
        <p:nvSpPr>
          <p:cNvPr id="12" name="Shape 10"/>
          <p:cNvSpPr/>
          <p:nvPr/>
        </p:nvSpPr>
        <p:spPr>
          <a:xfrm>
            <a:off x="4892146" y="1830919"/>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13" name="Shape 11"/>
          <p:cNvSpPr/>
          <p:nvPr/>
        </p:nvSpPr>
        <p:spPr>
          <a:xfrm>
            <a:off x="5082646" y="1830919"/>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14" name="Shape 12"/>
          <p:cNvSpPr/>
          <p:nvPr/>
        </p:nvSpPr>
        <p:spPr>
          <a:xfrm>
            <a:off x="5273146" y="1830919"/>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15" name="Shape 13"/>
          <p:cNvSpPr/>
          <p:nvPr/>
        </p:nvSpPr>
        <p:spPr>
          <a:xfrm>
            <a:off x="5463646" y="1830919"/>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16" name="Shape 14"/>
          <p:cNvSpPr/>
          <p:nvPr/>
        </p:nvSpPr>
        <p:spPr>
          <a:xfrm>
            <a:off x="5654146" y="1830919"/>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17" name="Shape 15"/>
          <p:cNvSpPr/>
          <p:nvPr/>
        </p:nvSpPr>
        <p:spPr>
          <a:xfrm>
            <a:off x="513292" y="2838980"/>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18" name="Shape 16"/>
          <p:cNvSpPr/>
          <p:nvPr/>
        </p:nvSpPr>
        <p:spPr>
          <a:xfrm>
            <a:off x="513292" y="240771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71E3">
              <a:alpha val="10196"/>
            </a:srgbClr>
          </a:solidFill>
          <a:ln/>
        </p:spPr>
        <p:txBody>
          <a:bodyPr/>
          <a:lstStyle/>
          <a:p>
            <a:endParaRPr lang="zh-CN" altLang="en-US"/>
          </a:p>
        </p:txBody>
      </p:sp>
      <p:sp>
        <p:nvSpPr>
          <p:cNvPr id="19" name="Shape 17"/>
          <p:cNvSpPr/>
          <p:nvPr/>
        </p:nvSpPr>
        <p:spPr>
          <a:xfrm>
            <a:off x="616479" y="2502960"/>
            <a:ext cx="111125" cy="127000"/>
          </a:xfrm>
          <a:custGeom>
            <a:avLst/>
            <a:gdLst/>
            <a:ahLst/>
            <a:cxnLst/>
            <a:rect l="l" t="t" r="r" b="b"/>
            <a:pathLst>
              <a:path w="111125" h="127000">
                <a:moveTo>
                  <a:pt x="71438" y="0"/>
                </a:moveTo>
                <a:lnTo>
                  <a:pt x="31750" y="0"/>
                </a:lnTo>
                <a:cubicBezTo>
                  <a:pt x="27360" y="0"/>
                  <a:pt x="23812" y="3547"/>
                  <a:pt x="23812" y="7938"/>
                </a:cubicBezTo>
                <a:cubicBezTo>
                  <a:pt x="23812" y="12328"/>
                  <a:pt x="27360" y="15875"/>
                  <a:pt x="31750" y="15875"/>
                </a:cubicBezTo>
                <a:lnTo>
                  <a:pt x="31750" y="53454"/>
                </a:lnTo>
                <a:lnTo>
                  <a:pt x="1860" y="105742"/>
                </a:lnTo>
                <a:cubicBezTo>
                  <a:pt x="645" y="107900"/>
                  <a:pt x="0" y="110306"/>
                  <a:pt x="0" y="112787"/>
                </a:cubicBezTo>
                <a:cubicBezTo>
                  <a:pt x="0" y="120650"/>
                  <a:pt x="6350" y="127000"/>
                  <a:pt x="14213" y="127000"/>
                </a:cubicBezTo>
                <a:lnTo>
                  <a:pt x="96912" y="127000"/>
                </a:lnTo>
                <a:cubicBezTo>
                  <a:pt x="104750" y="127000"/>
                  <a:pt x="111125" y="120650"/>
                  <a:pt x="111125" y="112787"/>
                </a:cubicBezTo>
                <a:cubicBezTo>
                  <a:pt x="111125" y="110306"/>
                  <a:pt x="110480" y="107876"/>
                  <a:pt x="109265" y="105742"/>
                </a:cubicBezTo>
                <a:lnTo>
                  <a:pt x="79375" y="53454"/>
                </a:lnTo>
                <a:lnTo>
                  <a:pt x="79375" y="15875"/>
                </a:lnTo>
                <a:cubicBezTo>
                  <a:pt x="83765" y="15875"/>
                  <a:pt x="87313" y="12328"/>
                  <a:pt x="87313" y="7938"/>
                </a:cubicBezTo>
                <a:cubicBezTo>
                  <a:pt x="87313" y="3547"/>
                  <a:pt x="83765" y="0"/>
                  <a:pt x="79375" y="0"/>
                </a:cubicBezTo>
                <a:lnTo>
                  <a:pt x="71438" y="0"/>
                </a:lnTo>
                <a:close/>
                <a:moveTo>
                  <a:pt x="47625" y="53454"/>
                </a:moveTo>
                <a:lnTo>
                  <a:pt x="47625" y="15875"/>
                </a:lnTo>
                <a:lnTo>
                  <a:pt x="63500" y="15875"/>
                </a:lnTo>
                <a:lnTo>
                  <a:pt x="63500" y="53454"/>
                </a:lnTo>
                <a:cubicBezTo>
                  <a:pt x="63500" y="56207"/>
                  <a:pt x="64219" y="58936"/>
                  <a:pt x="65584" y="61342"/>
                </a:cubicBezTo>
                <a:lnTo>
                  <a:pt x="75902" y="79375"/>
                </a:lnTo>
                <a:lnTo>
                  <a:pt x="35223" y="79375"/>
                </a:lnTo>
                <a:lnTo>
                  <a:pt x="45541" y="61342"/>
                </a:lnTo>
                <a:cubicBezTo>
                  <a:pt x="46906" y="58936"/>
                  <a:pt x="47625" y="56232"/>
                  <a:pt x="47625" y="53454"/>
                </a:cubicBezTo>
                <a:close/>
              </a:path>
            </a:pathLst>
          </a:custGeom>
          <a:solidFill>
            <a:srgbClr val="0071E3"/>
          </a:solidFill>
          <a:ln/>
        </p:spPr>
        <p:txBody>
          <a:bodyPr/>
          <a:lstStyle/>
          <a:p>
            <a:endParaRPr lang="zh-CN" altLang="en-US"/>
          </a:p>
        </p:txBody>
      </p:sp>
      <p:sp>
        <p:nvSpPr>
          <p:cNvPr id="20" name="Text 18"/>
          <p:cNvSpPr/>
          <p:nvPr/>
        </p:nvSpPr>
        <p:spPr>
          <a:xfrm>
            <a:off x="926042" y="2391835"/>
            <a:ext cx="115093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原型/MVP快速验证</a:t>
            </a:r>
            <a:endParaRPr lang="en-US" sz="1600" dirty="0"/>
          </a:p>
        </p:txBody>
      </p:sp>
      <p:sp>
        <p:nvSpPr>
          <p:cNvPr id="21" name="Text 19"/>
          <p:cNvSpPr/>
          <p:nvPr/>
        </p:nvSpPr>
        <p:spPr>
          <a:xfrm>
            <a:off x="926042" y="2582335"/>
            <a:ext cx="1143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极速迭代</a:t>
            </a:r>
            <a:endParaRPr lang="en-US" sz="1600" dirty="0"/>
          </a:p>
        </p:txBody>
      </p:sp>
      <p:sp>
        <p:nvSpPr>
          <p:cNvPr id="22" name="Shape 20"/>
          <p:cNvSpPr/>
          <p:nvPr/>
        </p:nvSpPr>
        <p:spPr>
          <a:xfrm>
            <a:off x="4892146" y="250296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23" name="Shape 21"/>
          <p:cNvSpPr/>
          <p:nvPr/>
        </p:nvSpPr>
        <p:spPr>
          <a:xfrm>
            <a:off x="5082646" y="250296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24" name="Shape 22"/>
          <p:cNvSpPr/>
          <p:nvPr/>
        </p:nvSpPr>
        <p:spPr>
          <a:xfrm>
            <a:off x="5273146" y="250296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25" name="Shape 23"/>
          <p:cNvSpPr/>
          <p:nvPr/>
        </p:nvSpPr>
        <p:spPr>
          <a:xfrm>
            <a:off x="5463646" y="250296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26" name="Shape 24"/>
          <p:cNvSpPr/>
          <p:nvPr/>
        </p:nvSpPr>
        <p:spPr>
          <a:xfrm>
            <a:off x="5654146" y="250296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27" name="Shape 25"/>
          <p:cNvSpPr/>
          <p:nvPr/>
        </p:nvSpPr>
        <p:spPr>
          <a:xfrm>
            <a:off x="513292" y="3511021"/>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28" name="Shape 26"/>
          <p:cNvSpPr/>
          <p:nvPr/>
        </p:nvSpPr>
        <p:spPr>
          <a:xfrm>
            <a:off x="513292" y="3079750"/>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71E3">
              <a:alpha val="10196"/>
            </a:srgbClr>
          </a:solidFill>
          <a:ln/>
        </p:spPr>
        <p:txBody>
          <a:bodyPr/>
          <a:lstStyle/>
          <a:p>
            <a:endParaRPr lang="zh-CN" altLang="en-US"/>
          </a:p>
        </p:txBody>
      </p:sp>
      <p:sp>
        <p:nvSpPr>
          <p:cNvPr id="29" name="Shape 27"/>
          <p:cNvSpPr/>
          <p:nvPr/>
        </p:nvSpPr>
        <p:spPr>
          <a:xfrm>
            <a:off x="600604" y="3175000"/>
            <a:ext cx="142875" cy="127000"/>
          </a:xfrm>
          <a:custGeom>
            <a:avLst/>
            <a:gdLst/>
            <a:ahLst/>
            <a:cxnLst/>
            <a:rect l="l" t="t" r="r" b="b"/>
            <a:pathLst>
              <a:path w="142875" h="127000">
                <a:moveTo>
                  <a:pt x="55587" y="24085"/>
                </a:moveTo>
                <a:lnTo>
                  <a:pt x="55587" y="36388"/>
                </a:lnTo>
                <a:lnTo>
                  <a:pt x="55711" y="36513"/>
                </a:lnTo>
                <a:cubicBezTo>
                  <a:pt x="57324" y="16073"/>
                  <a:pt x="74414" y="0"/>
                  <a:pt x="95275" y="0"/>
                </a:cubicBezTo>
                <a:cubicBezTo>
                  <a:pt x="100261" y="0"/>
                  <a:pt x="105048" y="918"/>
                  <a:pt x="109438" y="2604"/>
                </a:cubicBezTo>
                <a:cubicBezTo>
                  <a:pt x="111919" y="3547"/>
                  <a:pt x="112365" y="6697"/>
                  <a:pt x="110505" y="8582"/>
                </a:cubicBezTo>
                <a:lnTo>
                  <a:pt x="88503" y="30584"/>
                </a:lnTo>
                <a:cubicBezTo>
                  <a:pt x="87759" y="31328"/>
                  <a:pt x="87337" y="32345"/>
                  <a:pt x="87337" y="33387"/>
                </a:cubicBezTo>
                <a:lnTo>
                  <a:pt x="87337" y="43656"/>
                </a:lnTo>
                <a:cubicBezTo>
                  <a:pt x="87337" y="45839"/>
                  <a:pt x="89123" y="47625"/>
                  <a:pt x="91306" y="47625"/>
                </a:cubicBezTo>
                <a:lnTo>
                  <a:pt x="101575" y="47625"/>
                </a:lnTo>
                <a:cubicBezTo>
                  <a:pt x="102617" y="47625"/>
                  <a:pt x="103634" y="47203"/>
                  <a:pt x="104378" y="46459"/>
                </a:cubicBezTo>
                <a:lnTo>
                  <a:pt x="126380" y="24457"/>
                </a:lnTo>
                <a:cubicBezTo>
                  <a:pt x="128265" y="22572"/>
                  <a:pt x="131415" y="23044"/>
                  <a:pt x="132358" y="25524"/>
                </a:cubicBezTo>
                <a:cubicBezTo>
                  <a:pt x="134045" y="29914"/>
                  <a:pt x="134962" y="34702"/>
                  <a:pt x="134962" y="39688"/>
                </a:cubicBezTo>
                <a:cubicBezTo>
                  <a:pt x="134962" y="54719"/>
                  <a:pt x="126603" y="67816"/>
                  <a:pt x="114250" y="74538"/>
                </a:cubicBezTo>
                <a:lnTo>
                  <a:pt x="134466" y="94754"/>
                </a:lnTo>
                <a:cubicBezTo>
                  <a:pt x="139105" y="99392"/>
                  <a:pt x="139105" y="106933"/>
                  <a:pt x="134466" y="111596"/>
                </a:cubicBezTo>
                <a:lnTo>
                  <a:pt x="119559" y="126504"/>
                </a:lnTo>
                <a:cubicBezTo>
                  <a:pt x="114920" y="131142"/>
                  <a:pt x="107379" y="131142"/>
                  <a:pt x="102716" y="126504"/>
                </a:cubicBezTo>
                <a:lnTo>
                  <a:pt x="71462" y="95250"/>
                </a:lnTo>
                <a:cubicBezTo>
                  <a:pt x="64666" y="88454"/>
                  <a:pt x="63128" y="78408"/>
                  <a:pt x="66873" y="70123"/>
                </a:cubicBezTo>
                <a:lnTo>
                  <a:pt x="44376" y="47625"/>
                </a:lnTo>
                <a:lnTo>
                  <a:pt x="32072" y="47625"/>
                </a:lnTo>
                <a:cubicBezTo>
                  <a:pt x="29418" y="47625"/>
                  <a:pt x="26938" y="46310"/>
                  <a:pt x="25474" y="44103"/>
                </a:cubicBezTo>
                <a:lnTo>
                  <a:pt x="5804" y="14610"/>
                </a:lnTo>
                <a:cubicBezTo>
                  <a:pt x="4763" y="13047"/>
                  <a:pt x="4961" y="10939"/>
                  <a:pt x="6300" y="9599"/>
                </a:cubicBezTo>
                <a:lnTo>
                  <a:pt x="17562" y="-1662"/>
                </a:lnTo>
                <a:cubicBezTo>
                  <a:pt x="18901" y="-3001"/>
                  <a:pt x="20985" y="-3200"/>
                  <a:pt x="22572" y="-2158"/>
                </a:cubicBezTo>
                <a:lnTo>
                  <a:pt x="52065" y="17487"/>
                </a:lnTo>
                <a:cubicBezTo>
                  <a:pt x="54273" y="18951"/>
                  <a:pt x="55587" y="21431"/>
                  <a:pt x="55587" y="24085"/>
                </a:cubicBezTo>
                <a:close/>
                <a:moveTo>
                  <a:pt x="53479" y="73571"/>
                </a:moveTo>
                <a:cubicBezTo>
                  <a:pt x="51916" y="82748"/>
                  <a:pt x="54074" y="92447"/>
                  <a:pt x="60027" y="100211"/>
                </a:cubicBezTo>
                <a:lnTo>
                  <a:pt x="36463" y="123751"/>
                </a:lnTo>
                <a:cubicBezTo>
                  <a:pt x="29493" y="130721"/>
                  <a:pt x="18182" y="130721"/>
                  <a:pt x="11212" y="123751"/>
                </a:cubicBezTo>
                <a:cubicBezTo>
                  <a:pt x="4242" y="116780"/>
                  <a:pt x="4242" y="105470"/>
                  <a:pt x="11212" y="98499"/>
                </a:cubicBezTo>
                <a:lnTo>
                  <a:pt x="44797" y="64914"/>
                </a:lnTo>
                <a:lnTo>
                  <a:pt x="53479" y="73596"/>
                </a:lnTo>
                <a:close/>
              </a:path>
            </a:pathLst>
          </a:custGeom>
          <a:solidFill>
            <a:srgbClr val="0071E3"/>
          </a:solidFill>
          <a:ln/>
        </p:spPr>
        <p:txBody>
          <a:bodyPr/>
          <a:lstStyle/>
          <a:p>
            <a:endParaRPr lang="zh-CN" altLang="en-US"/>
          </a:p>
        </p:txBody>
      </p:sp>
      <p:sp>
        <p:nvSpPr>
          <p:cNvPr id="30" name="Text 28"/>
          <p:cNvSpPr/>
          <p:nvPr/>
        </p:nvSpPr>
        <p:spPr>
          <a:xfrm>
            <a:off x="926042" y="3063875"/>
            <a:ext cx="76993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技术改造类</a:t>
            </a:r>
            <a:endParaRPr lang="en-US" sz="1600" dirty="0"/>
          </a:p>
        </p:txBody>
      </p:sp>
      <p:sp>
        <p:nvSpPr>
          <p:cNvPr id="31" name="Text 29"/>
          <p:cNvSpPr/>
          <p:nvPr/>
        </p:nvSpPr>
        <p:spPr>
          <a:xfrm>
            <a:off x="926042" y="3254375"/>
            <a:ext cx="762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批量迁移/重构</a:t>
            </a:r>
            <a:endParaRPr lang="en-US" sz="1600" dirty="0"/>
          </a:p>
        </p:txBody>
      </p:sp>
      <p:sp>
        <p:nvSpPr>
          <p:cNvPr id="32" name="Shape 30"/>
          <p:cNvSpPr/>
          <p:nvPr/>
        </p:nvSpPr>
        <p:spPr>
          <a:xfrm>
            <a:off x="4892146" y="317500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33" name="Shape 31"/>
          <p:cNvSpPr/>
          <p:nvPr/>
        </p:nvSpPr>
        <p:spPr>
          <a:xfrm>
            <a:off x="5082646" y="317500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34" name="Shape 32"/>
          <p:cNvSpPr/>
          <p:nvPr/>
        </p:nvSpPr>
        <p:spPr>
          <a:xfrm>
            <a:off x="5273146" y="317500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35" name="Shape 33"/>
          <p:cNvSpPr/>
          <p:nvPr/>
        </p:nvSpPr>
        <p:spPr>
          <a:xfrm>
            <a:off x="5463646" y="3175000"/>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36" name="Shape 34"/>
          <p:cNvSpPr/>
          <p:nvPr/>
        </p:nvSpPr>
        <p:spPr>
          <a:xfrm>
            <a:off x="5654146" y="3175000"/>
            <a:ext cx="142875" cy="127000"/>
          </a:xfrm>
          <a:custGeom>
            <a:avLst/>
            <a:gdLst/>
            <a:ahLst/>
            <a:cxnLst/>
            <a:rect l="l" t="t" r="r" b="b"/>
            <a:pathLst>
              <a:path w="142875" h="127000">
                <a:moveTo>
                  <a:pt x="71462" y="-7937"/>
                </a:moveTo>
                <a:cubicBezTo>
                  <a:pt x="73695" y="-7937"/>
                  <a:pt x="75754" y="-6672"/>
                  <a:pt x="76771" y="-4688"/>
                </a:cubicBezTo>
                <a:lnTo>
                  <a:pt x="95002" y="31080"/>
                </a:lnTo>
                <a:lnTo>
                  <a:pt x="134665" y="37381"/>
                </a:lnTo>
                <a:cubicBezTo>
                  <a:pt x="136872" y="37728"/>
                  <a:pt x="138708" y="39291"/>
                  <a:pt x="139402" y="41424"/>
                </a:cubicBezTo>
                <a:cubicBezTo>
                  <a:pt x="140097" y="43557"/>
                  <a:pt x="139526" y="45889"/>
                  <a:pt x="137964" y="47476"/>
                </a:cubicBezTo>
                <a:lnTo>
                  <a:pt x="109562" y="75878"/>
                </a:lnTo>
                <a:lnTo>
                  <a:pt x="115838" y="115540"/>
                </a:lnTo>
                <a:cubicBezTo>
                  <a:pt x="116185" y="117748"/>
                  <a:pt x="115267" y="119980"/>
                  <a:pt x="113457" y="121295"/>
                </a:cubicBezTo>
                <a:cubicBezTo>
                  <a:pt x="111646" y="122610"/>
                  <a:pt x="109240" y="122808"/>
                  <a:pt x="107255" y="121791"/>
                </a:cubicBezTo>
                <a:lnTo>
                  <a:pt x="71462" y="103584"/>
                </a:lnTo>
                <a:lnTo>
                  <a:pt x="35669" y="121791"/>
                </a:lnTo>
                <a:cubicBezTo>
                  <a:pt x="33685" y="122808"/>
                  <a:pt x="31279" y="122610"/>
                  <a:pt x="29468" y="121295"/>
                </a:cubicBezTo>
                <a:cubicBezTo>
                  <a:pt x="27657" y="119980"/>
                  <a:pt x="26739" y="117773"/>
                  <a:pt x="27087" y="115540"/>
                </a:cubicBezTo>
                <a:lnTo>
                  <a:pt x="33338" y="75878"/>
                </a:lnTo>
                <a:lnTo>
                  <a:pt x="4961" y="47476"/>
                </a:lnTo>
                <a:cubicBezTo>
                  <a:pt x="3373" y="45889"/>
                  <a:pt x="2828" y="43557"/>
                  <a:pt x="3522" y="41424"/>
                </a:cubicBezTo>
                <a:cubicBezTo>
                  <a:pt x="4217" y="39291"/>
                  <a:pt x="6028" y="37728"/>
                  <a:pt x="8260" y="37381"/>
                </a:cubicBezTo>
                <a:lnTo>
                  <a:pt x="47923" y="31080"/>
                </a:lnTo>
                <a:lnTo>
                  <a:pt x="66179" y="-4688"/>
                </a:lnTo>
                <a:cubicBezTo>
                  <a:pt x="67196" y="-6672"/>
                  <a:pt x="69255" y="-7938"/>
                  <a:pt x="71487" y="-7938"/>
                </a:cubicBezTo>
                <a:close/>
                <a:moveTo>
                  <a:pt x="71462" y="11113"/>
                </a:moveTo>
                <a:lnTo>
                  <a:pt x="57125" y="39191"/>
                </a:lnTo>
                <a:cubicBezTo>
                  <a:pt x="56257" y="40878"/>
                  <a:pt x="54645" y="42069"/>
                  <a:pt x="52760" y="42366"/>
                </a:cubicBezTo>
                <a:lnTo>
                  <a:pt x="21630" y="47327"/>
                </a:lnTo>
                <a:lnTo>
                  <a:pt x="43904" y="69627"/>
                </a:lnTo>
                <a:cubicBezTo>
                  <a:pt x="45244" y="70966"/>
                  <a:pt x="45864" y="72876"/>
                  <a:pt x="45566" y="74761"/>
                </a:cubicBezTo>
                <a:lnTo>
                  <a:pt x="40655" y="105891"/>
                </a:lnTo>
                <a:lnTo>
                  <a:pt x="68759" y="91604"/>
                </a:lnTo>
                <a:cubicBezTo>
                  <a:pt x="70445" y="90736"/>
                  <a:pt x="72454" y="90736"/>
                  <a:pt x="74166" y="91604"/>
                </a:cubicBezTo>
                <a:lnTo>
                  <a:pt x="102270" y="105891"/>
                </a:lnTo>
                <a:lnTo>
                  <a:pt x="97358" y="74761"/>
                </a:lnTo>
                <a:cubicBezTo>
                  <a:pt x="97061" y="72876"/>
                  <a:pt x="97681" y="70966"/>
                  <a:pt x="99020" y="69627"/>
                </a:cubicBezTo>
                <a:lnTo>
                  <a:pt x="121295" y="47327"/>
                </a:lnTo>
                <a:lnTo>
                  <a:pt x="90165" y="42366"/>
                </a:lnTo>
                <a:cubicBezTo>
                  <a:pt x="88280" y="42069"/>
                  <a:pt x="86668" y="40878"/>
                  <a:pt x="85799" y="39191"/>
                </a:cubicBezTo>
                <a:lnTo>
                  <a:pt x="71462" y="11113"/>
                </a:lnTo>
                <a:close/>
              </a:path>
            </a:pathLst>
          </a:custGeom>
          <a:solidFill>
            <a:srgbClr val="86868B"/>
          </a:solidFill>
          <a:ln/>
        </p:spPr>
        <p:txBody>
          <a:bodyPr/>
          <a:lstStyle/>
          <a:p>
            <a:endParaRPr lang="zh-CN" altLang="en-US"/>
          </a:p>
        </p:txBody>
      </p:sp>
      <p:sp>
        <p:nvSpPr>
          <p:cNvPr id="37" name="Shape 35"/>
          <p:cNvSpPr/>
          <p:nvPr/>
        </p:nvSpPr>
        <p:spPr>
          <a:xfrm>
            <a:off x="513292" y="4183065"/>
            <a:ext cx="5294313" cy="5292"/>
          </a:xfrm>
          <a:custGeom>
            <a:avLst/>
            <a:gdLst/>
            <a:ahLst/>
            <a:cxnLst/>
            <a:rect l="l" t="t" r="r" b="b"/>
            <a:pathLst>
              <a:path w="5294313" h="5292">
                <a:moveTo>
                  <a:pt x="0" y="0"/>
                </a:moveTo>
                <a:lnTo>
                  <a:pt x="5294313" y="0"/>
                </a:lnTo>
                <a:lnTo>
                  <a:pt x="5294313" y="5292"/>
                </a:lnTo>
                <a:lnTo>
                  <a:pt x="0" y="5292"/>
                </a:lnTo>
                <a:lnTo>
                  <a:pt x="0" y="0"/>
                </a:lnTo>
                <a:close/>
              </a:path>
            </a:pathLst>
          </a:custGeom>
          <a:solidFill>
            <a:srgbClr val="E5E5E5"/>
          </a:solidFill>
          <a:ln/>
        </p:spPr>
        <p:txBody>
          <a:bodyPr/>
          <a:lstStyle/>
          <a:p>
            <a:endParaRPr lang="zh-CN" altLang="en-US"/>
          </a:p>
        </p:txBody>
      </p:sp>
      <p:sp>
        <p:nvSpPr>
          <p:cNvPr id="38" name="Shape 36"/>
          <p:cNvSpPr/>
          <p:nvPr/>
        </p:nvSpPr>
        <p:spPr>
          <a:xfrm>
            <a:off x="513292" y="3751794"/>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0071E3">
              <a:alpha val="10196"/>
            </a:srgbClr>
          </a:solidFill>
          <a:ln/>
        </p:spPr>
        <p:txBody>
          <a:bodyPr/>
          <a:lstStyle/>
          <a:p>
            <a:endParaRPr lang="zh-CN" altLang="en-US"/>
          </a:p>
        </p:txBody>
      </p:sp>
      <p:sp>
        <p:nvSpPr>
          <p:cNvPr id="39" name="Shape 37"/>
          <p:cNvSpPr/>
          <p:nvPr/>
        </p:nvSpPr>
        <p:spPr>
          <a:xfrm>
            <a:off x="616479" y="3847044"/>
            <a:ext cx="111125" cy="127000"/>
          </a:xfrm>
          <a:custGeom>
            <a:avLst/>
            <a:gdLst/>
            <a:ahLst/>
            <a:cxnLst/>
            <a:rect l="l" t="t" r="r" b="b"/>
            <a:pathLst>
              <a:path w="111125" h="127000">
                <a:moveTo>
                  <a:pt x="111125" y="51048"/>
                </a:moveTo>
                <a:cubicBezTo>
                  <a:pt x="107454" y="53479"/>
                  <a:pt x="103237" y="55438"/>
                  <a:pt x="98847" y="57001"/>
                </a:cubicBezTo>
                <a:cubicBezTo>
                  <a:pt x="87188" y="61168"/>
                  <a:pt x="71884" y="63500"/>
                  <a:pt x="55563" y="63500"/>
                </a:cubicBezTo>
                <a:cubicBezTo>
                  <a:pt x="39241" y="63500"/>
                  <a:pt x="23912" y="61144"/>
                  <a:pt x="12278" y="57001"/>
                </a:cubicBezTo>
                <a:cubicBezTo>
                  <a:pt x="7913" y="55438"/>
                  <a:pt x="3671" y="53479"/>
                  <a:pt x="0" y="51048"/>
                </a:cubicBezTo>
                <a:lnTo>
                  <a:pt x="0" y="71438"/>
                </a:lnTo>
                <a:cubicBezTo>
                  <a:pt x="0" y="82401"/>
                  <a:pt x="24879" y="91281"/>
                  <a:pt x="55563" y="91281"/>
                </a:cubicBezTo>
                <a:cubicBezTo>
                  <a:pt x="86246" y="91281"/>
                  <a:pt x="111125" y="82401"/>
                  <a:pt x="111125" y="71438"/>
                </a:cubicBezTo>
                <a:lnTo>
                  <a:pt x="111125" y="51048"/>
                </a:lnTo>
                <a:close/>
                <a:moveTo>
                  <a:pt x="111125" y="31750"/>
                </a:moveTo>
                <a:lnTo>
                  <a:pt x="111125" y="19844"/>
                </a:lnTo>
                <a:cubicBezTo>
                  <a:pt x="111125" y="8880"/>
                  <a:pt x="86246" y="0"/>
                  <a:pt x="55563" y="0"/>
                </a:cubicBezTo>
                <a:cubicBezTo>
                  <a:pt x="24879" y="0"/>
                  <a:pt x="0" y="8880"/>
                  <a:pt x="0" y="19844"/>
                </a:cubicBezTo>
                <a:lnTo>
                  <a:pt x="0" y="31750"/>
                </a:lnTo>
                <a:cubicBezTo>
                  <a:pt x="0" y="42714"/>
                  <a:pt x="24879" y="51594"/>
                  <a:pt x="55563" y="51594"/>
                </a:cubicBezTo>
                <a:cubicBezTo>
                  <a:pt x="86246" y="51594"/>
                  <a:pt x="111125" y="42714"/>
                  <a:pt x="111125" y="31750"/>
                </a:cubicBezTo>
                <a:close/>
                <a:moveTo>
                  <a:pt x="98847" y="96689"/>
                </a:moveTo>
                <a:cubicBezTo>
                  <a:pt x="87213" y="100831"/>
                  <a:pt x="71909" y="103188"/>
                  <a:pt x="55563" y="103188"/>
                </a:cubicBezTo>
                <a:cubicBezTo>
                  <a:pt x="39216" y="103188"/>
                  <a:pt x="23912" y="100831"/>
                  <a:pt x="12278" y="96689"/>
                </a:cubicBezTo>
                <a:cubicBezTo>
                  <a:pt x="7913" y="95126"/>
                  <a:pt x="3671" y="93166"/>
                  <a:pt x="0" y="90736"/>
                </a:cubicBezTo>
                <a:lnTo>
                  <a:pt x="0" y="107156"/>
                </a:lnTo>
                <a:cubicBezTo>
                  <a:pt x="0" y="118120"/>
                  <a:pt x="24879" y="127000"/>
                  <a:pt x="55563" y="127000"/>
                </a:cubicBezTo>
                <a:cubicBezTo>
                  <a:pt x="86246" y="127000"/>
                  <a:pt x="111125" y="118120"/>
                  <a:pt x="111125" y="107156"/>
                </a:cubicBezTo>
                <a:lnTo>
                  <a:pt x="111125" y="90736"/>
                </a:lnTo>
                <a:cubicBezTo>
                  <a:pt x="107454" y="93166"/>
                  <a:pt x="103237" y="95126"/>
                  <a:pt x="98847" y="96689"/>
                </a:cubicBezTo>
                <a:close/>
              </a:path>
            </a:pathLst>
          </a:custGeom>
          <a:solidFill>
            <a:srgbClr val="0071E3"/>
          </a:solidFill>
          <a:ln/>
        </p:spPr>
        <p:txBody>
          <a:bodyPr/>
          <a:lstStyle/>
          <a:p>
            <a:endParaRPr lang="zh-CN" altLang="en-US"/>
          </a:p>
        </p:txBody>
      </p:sp>
      <p:sp>
        <p:nvSpPr>
          <p:cNvPr id="40" name="Text 38"/>
          <p:cNvSpPr/>
          <p:nvPr/>
        </p:nvSpPr>
        <p:spPr>
          <a:xfrm>
            <a:off x="926042" y="3735919"/>
            <a:ext cx="920750"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标准CRUD开发</a:t>
            </a:r>
            <a:endParaRPr lang="en-US" sz="1600" dirty="0"/>
          </a:p>
        </p:txBody>
      </p:sp>
      <p:sp>
        <p:nvSpPr>
          <p:cNvPr id="41" name="Text 39"/>
          <p:cNvSpPr/>
          <p:nvPr/>
        </p:nvSpPr>
        <p:spPr>
          <a:xfrm>
            <a:off x="926042" y="3926419"/>
            <a:ext cx="91281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模板化生成</a:t>
            </a:r>
            <a:endParaRPr lang="en-US" sz="1600" dirty="0"/>
          </a:p>
        </p:txBody>
      </p:sp>
      <p:sp>
        <p:nvSpPr>
          <p:cNvPr id="42" name="Shape 40"/>
          <p:cNvSpPr/>
          <p:nvPr/>
        </p:nvSpPr>
        <p:spPr>
          <a:xfrm>
            <a:off x="4892146" y="3847044"/>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43" name="Shape 41"/>
          <p:cNvSpPr/>
          <p:nvPr/>
        </p:nvSpPr>
        <p:spPr>
          <a:xfrm>
            <a:off x="5082646" y="3847044"/>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44" name="Shape 42"/>
          <p:cNvSpPr/>
          <p:nvPr/>
        </p:nvSpPr>
        <p:spPr>
          <a:xfrm>
            <a:off x="5273146" y="3847044"/>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45" name="Shape 43"/>
          <p:cNvSpPr/>
          <p:nvPr/>
        </p:nvSpPr>
        <p:spPr>
          <a:xfrm>
            <a:off x="5463646" y="3847044"/>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0071E3"/>
          </a:solidFill>
          <a:ln/>
        </p:spPr>
        <p:txBody>
          <a:bodyPr/>
          <a:lstStyle/>
          <a:p>
            <a:endParaRPr lang="zh-CN" altLang="en-US"/>
          </a:p>
        </p:txBody>
      </p:sp>
      <p:sp>
        <p:nvSpPr>
          <p:cNvPr id="46" name="Shape 44"/>
          <p:cNvSpPr/>
          <p:nvPr/>
        </p:nvSpPr>
        <p:spPr>
          <a:xfrm>
            <a:off x="5654146" y="3847044"/>
            <a:ext cx="142875" cy="127000"/>
          </a:xfrm>
          <a:custGeom>
            <a:avLst/>
            <a:gdLst/>
            <a:ahLst/>
            <a:cxnLst/>
            <a:rect l="l" t="t" r="r" b="b"/>
            <a:pathLst>
              <a:path w="142875" h="127000">
                <a:moveTo>
                  <a:pt x="71462" y="-7937"/>
                </a:moveTo>
                <a:cubicBezTo>
                  <a:pt x="73695" y="-7937"/>
                  <a:pt x="75754" y="-6672"/>
                  <a:pt x="76771" y="-4688"/>
                </a:cubicBezTo>
                <a:lnTo>
                  <a:pt x="95002" y="31080"/>
                </a:lnTo>
                <a:lnTo>
                  <a:pt x="134665" y="37381"/>
                </a:lnTo>
                <a:cubicBezTo>
                  <a:pt x="136872" y="37728"/>
                  <a:pt x="138708" y="39291"/>
                  <a:pt x="139402" y="41424"/>
                </a:cubicBezTo>
                <a:cubicBezTo>
                  <a:pt x="140097" y="43557"/>
                  <a:pt x="139526" y="45889"/>
                  <a:pt x="137964" y="47476"/>
                </a:cubicBezTo>
                <a:lnTo>
                  <a:pt x="109562" y="75878"/>
                </a:lnTo>
                <a:lnTo>
                  <a:pt x="115838" y="115540"/>
                </a:lnTo>
                <a:cubicBezTo>
                  <a:pt x="116185" y="117748"/>
                  <a:pt x="115267" y="119980"/>
                  <a:pt x="113457" y="121295"/>
                </a:cubicBezTo>
                <a:cubicBezTo>
                  <a:pt x="111646" y="122610"/>
                  <a:pt x="109240" y="122808"/>
                  <a:pt x="107255" y="121791"/>
                </a:cubicBezTo>
                <a:lnTo>
                  <a:pt x="71462" y="103584"/>
                </a:lnTo>
                <a:lnTo>
                  <a:pt x="35669" y="121791"/>
                </a:lnTo>
                <a:cubicBezTo>
                  <a:pt x="33685" y="122808"/>
                  <a:pt x="31279" y="122610"/>
                  <a:pt x="29468" y="121295"/>
                </a:cubicBezTo>
                <a:cubicBezTo>
                  <a:pt x="27657" y="119980"/>
                  <a:pt x="26739" y="117773"/>
                  <a:pt x="27087" y="115540"/>
                </a:cubicBezTo>
                <a:lnTo>
                  <a:pt x="33338" y="75878"/>
                </a:lnTo>
                <a:lnTo>
                  <a:pt x="4961" y="47476"/>
                </a:lnTo>
                <a:cubicBezTo>
                  <a:pt x="3373" y="45889"/>
                  <a:pt x="2828" y="43557"/>
                  <a:pt x="3522" y="41424"/>
                </a:cubicBezTo>
                <a:cubicBezTo>
                  <a:pt x="4217" y="39291"/>
                  <a:pt x="6028" y="37728"/>
                  <a:pt x="8260" y="37381"/>
                </a:cubicBezTo>
                <a:lnTo>
                  <a:pt x="47923" y="31080"/>
                </a:lnTo>
                <a:lnTo>
                  <a:pt x="66179" y="-4688"/>
                </a:lnTo>
                <a:cubicBezTo>
                  <a:pt x="67196" y="-6672"/>
                  <a:pt x="69255" y="-7938"/>
                  <a:pt x="71487" y="-7938"/>
                </a:cubicBezTo>
                <a:close/>
                <a:moveTo>
                  <a:pt x="71462" y="11113"/>
                </a:moveTo>
                <a:lnTo>
                  <a:pt x="57125" y="39191"/>
                </a:lnTo>
                <a:cubicBezTo>
                  <a:pt x="56257" y="40878"/>
                  <a:pt x="54645" y="42069"/>
                  <a:pt x="52760" y="42366"/>
                </a:cubicBezTo>
                <a:lnTo>
                  <a:pt x="21630" y="47327"/>
                </a:lnTo>
                <a:lnTo>
                  <a:pt x="43904" y="69627"/>
                </a:lnTo>
                <a:cubicBezTo>
                  <a:pt x="45244" y="70966"/>
                  <a:pt x="45864" y="72876"/>
                  <a:pt x="45566" y="74761"/>
                </a:cubicBezTo>
                <a:lnTo>
                  <a:pt x="40655" y="105891"/>
                </a:lnTo>
                <a:lnTo>
                  <a:pt x="68759" y="91604"/>
                </a:lnTo>
                <a:cubicBezTo>
                  <a:pt x="70445" y="90736"/>
                  <a:pt x="72454" y="90736"/>
                  <a:pt x="74166" y="91604"/>
                </a:cubicBezTo>
                <a:lnTo>
                  <a:pt x="102270" y="105891"/>
                </a:lnTo>
                <a:lnTo>
                  <a:pt x="97358" y="74761"/>
                </a:lnTo>
                <a:cubicBezTo>
                  <a:pt x="97061" y="72876"/>
                  <a:pt x="97681" y="70966"/>
                  <a:pt x="99020" y="69627"/>
                </a:cubicBezTo>
                <a:lnTo>
                  <a:pt x="121295" y="47327"/>
                </a:lnTo>
                <a:lnTo>
                  <a:pt x="90165" y="42366"/>
                </a:lnTo>
                <a:cubicBezTo>
                  <a:pt x="88280" y="42069"/>
                  <a:pt x="86668" y="40878"/>
                  <a:pt x="85799" y="39191"/>
                </a:cubicBezTo>
                <a:lnTo>
                  <a:pt x="71462" y="11113"/>
                </a:lnTo>
                <a:close/>
              </a:path>
            </a:pathLst>
          </a:custGeom>
          <a:solidFill>
            <a:srgbClr val="86868B"/>
          </a:solidFill>
          <a:ln/>
        </p:spPr>
        <p:txBody>
          <a:bodyPr/>
          <a:lstStyle/>
          <a:p>
            <a:endParaRPr lang="zh-CN" altLang="en-US"/>
          </a:p>
        </p:txBody>
      </p:sp>
      <p:sp>
        <p:nvSpPr>
          <p:cNvPr id="47" name="Shape 45"/>
          <p:cNvSpPr/>
          <p:nvPr/>
        </p:nvSpPr>
        <p:spPr>
          <a:xfrm>
            <a:off x="513292" y="4423835"/>
            <a:ext cx="317500" cy="317500"/>
          </a:xfrm>
          <a:custGeom>
            <a:avLst/>
            <a:gdLst/>
            <a:ahLst/>
            <a:cxnLst/>
            <a:rect l="l" t="t" r="r" b="b"/>
            <a:pathLst>
              <a:path w="317500" h="317500">
                <a:moveTo>
                  <a:pt x="63500" y="0"/>
                </a:moveTo>
                <a:lnTo>
                  <a:pt x="254000" y="0"/>
                </a:lnTo>
                <a:cubicBezTo>
                  <a:pt x="289047" y="0"/>
                  <a:pt x="317500" y="28453"/>
                  <a:pt x="317500" y="63500"/>
                </a:cubicBezTo>
                <a:lnTo>
                  <a:pt x="317500" y="254000"/>
                </a:lnTo>
                <a:cubicBezTo>
                  <a:pt x="317500" y="289047"/>
                  <a:pt x="289047" y="317500"/>
                  <a:pt x="254000" y="317500"/>
                </a:cubicBezTo>
                <a:lnTo>
                  <a:pt x="63500" y="317500"/>
                </a:lnTo>
                <a:cubicBezTo>
                  <a:pt x="28453" y="317500"/>
                  <a:pt x="0" y="289047"/>
                  <a:pt x="0" y="254000"/>
                </a:cubicBezTo>
                <a:lnTo>
                  <a:pt x="0" y="63500"/>
                </a:lnTo>
                <a:cubicBezTo>
                  <a:pt x="0" y="28453"/>
                  <a:pt x="28453" y="0"/>
                  <a:pt x="63500" y="0"/>
                </a:cubicBezTo>
                <a:close/>
              </a:path>
            </a:pathLst>
          </a:custGeom>
          <a:solidFill>
            <a:srgbClr val="86868B">
              <a:alpha val="10196"/>
            </a:srgbClr>
          </a:solidFill>
          <a:ln/>
        </p:spPr>
        <p:txBody>
          <a:bodyPr/>
          <a:lstStyle/>
          <a:p>
            <a:endParaRPr lang="zh-CN" altLang="en-US"/>
          </a:p>
        </p:txBody>
      </p:sp>
      <p:sp>
        <p:nvSpPr>
          <p:cNvPr id="48" name="Shape 46"/>
          <p:cNvSpPr/>
          <p:nvPr/>
        </p:nvSpPr>
        <p:spPr>
          <a:xfrm>
            <a:off x="600604" y="4519085"/>
            <a:ext cx="142875" cy="127000"/>
          </a:xfrm>
          <a:custGeom>
            <a:avLst/>
            <a:gdLst/>
            <a:ahLst/>
            <a:cxnLst/>
            <a:rect l="l" t="t" r="r" b="b"/>
            <a:pathLst>
              <a:path w="142875" h="127000">
                <a:moveTo>
                  <a:pt x="71438" y="15875"/>
                </a:moveTo>
                <a:cubicBezTo>
                  <a:pt x="97730" y="15875"/>
                  <a:pt x="119063" y="37207"/>
                  <a:pt x="119063" y="63500"/>
                </a:cubicBezTo>
                <a:cubicBezTo>
                  <a:pt x="119063" y="89793"/>
                  <a:pt x="97730" y="111125"/>
                  <a:pt x="71438" y="111125"/>
                </a:cubicBezTo>
                <a:cubicBezTo>
                  <a:pt x="55265" y="111125"/>
                  <a:pt x="40953" y="103063"/>
                  <a:pt x="32345" y="90711"/>
                </a:cubicBezTo>
                <a:cubicBezTo>
                  <a:pt x="29840" y="87114"/>
                  <a:pt x="24879" y="86246"/>
                  <a:pt x="21282" y="88751"/>
                </a:cubicBezTo>
                <a:cubicBezTo>
                  <a:pt x="17686" y="91256"/>
                  <a:pt x="16818" y="96217"/>
                  <a:pt x="19323" y="99814"/>
                </a:cubicBezTo>
                <a:cubicBezTo>
                  <a:pt x="30783" y="116235"/>
                  <a:pt x="49857" y="127000"/>
                  <a:pt x="71438" y="127000"/>
                </a:cubicBezTo>
                <a:cubicBezTo>
                  <a:pt x="106511" y="127000"/>
                  <a:pt x="134938" y="98574"/>
                  <a:pt x="134938" y="63500"/>
                </a:cubicBezTo>
                <a:cubicBezTo>
                  <a:pt x="134938" y="28426"/>
                  <a:pt x="106511" y="0"/>
                  <a:pt x="71438" y="0"/>
                </a:cubicBezTo>
                <a:cubicBezTo>
                  <a:pt x="50180" y="0"/>
                  <a:pt x="31378" y="10443"/>
                  <a:pt x="19844" y="26467"/>
                </a:cubicBezTo>
                <a:lnTo>
                  <a:pt x="19844" y="19844"/>
                </a:lnTo>
                <a:cubicBezTo>
                  <a:pt x="19844" y="15453"/>
                  <a:pt x="16297" y="11906"/>
                  <a:pt x="11906" y="11906"/>
                </a:cubicBezTo>
                <a:cubicBezTo>
                  <a:pt x="7516" y="11906"/>
                  <a:pt x="3969" y="15453"/>
                  <a:pt x="3969" y="19844"/>
                </a:cubicBezTo>
                <a:lnTo>
                  <a:pt x="3969" y="47625"/>
                </a:lnTo>
                <a:cubicBezTo>
                  <a:pt x="3969" y="52015"/>
                  <a:pt x="7516" y="55563"/>
                  <a:pt x="11906" y="55563"/>
                </a:cubicBezTo>
                <a:lnTo>
                  <a:pt x="18008" y="55563"/>
                </a:lnTo>
                <a:cubicBezTo>
                  <a:pt x="18132" y="55563"/>
                  <a:pt x="18256" y="55563"/>
                  <a:pt x="18380" y="55563"/>
                </a:cubicBezTo>
                <a:lnTo>
                  <a:pt x="39712" y="55563"/>
                </a:lnTo>
                <a:cubicBezTo>
                  <a:pt x="44103" y="55563"/>
                  <a:pt x="47650" y="52015"/>
                  <a:pt x="47650" y="47625"/>
                </a:cubicBezTo>
                <a:cubicBezTo>
                  <a:pt x="47650" y="43235"/>
                  <a:pt x="44103" y="39688"/>
                  <a:pt x="39712" y="39688"/>
                </a:cubicBezTo>
                <a:lnTo>
                  <a:pt x="30212" y="39688"/>
                </a:lnTo>
                <a:cubicBezTo>
                  <a:pt x="38422" y="25450"/>
                  <a:pt x="53826" y="15875"/>
                  <a:pt x="71438" y="15875"/>
                </a:cubicBezTo>
                <a:close/>
                <a:moveTo>
                  <a:pt x="77391" y="37703"/>
                </a:moveTo>
                <a:cubicBezTo>
                  <a:pt x="77391" y="34404"/>
                  <a:pt x="74737" y="31750"/>
                  <a:pt x="71438" y="31750"/>
                </a:cubicBezTo>
                <a:cubicBezTo>
                  <a:pt x="68138" y="31750"/>
                  <a:pt x="65484" y="34404"/>
                  <a:pt x="65484" y="37703"/>
                </a:cubicBezTo>
                <a:lnTo>
                  <a:pt x="65484" y="63500"/>
                </a:lnTo>
                <a:cubicBezTo>
                  <a:pt x="65484" y="65088"/>
                  <a:pt x="66104" y="66601"/>
                  <a:pt x="67221" y="67717"/>
                </a:cubicBezTo>
                <a:lnTo>
                  <a:pt x="85080" y="85576"/>
                </a:lnTo>
                <a:cubicBezTo>
                  <a:pt x="87412" y="87908"/>
                  <a:pt x="91182" y="87908"/>
                  <a:pt x="93489" y="85576"/>
                </a:cubicBezTo>
                <a:cubicBezTo>
                  <a:pt x="95796" y="83245"/>
                  <a:pt x="95821" y="79474"/>
                  <a:pt x="93489" y="77167"/>
                </a:cubicBezTo>
                <a:lnTo>
                  <a:pt x="77366" y="61044"/>
                </a:lnTo>
                <a:lnTo>
                  <a:pt x="77366" y="37703"/>
                </a:lnTo>
                <a:close/>
              </a:path>
            </a:pathLst>
          </a:custGeom>
          <a:solidFill>
            <a:srgbClr val="86868B"/>
          </a:solidFill>
          <a:ln/>
        </p:spPr>
        <p:txBody>
          <a:bodyPr/>
          <a:lstStyle/>
          <a:p>
            <a:endParaRPr lang="zh-CN" altLang="en-US"/>
          </a:p>
        </p:txBody>
      </p:sp>
      <p:sp>
        <p:nvSpPr>
          <p:cNvPr id="49" name="Text 47"/>
          <p:cNvSpPr/>
          <p:nvPr/>
        </p:nvSpPr>
        <p:spPr>
          <a:xfrm>
            <a:off x="926042" y="4407960"/>
            <a:ext cx="84137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遗留系统维护</a:t>
            </a:r>
            <a:endParaRPr lang="en-US" sz="1600" dirty="0"/>
          </a:p>
        </p:txBody>
      </p:sp>
      <p:sp>
        <p:nvSpPr>
          <p:cNvPr id="50" name="Text 48"/>
          <p:cNvSpPr/>
          <p:nvPr/>
        </p:nvSpPr>
        <p:spPr>
          <a:xfrm>
            <a:off x="926042" y="4598460"/>
            <a:ext cx="8334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需人工深度介入</a:t>
            </a:r>
            <a:endParaRPr lang="en-US" sz="1600" dirty="0"/>
          </a:p>
        </p:txBody>
      </p:sp>
      <p:sp>
        <p:nvSpPr>
          <p:cNvPr id="51" name="Shape 49"/>
          <p:cNvSpPr/>
          <p:nvPr/>
        </p:nvSpPr>
        <p:spPr>
          <a:xfrm>
            <a:off x="4892146" y="451908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86868B"/>
          </a:solidFill>
          <a:ln/>
        </p:spPr>
        <p:txBody>
          <a:bodyPr/>
          <a:lstStyle/>
          <a:p>
            <a:endParaRPr lang="zh-CN" altLang="en-US"/>
          </a:p>
        </p:txBody>
      </p:sp>
      <p:sp>
        <p:nvSpPr>
          <p:cNvPr id="52" name="Shape 50"/>
          <p:cNvSpPr/>
          <p:nvPr/>
        </p:nvSpPr>
        <p:spPr>
          <a:xfrm>
            <a:off x="5082646" y="4519085"/>
            <a:ext cx="142875" cy="127000"/>
          </a:xfrm>
          <a:custGeom>
            <a:avLst/>
            <a:gdLst/>
            <a:ahLst/>
            <a:cxnLst/>
            <a:rect l="l" t="t" r="r" b="b"/>
            <a:pathLst>
              <a:path w="142875" h="127000">
                <a:moveTo>
                  <a:pt x="76771" y="-4688"/>
                </a:moveTo>
                <a:cubicBezTo>
                  <a:pt x="75754" y="-6672"/>
                  <a:pt x="73695" y="-7937"/>
                  <a:pt x="71462" y="-7937"/>
                </a:cubicBezTo>
                <a:cubicBezTo>
                  <a:pt x="69230" y="-7937"/>
                  <a:pt x="67171" y="-6672"/>
                  <a:pt x="66154" y="-4688"/>
                </a:cubicBezTo>
                <a:lnTo>
                  <a:pt x="47898" y="31080"/>
                </a:lnTo>
                <a:lnTo>
                  <a:pt x="8235" y="37381"/>
                </a:lnTo>
                <a:cubicBezTo>
                  <a:pt x="6028" y="37728"/>
                  <a:pt x="4192" y="39291"/>
                  <a:pt x="3497" y="41424"/>
                </a:cubicBezTo>
                <a:cubicBezTo>
                  <a:pt x="2803" y="43557"/>
                  <a:pt x="3373" y="45889"/>
                  <a:pt x="4936" y="47476"/>
                </a:cubicBezTo>
                <a:lnTo>
                  <a:pt x="33313" y="75878"/>
                </a:lnTo>
                <a:lnTo>
                  <a:pt x="27062" y="115540"/>
                </a:lnTo>
                <a:cubicBezTo>
                  <a:pt x="26715" y="117748"/>
                  <a:pt x="27632" y="119980"/>
                  <a:pt x="29443" y="121295"/>
                </a:cubicBezTo>
                <a:cubicBezTo>
                  <a:pt x="31254" y="122610"/>
                  <a:pt x="33635" y="122808"/>
                  <a:pt x="35644" y="121791"/>
                </a:cubicBezTo>
                <a:lnTo>
                  <a:pt x="71462" y="103584"/>
                </a:lnTo>
                <a:lnTo>
                  <a:pt x="107255" y="121791"/>
                </a:lnTo>
                <a:cubicBezTo>
                  <a:pt x="109240" y="122808"/>
                  <a:pt x="111646" y="122610"/>
                  <a:pt x="113457" y="121295"/>
                </a:cubicBezTo>
                <a:cubicBezTo>
                  <a:pt x="115267" y="119980"/>
                  <a:pt x="116185" y="117773"/>
                  <a:pt x="115838" y="115540"/>
                </a:cubicBezTo>
                <a:lnTo>
                  <a:pt x="109562" y="75878"/>
                </a:lnTo>
                <a:lnTo>
                  <a:pt x="137939" y="47476"/>
                </a:lnTo>
                <a:cubicBezTo>
                  <a:pt x="139526" y="45889"/>
                  <a:pt x="140072" y="43557"/>
                  <a:pt x="139378" y="41424"/>
                </a:cubicBezTo>
                <a:cubicBezTo>
                  <a:pt x="138683" y="39291"/>
                  <a:pt x="136872" y="37728"/>
                  <a:pt x="134640" y="37381"/>
                </a:cubicBezTo>
                <a:lnTo>
                  <a:pt x="95002" y="31080"/>
                </a:lnTo>
                <a:lnTo>
                  <a:pt x="76771" y="-4688"/>
                </a:lnTo>
                <a:close/>
              </a:path>
            </a:pathLst>
          </a:custGeom>
          <a:solidFill>
            <a:srgbClr val="86868B"/>
          </a:solidFill>
          <a:ln/>
        </p:spPr>
        <p:txBody>
          <a:bodyPr/>
          <a:lstStyle/>
          <a:p>
            <a:endParaRPr lang="zh-CN" altLang="en-US"/>
          </a:p>
        </p:txBody>
      </p:sp>
      <p:sp>
        <p:nvSpPr>
          <p:cNvPr id="53" name="Shape 51"/>
          <p:cNvSpPr/>
          <p:nvPr/>
        </p:nvSpPr>
        <p:spPr>
          <a:xfrm>
            <a:off x="5273146" y="4519085"/>
            <a:ext cx="142875" cy="127000"/>
          </a:xfrm>
          <a:custGeom>
            <a:avLst/>
            <a:gdLst/>
            <a:ahLst/>
            <a:cxnLst/>
            <a:rect l="l" t="t" r="r" b="b"/>
            <a:pathLst>
              <a:path w="142875" h="127000">
                <a:moveTo>
                  <a:pt x="71462" y="-7937"/>
                </a:moveTo>
                <a:cubicBezTo>
                  <a:pt x="73695" y="-7937"/>
                  <a:pt x="75754" y="-6672"/>
                  <a:pt x="76771" y="-4688"/>
                </a:cubicBezTo>
                <a:lnTo>
                  <a:pt x="95002" y="31080"/>
                </a:lnTo>
                <a:lnTo>
                  <a:pt x="134665" y="37381"/>
                </a:lnTo>
                <a:cubicBezTo>
                  <a:pt x="136872" y="37728"/>
                  <a:pt x="138708" y="39291"/>
                  <a:pt x="139402" y="41424"/>
                </a:cubicBezTo>
                <a:cubicBezTo>
                  <a:pt x="140097" y="43557"/>
                  <a:pt x="139526" y="45889"/>
                  <a:pt x="137964" y="47476"/>
                </a:cubicBezTo>
                <a:lnTo>
                  <a:pt x="109562" y="75878"/>
                </a:lnTo>
                <a:lnTo>
                  <a:pt x="115838" y="115540"/>
                </a:lnTo>
                <a:cubicBezTo>
                  <a:pt x="116185" y="117748"/>
                  <a:pt x="115267" y="119980"/>
                  <a:pt x="113457" y="121295"/>
                </a:cubicBezTo>
                <a:cubicBezTo>
                  <a:pt x="111646" y="122610"/>
                  <a:pt x="109240" y="122808"/>
                  <a:pt x="107255" y="121791"/>
                </a:cubicBezTo>
                <a:lnTo>
                  <a:pt x="71462" y="103584"/>
                </a:lnTo>
                <a:lnTo>
                  <a:pt x="35669" y="121791"/>
                </a:lnTo>
                <a:cubicBezTo>
                  <a:pt x="33685" y="122808"/>
                  <a:pt x="31279" y="122610"/>
                  <a:pt x="29468" y="121295"/>
                </a:cubicBezTo>
                <a:cubicBezTo>
                  <a:pt x="27657" y="119980"/>
                  <a:pt x="26739" y="117773"/>
                  <a:pt x="27087" y="115540"/>
                </a:cubicBezTo>
                <a:lnTo>
                  <a:pt x="33338" y="75878"/>
                </a:lnTo>
                <a:lnTo>
                  <a:pt x="4961" y="47476"/>
                </a:lnTo>
                <a:cubicBezTo>
                  <a:pt x="3373" y="45889"/>
                  <a:pt x="2828" y="43557"/>
                  <a:pt x="3522" y="41424"/>
                </a:cubicBezTo>
                <a:cubicBezTo>
                  <a:pt x="4217" y="39291"/>
                  <a:pt x="6028" y="37728"/>
                  <a:pt x="8260" y="37381"/>
                </a:cubicBezTo>
                <a:lnTo>
                  <a:pt x="47923" y="31080"/>
                </a:lnTo>
                <a:lnTo>
                  <a:pt x="66179" y="-4688"/>
                </a:lnTo>
                <a:cubicBezTo>
                  <a:pt x="67196" y="-6672"/>
                  <a:pt x="69255" y="-7938"/>
                  <a:pt x="71487" y="-7938"/>
                </a:cubicBezTo>
                <a:close/>
                <a:moveTo>
                  <a:pt x="71462" y="11113"/>
                </a:moveTo>
                <a:lnTo>
                  <a:pt x="57125" y="39191"/>
                </a:lnTo>
                <a:cubicBezTo>
                  <a:pt x="56257" y="40878"/>
                  <a:pt x="54645" y="42069"/>
                  <a:pt x="52760" y="42366"/>
                </a:cubicBezTo>
                <a:lnTo>
                  <a:pt x="21630" y="47327"/>
                </a:lnTo>
                <a:lnTo>
                  <a:pt x="43904" y="69627"/>
                </a:lnTo>
                <a:cubicBezTo>
                  <a:pt x="45244" y="70966"/>
                  <a:pt x="45864" y="72876"/>
                  <a:pt x="45566" y="74761"/>
                </a:cubicBezTo>
                <a:lnTo>
                  <a:pt x="40655" y="105891"/>
                </a:lnTo>
                <a:lnTo>
                  <a:pt x="68759" y="91604"/>
                </a:lnTo>
                <a:cubicBezTo>
                  <a:pt x="70445" y="90736"/>
                  <a:pt x="72454" y="90736"/>
                  <a:pt x="74166" y="91604"/>
                </a:cubicBezTo>
                <a:lnTo>
                  <a:pt x="102270" y="105891"/>
                </a:lnTo>
                <a:lnTo>
                  <a:pt x="97358" y="74761"/>
                </a:lnTo>
                <a:cubicBezTo>
                  <a:pt x="97061" y="72876"/>
                  <a:pt x="97681" y="70966"/>
                  <a:pt x="99020" y="69627"/>
                </a:cubicBezTo>
                <a:lnTo>
                  <a:pt x="121295" y="47327"/>
                </a:lnTo>
                <a:lnTo>
                  <a:pt x="90165" y="42366"/>
                </a:lnTo>
                <a:cubicBezTo>
                  <a:pt x="88280" y="42069"/>
                  <a:pt x="86668" y="40878"/>
                  <a:pt x="85799" y="39191"/>
                </a:cubicBezTo>
                <a:lnTo>
                  <a:pt x="71462" y="11113"/>
                </a:lnTo>
                <a:close/>
              </a:path>
            </a:pathLst>
          </a:custGeom>
          <a:solidFill>
            <a:srgbClr val="86868B"/>
          </a:solidFill>
          <a:ln/>
        </p:spPr>
        <p:txBody>
          <a:bodyPr/>
          <a:lstStyle/>
          <a:p>
            <a:endParaRPr lang="zh-CN" altLang="en-US"/>
          </a:p>
        </p:txBody>
      </p:sp>
      <p:sp>
        <p:nvSpPr>
          <p:cNvPr id="54" name="Shape 52"/>
          <p:cNvSpPr/>
          <p:nvPr/>
        </p:nvSpPr>
        <p:spPr>
          <a:xfrm>
            <a:off x="5463646" y="4519085"/>
            <a:ext cx="142875" cy="127000"/>
          </a:xfrm>
          <a:custGeom>
            <a:avLst/>
            <a:gdLst/>
            <a:ahLst/>
            <a:cxnLst/>
            <a:rect l="l" t="t" r="r" b="b"/>
            <a:pathLst>
              <a:path w="142875" h="127000">
                <a:moveTo>
                  <a:pt x="71462" y="-7937"/>
                </a:moveTo>
                <a:cubicBezTo>
                  <a:pt x="73695" y="-7937"/>
                  <a:pt x="75754" y="-6672"/>
                  <a:pt x="76771" y="-4688"/>
                </a:cubicBezTo>
                <a:lnTo>
                  <a:pt x="95002" y="31080"/>
                </a:lnTo>
                <a:lnTo>
                  <a:pt x="134665" y="37381"/>
                </a:lnTo>
                <a:cubicBezTo>
                  <a:pt x="136872" y="37728"/>
                  <a:pt x="138708" y="39291"/>
                  <a:pt x="139402" y="41424"/>
                </a:cubicBezTo>
                <a:cubicBezTo>
                  <a:pt x="140097" y="43557"/>
                  <a:pt x="139526" y="45889"/>
                  <a:pt x="137964" y="47476"/>
                </a:cubicBezTo>
                <a:lnTo>
                  <a:pt x="109562" y="75878"/>
                </a:lnTo>
                <a:lnTo>
                  <a:pt x="115838" y="115540"/>
                </a:lnTo>
                <a:cubicBezTo>
                  <a:pt x="116185" y="117748"/>
                  <a:pt x="115267" y="119980"/>
                  <a:pt x="113457" y="121295"/>
                </a:cubicBezTo>
                <a:cubicBezTo>
                  <a:pt x="111646" y="122610"/>
                  <a:pt x="109240" y="122808"/>
                  <a:pt x="107255" y="121791"/>
                </a:cubicBezTo>
                <a:lnTo>
                  <a:pt x="71462" y="103584"/>
                </a:lnTo>
                <a:lnTo>
                  <a:pt x="35669" y="121791"/>
                </a:lnTo>
                <a:cubicBezTo>
                  <a:pt x="33685" y="122808"/>
                  <a:pt x="31279" y="122610"/>
                  <a:pt x="29468" y="121295"/>
                </a:cubicBezTo>
                <a:cubicBezTo>
                  <a:pt x="27657" y="119980"/>
                  <a:pt x="26739" y="117773"/>
                  <a:pt x="27087" y="115540"/>
                </a:cubicBezTo>
                <a:lnTo>
                  <a:pt x="33338" y="75878"/>
                </a:lnTo>
                <a:lnTo>
                  <a:pt x="4961" y="47476"/>
                </a:lnTo>
                <a:cubicBezTo>
                  <a:pt x="3373" y="45889"/>
                  <a:pt x="2828" y="43557"/>
                  <a:pt x="3522" y="41424"/>
                </a:cubicBezTo>
                <a:cubicBezTo>
                  <a:pt x="4217" y="39291"/>
                  <a:pt x="6028" y="37728"/>
                  <a:pt x="8260" y="37381"/>
                </a:cubicBezTo>
                <a:lnTo>
                  <a:pt x="47923" y="31080"/>
                </a:lnTo>
                <a:lnTo>
                  <a:pt x="66179" y="-4688"/>
                </a:lnTo>
                <a:cubicBezTo>
                  <a:pt x="67196" y="-6672"/>
                  <a:pt x="69255" y="-7938"/>
                  <a:pt x="71487" y="-7938"/>
                </a:cubicBezTo>
                <a:close/>
                <a:moveTo>
                  <a:pt x="71462" y="11113"/>
                </a:moveTo>
                <a:lnTo>
                  <a:pt x="57125" y="39191"/>
                </a:lnTo>
                <a:cubicBezTo>
                  <a:pt x="56257" y="40878"/>
                  <a:pt x="54645" y="42069"/>
                  <a:pt x="52760" y="42366"/>
                </a:cubicBezTo>
                <a:lnTo>
                  <a:pt x="21630" y="47327"/>
                </a:lnTo>
                <a:lnTo>
                  <a:pt x="43904" y="69627"/>
                </a:lnTo>
                <a:cubicBezTo>
                  <a:pt x="45244" y="70966"/>
                  <a:pt x="45864" y="72876"/>
                  <a:pt x="45566" y="74761"/>
                </a:cubicBezTo>
                <a:lnTo>
                  <a:pt x="40655" y="105891"/>
                </a:lnTo>
                <a:lnTo>
                  <a:pt x="68759" y="91604"/>
                </a:lnTo>
                <a:cubicBezTo>
                  <a:pt x="70445" y="90736"/>
                  <a:pt x="72454" y="90736"/>
                  <a:pt x="74166" y="91604"/>
                </a:cubicBezTo>
                <a:lnTo>
                  <a:pt x="102270" y="105891"/>
                </a:lnTo>
                <a:lnTo>
                  <a:pt x="97358" y="74761"/>
                </a:lnTo>
                <a:cubicBezTo>
                  <a:pt x="97061" y="72876"/>
                  <a:pt x="97681" y="70966"/>
                  <a:pt x="99020" y="69627"/>
                </a:cubicBezTo>
                <a:lnTo>
                  <a:pt x="121295" y="47327"/>
                </a:lnTo>
                <a:lnTo>
                  <a:pt x="90165" y="42366"/>
                </a:lnTo>
                <a:cubicBezTo>
                  <a:pt x="88280" y="42069"/>
                  <a:pt x="86668" y="40878"/>
                  <a:pt x="85799" y="39191"/>
                </a:cubicBezTo>
                <a:lnTo>
                  <a:pt x="71462" y="11113"/>
                </a:lnTo>
                <a:close/>
              </a:path>
            </a:pathLst>
          </a:custGeom>
          <a:solidFill>
            <a:srgbClr val="86868B"/>
          </a:solidFill>
          <a:ln/>
        </p:spPr>
        <p:txBody>
          <a:bodyPr/>
          <a:lstStyle/>
          <a:p>
            <a:endParaRPr lang="zh-CN" altLang="en-US"/>
          </a:p>
        </p:txBody>
      </p:sp>
      <p:sp>
        <p:nvSpPr>
          <p:cNvPr id="55" name="Shape 53"/>
          <p:cNvSpPr/>
          <p:nvPr/>
        </p:nvSpPr>
        <p:spPr>
          <a:xfrm>
            <a:off x="5654146" y="4519085"/>
            <a:ext cx="142875" cy="127000"/>
          </a:xfrm>
          <a:custGeom>
            <a:avLst/>
            <a:gdLst/>
            <a:ahLst/>
            <a:cxnLst/>
            <a:rect l="l" t="t" r="r" b="b"/>
            <a:pathLst>
              <a:path w="142875" h="127000">
                <a:moveTo>
                  <a:pt x="71462" y="-7937"/>
                </a:moveTo>
                <a:cubicBezTo>
                  <a:pt x="73695" y="-7937"/>
                  <a:pt x="75754" y="-6672"/>
                  <a:pt x="76771" y="-4688"/>
                </a:cubicBezTo>
                <a:lnTo>
                  <a:pt x="95002" y="31080"/>
                </a:lnTo>
                <a:lnTo>
                  <a:pt x="134665" y="37381"/>
                </a:lnTo>
                <a:cubicBezTo>
                  <a:pt x="136872" y="37728"/>
                  <a:pt x="138708" y="39291"/>
                  <a:pt x="139402" y="41424"/>
                </a:cubicBezTo>
                <a:cubicBezTo>
                  <a:pt x="140097" y="43557"/>
                  <a:pt x="139526" y="45889"/>
                  <a:pt x="137964" y="47476"/>
                </a:cubicBezTo>
                <a:lnTo>
                  <a:pt x="109562" y="75878"/>
                </a:lnTo>
                <a:lnTo>
                  <a:pt x="115838" y="115540"/>
                </a:lnTo>
                <a:cubicBezTo>
                  <a:pt x="116185" y="117748"/>
                  <a:pt x="115267" y="119980"/>
                  <a:pt x="113457" y="121295"/>
                </a:cubicBezTo>
                <a:cubicBezTo>
                  <a:pt x="111646" y="122610"/>
                  <a:pt x="109240" y="122808"/>
                  <a:pt x="107255" y="121791"/>
                </a:cubicBezTo>
                <a:lnTo>
                  <a:pt x="71462" y="103584"/>
                </a:lnTo>
                <a:lnTo>
                  <a:pt x="35669" y="121791"/>
                </a:lnTo>
                <a:cubicBezTo>
                  <a:pt x="33685" y="122808"/>
                  <a:pt x="31279" y="122610"/>
                  <a:pt x="29468" y="121295"/>
                </a:cubicBezTo>
                <a:cubicBezTo>
                  <a:pt x="27657" y="119980"/>
                  <a:pt x="26739" y="117773"/>
                  <a:pt x="27087" y="115540"/>
                </a:cubicBezTo>
                <a:lnTo>
                  <a:pt x="33338" y="75878"/>
                </a:lnTo>
                <a:lnTo>
                  <a:pt x="4961" y="47476"/>
                </a:lnTo>
                <a:cubicBezTo>
                  <a:pt x="3373" y="45889"/>
                  <a:pt x="2828" y="43557"/>
                  <a:pt x="3522" y="41424"/>
                </a:cubicBezTo>
                <a:cubicBezTo>
                  <a:pt x="4217" y="39291"/>
                  <a:pt x="6028" y="37728"/>
                  <a:pt x="8260" y="37381"/>
                </a:cubicBezTo>
                <a:lnTo>
                  <a:pt x="47923" y="31080"/>
                </a:lnTo>
                <a:lnTo>
                  <a:pt x="66179" y="-4688"/>
                </a:lnTo>
                <a:cubicBezTo>
                  <a:pt x="67196" y="-6672"/>
                  <a:pt x="69255" y="-7938"/>
                  <a:pt x="71487" y="-7938"/>
                </a:cubicBezTo>
                <a:close/>
                <a:moveTo>
                  <a:pt x="71462" y="11113"/>
                </a:moveTo>
                <a:lnTo>
                  <a:pt x="57125" y="39191"/>
                </a:lnTo>
                <a:cubicBezTo>
                  <a:pt x="56257" y="40878"/>
                  <a:pt x="54645" y="42069"/>
                  <a:pt x="52760" y="42366"/>
                </a:cubicBezTo>
                <a:lnTo>
                  <a:pt x="21630" y="47327"/>
                </a:lnTo>
                <a:lnTo>
                  <a:pt x="43904" y="69627"/>
                </a:lnTo>
                <a:cubicBezTo>
                  <a:pt x="45244" y="70966"/>
                  <a:pt x="45864" y="72876"/>
                  <a:pt x="45566" y="74761"/>
                </a:cubicBezTo>
                <a:lnTo>
                  <a:pt x="40655" y="105891"/>
                </a:lnTo>
                <a:lnTo>
                  <a:pt x="68759" y="91604"/>
                </a:lnTo>
                <a:cubicBezTo>
                  <a:pt x="70445" y="90736"/>
                  <a:pt x="72454" y="90736"/>
                  <a:pt x="74166" y="91604"/>
                </a:cubicBezTo>
                <a:lnTo>
                  <a:pt x="102270" y="105891"/>
                </a:lnTo>
                <a:lnTo>
                  <a:pt x="97358" y="74761"/>
                </a:lnTo>
                <a:cubicBezTo>
                  <a:pt x="97061" y="72876"/>
                  <a:pt x="97681" y="70966"/>
                  <a:pt x="99020" y="69627"/>
                </a:cubicBezTo>
                <a:lnTo>
                  <a:pt x="121295" y="47327"/>
                </a:lnTo>
                <a:lnTo>
                  <a:pt x="90165" y="42366"/>
                </a:lnTo>
                <a:cubicBezTo>
                  <a:pt x="88280" y="42069"/>
                  <a:pt x="86668" y="40878"/>
                  <a:pt x="85799" y="39191"/>
                </a:cubicBezTo>
                <a:lnTo>
                  <a:pt x="71462" y="11113"/>
                </a:lnTo>
                <a:close/>
              </a:path>
            </a:pathLst>
          </a:custGeom>
          <a:solidFill>
            <a:srgbClr val="86868B"/>
          </a:solidFill>
          <a:ln/>
        </p:spPr>
        <p:txBody>
          <a:bodyPr/>
          <a:lstStyle/>
          <a:p>
            <a:endParaRPr lang="zh-CN" altLang="en-US"/>
          </a:p>
        </p:txBody>
      </p:sp>
      <p:sp>
        <p:nvSpPr>
          <p:cNvPr id="56" name="Shape 54"/>
          <p:cNvSpPr/>
          <p:nvPr/>
        </p:nvSpPr>
        <p:spPr>
          <a:xfrm>
            <a:off x="6193896" y="1050396"/>
            <a:ext cx="5680604" cy="3997854"/>
          </a:xfrm>
          <a:custGeom>
            <a:avLst/>
            <a:gdLst/>
            <a:ahLst/>
            <a:cxnLst/>
            <a:rect l="l" t="t" r="r" b="b"/>
            <a:pathLst>
              <a:path w="5680604" h="3997854">
                <a:moveTo>
                  <a:pt x="127012" y="0"/>
                </a:moveTo>
                <a:lnTo>
                  <a:pt x="5553592" y="0"/>
                </a:lnTo>
                <a:cubicBezTo>
                  <a:pt x="5623739" y="0"/>
                  <a:pt x="5680604" y="56865"/>
                  <a:pt x="5680604" y="127012"/>
                </a:cubicBezTo>
                <a:lnTo>
                  <a:pt x="5680604" y="3870842"/>
                </a:lnTo>
                <a:cubicBezTo>
                  <a:pt x="5680604" y="3940989"/>
                  <a:pt x="5623739" y="3997854"/>
                  <a:pt x="5553592" y="3997854"/>
                </a:cubicBezTo>
                <a:lnTo>
                  <a:pt x="127012" y="3997854"/>
                </a:lnTo>
                <a:cubicBezTo>
                  <a:pt x="56865" y="3997854"/>
                  <a:pt x="0" y="3940989"/>
                  <a:pt x="0" y="3870842"/>
                </a:cubicBezTo>
                <a:lnTo>
                  <a:pt x="0" y="127012"/>
                </a:lnTo>
                <a:cubicBezTo>
                  <a:pt x="0" y="56912"/>
                  <a:pt x="56912" y="0"/>
                  <a:pt x="127012"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57" name="Shape 55"/>
          <p:cNvSpPr/>
          <p:nvPr/>
        </p:nvSpPr>
        <p:spPr>
          <a:xfrm>
            <a:off x="6406886" y="1275294"/>
            <a:ext cx="158750" cy="158750"/>
          </a:xfrm>
          <a:custGeom>
            <a:avLst/>
            <a:gdLst/>
            <a:ahLst/>
            <a:cxnLst/>
            <a:rect l="l" t="t" r="r" b="b"/>
            <a:pathLst>
              <a:path w="158750" h="158750">
                <a:moveTo>
                  <a:pt x="59531" y="19844"/>
                </a:moveTo>
                <a:cubicBezTo>
                  <a:pt x="59531" y="14356"/>
                  <a:pt x="63965" y="9922"/>
                  <a:pt x="69453" y="9922"/>
                </a:cubicBezTo>
                <a:lnTo>
                  <a:pt x="89297" y="9922"/>
                </a:lnTo>
                <a:cubicBezTo>
                  <a:pt x="94785" y="9922"/>
                  <a:pt x="99219" y="14356"/>
                  <a:pt x="99219" y="19844"/>
                </a:cubicBezTo>
                <a:lnTo>
                  <a:pt x="99219" y="39688"/>
                </a:lnTo>
                <a:cubicBezTo>
                  <a:pt x="99219" y="45176"/>
                  <a:pt x="94785" y="49609"/>
                  <a:pt x="89297" y="49609"/>
                </a:cubicBezTo>
                <a:lnTo>
                  <a:pt x="86816" y="49609"/>
                </a:lnTo>
                <a:lnTo>
                  <a:pt x="86816" y="69453"/>
                </a:lnTo>
                <a:lnTo>
                  <a:pt x="124023" y="69453"/>
                </a:lnTo>
                <a:cubicBezTo>
                  <a:pt x="136364" y="69453"/>
                  <a:pt x="146348" y="79437"/>
                  <a:pt x="146348" y="91777"/>
                </a:cubicBezTo>
                <a:lnTo>
                  <a:pt x="146348" y="109141"/>
                </a:lnTo>
                <a:lnTo>
                  <a:pt x="148828" y="109141"/>
                </a:lnTo>
                <a:cubicBezTo>
                  <a:pt x="154316" y="109141"/>
                  <a:pt x="158750" y="113574"/>
                  <a:pt x="158750" y="119062"/>
                </a:cubicBezTo>
                <a:lnTo>
                  <a:pt x="158750" y="138906"/>
                </a:lnTo>
                <a:cubicBezTo>
                  <a:pt x="158750" y="144394"/>
                  <a:pt x="154316" y="148828"/>
                  <a:pt x="148828" y="148828"/>
                </a:cubicBezTo>
                <a:lnTo>
                  <a:pt x="128984" y="148828"/>
                </a:lnTo>
                <a:cubicBezTo>
                  <a:pt x="123496" y="148828"/>
                  <a:pt x="119062" y="144394"/>
                  <a:pt x="119062" y="138906"/>
                </a:cubicBezTo>
                <a:lnTo>
                  <a:pt x="119062" y="119062"/>
                </a:lnTo>
                <a:cubicBezTo>
                  <a:pt x="119062" y="113574"/>
                  <a:pt x="123496" y="109141"/>
                  <a:pt x="128984" y="109141"/>
                </a:cubicBezTo>
                <a:lnTo>
                  <a:pt x="131465" y="109141"/>
                </a:lnTo>
                <a:lnTo>
                  <a:pt x="131465" y="91777"/>
                </a:lnTo>
                <a:cubicBezTo>
                  <a:pt x="131465" y="87654"/>
                  <a:pt x="128147" y="84336"/>
                  <a:pt x="124023" y="84336"/>
                </a:cubicBezTo>
                <a:lnTo>
                  <a:pt x="86816" y="84336"/>
                </a:lnTo>
                <a:lnTo>
                  <a:pt x="86816" y="109141"/>
                </a:lnTo>
                <a:lnTo>
                  <a:pt x="89297" y="109141"/>
                </a:lnTo>
                <a:cubicBezTo>
                  <a:pt x="94785" y="109141"/>
                  <a:pt x="99219" y="113574"/>
                  <a:pt x="99219" y="119062"/>
                </a:cubicBezTo>
                <a:lnTo>
                  <a:pt x="99219" y="138906"/>
                </a:lnTo>
                <a:cubicBezTo>
                  <a:pt x="99219" y="144394"/>
                  <a:pt x="94785" y="148828"/>
                  <a:pt x="89297" y="148828"/>
                </a:cubicBezTo>
                <a:lnTo>
                  <a:pt x="69453" y="148828"/>
                </a:lnTo>
                <a:cubicBezTo>
                  <a:pt x="63965" y="148828"/>
                  <a:pt x="59531" y="144394"/>
                  <a:pt x="59531" y="138906"/>
                </a:cubicBezTo>
                <a:lnTo>
                  <a:pt x="59531" y="119062"/>
                </a:lnTo>
                <a:cubicBezTo>
                  <a:pt x="59531" y="113574"/>
                  <a:pt x="63965" y="109141"/>
                  <a:pt x="69453" y="109141"/>
                </a:cubicBezTo>
                <a:lnTo>
                  <a:pt x="71934" y="109141"/>
                </a:lnTo>
                <a:lnTo>
                  <a:pt x="71934" y="84336"/>
                </a:lnTo>
                <a:lnTo>
                  <a:pt x="34727" y="84336"/>
                </a:lnTo>
                <a:cubicBezTo>
                  <a:pt x="30603" y="84336"/>
                  <a:pt x="27285" y="87654"/>
                  <a:pt x="27285" y="91777"/>
                </a:cubicBezTo>
                <a:lnTo>
                  <a:pt x="27285" y="109141"/>
                </a:lnTo>
                <a:lnTo>
                  <a:pt x="29766" y="109141"/>
                </a:lnTo>
                <a:cubicBezTo>
                  <a:pt x="35254" y="109141"/>
                  <a:pt x="39688" y="113574"/>
                  <a:pt x="39688" y="119062"/>
                </a:cubicBezTo>
                <a:lnTo>
                  <a:pt x="39688" y="138906"/>
                </a:lnTo>
                <a:cubicBezTo>
                  <a:pt x="39688" y="144394"/>
                  <a:pt x="35254" y="148828"/>
                  <a:pt x="29766" y="148828"/>
                </a:cubicBezTo>
                <a:lnTo>
                  <a:pt x="9922" y="148828"/>
                </a:lnTo>
                <a:cubicBezTo>
                  <a:pt x="4434" y="148828"/>
                  <a:pt x="0" y="144394"/>
                  <a:pt x="0" y="138906"/>
                </a:cubicBezTo>
                <a:lnTo>
                  <a:pt x="0" y="119062"/>
                </a:lnTo>
                <a:cubicBezTo>
                  <a:pt x="0" y="113574"/>
                  <a:pt x="4434" y="109141"/>
                  <a:pt x="9922" y="109141"/>
                </a:cubicBezTo>
                <a:lnTo>
                  <a:pt x="12402" y="109141"/>
                </a:lnTo>
                <a:lnTo>
                  <a:pt x="12402" y="91777"/>
                </a:lnTo>
                <a:cubicBezTo>
                  <a:pt x="12402" y="79437"/>
                  <a:pt x="22386" y="69453"/>
                  <a:pt x="34727" y="69453"/>
                </a:cubicBezTo>
                <a:lnTo>
                  <a:pt x="71934" y="69453"/>
                </a:lnTo>
                <a:lnTo>
                  <a:pt x="71934" y="49609"/>
                </a:lnTo>
                <a:lnTo>
                  <a:pt x="69453" y="49609"/>
                </a:lnTo>
                <a:cubicBezTo>
                  <a:pt x="63965" y="49609"/>
                  <a:pt x="59531" y="45176"/>
                  <a:pt x="59531" y="39688"/>
                </a:cubicBezTo>
                <a:lnTo>
                  <a:pt x="59531" y="19844"/>
                </a:lnTo>
                <a:close/>
              </a:path>
            </a:pathLst>
          </a:custGeom>
          <a:solidFill>
            <a:srgbClr val="0071E3"/>
          </a:solidFill>
          <a:ln/>
        </p:spPr>
        <p:txBody>
          <a:bodyPr/>
          <a:lstStyle/>
          <a:p>
            <a:endParaRPr lang="zh-CN" altLang="en-US"/>
          </a:p>
        </p:txBody>
      </p:sp>
      <p:sp>
        <p:nvSpPr>
          <p:cNvPr id="58" name="Text 56"/>
          <p:cNvSpPr/>
          <p:nvPr/>
        </p:nvSpPr>
        <p:spPr>
          <a:xfrm>
            <a:off x="6585479" y="1243544"/>
            <a:ext cx="5175250"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SKILL驱动技术改造</a:t>
            </a:r>
            <a:endParaRPr lang="en-US" sz="1600" dirty="0"/>
          </a:p>
        </p:txBody>
      </p:sp>
      <p:sp>
        <p:nvSpPr>
          <p:cNvPr id="59" name="Shape 57"/>
          <p:cNvSpPr/>
          <p:nvPr/>
        </p:nvSpPr>
        <p:spPr>
          <a:xfrm>
            <a:off x="6387042" y="16245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60" name="Text 58"/>
          <p:cNvSpPr/>
          <p:nvPr/>
        </p:nvSpPr>
        <p:spPr>
          <a:xfrm>
            <a:off x="6355292" y="16245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1</a:t>
            </a:r>
            <a:endParaRPr lang="en-US" sz="1600" dirty="0"/>
          </a:p>
        </p:txBody>
      </p:sp>
      <p:sp>
        <p:nvSpPr>
          <p:cNvPr id="61" name="Text 59"/>
          <p:cNvSpPr/>
          <p:nvPr/>
        </p:nvSpPr>
        <p:spPr>
          <a:xfrm>
            <a:off x="6831542" y="1624544"/>
            <a:ext cx="128587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AI生成改造辅助类</a:t>
            </a:r>
            <a:endParaRPr lang="en-US" sz="1600" dirty="0"/>
          </a:p>
        </p:txBody>
      </p:sp>
      <p:sp>
        <p:nvSpPr>
          <p:cNvPr id="62" name="Text 60"/>
          <p:cNvSpPr/>
          <p:nvPr/>
        </p:nvSpPr>
        <p:spPr>
          <a:xfrm>
            <a:off x="6831542" y="1846794"/>
            <a:ext cx="127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分析项目，生成定制工具</a:t>
            </a:r>
            <a:endParaRPr lang="en-US" sz="1600" dirty="0"/>
          </a:p>
        </p:txBody>
      </p:sp>
      <p:sp>
        <p:nvSpPr>
          <p:cNvPr id="63" name="Shape 61"/>
          <p:cNvSpPr/>
          <p:nvPr/>
        </p:nvSpPr>
        <p:spPr>
          <a:xfrm>
            <a:off x="6387042" y="21325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64" name="Text 62"/>
          <p:cNvSpPr/>
          <p:nvPr/>
        </p:nvSpPr>
        <p:spPr>
          <a:xfrm>
            <a:off x="6355292" y="21325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2</a:t>
            </a:r>
            <a:endParaRPr lang="en-US" sz="1600" dirty="0"/>
          </a:p>
        </p:txBody>
      </p:sp>
      <p:sp>
        <p:nvSpPr>
          <p:cNvPr id="65" name="Text 63"/>
          <p:cNvSpPr/>
          <p:nvPr/>
        </p:nvSpPr>
        <p:spPr>
          <a:xfrm>
            <a:off x="6831542" y="2132544"/>
            <a:ext cx="128587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基于场景试点改造</a:t>
            </a:r>
            <a:endParaRPr lang="en-US" sz="1600" dirty="0"/>
          </a:p>
        </p:txBody>
      </p:sp>
      <p:sp>
        <p:nvSpPr>
          <p:cNvPr id="66" name="Text 64"/>
          <p:cNvSpPr/>
          <p:nvPr/>
        </p:nvSpPr>
        <p:spPr>
          <a:xfrm>
            <a:off x="6831542" y="2354794"/>
            <a:ext cx="127793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边缘系统验证，积累信心</a:t>
            </a:r>
            <a:endParaRPr lang="en-US" sz="1600" dirty="0"/>
          </a:p>
        </p:txBody>
      </p:sp>
      <p:sp>
        <p:nvSpPr>
          <p:cNvPr id="67" name="Shape 65"/>
          <p:cNvSpPr/>
          <p:nvPr/>
        </p:nvSpPr>
        <p:spPr>
          <a:xfrm>
            <a:off x="6387042" y="26405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68" name="Text 66"/>
          <p:cNvSpPr/>
          <p:nvPr/>
        </p:nvSpPr>
        <p:spPr>
          <a:xfrm>
            <a:off x="6355292" y="26405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3</a:t>
            </a:r>
            <a:endParaRPr lang="en-US" sz="1600" dirty="0"/>
          </a:p>
        </p:txBody>
      </p:sp>
      <p:sp>
        <p:nvSpPr>
          <p:cNvPr id="69" name="Text 67"/>
          <p:cNvSpPr/>
          <p:nvPr/>
        </p:nvSpPr>
        <p:spPr>
          <a:xfrm>
            <a:off x="6831542" y="2640544"/>
            <a:ext cx="150812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抽象为SKILL</a:t>
            </a:r>
            <a:endParaRPr lang="en-US" sz="1600" dirty="0"/>
          </a:p>
        </p:txBody>
      </p:sp>
      <p:sp>
        <p:nvSpPr>
          <p:cNvPr id="70" name="Text 68"/>
          <p:cNvSpPr/>
          <p:nvPr/>
        </p:nvSpPr>
        <p:spPr>
          <a:xfrm>
            <a:off x="6831542" y="2862794"/>
            <a:ext cx="1500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将个人经验凝聚为可复用技能</a:t>
            </a:r>
            <a:endParaRPr lang="en-US" sz="1600" dirty="0"/>
          </a:p>
        </p:txBody>
      </p:sp>
      <p:sp>
        <p:nvSpPr>
          <p:cNvPr id="71" name="Shape 69"/>
          <p:cNvSpPr/>
          <p:nvPr/>
        </p:nvSpPr>
        <p:spPr>
          <a:xfrm>
            <a:off x="6387042" y="31485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72" name="Text 70"/>
          <p:cNvSpPr/>
          <p:nvPr/>
        </p:nvSpPr>
        <p:spPr>
          <a:xfrm>
            <a:off x="6355292" y="31485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4</a:t>
            </a:r>
            <a:endParaRPr lang="en-US" sz="1600" dirty="0"/>
          </a:p>
        </p:txBody>
      </p:sp>
      <p:sp>
        <p:nvSpPr>
          <p:cNvPr id="73" name="Text 71"/>
          <p:cNvSpPr/>
          <p:nvPr/>
        </p:nvSpPr>
        <p:spPr>
          <a:xfrm>
            <a:off x="6831542" y="3148544"/>
            <a:ext cx="1460500"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批量改造同类应用</a:t>
            </a:r>
            <a:endParaRPr lang="en-US" sz="1600" dirty="0"/>
          </a:p>
        </p:txBody>
      </p:sp>
      <p:sp>
        <p:nvSpPr>
          <p:cNvPr id="74" name="Text 72"/>
          <p:cNvSpPr/>
          <p:nvPr/>
        </p:nvSpPr>
        <p:spPr>
          <a:xfrm>
            <a:off x="6831542" y="3370794"/>
            <a:ext cx="145256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SKILL快速部署，规模化效应</a:t>
            </a:r>
            <a:endParaRPr lang="en-US" sz="1600" dirty="0"/>
          </a:p>
        </p:txBody>
      </p:sp>
      <p:sp>
        <p:nvSpPr>
          <p:cNvPr id="75" name="Shape 73"/>
          <p:cNvSpPr/>
          <p:nvPr/>
        </p:nvSpPr>
        <p:spPr>
          <a:xfrm>
            <a:off x="6387042" y="3656544"/>
            <a:ext cx="317500" cy="317500"/>
          </a:xfrm>
          <a:custGeom>
            <a:avLst/>
            <a:gdLst/>
            <a:ahLst/>
            <a:cxnLst/>
            <a:rect l="l" t="t" r="r" b="b"/>
            <a:pathLst>
              <a:path w="317500" h="317500">
                <a:moveTo>
                  <a:pt x="158750" y="0"/>
                </a:moveTo>
                <a:lnTo>
                  <a:pt x="158750" y="0"/>
                </a:lnTo>
                <a:cubicBezTo>
                  <a:pt x="246367" y="0"/>
                  <a:pt x="317500" y="71133"/>
                  <a:pt x="317500" y="158750"/>
                </a:cubicBezTo>
                <a:lnTo>
                  <a:pt x="317500" y="158750"/>
                </a:lnTo>
                <a:cubicBezTo>
                  <a:pt x="317500" y="246367"/>
                  <a:pt x="246367" y="317500"/>
                  <a:pt x="158750" y="317500"/>
                </a:cubicBezTo>
                <a:lnTo>
                  <a:pt x="158750" y="317500"/>
                </a:lnTo>
                <a:cubicBezTo>
                  <a:pt x="71133" y="317500"/>
                  <a:pt x="0" y="246367"/>
                  <a:pt x="0" y="158750"/>
                </a:cubicBezTo>
                <a:lnTo>
                  <a:pt x="0" y="158750"/>
                </a:lnTo>
                <a:cubicBezTo>
                  <a:pt x="0" y="71133"/>
                  <a:pt x="71133" y="0"/>
                  <a:pt x="158750" y="0"/>
                </a:cubicBezTo>
                <a:close/>
              </a:path>
            </a:pathLst>
          </a:custGeom>
          <a:solidFill>
            <a:srgbClr val="0071E3"/>
          </a:solidFill>
          <a:ln/>
        </p:spPr>
        <p:txBody>
          <a:bodyPr/>
          <a:lstStyle/>
          <a:p>
            <a:endParaRPr lang="zh-CN" altLang="en-US"/>
          </a:p>
        </p:txBody>
      </p:sp>
      <p:sp>
        <p:nvSpPr>
          <p:cNvPr id="76" name="Text 74"/>
          <p:cNvSpPr/>
          <p:nvPr/>
        </p:nvSpPr>
        <p:spPr>
          <a:xfrm>
            <a:off x="6355292" y="3656544"/>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MiSans" pitchFamily="34" charset="0"/>
                <a:ea typeface="MiSans" pitchFamily="34" charset="-122"/>
                <a:cs typeface="MiSans" pitchFamily="34" charset="-120"/>
              </a:rPr>
              <a:t>5</a:t>
            </a:r>
            <a:endParaRPr lang="en-US" sz="1600" dirty="0"/>
          </a:p>
        </p:txBody>
      </p:sp>
      <p:sp>
        <p:nvSpPr>
          <p:cNvPr id="77" name="Text 75"/>
          <p:cNvSpPr/>
          <p:nvPr/>
        </p:nvSpPr>
        <p:spPr>
          <a:xfrm>
            <a:off x="6831542" y="3656544"/>
            <a:ext cx="1508125"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增量更新</a:t>
            </a:r>
            <a:endParaRPr lang="en-US" sz="1600" dirty="0"/>
          </a:p>
        </p:txBody>
      </p:sp>
      <p:sp>
        <p:nvSpPr>
          <p:cNvPr id="78" name="Text 76"/>
          <p:cNvSpPr/>
          <p:nvPr/>
        </p:nvSpPr>
        <p:spPr>
          <a:xfrm>
            <a:off x="6831542" y="3878794"/>
            <a:ext cx="1500188"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持续扩大覆盖范围，自我进化</a:t>
            </a:r>
            <a:endParaRPr lang="en-US" sz="1600" dirty="0"/>
          </a:p>
        </p:txBody>
      </p:sp>
      <p:sp>
        <p:nvSpPr>
          <p:cNvPr id="79" name="Shape 77"/>
          <p:cNvSpPr/>
          <p:nvPr/>
        </p:nvSpPr>
        <p:spPr>
          <a:xfrm>
            <a:off x="333375" y="5238750"/>
            <a:ext cx="5667375" cy="1214438"/>
          </a:xfrm>
          <a:custGeom>
            <a:avLst/>
            <a:gdLst/>
            <a:ahLst/>
            <a:cxnLst/>
            <a:rect l="l" t="t" r="r" b="b"/>
            <a:pathLst>
              <a:path w="5667375" h="1214438">
                <a:moveTo>
                  <a:pt x="31750" y="0"/>
                </a:moveTo>
                <a:lnTo>
                  <a:pt x="5540369" y="0"/>
                </a:lnTo>
                <a:cubicBezTo>
                  <a:pt x="5610513" y="0"/>
                  <a:pt x="5667375" y="56862"/>
                  <a:pt x="5667375" y="127006"/>
                </a:cubicBezTo>
                <a:lnTo>
                  <a:pt x="5667375" y="1087432"/>
                </a:lnTo>
                <a:cubicBezTo>
                  <a:pt x="5667375" y="1157575"/>
                  <a:pt x="5610513" y="1214438"/>
                  <a:pt x="5540369" y="1214438"/>
                </a:cubicBezTo>
                <a:lnTo>
                  <a:pt x="31750" y="1214438"/>
                </a:lnTo>
                <a:cubicBezTo>
                  <a:pt x="14215" y="1214438"/>
                  <a:pt x="0" y="1200223"/>
                  <a:pt x="0" y="1182688"/>
                </a:cubicBezTo>
                <a:lnTo>
                  <a:pt x="0" y="31750"/>
                </a:lnTo>
                <a:cubicBezTo>
                  <a:pt x="0" y="14227"/>
                  <a:pt x="14227" y="0"/>
                  <a:pt x="31750" y="0"/>
                </a:cubicBezTo>
                <a:close/>
              </a:path>
            </a:pathLst>
          </a:custGeom>
          <a:gradFill flip="none" rotWithShape="1">
            <a:gsLst>
              <a:gs pos="0">
                <a:srgbClr val="0071E3">
                  <a:alpha val="10000"/>
                </a:srgbClr>
              </a:gs>
              <a:gs pos="100000">
                <a:srgbClr val="000000">
                  <a:alpha val="0"/>
                </a:srgbClr>
              </a:gs>
            </a:gsLst>
            <a:lin ang="0" scaled="1"/>
          </a:gradFill>
          <a:ln/>
        </p:spPr>
        <p:txBody>
          <a:bodyPr/>
          <a:lstStyle/>
          <a:p>
            <a:endParaRPr lang="zh-CN" altLang="en-US"/>
          </a:p>
        </p:txBody>
      </p:sp>
      <p:sp>
        <p:nvSpPr>
          <p:cNvPr id="80" name="Shape 78"/>
          <p:cNvSpPr/>
          <p:nvPr/>
        </p:nvSpPr>
        <p:spPr>
          <a:xfrm>
            <a:off x="333375" y="5238750"/>
            <a:ext cx="31750" cy="1214438"/>
          </a:xfrm>
          <a:custGeom>
            <a:avLst/>
            <a:gdLst/>
            <a:ahLst/>
            <a:cxnLst/>
            <a:rect l="l" t="t" r="r" b="b"/>
            <a:pathLst>
              <a:path w="31750" h="1214438">
                <a:moveTo>
                  <a:pt x="31750" y="0"/>
                </a:moveTo>
                <a:lnTo>
                  <a:pt x="31750" y="0"/>
                </a:lnTo>
                <a:lnTo>
                  <a:pt x="31750" y="1214438"/>
                </a:lnTo>
                <a:lnTo>
                  <a:pt x="31750" y="1214438"/>
                </a:lnTo>
                <a:cubicBezTo>
                  <a:pt x="14227" y="1214438"/>
                  <a:pt x="0" y="1200211"/>
                  <a:pt x="0" y="1182688"/>
                </a:cubicBezTo>
                <a:lnTo>
                  <a:pt x="0" y="31750"/>
                </a:lnTo>
                <a:cubicBezTo>
                  <a:pt x="0" y="14227"/>
                  <a:pt x="14227" y="0"/>
                  <a:pt x="31750" y="0"/>
                </a:cubicBezTo>
                <a:close/>
              </a:path>
            </a:pathLst>
          </a:custGeom>
          <a:solidFill>
            <a:srgbClr val="0071E3"/>
          </a:solidFill>
          <a:ln/>
        </p:spPr>
        <p:txBody>
          <a:bodyPr/>
          <a:lstStyle/>
          <a:p>
            <a:endParaRPr lang="zh-CN" altLang="en-US"/>
          </a:p>
        </p:txBody>
      </p:sp>
      <p:sp>
        <p:nvSpPr>
          <p:cNvPr id="81" name="Shape 79"/>
          <p:cNvSpPr/>
          <p:nvPr/>
        </p:nvSpPr>
        <p:spPr>
          <a:xfrm>
            <a:off x="545703" y="5437188"/>
            <a:ext cx="107156" cy="142875"/>
          </a:xfrm>
          <a:custGeom>
            <a:avLst/>
            <a:gdLst/>
            <a:ahLst/>
            <a:cxnLst/>
            <a:rect l="l" t="t" r="r" b="b"/>
            <a:pathLst>
              <a:path w="107156" h="142875">
                <a:moveTo>
                  <a:pt x="81735" y="107156"/>
                </a:moveTo>
                <a:cubicBezTo>
                  <a:pt x="83772" y="100933"/>
                  <a:pt x="87846" y="95297"/>
                  <a:pt x="92450" y="90441"/>
                </a:cubicBezTo>
                <a:cubicBezTo>
                  <a:pt x="101575" y="80842"/>
                  <a:pt x="107156" y="67866"/>
                  <a:pt x="107156" y="53578"/>
                </a:cubicBezTo>
                <a:cubicBezTo>
                  <a:pt x="107156" y="23999"/>
                  <a:pt x="83158" y="0"/>
                  <a:pt x="53578" y="0"/>
                </a:cubicBezTo>
                <a:cubicBezTo>
                  <a:pt x="23999" y="0"/>
                  <a:pt x="0" y="23999"/>
                  <a:pt x="0" y="53578"/>
                </a:cubicBezTo>
                <a:cubicBezTo>
                  <a:pt x="0" y="67866"/>
                  <a:pt x="5581" y="80842"/>
                  <a:pt x="14706" y="90441"/>
                </a:cubicBezTo>
                <a:cubicBezTo>
                  <a:pt x="19310" y="95297"/>
                  <a:pt x="23413" y="100933"/>
                  <a:pt x="25422" y="107156"/>
                </a:cubicBezTo>
                <a:lnTo>
                  <a:pt x="81707" y="107156"/>
                </a:lnTo>
                <a:close/>
                <a:moveTo>
                  <a:pt x="80367" y="120551"/>
                </a:moveTo>
                <a:lnTo>
                  <a:pt x="26789" y="120551"/>
                </a:lnTo>
                <a:lnTo>
                  <a:pt x="26789" y="125016"/>
                </a:lnTo>
                <a:cubicBezTo>
                  <a:pt x="26789" y="137350"/>
                  <a:pt x="36779" y="147340"/>
                  <a:pt x="49113" y="147340"/>
                </a:cubicBezTo>
                <a:lnTo>
                  <a:pt x="58043" y="147340"/>
                </a:lnTo>
                <a:cubicBezTo>
                  <a:pt x="70377" y="147340"/>
                  <a:pt x="80367" y="137350"/>
                  <a:pt x="80367" y="125016"/>
                </a:cubicBezTo>
                <a:lnTo>
                  <a:pt x="80367" y="120551"/>
                </a:lnTo>
                <a:close/>
                <a:moveTo>
                  <a:pt x="51346" y="31254"/>
                </a:moveTo>
                <a:cubicBezTo>
                  <a:pt x="40239" y="31254"/>
                  <a:pt x="31254" y="40239"/>
                  <a:pt x="31254" y="51346"/>
                </a:cubicBezTo>
                <a:cubicBezTo>
                  <a:pt x="31254" y="55057"/>
                  <a:pt x="28268" y="58043"/>
                  <a:pt x="24557" y="58043"/>
                </a:cubicBezTo>
                <a:cubicBezTo>
                  <a:pt x="20845" y="58043"/>
                  <a:pt x="17859" y="55057"/>
                  <a:pt x="17859" y="51346"/>
                </a:cubicBezTo>
                <a:cubicBezTo>
                  <a:pt x="17859" y="32845"/>
                  <a:pt x="32845" y="17859"/>
                  <a:pt x="51346" y="17859"/>
                </a:cubicBezTo>
                <a:cubicBezTo>
                  <a:pt x="55057" y="17859"/>
                  <a:pt x="58043" y="20845"/>
                  <a:pt x="58043" y="24557"/>
                </a:cubicBezTo>
                <a:cubicBezTo>
                  <a:pt x="58043" y="28268"/>
                  <a:pt x="55057" y="31254"/>
                  <a:pt x="51346" y="31254"/>
                </a:cubicBezTo>
                <a:close/>
              </a:path>
            </a:pathLst>
          </a:custGeom>
          <a:solidFill>
            <a:srgbClr val="0071E3"/>
          </a:solidFill>
          <a:ln/>
        </p:spPr>
        <p:txBody>
          <a:bodyPr/>
          <a:lstStyle/>
          <a:p>
            <a:endParaRPr lang="zh-CN" altLang="en-US"/>
          </a:p>
        </p:txBody>
      </p:sp>
      <p:sp>
        <p:nvSpPr>
          <p:cNvPr id="82" name="Text 80"/>
          <p:cNvSpPr/>
          <p:nvPr/>
        </p:nvSpPr>
        <p:spPr>
          <a:xfrm>
            <a:off x="690563" y="5397500"/>
            <a:ext cx="5222875"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MiSans" pitchFamily="34" charset="0"/>
                <a:ea typeface="MiSans" pitchFamily="34" charset="-122"/>
                <a:cs typeface="MiSans" pitchFamily="34" charset="-120"/>
              </a:rPr>
              <a:t>核心本质</a:t>
            </a:r>
            <a:endParaRPr lang="en-US" sz="1600" dirty="0"/>
          </a:p>
        </p:txBody>
      </p:sp>
      <p:sp>
        <p:nvSpPr>
          <p:cNvPr id="83" name="Text 81"/>
          <p:cNvSpPr/>
          <p:nvPr/>
        </p:nvSpPr>
        <p:spPr>
          <a:xfrm>
            <a:off x="508000" y="5715000"/>
            <a:ext cx="5397500" cy="206375"/>
          </a:xfrm>
          <a:prstGeom prst="rect">
            <a:avLst/>
          </a:prstGeom>
          <a:noFill/>
          <a:ln/>
        </p:spPr>
        <p:txBody>
          <a:bodyPr wrap="square" lIns="0" tIns="0" rIns="0" bIns="0" rtlCol="0" anchor="ctr"/>
          <a:lstStyle/>
          <a:p>
            <a:pPr>
              <a:lnSpc>
                <a:spcPct val="140000"/>
              </a:lnSpc>
            </a:pPr>
            <a:r>
              <a:rPr lang="en-US" sz="1000" dirty="0">
                <a:solidFill>
                  <a:srgbClr val="1D1D1D"/>
                </a:solidFill>
                <a:latin typeface="MiSans" pitchFamily="34" charset="0"/>
                <a:ea typeface="MiSans" pitchFamily="34" charset="-122"/>
                <a:cs typeface="MiSans" pitchFamily="34" charset="-120"/>
              </a:rPr>
              <a:t>Vibe Coding开发 = </a:t>
            </a:r>
            <a:r>
              <a:rPr lang="en-US" sz="1000" b="1" dirty="0">
                <a:solidFill>
                  <a:srgbClr val="0071E3"/>
                </a:solidFill>
                <a:latin typeface="MiSans" pitchFamily="34" charset="0"/>
                <a:ea typeface="MiSans" pitchFamily="34" charset="-122"/>
                <a:cs typeface="MiSans" pitchFamily="34" charset="-120"/>
              </a:rPr>
              <a:t>a.直接业务逻辑实现</a:t>
            </a:r>
            <a:r>
              <a:rPr lang="en-US" sz="1000" dirty="0">
                <a:solidFill>
                  <a:srgbClr val="1D1D1D"/>
                </a:solidFill>
                <a:latin typeface="MiSans" pitchFamily="34" charset="0"/>
                <a:ea typeface="MiSans" pitchFamily="34" charset="-122"/>
                <a:cs typeface="MiSans" pitchFamily="34" charset="-120"/>
              </a:rPr>
              <a:t> + </a:t>
            </a:r>
            <a:r>
              <a:rPr lang="en-US" sz="1000" b="1" dirty="0">
                <a:solidFill>
                  <a:srgbClr val="0071E3"/>
                </a:solidFill>
                <a:latin typeface="MiSans" pitchFamily="34" charset="0"/>
                <a:ea typeface="MiSans" pitchFamily="34" charset="-122"/>
                <a:cs typeface="MiSans" pitchFamily="34" charset="-120"/>
              </a:rPr>
              <a:t>b.个人经验通过SKILL凝聚并使用</a:t>
            </a:r>
            <a:endParaRPr lang="en-US" sz="1600" dirty="0"/>
          </a:p>
        </p:txBody>
      </p:sp>
      <p:sp>
        <p:nvSpPr>
          <p:cNvPr id="84" name="Shape 82"/>
          <p:cNvSpPr/>
          <p:nvPr/>
        </p:nvSpPr>
        <p:spPr>
          <a:xfrm>
            <a:off x="6193896" y="5241396"/>
            <a:ext cx="5680604" cy="1211792"/>
          </a:xfrm>
          <a:custGeom>
            <a:avLst/>
            <a:gdLst/>
            <a:ahLst/>
            <a:cxnLst/>
            <a:rect l="l" t="t" r="r" b="b"/>
            <a:pathLst>
              <a:path w="5680604" h="1211792">
                <a:moveTo>
                  <a:pt x="126996" y="0"/>
                </a:moveTo>
                <a:lnTo>
                  <a:pt x="5553608" y="0"/>
                </a:lnTo>
                <a:cubicBezTo>
                  <a:pt x="5623746" y="0"/>
                  <a:pt x="5680604" y="56858"/>
                  <a:pt x="5680604" y="126996"/>
                </a:cubicBezTo>
                <a:lnTo>
                  <a:pt x="5680604" y="1084796"/>
                </a:lnTo>
                <a:cubicBezTo>
                  <a:pt x="5680604" y="1154934"/>
                  <a:pt x="5623746" y="1211792"/>
                  <a:pt x="5553608" y="1211792"/>
                </a:cubicBezTo>
                <a:lnTo>
                  <a:pt x="126996" y="1211792"/>
                </a:lnTo>
                <a:cubicBezTo>
                  <a:pt x="56858" y="1211792"/>
                  <a:pt x="0" y="1154934"/>
                  <a:pt x="0" y="1084796"/>
                </a:cubicBezTo>
                <a:lnTo>
                  <a:pt x="0" y="126996"/>
                </a:lnTo>
                <a:cubicBezTo>
                  <a:pt x="0" y="56905"/>
                  <a:pt x="56905" y="0"/>
                  <a:pt x="126996"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85" name="Shape 83"/>
          <p:cNvSpPr/>
          <p:nvPr/>
        </p:nvSpPr>
        <p:spPr>
          <a:xfrm>
            <a:off x="6357276" y="5442482"/>
            <a:ext cx="178594" cy="142875"/>
          </a:xfrm>
          <a:custGeom>
            <a:avLst/>
            <a:gdLst/>
            <a:ahLst/>
            <a:cxnLst/>
            <a:rect l="l" t="t" r="r" b="b"/>
            <a:pathLst>
              <a:path w="178594" h="142875">
                <a:moveTo>
                  <a:pt x="89297" y="62508"/>
                </a:moveTo>
                <a:cubicBezTo>
                  <a:pt x="105314" y="62508"/>
                  <a:pt x="118318" y="49504"/>
                  <a:pt x="118318" y="33486"/>
                </a:cubicBezTo>
                <a:cubicBezTo>
                  <a:pt x="118318" y="17469"/>
                  <a:pt x="105314" y="4465"/>
                  <a:pt x="89297" y="4465"/>
                </a:cubicBezTo>
                <a:cubicBezTo>
                  <a:pt x="73279" y="4465"/>
                  <a:pt x="60275" y="17469"/>
                  <a:pt x="60275" y="33486"/>
                </a:cubicBezTo>
                <a:cubicBezTo>
                  <a:pt x="60275" y="49504"/>
                  <a:pt x="73279" y="62508"/>
                  <a:pt x="89297" y="62508"/>
                </a:cubicBezTo>
                <a:close/>
                <a:moveTo>
                  <a:pt x="26789" y="64740"/>
                </a:moveTo>
                <a:cubicBezTo>
                  <a:pt x="37878" y="64740"/>
                  <a:pt x="46881" y="55737"/>
                  <a:pt x="46881" y="44648"/>
                </a:cubicBezTo>
                <a:cubicBezTo>
                  <a:pt x="46881" y="33559"/>
                  <a:pt x="37878" y="24557"/>
                  <a:pt x="26789" y="24557"/>
                </a:cubicBezTo>
                <a:cubicBezTo>
                  <a:pt x="15700" y="24557"/>
                  <a:pt x="6697" y="33559"/>
                  <a:pt x="6697" y="44648"/>
                </a:cubicBezTo>
                <a:cubicBezTo>
                  <a:pt x="6697" y="55737"/>
                  <a:pt x="15700" y="64740"/>
                  <a:pt x="26789" y="64740"/>
                </a:cubicBezTo>
                <a:close/>
                <a:moveTo>
                  <a:pt x="0" y="116086"/>
                </a:moveTo>
                <a:lnTo>
                  <a:pt x="0" y="125016"/>
                </a:lnTo>
                <a:cubicBezTo>
                  <a:pt x="0" y="129955"/>
                  <a:pt x="3990" y="133945"/>
                  <a:pt x="8930" y="133945"/>
                </a:cubicBezTo>
                <a:lnTo>
                  <a:pt x="33124" y="133945"/>
                </a:lnTo>
                <a:cubicBezTo>
                  <a:pt x="31924" y="131211"/>
                  <a:pt x="31254" y="128197"/>
                  <a:pt x="31254" y="125016"/>
                </a:cubicBezTo>
                <a:lnTo>
                  <a:pt x="31254" y="120551"/>
                </a:lnTo>
                <a:cubicBezTo>
                  <a:pt x="31254" y="105705"/>
                  <a:pt x="36835" y="92143"/>
                  <a:pt x="46016" y="81874"/>
                </a:cubicBezTo>
                <a:cubicBezTo>
                  <a:pt x="42751" y="80897"/>
                  <a:pt x="39291" y="80367"/>
                  <a:pt x="35719" y="80367"/>
                </a:cubicBezTo>
                <a:cubicBezTo>
                  <a:pt x="15990" y="80367"/>
                  <a:pt x="0" y="96357"/>
                  <a:pt x="0" y="116086"/>
                </a:cubicBezTo>
                <a:close/>
                <a:moveTo>
                  <a:pt x="171896" y="44648"/>
                </a:moveTo>
                <a:cubicBezTo>
                  <a:pt x="171896" y="33559"/>
                  <a:pt x="162894" y="24557"/>
                  <a:pt x="151805" y="24557"/>
                </a:cubicBezTo>
                <a:cubicBezTo>
                  <a:pt x="140716" y="24557"/>
                  <a:pt x="131713" y="33559"/>
                  <a:pt x="131713" y="44648"/>
                </a:cubicBezTo>
                <a:cubicBezTo>
                  <a:pt x="131713" y="55737"/>
                  <a:pt x="140716" y="64740"/>
                  <a:pt x="151805" y="64740"/>
                </a:cubicBezTo>
                <a:cubicBezTo>
                  <a:pt x="162894" y="64740"/>
                  <a:pt x="171896" y="55737"/>
                  <a:pt x="171896" y="44648"/>
                </a:cubicBezTo>
                <a:close/>
                <a:moveTo>
                  <a:pt x="44648" y="120551"/>
                </a:moveTo>
                <a:lnTo>
                  <a:pt x="44648" y="125016"/>
                </a:lnTo>
                <a:cubicBezTo>
                  <a:pt x="44648" y="129955"/>
                  <a:pt x="48639" y="133945"/>
                  <a:pt x="53578" y="133945"/>
                </a:cubicBezTo>
                <a:lnTo>
                  <a:pt x="97334" y="133945"/>
                </a:lnTo>
                <a:cubicBezTo>
                  <a:pt x="95352" y="127918"/>
                  <a:pt x="95576" y="121555"/>
                  <a:pt x="100319" y="116086"/>
                </a:cubicBezTo>
                <a:cubicBezTo>
                  <a:pt x="96413" y="111565"/>
                  <a:pt x="94599" y="105008"/>
                  <a:pt x="97138" y="98422"/>
                </a:cubicBezTo>
                <a:cubicBezTo>
                  <a:pt x="98980" y="93650"/>
                  <a:pt x="101575" y="89185"/>
                  <a:pt x="104784" y="85223"/>
                </a:cubicBezTo>
                <a:cubicBezTo>
                  <a:pt x="106291" y="83381"/>
                  <a:pt x="108021" y="81958"/>
                  <a:pt x="109891" y="80925"/>
                </a:cubicBezTo>
                <a:cubicBezTo>
                  <a:pt x="103724" y="77716"/>
                  <a:pt x="96720" y="75902"/>
                  <a:pt x="89297" y="75902"/>
                </a:cubicBezTo>
                <a:cubicBezTo>
                  <a:pt x="64629" y="75902"/>
                  <a:pt x="44648" y="95883"/>
                  <a:pt x="44648" y="120551"/>
                </a:cubicBezTo>
                <a:close/>
                <a:moveTo>
                  <a:pt x="174296" y="108245"/>
                </a:moveTo>
                <a:cubicBezTo>
                  <a:pt x="176054" y="107240"/>
                  <a:pt x="176947" y="105147"/>
                  <a:pt x="176194" y="103222"/>
                </a:cubicBezTo>
                <a:cubicBezTo>
                  <a:pt x="174854" y="99761"/>
                  <a:pt x="172985" y="96496"/>
                  <a:pt x="170641" y="93622"/>
                </a:cubicBezTo>
                <a:cubicBezTo>
                  <a:pt x="169357" y="92032"/>
                  <a:pt x="167097" y="91753"/>
                  <a:pt x="165339" y="92785"/>
                </a:cubicBezTo>
                <a:cubicBezTo>
                  <a:pt x="159255" y="96301"/>
                  <a:pt x="151777" y="92004"/>
                  <a:pt x="151777" y="84944"/>
                </a:cubicBezTo>
                <a:cubicBezTo>
                  <a:pt x="151777" y="82907"/>
                  <a:pt x="150409" y="81093"/>
                  <a:pt x="148400" y="80786"/>
                </a:cubicBezTo>
                <a:cubicBezTo>
                  <a:pt x="144800" y="80228"/>
                  <a:pt x="140922" y="80228"/>
                  <a:pt x="137322" y="80786"/>
                </a:cubicBezTo>
                <a:cubicBezTo>
                  <a:pt x="135313" y="81093"/>
                  <a:pt x="133945" y="82907"/>
                  <a:pt x="133945" y="84944"/>
                </a:cubicBezTo>
                <a:cubicBezTo>
                  <a:pt x="133945" y="91976"/>
                  <a:pt x="126467" y="96301"/>
                  <a:pt x="120383" y="92785"/>
                </a:cubicBezTo>
                <a:cubicBezTo>
                  <a:pt x="118625" y="91780"/>
                  <a:pt x="116365" y="92059"/>
                  <a:pt x="115081" y="93622"/>
                </a:cubicBezTo>
                <a:cubicBezTo>
                  <a:pt x="112737" y="96496"/>
                  <a:pt x="110868" y="99761"/>
                  <a:pt x="109528" y="103222"/>
                </a:cubicBezTo>
                <a:cubicBezTo>
                  <a:pt x="108803" y="105119"/>
                  <a:pt x="109668" y="107212"/>
                  <a:pt x="111426" y="108217"/>
                </a:cubicBezTo>
                <a:cubicBezTo>
                  <a:pt x="117537" y="111733"/>
                  <a:pt x="117537" y="120355"/>
                  <a:pt x="111426" y="123899"/>
                </a:cubicBezTo>
                <a:cubicBezTo>
                  <a:pt x="109668" y="124904"/>
                  <a:pt x="108775" y="126997"/>
                  <a:pt x="109528" y="128894"/>
                </a:cubicBezTo>
                <a:cubicBezTo>
                  <a:pt x="110868" y="132355"/>
                  <a:pt x="112737" y="135620"/>
                  <a:pt x="115081" y="138494"/>
                </a:cubicBezTo>
                <a:cubicBezTo>
                  <a:pt x="116365" y="140084"/>
                  <a:pt x="118625" y="140364"/>
                  <a:pt x="120383" y="139331"/>
                </a:cubicBezTo>
                <a:cubicBezTo>
                  <a:pt x="126467" y="135815"/>
                  <a:pt x="133945" y="140140"/>
                  <a:pt x="133945" y="147172"/>
                </a:cubicBezTo>
                <a:cubicBezTo>
                  <a:pt x="133945" y="149209"/>
                  <a:pt x="135313" y="151023"/>
                  <a:pt x="137322" y="151330"/>
                </a:cubicBezTo>
                <a:cubicBezTo>
                  <a:pt x="140922" y="151888"/>
                  <a:pt x="144800" y="151888"/>
                  <a:pt x="148400" y="151330"/>
                </a:cubicBezTo>
                <a:cubicBezTo>
                  <a:pt x="150409" y="151023"/>
                  <a:pt x="151777" y="149209"/>
                  <a:pt x="151777" y="147172"/>
                </a:cubicBezTo>
                <a:cubicBezTo>
                  <a:pt x="151777" y="140140"/>
                  <a:pt x="159255" y="135815"/>
                  <a:pt x="165339" y="139331"/>
                </a:cubicBezTo>
                <a:cubicBezTo>
                  <a:pt x="167097" y="140336"/>
                  <a:pt x="169357" y="140057"/>
                  <a:pt x="170641" y="138494"/>
                </a:cubicBezTo>
                <a:cubicBezTo>
                  <a:pt x="172985" y="135620"/>
                  <a:pt x="174854" y="132355"/>
                  <a:pt x="176194" y="128894"/>
                </a:cubicBezTo>
                <a:cubicBezTo>
                  <a:pt x="176919" y="126997"/>
                  <a:pt x="176054" y="124904"/>
                  <a:pt x="174296" y="123899"/>
                </a:cubicBezTo>
                <a:cubicBezTo>
                  <a:pt x="168185" y="120383"/>
                  <a:pt x="168185" y="111761"/>
                  <a:pt x="174296" y="108217"/>
                </a:cubicBezTo>
                <a:close/>
                <a:moveTo>
                  <a:pt x="131713" y="116086"/>
                </a:moveTo>
                <a:cubicBezTo>
                  <a:pt x="131713" y="109925"/>
                  <a:pt x="136714" y="104924"/>
                  <a:pt x="142875" y="104924"/>
                </a:cubicBezTo>
                <a:cubicBezTo>
                  <a:pt x="149036" y="104924"/>
                  <a:pt x="154037" y="109925"/>
                  <a:pt x="154037" y="116086"/>
                </a:cubicBezTo>
                <a:cubicBezTo>
                  <a:pt x="154037" y="122246"/>
                  <a:pt x="149036" y="127248"/>
                  <a:pt x="142875" y="127248"/>
                </a:cubicBezTo>
                <a:cubicBezTo>
                  <a:pt x="136714" y="127248"/>
                  <a:pt x="131713" y="122246"/>
                  <a:pt x="131713" y="116086"/>
                </a:cubicBezTo>
                <a:close/>
              </a:path>
            </a:pathLst>
          </a:custGeom>
          <a:solidFill>
            <a:srgbClr val="0071E3"/>
          </a:solidFill>
          <a:ln/>
        </p:spPr>
        <p:txBody>
          <a:bodyPr/>
          <a:lstStyle/>
          <a:p>
            <a:endParaRPr lang="zh-CN" altLang="en-US"/>
          </a:p>
        </p:txBody>
      </p:sp>
      <p:sp>
        <p:nvSpPr>
          <p:cNvPr id="86" name="Text 84"/>
          <p:cNvSpPr/>
          <p:nvPr/>
        </p:nvSpPr>
        <p:spPr>
          <a:xfrm>
            <a:off x="6537854" y="5402794"/>
            <a:ext cx="5246688"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MiSans" pitchFamily="34" charset="0"/>
                <a:ea typeface="MiSans" pitchFamily="34" charset="-122"/>
                <a:cs typeface="MiSans" pitchFamily="34" charset="-120"/>
              </a:rPr>
              <a:t>人机分工新范式</a:t>
            </a:r>
            <a:endParaRPr lang="en-US" sz="1600" dirty="0"/>
          </a:p>
        </p:txBody>
      </p:sp>
      <p:sp>
        <p:nvSpPr>
          <p:cNvPr id="87" name="Shape 85"/>
          <p:cNvSpPr/>
          <p:nvPr/>
        </p:nvSpPr>
        <p:spPr>
          <a:xfrm>
            <a:off x="6379104" y="5752044"/>
            <a:ext cx="111125" cy="127000"/>
          </a:xfrm>
          <a:custGeom>
            <a:avLst/>
            <a:gdLst/>
            <a:ahLst/>
            <a:cxnLst/>
            <a:rect l="l" t="t" r="r" b="b"/>
            <a:pathLst>
              <a:path w="111125" h="127000">
                <a:moveTo>
                  <a:pt x="55563" y="61516"/>
                </a:moveTo>
                <a:cubicBezTo>
                  <a:pt x="71991" y="61516"/>
                  <a:pt x="85328" y="48178"/>
                  <a:pt x="85328" y="31750"/>
                </a:cubicBezTo>
                <a:cubicBezTo>
                  <a:pt x="85328" y="15322"/>
                  <a:pt x="71991" y="1984"/>
                  <a:pt x="55563" y="1984"/>
                </a:cubicBezTo>
                <a:cubicBezTo>
                  <a:pt x="39134" y="1984"/>
                  <a:pt x="25797" y="15322"/>
                  <a:pt x="25797" y="31750"/>
                </a:cubicBezTo>
                <a:cubicBezTo>
                  <a:pt x="25797" y="48178"/>
                  <a:pt x="39134" y="61516"/>
                  <a:pt x="55562" y="61516"/>
                </a:cubicBezTo>
                <a:close/>
                <a:moveTo>
                  <a:pt x="48196" y="75406"/>
                </a:moveTo>
                <a:cubicBezTo>
                  <a:pt x="23763" y="75406"/>
                  <a:pt x="3969" y="95200"/>
                  <a:pt x="3969" y="119633"/>
                </a:cubicBezTo>
                <a:cubicBezTo>
                  <a:pt x="3969" y="123701"/>
                  <a:pt x="7268" y="127000"/>
                  <a:pt x="11336" y="127000"/>
                </a:cubicBezTo>
                <a:lnTo>
                  <a:pt x="99789" y="127000"/>
                </a:lnTo>
                <a:cubicBezTo>
                  <a:pt x="103857" y="127000"/>
                  <a:pt x="107156" y="123701"/>
                  <a:pt x="107156" y="119633"/>
                </a:cubicBezTo>
                <a:cubicBezTo>
                  <a:pt x="107156" y="95200"/>
                  <a:pt x="87362" y="75406"/>
                  <a:pt x="62929" y="75406"/>
                </a:cubicBezTo>
                <a:lnTo>
                  <a:pt x="48196" y="75406"/>
                </a:lnTo>
                <a:close/>
              </a:path>
            </a:pathLst>
          </a:custGeom>
          <a:solidFill>
            <a:srgbClr val="0071E3"/>
          </a:solidFill>
          <a:ln/>
        </p:spPr>
        <p:txBody>
          <a:bodyPr/>
          <a:lstStyle/>
          <a:p>
            <a:endParaRPr lang="zh-CN" altLang="en-US"/>
          </a:p>
        </p:txBody>
      </p:sp>
      <p:sp>
        <p:nvSpPr>
          <p:cNvPr id="88" name="Text 86"/>
          <p:cNvSpPr/>
          <p:nvPr/>
        </p:nvSpPr>
        <p:spPr>
          <a:xfrm>
            <a:off x="6514042" y="5720294"/>
            <a:ext cx="251618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人的核心作用</a:t>
            </a:r>
            <a:endParaRPr lang="en-US" sz="1600" dirty="0"/>
          </a:p>
        </p:txBody>
      </p:sp>
      <p:sp>
        <p:nvSpPr>
          <p:cNvPr id="89" name="Text 87"/>
          <p:cNvSpPr/>
          <p:nvPr/>
        </p:nvSpPr>
        <p:spPr>
          <a:xfrm>
            <a:off x="6355292" y="5974294"/>
            <a:ext cx="2667000" cy="31750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设计、开发并行。</a:t>
            </a:r>
            <a:r>
              <a:rPr lang="en-US" sz="875" b="1" dirty="0">
                <a:solidFill>
                  <a:srgbClr val="0071E3"/>
                </a:solidFill>
                <a:latin typeface="MiSans" pitchFamily="34" charset="0"/>
                <a:ea typeface="MiSans" pitchFamily="34" charset="-122"/>
                <a:cs typeface="MiSans" pitchFamily="34" charset="-120"/>
              </a:rPr>
              <a:t>控制方向</a:t>
            </a:r>
            <a:r>
              <a:rPr lang="en-US" sz="875" dirty="0">
                <a:solidFill>
                  <a:srgbClr val="86868B"/>
                </a:solidFill>
                <a:latin typeface="MiSans" pitchFamily="34" charset="0"/>
                <a:ea typeface="MiSans" pitchFamily="34" charset="-122"/>
                <a:cs typeface="MiSans" pitchFamily="34" charset="-120"/>
              </a:rPr>
              <a:t>，重点在于如何有效控制大模型往需要的方向发展，防止幻觉偏离。</a:t>
            </a:r>
            <a:endParaRPr lang="en-US" sz="1600" dirty="0"/>
          </a:p>
        </p:txBody>
      </p:sp>
      <p:sp>
        <p:nvSpPr>
          <p:cNvPr id="90" name="Shape 88"/>
          <p:cNvSpPr/>
          <p:nvPr/>
        </p:nvSpPr>
        <p:spPr>
          <a:xfrm>
            <a:off x="9096375" y="5752044"/>
            <a:ext cx="158750" cy="127000"/>
          </a:xfrm>
          <a:custGeom>
            <a:avLst/>
            <a:gdLst/>
            <a:ahLst/>
            <a:cxnLst/>
            <a:rect l="l" t="t" r="r" b="b"/>
            <a:pathLst>
              <a:path w="158750" h="127000">
                <a:moveTo>
                  <a:pt x="87313" y="0"/>
                </a:moveTo>
                <a:cubicBezTo>
                  <a:pt x="87313" y="-4390"/>
                  <a:pt x="83765" y="-7937"/>
                  <a:pt x="79375" y="-7937"/>
                </a:cubicBezTo>
                <a:cubicBezTo>
                  <a:pt x="74985" y="-7937"/>
                  <a:pt x="71438" y="-4390"/>
                  <a:pt x="71438" y="0"/>
                </a:cubicBezTo>
                <a:lnTo>
                  <a:pt x="71438" y="15875"/>
                </a:lnTo>
                <a:lnTo>
                  <a:pt x="47625" y="15875"/>
                </a:lnTo>
                <a:cubicBezTo>
                  <a:pt x="34479" y="15875"/>
                  <a:pt x="23812" y="26541"/>
                  <a:pt x="23812" y="39688"/>
                </a:cubicBezTo>
                <a:lnTo>
                  <a:pt x="23812" y="95250"/>
                </a:lnTo>
                <a:cubicBezTo>
                  <a:pt x="23812" y="108396"/>
                  <a:pt x="34479" y="119063"/>
                  <a:pt x="47625" y="119063"/>
                </a:cubicBezTo>
                <a:lnTo>
                  <a:pt x="111125" y="119063"/>
                </a:lnTo>
                <a:cubicBezTo>
                  <a:pt x="124271" y="119063"/>
                  <a:pt x="134938" y="108396"/>
                  <a:pt x="134938" y="95250"/>
                </a:cubicBezTo>
                <a:lnTo>
                  <a:pt x="134938" y="39688"/>
                </a:lnTo>
                <a:cubicBezTo>
                  <a:pt x="134938" y="26541"/>
                  <a:pt x="124271" y="15875"/>
                  <a:pt x="111125" y="15875"/>
                </a:cubicBezTo>
                <a:lnTo>
                  <a:pt x="87313" y="15875"/>
                </a:lnTo>
                <a:lnTo>
                  <a:pt x="87313" y="0"/>
                </a:lnTo>
                <a:close/>
                <a:moveTo>
                  <a:pt x="39688" y="91281"/>
                </a:moveTo>
                <a:cubicBezTo>
                  <a:pt x="39688" y="87982"/>
                  <a:pt x="42342" y="85328"/>
                  <a:pt x="45641" y="85328"/>
                </a:cubicBezTo>
                <a:lnTo>
                  <a:pt x="53578" y="85328"/>
                </a:lnTo>
                <a:cubicBezTo>
                  <a:pt x="56877" y="85328"/>
                  <a:pt x="59531" y="87982"/>
                  <a:pt x="59531" y="91281"/>
                </a:cubicBezTo>
                <a:cubicBezTo>
                  <a:pt x="59531" y="94580"/>
                  <a:pt x="56877" y="97234"/>
                  <a:pt x="53578" y="97234"/>
                </a:cubicBezTo>
                <a:lnTo>
                  <a:pt x="45641" y="97234"/>
                </a:lnTo>
                <a:cubicBezTo>
                  <a:pt x="42342" y="97234"/>
                  <a:pt x="39688" y="94580"/>
                  <a:pt x="39688" y="91281"/>
                </a:cubicBezTo>
                <a:close/>
                <a:moveTo>
                  <a:pt x="69453" y="91281"/>
                </a:moveTo>
                <a:cubicBezTo>
                  <a:pt x="69453" y="87982"/>
                  <a:pt x="72107" y="85328"/>
                  <a:pt x="75406" y="85328"/>
                </a:cubicBezTo>
                <a:lnTo>
                  <a:pt x="83344" y="85328"/>
                </a:lnTo>
                <a:cubicBezTo>
                  <a:pt x="86643" y="85328"/>
                  <a:pt x="89297" y="87982"/>
                  <a:pt x="89297" y="91281"/>
                </a:cubicBezTo>
                <a:cubicBezTo>
                  <a:pt x="89297" y="94580"/>
                  <a:pt x="86643" y="97234"/>
                  <a:pt x="83344" y="97234"/>
                </a:cubicBezTo>
                <a:lnTo>
                  <a:pt x="75406" y="97234"/>
                </a:lnTo>
                <a:cubicBezTo>
                  <a:pt x="72107" y="97234"/>
                  <a:pt x="69453" y="94580"/>
                  <a:pt x="69453" y="91281"/>
                </a:cubicBezTo>
                <a:close/>
                <a:moveTo>
                  <a:pt x="99219" y="91281"/>
                </a:moveTo>
                <a:cubicBezTo>
                  <a:pt x="99219" y="87982"/>
                  <a:pt x="101873" y="85328"/>
                  <a:pt x="105172" y="85328"/>
                </a:cubicBezTo>
                <a:lnTo>
                  <a:pt x="113109" y="85328"/>
                </a:lnTo>
                <a:cubicBezTo>
                  <a:pt x="116408" y="85328"/>
                  <a:pt x="119063" y="87982"/>
                  <a:pt x="119063" y="91281"/>
                </a:cubicBezTo>
                <a:cubicBezTo>
                  <a:pt x="119063" y="94580"/>
                  <a:pt x="116408" y="97234"/>
                  <a:pt x="113109" y="97234"/>
                </a:cubicBezTo>
                <a:lnTo>
                  <a:pt x="105172" y="97234"/>
                </a:lnTo>
                <a:cubicBezTo>
                  <a:pt x="101873" y="97234"/>
                  <a:pt x="99219" y="94580"/>
                  <a:pt x="99219" y="91281"/>
                </a:cubicBezTo>
                <a:close/>
                <a:moveTo>
                  <a:pt x="55563" y="43656"/>
                </a:moveTo>
                <a:cubicBezTo>
                  <a:pt x="62134" y="43656"/>
                  <a:pt x="67469" y="48991"/>
                  <a:pt x="67469" y="55563"/>
                </a:cubicBezTo>
                <a:cubicBezTo>
                  <a:pt x="67469" y="62134"/>
                  <a:pt x="62134" y="67469"/>
                  <a:pt x="55563" y="67469"/>
                </a:cubicBezTo>
                <a:cubicBezTo>
                  <a:pt x="48991" y="67469"/>
                  <a:pt x="43656" y="62134"/>
                  <a:pt x="43656" y="55563"/>
                </a:cubicBezTo>
                <a:cubicBezTo>
                  <a:pt x="43656" y="48991"/>
                  <a:pt x="48991" y="43656"/>
                  <a:pt x="55563" y="43656"/>
                </a:cubicBezTo>
                <a:close/>
                <a:moveTo>
                  <a:pt x="91281" y="55563"/>
                </a:moveTo>
                <a:cubicBezTo>
                  <a:pt x="91281" y="48991"/>
                  <a:pt x="96616" y="43656"/>
                  <a:pt x="103188" y="43656"/>
                </a:cubicBezTo>
                <a:cubicBezTo>
                  <a:pt x="109759" y="43656"/>
                  <a:pt x="115094" y="48991"/>
                  <a:pt x="115094" y="55563"/>
                </a:cubicBezTo>
                <a:cubicBezTo>
                  <a:pt x="115094" y="62134"/>
                  <a:pt x="109759" y="67469"/>
                  <a:pt x="103188" y="67469"/>
                </a:cubicBezTo>
                <a:cubicBezTo>
                  <a:pt x="96616" y="67469"/>
                  <a:pt x="91281" y="62134"/>
                  <a:pt x="91281" y="55563"/>
                </a:cubicBezTo>
                <a:close/>
                <a:moveTo>
                  <a:pt x="15875" y="55563"/>
                </a:moveTo>
                <a:cubicBezTo>
                  <a:pt x="15875" y="51172"/>
                  <a:pt x="12328" y="47625"/>
                  <a:pt x="7938" y="47625"/>
                </a:cubicBezTo>
                <a:cubicBezTo>
                  <a:pt x="3547" y="47625"/>
                  <a:pt x="0" y="51172"/>
                  <a:pt x="0" y="55563"/>
                </a:cubicBezTo>
                <a:lnTo>
                  <a:pt x="0" y="79375"/>
                </a:lnTo>
                <a:cubicBezTo>
                  <a:pt x="0" y="83765"/>
                  <a:pt x="3547" y="87313"/>
                  <a:pt x="7938" y="87313"/>
                </a:cubicBezTo>
                <a:cubicBezTo>
                  <a:pt x="12328" y="87313"/>
                  <a:pt x="15875" y="83765"/>
                  <a:pt x="15875" y="79375"/>
                </a:cubicBezTo>
                <a:lnTo>
                  <a:pt x="15875" y="55563"/>
                </a:lnTo>
                <a:close/>
                <a:moveTo>
                  <a:pt x="150813" y="47625"/>
                </a:moveTo>
                <a:cubicBezTo>
                  <a:pt x="146422" y="47625"/>
                  <a:pt x="142875" y="51172"/>
                  <a:pt x="142875" y="55563"/>
                </a:cubicBezTo>
                <a:lnTo>
                  <a:pt x="142875" y="79375"/>
                </a:lnTo>
                <a:cubicBezTo>
                  <a:pt x="142875" y="83765"/>
                  <a:pt x="146422" y="87313"/>
                  <a:pt x="150813" y="87313"/>
                </a:cubicBezTo>
                <a:cubicBezTo>
                  <a:pt x="155203" y="87313"/>
                  <a:pt x="158750" y="83765"/>
                  <a:pt x="158750" y="79375"/>
                </a:cubicBezTo>
                <a:lnTo>
                  <a:pt x="158750" y="55563"/>
                </a:lnTo>
                <a:cubicBezTo>
                  <a:pt x="158750" y="51172"/>
                  <a:pt x="155203" y="47625"/>
                  <a:pt x="150813" y="47625"/>
                </a:cubicBezTo>
                <a:close/>
              </a:path>
            </a:pathLst>
          </a:custGeom>
          <a:solidFill>
            <a:srgbClr val="0071E3"/>
          </a:solidFill>
          <a:ln/>
        </p:spPr>
        <p:txBody>
          <a:bodyPr/>
          <a:lstStyle/>
          <a:p>
            <a:endParaRPr lang="zh-CN" altLang="en-US"/>
          </a:p>
        </p:txBody>
      </p:sp>
      <p:sp>
        <p:nvSpPr>
          <p:cNvPr id="91" name="Text 89"/>
          <p:cNvSpPr/>
          <p:nvPr/>
        </p:nvSpPr>
        <p:spPr>
          <a:xfrm>
            <a:off x="9255125" y="5720294"/>
            <a:ext cx="251618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AI的核心作用</a:t>
            </a:r>
            <a:endParaRPr lang="en-US" sz="1600" dirty="0"/>
          </a:p>
        </p:txBody>
      </p:sp>
      <p:sp>
        <p:nvSpPr>
          <p:cNvPr id="92" name="Text 90"/>
          <p:cNvSpPr/>
          <p:nvPr/>
        </p:nvSpPr>
        <p:spPr>
          <a:xfrm>
            <a:off x="9096375" y="5974294"/>
            <a:ext cx="2667000" cy="158750"/>
          </a:xfrm>
          <a:prstGeom prst="rect">
            <a:avLst/>
          </a:prstGeom>
          <a:noFill/>
          <a:ln/>
        </p:spPr>
        <p:txBody>
          <a:bodyPr wrap="square" lIns="0" tIns="0" rIns="0" bIns="0" rtlCol="0" anchor="ctr"/>
          <a:lstStyle/>
          <a:p>
            <a:pPr>
              <a:lnSpc>
                <a:spcPct val="120000"/>
              </a:lnSpc>
            </a:pPr>
            <a:r>
              <a:rPr lang="en-US" sz="875" b="1" dirty="0">
                <a:solidFill>
                  <a:srgbClr val="0071E3"/>
                </a:solidFill>
                <a:latin typeface="MiSans" pitchFamily="34" charset="0"/>
                <a:ea typeface="MiSans" pitchFamily="34" charset="-122"/>
                <a:cs typeface="MiSans" pitchFamily="34" charset="-120"/>
              </a:rPr>
              <a:t>高效执行</a:t>
            </a:r>
            <a:r>
              <a:rPr lang="en-US" sz="875" dirty="0">
                <a:solidFill>
                  <a:srgbClr val="86868B"/>
                </a:solidFill>
                <a:latin typeface="MiSans" pitchFamily="34" charset="0"/>
                <a:ea typeface="MiSans" pitchFamily="34" charset="-122"/>
                <a:cs typeface="MiSans" pitchFamily="34" charset="-120"/>
              </a:rPr>
              <a:t>、细节填充、批量处理。</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31755" y="331755"/>
            <a:ext cx="11586547" cy="165878"/>
          </a:xfrm>
          <a:prstGeom prst="rect">
            <a:avLst/>
          </a:prstGeom>
          <a:noFill/>
          <a:ln/>
        </p:spPr>
        <p:txBody>
          <a:bodyPr wrap="square" lIns="0" tIns="0" rIns="0" bIns="0" rtlCol="0" anchor="ctr"/>
          <a:lstStyle/>
          <a:p>
            <a:pPr>
              <a:lnSpc>
                <a:spcPct val="120000"/>
              </a:lnSpc>
            </a:pPr>
            <a:r>
              <a:rPr lang="en-US" sz="914" b="1" kern="0" spc="46" dirty="0">
                <a:solidFill>
                  <a:srgbClr val="0071E3"/>
                </a:solidFill>
                <a:latin typeface="MiSans" pitchFamily="34" charset="0"/>
                <a:ea typeface="MiSans" pitchFamily="34" charset="-122"/>
                <a:cs typeface="MiSans" pitchFamily="34" charset="-120"/>
              </a:rPr>
              <a:t>06 / 资源规划</a:t>
            </a:r>
            <a:endParaRPr lang="en-US" sz="1600" dirty="0"/>
          </a:p>
        </p:txBody>
      </p:sp>
      <p:sp>
        <p:nvSpPr>
          <p:cNvPr id="3" name="Text 1"/>
          <p:cNvSpPr/>
          <p:nvPr/>
        </p:nvSpPr>
        <p:spPr>
          <a:xfrm>
            <a:off x="331755" y="563984"/>
            <a:ext cx="11677780" cy="331755"/>
          </a:xfrm>
          <a:prstGeom prst="rect">
            <a:avLst/>
          </a:prstGeom>
          <a:noFill/>
          <a:ln/>
        </p:spPr>
        <p:txBody>
          <a:bodyPr wrap="square" lIns="0" tIns="0" rIns="0" bIns="0" rtlCol="0" anchor="ctr"/>
          <a:lstStyle/>
          <a:p>
            <a:pPr>
              <a:lnSpc>
                <a:spcPct val="90000"/>
              </a:lnSpc>
            </a:pPr>
            <a:r>
              <a:rPr lang="en-US" sz="2351" b="1" dirty="0">
                <a:solidFill>
                  <a:srgbClr val="1D1D1D"/>
                </a:solidFill>
                <a:latin typeface="MiSans" pitchFamily="34" charset="0"/>
                <a:ea typeface="MiSans" pitchFamily="34" charset="-122"/>
                <a:cs typeface="MiSans" pitchFamily="34" charset="-120"/>
              </a:rPr>
              <a:t>1000人团队算力需求与落地挑战</a:t>
            </a:r>
            <a:endParaRPr lang="en-US" sz="1600" dirty="0"/>
          </a:p>
        </p:txBody>
      </p:sp>
      <p:sp>
        <p:nvSpPr>
          <p:cNvPr id="4" name="Shape 2"/>
          <p:cNvSpPr/>
          <p:nvPr/>
        </p:nvSpPr>
        <p:spPr>
          <a:xfrm>
            <a:off x="334520" y="1097556"/>
            <a:ext cx="5661954" cy="5222378"/>
          </a:xfrm>
          <a:custGeom>
            <a:avLst/>
            <a:gdLst/>
            <a:ahLst/>
            <a:cxnLst/>
            <a:rect l="l" t="t" r="r" b="b"/>
            <a:pathLst>
              <a:path w="5661954" h="5222378">
                <a:moveTo>
                  <a:pt x="132701" y="0"/>
                </a:moveTo>
                <a:lnTo>
                  <a:pt x="5529253" y="0"/>
                </a:lnTo>
                <a:cubicBezTo>
                  <a:pt x="5602542" y="0"/>
                  <a:pt x="5661954" y="59412"/>
                  <a:pt x="5661954" y="132701"/>
                </a:cubicBezTo>
                <a:lnTo>
                  <a:pt x="5661954" y="5089678"/>
                </a:lnTo>
                <a:cubicBezTo>
                  <a:pt x="5661954" y="5162966"/>
                  <a:pt x="5602542" y="5222378"/>
                  <a:pt x="5529253" y="5222378"/>
                </a:cubicBezTo>
                <a:lnTo>
                  <a:pt x="132701" y="5222378"/>
                </a:lnTo>
                <a:cubicBezTo>
                  <a:pt x="59412" y="5222378"/>
                  <a:pt x="0" y="5162966"/>
                  <a:pt x="0" y="5089678"/>
                </a:cubicBezTo>
                <a:lnTo>
                  <a:pt x="0" y="132701"/>
                </a:lnTo>
                <a:cubicBezTo>
                  <a:pt x="0" y="59461"/>
                  <a:pt x="59461" y="0"/>
                  <a:pt x="132701" y="0"/>
                </a:cubicBezTo>
                <a:close/>
              </a:path>
            </a:pathLst>
          </a:custGeom>
          <a:solidFill>
            <a:srgbClr val="FFFFFF"/>
          </a:solidFill>
          <a:ln w="8467">
            <a:solidFill>
              <a:srgbClr val="E5E5E5"/>
            </a:solidFill>
            <a:prstDash val="solid"/>
          </a:ln>
          <a:effectLst>
            <a:outerShdw blurRad="24882" dist="8294" dir="5400000" algn="bl" rotWithShape="0">
              <a:srgbClr val="000000">
                <a:alpha val="10196"/>
              </a:srgbClr>
            </a:outerShdw>
          </a:effectLst>
        </p:spPr>
        <p:txBody>
          <a:bodyPr/>
          <a:lstStyle/>
          <a:p>
            <a:endParaRPr lang="zh-CN" altLang="en-US"/>
          </a:p>
        </p:txBody>
      </p:sp>
      <p:sp>
        <p:nvSpPr>
          <p:cNvPr id="5" name="Shape 3"/>
          <p:cNvSpPr/>
          <p:nvPr/>
        </p:nvSpPr>
        <p:spPr>
          <a:xfrm>
            <a:off x="577807" y="1332552"/>
            <a:ext cx="124408" cy="165878"/>
          </a:xfrm>
          <a:custGeom>
            <a:avLst/>
            <a:gdLst/>
            <a:ahLst/>
            <a:cxnLst/>
            <a:rect l="l" t="t" r="r" b="b"/>
            <a:pathLst>
              <a:path w="124408" h="165878">
                <a:moveTo>
                  <a:pt x="20735" y="0"/>
                </a:moveTo>
                <a:cubicBezTo>
                  <a:pt x="9298" y="0"/>
                  <a:pt x="0" y="9298"/>
                  <a:pt x="0" y="20735"/>
                </a:cubicBezTo>
                <a:lnTo>
                  <a:pt x="0" y="145143"/>
                </a:lnTo>
                <a:cubicBezTo>
                  <a:pt x="0" y="156579"/>
                  <a:pt x="9298" y="165878"/>
                  <a:pt x="20735" y="165878"/>
                </a:cubicBezTo>
                <a:lnTo>
                  <a:pt x="103673" y="165878"/>
                </a:lnTo>
                <a:cubicBezTo>
                  <a:pt x="115110" y="165878"/>
                  <a:pt x="124408" y="156579"/>
                  <a:pt x="124408" y="145143"/>
                </a:cubicBezTo>
                <a:lnTo>
                  <a:pt x="124408" y="20735"/>
                </a:lnTo>
                <a:cubicBezTo>
                  <a:pt x="124408" y="9298"/>
                  <a:pt x="115110" y="0"/>
                  <a:pt x="103673" y="0"/>
                </a:cubicBezTo>
                <a:lnTo>
                  <a:pt x="20735" y="0"/>
                </a:lnTo>
                <a:close/>
                <a:moveTo>
                  <a:pt x="31102" y="20735"/>
                </a:moveTo>
                <a:lnTo>
                  <a:pt x="93306" y="20735"/>
                </a:lnTo>
                <a:cubicBezTo>
                  <a:pt x="99041" y="20735"/>
                  <a:pt x="103673" y="25368"/>
                  <a:pt x="103673" y="31102"/>
                </a:cubicBezTo>
                <a:lnTo>
                  <a:pt x="103673" y="41469"/>
                </a:lnTo>
                <a:cubicBezTo>
                  <a:pt x="103673" y="47204"/>
                  <a:pt x="99041" y="51837"/>
                  <a:pt x="93306" y="51837"/>
                </a:cubicBezTo>
                <a:lnTo>
                  <a:pt x="31102" y="51837"/>
                </a:lnTo>
                <a:cubicBezTo>
                  <a:pt x="25368" y="51837"/>
                  <a:pt x="20735" y="47204"/>
                  <a:pt x="20735" y="41469"/>
                </a:cubicBezTo>
                <a:lnTo>
                  <a:pt x="20735" y="31102"/>
                </a:lnTo>
                <a:cubicBezTo>
                  <a:pt x="20735" y="25368"/>
                  <a:pt x="25368" y="20735"/>
                  <a:pt x="31102" y="20735"/>
                </a:cubicBezTo>
                <a:close/>
                <a:moveTo>
                  <a:pt x="36286" y="75163"/>
                </a:moveTo>
                <a:cubicBezTo>
                  <a:pt x="36286" y="79455"/>
                  <a:pt x="32802" y="82939"/>
                  <a:pt x="28510" y="82939"/>
                </a:cubicBezTo>
                <a:cubicBezTo>
                  <a:pt x="24219" y="82939"/>
                  <a:pt x="20735" y="79455"/>
                  <a:pt x="20735" y="75163"/>
                </a:cubicBezTo>
                <a:cubicBezTo>
                  <a:pt x="20735" y="70872"/>
                  <a:pt x="24219" y="67388"/>
                  <a:pt x="28510" y="67388"/>
                </a:cubicBezTo>
                <a:cubicBezTo>
                  <a:pt x="32802" y="67388"/>
                  <a:pt x="36286" y="70872"/>
                  <a:pt x="36286" y="75163"/>
                </a:cubicBezTo>
                <a:close/>
                <a:moveTo>
                  <a:pt x="62204" y="82939"/>
                </a:moveTo>
                <a:cubicBezTo>
                  <a:pt x="57913" y="82939"/>
                  <a:pt x="54429" y="79455"/>
                  <a:pt x="54429" y="75163"/>
                </a:cubicBezTo>
                <a:cubicBezTo>
                  <a:pt x="54429" y="70872"/>
                  <a:pt x="57913" y="67388"/>
                  <a:pt x="62204" y="67388"/>
                </a:cubicBezTo>
                <a:cubicBezTo>
                  <a:pt x="66496" y="67388"/>
                  <a:pt x="69980" y="70872"/>
                  <a:pt x="69980" y="75163"/>
                </a:cubicBezTo>
                <a:cubicBezTo>
                  <a:pt x="69980" y="79455"/>
                  <a:pt x="66496" y="82939"/>
                  <a:pt x="62204" y="82939"/>
                </a:cubicBezTo>
                <a:close/>
                <a:moveTo>
                  <a:pt x="103673" y="75163"/>
                </a:moveTo>
                <a:cubicBezTo>
                  <a:pt x="103673" y="79455"/>
                  <a:pt x="100189" y="82939"/>
                  <a:pt x="95898" y="82939"/>
                </a:cubicBezTo>
                <a:cubicBezTo>
                  <a:pt x="91607" y="82939"/>
                  <a:pt x="88122" y="79455"/>
                  <a:pt x="88122" y="75163"/>
                </a:cubicBezTo>
                <a:cubicBezTo>
                  <a:pt x="88122" y="70872"/>
                  <a:pt x="91607" y="67388"/>
                  <a:pt x="95898" y="67388"/>
                </a:cubicBezTo>
                <a:cubicBezTo>
                  <a:pt x="100189" y="67388"/>
                  <a:pt x="103673" y="70872"/>
                  <a:pt x="103673" y="75163"/>
                </a:cubicBezTo>
                <a:close/>
                <a:moveTo>
                  <a:pt x="28510" y="114041"/>
                </a:moveTo>
                <a:cubicBezTo>
                  <a:pt x="24219" y="114041"/>
                  <a:pt x="20735" y="110557"/>
                  <a:pt x="20735" y="106265"/>
                </a:cubicBezTo>
                <a:cubicBezTo>
                  <a:pt x="20735" y="101974"/>
                  <a:pt x="24219" y="98490"/>
                  <a:pt x="28510" y="98490"/>
                </a:cubicBezTo>
                <a:cubicBezTo>
                  <a:pt x="32802" y="98490"/>
                  <a:pt x="36286" y="101974"/>
                  <a:pt x="36286" y="106265"/>
                </a:cubicBezTo>
                <a:cubicBezTo>
                  <a:pt x="36286" y="110557"/>
                  <a:pt x="32802" y="114041"/>
                  <a:pt x="28510" y="114041"/>
                </a:cubicBezTo>
                <a:close/>
                <a:moveTo>
                  <a:pt x="69980" y="106265"/>
                </a:moveTo>
                <a:cubicBezTo>
                  <a:pt x="69980" y="110557"/>
                  <a:pt x="66496" y="114041"/>
                  <a:pt x="62204" y="114041"/>
                </a:cubicBezTo>
                <a:cubicBezTo>
                  <a:pt x="57913" y="114041"/>
                  <a:pt x="54429" y="110557"/>
                  <a:pt x="54429" y="106265"/>
                </a:cubicBezTo>
                <a:cubicBezTo>
                  <a:pt x="54429" y="101974"/>
                  <a:pt x="57913" y="98490"/>
                  <a:pt x="62204" y="98490"/>
                </a:cubicBezTo>
                <a:cubicBezTo>
                  <a:pt x="66496" y="98490"/>
                  <a:pt x="69980" y="101974"/>
                  <a:pt x="69980" y="106265"/>
                </a:cubicBezTo>
                <a:close/>
                <a:moveTo>
                  <a:pt x="95898" y="114041"/>
                </a:moveTo>
                <a:cubicBezTo>
                  <a:pt x="91607" y="114041"/>
                  <a:pt x="88122" y="110557"/>
                  <a:pt x="88122" y="106265"/>
                </a:cubicBezTo>
                <a:cubicBezTo>
                  <a:pt x="88122" y="101974"/>
                  <a:pt x="91607" y="98490"/>
                  <a:pt x="95898" y="98490"/>
                </a:cubicBezTo>
                <a:cubicBezTo>
                  <a:pt x="100189" y="98490"/>
                  <a:pt x="103673" y="101974"/>
                  <a:pt x="103673" y="106265"/>
                </a:cubicBezTo>
                <a:cubicBezTo>
                  <a:pt x="103673" y="110557"/>
                  <a:pt x="100189" y="114041"/>
                  <a:pt x="95898" y="114041"/>
                </a:cubicBezTo>
                <a:close/>
                <a:moveTo>
                  <a:pt x="20735" y="137367"/>
                </a:moveTo>
                <a:cubicBezTo>
                  <a:pt x="20735" y="133058"/>
                  <a:pt x="24201" y="129592"/>
                  <a:pt x="28510" y="129592"/>
                </a:cubicBezTo>
                <a:lnTo>
                  <a:pt x="64796" y="129592"/>
                </a:lnTo>
                <a:cubicBezTo>
                  <a:pt x="69105" y="129592"/>
                  <a:pt x="72571" y="133058"/>
                  <a:pt x="72571" y="137367"/>
                </a:cubicBezTo>
                <a:cubicBezTo>
                  <a:pt x="72571" y="141676"/>
                  <a:pt x="69105" y="145143"/>
                  <a:pt x="64796" y="145143"/>
                </a:cubicBezTo>
                <a:lnTo>
                  <a:pt x="28510" y="145143"/>
                </a:lnTo>
                <a:cubicBezTo>
                  <a:pt x="24201" y="145143"/>
                  <a:pt x="20735" y="141676"/>
                  <a:pt x="20735" y="137367"/>
                </a:cubicBezTo>
                <a:close/>
                <a:moveTo>
                  <a:pt x="95898" y="129592"/>
                </a:moveTo>
                <a:cubicBezTo>
                  <a:pt x="100207" y="129592"/>
                  <a:pt x="103673" y="133058"/>
                  <a:pt x="103673" y="137367"/>
                </a:cubicBezTo>
                <a:cubicBezTo>
                  <a:pt x="103673" y="141676"/>
                  <a:pt x="100207" y="145143"/>
                  <a:pt x="95898" y="145143"/>
                </a:cubicBezTo>
                <a:cubicBezTo>
                  <a:pt x="91589" y="145143"/>
                  <a:pt x="88122" y="141676"/>
                  <a:pt x="88122" y="137367"/>
                </a:cubicBezTo>
                <a:cubicBezTo>
                  <a:pt x="88122" y="133058"/>
                  <a:pt x="91589" y="129592"/>
                  <a:pt x="95898" y="129592"/>
                </a:cubicBezTo>
                <a:close/>
              </a:path>
            </a:pathLst>
          </a:custGeom>
          <a:solidFill>
            <a:srgbClr val="0071E3"/>
          </a:solidFill>
          <a:ln/>
        </p:spPr>
        <p:txBody>
          <a:bodyPr/>
          <a:lstStyle/>
          <a:p>
            <a:endParaRPr lang="zh-CN" altLang="en-US"/>
          </a:p>
        </p:txBody>
      </p:sp>
      <p:sp>
        <p:nvSpPr>
          <p:cNvPr id="6" name="Text 4"/>
          <p:cNvSpPr/>
          <p:nvPr/>
        </p:nvSpPr>
        <p:spPr>
          <a:xfrm>
            <a:off x="743684" y="1299377"/>
            <a:ext cx="5133910" cy="232229"/>
          </a:xfrm>
          <a:prstGeom prst="rect">
            <a:avLst/>
          </a:prstGeom>
          <a:noFill/>
          <a:ln/>
        </p:spPr>
        <p:txBody>
          <a:bodyPr wrap="square" lIns="0" tIns="0" rIns="0" bIns="0" rtlCol="0" anchor="ctr"/>
          <a:lstStyle/>
          <a:p>
            <a:pPr>
              <a:lnSpc>
                <a:spcPct val="120000"/>
              </a:lnSpc>
            </a:pPr>
            <a:r>
              <a:rPr lang="en-US" sz="1306" b="1" dirty="0">
                <a:solidFill>
                  <a:srgbClr val="1D1D1D"/>
                </a:solidFill>
                <a:latin typeface="MiSans" pitchFamily="34" charset="0"/>
                <a:ea typeface="MiSans" pitchFamily="34" charset="-122"/>
                <a:cs typeface="MiSans" pitchFamily="34" charset="-120"/>
              </a:rPr>
              <a:t>Token需求估算</a:t>
            </a:r>
            <a:endParaRPr lang="en-US" sz="1600" dirty="0"/>
          </a:p>
        </p:txBody>
      </p:sp>
      <p:sp>
        <p:nvSpPr>
          <p:cNvPr id="7" name="Shape 5"/>
          <p:cNvSpPr/>
          <p:nvPr/>
        </p:nvSpPr>
        <p:spPr>
          <a:xfrm>
            <a:off x="539102" y="1667072"/>
            <a:ext cx="5247260" cy="901268"/>
          </a:xfrm>
          <a:custGeom>
            <a:avLst/>
            <a:gdLst/>
            <a:ahLst/>
            <a:cxnLst/>
            <a:rect l="l" t="t" r="r" b="b"/>
            <a:pathLst>
              <a:path w="5247260" h="901268">
                <a:moveTo>
                  <a:pt x="99527" y="0"/>
                </a:moveTo>
                <a:lnTo>
                  <a:pt x="5147733" y="0"/>
                </a:lnTo>
                <a:cubicBezTo>
                  <a:pt x="5202700" y="0"/>
                  <a:pt x="5247260" y="44560"/>
                  <a:pt x="5247260" y="99527"/>
                </a:cubicBezTo>
                <a:lnTo>
                  <a:pt x="5247260" y="801741"/>
                </a:lnTo>
                <a:cubicBezTo>
                  <a:pt x="5247260" y="856708"/>
                  <a:pt x="5202700" y="901268"/>
                  <a:pt x="5147733" y="901268"/>
                </a:cubicBezTo>
                <a:lnTo>
                  <a:pt x="99527" y="901268"/>
                </a:lnTo>
                <a:cubicBezTo>
                  <a:pt x="44560" y="901268"/>
                  <a:pt x="0" y="856708"/>
                  <a:pt x="0" y="801741"/>
                </a:cubicBezTo>
                <a:lnTo>
                  <a:pt x="0" y="99527"/>
                </a:lnTo>
                <a:cubicBezTo>
                  <a:pt x="0" y="44597"/>
                  <a:pt x="44597" y="0"/>
                  <a:pt x="99527" y="0"/>
                </a:cubicBezTo>
                <a:close/>
              </a:path>
            </a:pathLst>
          </a:custGeom>
          <a:solidFill>
            <a:srgbClr val="FAFAFA"/>
          </a:solidFill>
          <a:ln w="8467">
            <a:solidFill>
              <a:srgbClr val="E5E5E5"/>
            </a:solidFill>
            <a:prstDash val="solid"/>
          </a:ln>
        </p:spPr>
        <p:txBody>
          <a:bodyPr/>
          <a:lstStyle/>
          <a:p>
            <a:endParaRPr lang="zh-CN" altLang="en-US"/>
          </a:p>
        </p:txBody>
      </p:sp>
      <p:sp>
        <p:nvSpPr>
          <p:cNvPr id="8" name="Text 6"/>
          <p:cNvSpPr/>
          <p:nvPr/>
        </p:nvSpPr>
        <p:spPr>
          <a:xfrm>
            <a:off x="674569" y="1802537"/>
            <a:ext cx="5034384"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估算依据</a:t>
            </a:r>
            <a:endParaRPr lang="en-US" sz="1600" dirty="0"/>
          </a:p>
        </p:txBody>
      </p:sp>
      <p:sp>
        <p:nvSpPr>
          <p:cNvPr id="9" name="Text 7"/>
          <p:cNvSpPr/>
          <p:nvPr/>
        </p:nvSpPr>
        <p:spPr>
          <a:xfrm>
            <a:off x="674569" y="2034766"/>
            <a:ext cx="5042678" cy="199053"/>
          </a:xfrm>
          <a:prstGeom prst="rect">
            <a:avLst/>
          </a:prstGeom>
          <a:noFill/>
          <a:ln/>
        </p:spPr>
        <p:txBody>
          <a:bodyPr wrap="square" lIns="0" tIns="0" rIns="0" bIns="0" rtlCol="0" anchor="ctr"/>
          <a:lstStyle/>
          <a:p>
            <a:pPr>
              <a:lnSpc>
                <a:spcPct val="130000"/>
              </a:lnSpc>
            </a:pPr>
            <a:r>
              <a:rPr lang="en-US" sz="1045" dirty="0">
                <a:solidFill>
                  <a:srgbClr val="1D1D1D"/>
                </a:solidFill>
                <a:latin typeface="MiSans" pitchFamily="34" charset="0"/>
                <a:ea typeface="MiSans" pitchFamily="34" charset="-122"/>
                <a:cs typeface="MiSans" pitchFamily="34" charset="-120"/>
              </a:rPr>
              <a:t>人均日均Token: </a:t>
            </a:r>
            <a:r>
              <a:rPr lang="en-US" sz="1045" b="1" dirty="0">
                <a:solidFill>
                  <a:srgbClr val="0071E3"/>
                </a:solidFill>
                <a:latin typeface="MiSans" pitchFamily="34" charset="0"/>
                <a:ea typeface="MiSans" pitchFamily="34" charset="-122"/>
                <a:cs typeface="MiSans" pitchFamily="34" charset="-120"/>
              </a:rPr>
              <a:t>1516万</a:t>
            </a:r>
            <a:r>
              <a:rPr lang="en-US" sz="1045" dirty="0">
                <a:solidFill>
                  <a:srgbClr val="1D1D1D"/>
                </a:solidFill>
                <a:latin typeface="MiSans" pitchFamily="34" charset="0"/>
                <a:ea typeface="MiSans" pitchFamily="34" charset="-122"/>
                <a:cs typeface="MiSans" pitchFamily="34" charset="-120"/>
              </a:rPr>
              <a:t>（基于dbpwd项目实际数据）</a:t>
            </a:r>
            <a:endParaRPr lang="en-US" sz="1600" dirty="0"/>
          </a:p>
        </p:txBody>
      </p:sp>
      <p:sp>
        <p:nvSpPr>
          <p:cNvPr id="10" name="Text 8"/>
          <p:cNvSpPr/>
          <p:nvPr/>
        </p:nvSpPr>
        <p:spPr>
          <a:xfrm>
            <a:off x="674569" y="2266995"/>
            <a:ext cx="5034384"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计算公式: 1516万 × 1000人 × 强度系数</a:t>
            </a:r>
            <a:endParaRPr lang="en-US" sz="1600" dirty="0"/>
          </a:p>
        </p:txBody>
      </p:sp>
      <p:sp>
        <p:nvSpPr>
          <p:cNvPr id="11" name="Shape 9"/>
          <p:cNvSpPr/>
          <p:nvPr/>
        </p:nvSpPr>
        <p:spPr>
          <a:xfrm>
            <a:off x="536337" y="3270552"/>
            <a:ext cx="5258318" cy="5529"/>
          </a:xfrm>
          <a:custGeom>
            <a:avLst/>
            <a:gdLst/>
            <a:ahLst/>
            <a:cxnLst/>
            <a:rect l="l" t="t" r="r" b="b"/>
            <a:pathLst>
              <a:path w="5258318" h="5529">
                <a:moveTo>
                  <a:pt x="0" y="0"/>
                </a:moveTo>
                <a:lnTo>
                  <a:pt x="5258318" y="0"/>
                </a:lnTo>
                <a:lnTo>
                  <a:pt x="5258318" y="5529"/>
                </a:lnTo>
                <a:lnTo>
                  <a:pt x="0" y="5529"/>
                </a:lnTo>
                <a:lnTo>
                  <a:pt x="0" y="0"/>
                </a:lnTo>
                <a:close/>
              </a:path>
            </a:pathLst>
          </a:custGeom>
          <a:solidFill>
            <a:srgbClr val="E5E5E5"/>
          </a:solidFill>
          <a:ln/>
        </p:spPr>
        <p:txBody>
          <a:bodyPr/>
          <a:lstStyle/>
          <a:p>
            <a:endParaRPr lang="zh-CN" altLang="en-US"/>
          </a:p>
        </p:txBody>
      </p:sp>
      <p:sp>
        <p:nvSpPr>
          <p:cNvPr id="12" name="Shape 10"/>
          <p:cNvSpPr/>
          <p:nvPr/>
        </p:nvSpPr>
        <p:spPr>
          <a:xfrm>
            <a:off x="536337" y="2936033"/>
            <a:ext cx="99527" cy="99527"/>
          </a:xfrm>
          <a:custGeom>
            <a:avLst/>
            <a:gdLst/>
            <a:ahLst/>
            <a:cxnLst/>
            <a:rect l="l" t="t" r="r" b="b"/>
            <a:pathLst>
              <a:path w="99527" h="99527">
                <a:moveTo>
                  <a:pt x="49763" y="0"/>
                </a:moveTo>
                <a:lnTo>
                  <a:pt x="49763" y="0"/>
                </a:lnTo>
                <a:cubicBezTo>
                  <a:pt x="77228" y="0"/>
                  <a:pt x="99527" y="22298"/>
                  <a:pt x="99527" y="49763"/>
                </a:cubicBezTo>
                <a:lnTo>
                  <a:pt x="99527" y="49763"/>
                </a:lnTo>
                <a:cubicBezTo>
                  <a:pt x="99527" y="77228"/>
                  <a:pt x="77228" y="99527"/>
                  <a:pt x="49763" y="99527"/>
                </a:cubicBezTo>
                <a:lnTo>
                  <a:pt x="49763" y="99527"/>
                </a:lnTo>
                <a:cubicBezTo>
                  <a:pt x="22298" y="99527"/>
                  <a:pt x="0" y="77228"/>
                  <a:pt x="0" y="49763"/>
                </a:cubicBezTo>
                <a:lnTo>
                  <a:pt x="0" y="49763"/>
                </a:lnTo>
                <a:cubicBezTo>
                  <a:pt x="0" y="22298"/>
                  <a:pt x="22298" y="0"/>
                  <a:pt x="49763" y="0"/>
                </a:cubicBezTo>
                <a:close/>
              </a:path>
            </a:pathLst>
          </a:custGeom>
          <a:solidFill>
            <a:srgbClr val="00C950"/>
          </a:solidFill>
          <a:ln/>
        </p:spPr>
        <p:txBody>
          <a:bodyPr/>
          <a:lstStyle/>
          <a:p>
            <a:endParaRPr lang="zh-CN" altLang="en-US"/>
          </a:p>
        </p:txBody>
      </p:sp>
      <p:sp>
        <p:nvSpPr>
          <p:cNvPr id="13" name="Text 11"/>
          <p:cNvSpPr/>
          <p:nvPr/>
        </p:nvSpPr>
        <p:spPr>
          <a:xfrm>
            <a:off x="735391" y="2803331"/>
            <a:ext cx="1401665"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轻度使用</a:t>
            </a:r>
            <a:endParaRPr lang="en-US" sz="1600" dirty="0"/>
          </a:p>
        </p:txBody>
      </p:sp>
      <p:sp>
        <p:nvSpPr>
          <p:cNvPr id="14" name="Text 12"/>
          <p:cNvSpPr/>
          <p:nvPr/>
        </p:nvSpPr>
        <p:spPr>
          <a:xfrm>
            <a:off x="735391" y="3002384"/>
            <a:ext cx="1393371"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系数 0.3x · 人均455万/天</a:t>
            </a:r>
            <a:endParaRPr lang="en-US" sz="1600" dirty="0"/>
          </a:p>
        </p:txBody>
      </p:sp>
      <p:sp>
        <p:nvSpPr>
          <p:cNvPr id="15" name="Text 13"/>
          <p:cNvSpPr/>
          <p:nvPr/>
        </p:nvSpPr>
        <p:spPr>
          <a:xfrm>
            <a:off x="5186957" y="2853094"/>
            <a:ext cx="704980" cy="265404"/>
          </a:xfrm>
          <a:prstGeom prst="rect">
            <a:avLst/>
          </a:prstGeom>
          <a:noFill/>
          <a:ln/>
        </p:spPr>
        <p:txBody>
          <a:bodyPr wrap="square" lIns="0" tIns="0" rIns="0" bIns="0" rtlCol="0" anchor="ctr"/>
          <a:lstStyle/>
          <a:p>
            <a:pPr>
              <a:lnSpc>
                <a:spcPct val="110000"/>
              </a:lnSpc>
            </a:pPr>
            <a:r>
              <a:rPr lang="en-US" sz="1567" b="1" dirty="0">
                <a:solidFill>
                  <a:srgbClr val="00A63E"/>
                </a:solidFill>
                <a:latin typeface="MiSans" pitchFamily="34" charset="0"/>
                <a:ea typeface="MiSans" pitchFamily="34" charset="-122"/>
                <a:cs typeface="MiSans" pitchFamily="34" charset="-120"/>
              </a:rPr>
              <a:t>45.5亿</a:t>
            </a:r>
            <a:endParaRPr lang="en-US" sz="1600" dirty="0"/>
          </a:p>
        </p:txBody>
      </p:sp>
      <p:sp>
        <p:nvSpPr>
          <p:cNvPr id="16" name="Shape 14"/>
          <p:cNvSpPr/>
          <p:nvPr/>
        </p:nvSpPr>
        <p:spPr>
          <a:xfrm>
            <a:off x="536337" y="3939595"/>
            <a:ext cx="5258318" cy="5529"/>
          </a:xfrm>
          <a:custGeom>
            <a:avLst/>
            <a:gdLst/>
            <a:ahLst/>
            <a:cxnLst/>
            <a:rect l="l" t="t" r="r" b="b"/>
            <a:pathLst>
              <a:path w="5258318" h="5529">
                <a:moveTo>
                  <a:pt x="0" y="0"/>
                </a:moveTo>
                <a:lnTo>
                  <a:pt x="5258318" y="0"/>
                </a:lnTo>
                <a:lnTo>
                  <a:pt x="5258318" y="5529"/>
                </a:lnTo>
                <a:lnTo>
                  <a:pt x="0" y="5529"/>
                </a:lnTo>
                <a:lnTo>
                  <a:pt x="0" y="0"/>
                </a:lnTo>
                <a:close/>
              </a:path>
            </a:pathLst>
          </a:custGeom>
          <a:solidFill>
            <a:srgbClr val="E5E5E5"/>
          </a:solidFill>
          <a:ln/>
        </p:spPr>
        <p:txBody>
          <a:bodyPr/>
          <a:lstStyle/>
          <a:p>
            <a:endParaRPr lang="zh-CN" altLang="en-US"/>
          </a:p>
        </p:txBody>
      </p:sp>
      <p:sp>
        <p:nvSpPr>
          <p:cNvPr id="17" name="Shape 15"/>
          <p:cNvSpPr/>
          <p:nvPr/>
        </p:nvSpPr>
        <p:spPr>
          <a:xfrm>
            <a:off x="536337" y="3605075"/>
            <a:ext cx="99527" cy="99527"/>
          </a:xfrm>
          <a:custGeom>
            <a:avLst/>
            <a:gdLst/>
            <a:ahLst/>
            <a:cxnLst/>
            <a:rect l="l" t="t" r="r" b="b"/>
            <a:pathLst>
              <a:path w="99527" h="99527">
                <a:moveTo>
                  <a:pt x="49763" y="0"/>
                </a:moveTo>
                <a:lnTo>
                  <a:pt x="49763" y="0"/>
                </a:lnTo>
                <a:cubicBezTo>
                  <a:pt x="77228" y="0"/>
                  <a:pt x="99527" y="22298"/>
                  <a:pt x="99527" y="49763"/>
                </a:cubicBezTo>
                <a:lnTo>
                  <a:pt x="99527" y="49763"/>
                </a:lnTo>
                <a:cubicBezTo>
                  <a:pt x="99527" y="77228"/>
                  <a:pt x="77228" y="99527"/>
                  <a:pt x="49763" y="99527"/>
                </a:cubicBezTo>
                <a:lnTo>
                  <a:pt x="49763" y="99527"/>
                </a:lnTo>
                <a:cubicBezTo>
                  <a:pt x="22298" y="99527"/>
                  <a:pt x="0" y="77228"/>
                  <a:pt x="0" y="49763"/>
                </a:cubicBezTo>
                <a:lnTo>
                  <a:pt x="0" y="49763"/>
                </a:lnTo>
                <a:cubicBezTo>
                  <a:pt x="0" y="22298"/>
                  <a:pt x="22298" y="0"/>
                  <a:pt x="49763" y="0"/>
                </a:cubicBezTo>
                <a:close/>
              </a:path>
            </a:pathLst>
          </a:custGeom>
          <a:solidFill>
            <a:srgbClr val="0071E3"/>
          </a:solidFill>
          <a:ln/>
        </p:spPr>
        <p:txBody>
          <a:bodyPr/>
          <a:lstStyle/>
          <a:p>
            <a:endParaRPr lang="zh-CN" altLang="en-US"/>
          </a:p>
        </p:txBody>
      </p:sp>
      <p:sp>
        <p:nvSpPr>
          <p:cNvPr id="18" name="Text 16"/>
          <p:cNvSpPr/>
          <p:nvPr/>
        </p:nvSpPr>
        <p:spPr>
          <a:xfrm>
            <a:off x="735391" y="3472373"/>
            <a:ext cx="1302139"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中度使用</a:t>
            </a:r>
            <a:endParaRPr lang="en-US" sz="1600" dirty="0"/>
          </a:p>
        </p:txBody>
      </p:sp>
      <p:sp>
        <p:nvSpPr>
          <p:cNvPr id="19" name="Text 17"/>
          <p:cNvSpPr/>
          <p:nvPr/>
        </p:nvSpPr>
        <p:spPr>
          <a:xfrm>
            <a:off x="735391" y="3671426"/>
            <a:ext cx="1293845"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系数 1x · 人均1516万/天</a:t>
            </a:r>
            <a:endParaRPr lang="en-US" sz="1600" dirty="0"/>
          </a:p>
        </p:txBody>
      </p:sp>
      <p:sp>
        <p:nvSpPr>
          <p:cNvPr id="20" name="Text 18"/>
          <p:cNvSpPr/>
          <p:nvPr/>
        </p:nvSpPr>
        <p:spPr>
          <a:xfrm>
            <a:off x="5284755" y="3522136"/>
            <a:ext cx="605453" cy="265404"/>
          </a:xfrm>
          <a:prstGeom prst="rect">
            <a:avLst/>
          </a:prstGeom>
          <a:noFill/>
          <a:ln/>
        </p:spPr>
        <p:txBody>
          <a:bodyPr wrap="square" lIns="0" tIns="0" rIns="0" bIns="0" rtlCol="0" anchor="ctr"/>
          <a:lstStyle/>
          <a:p>
            <a:pPr>
              <a:lnSpc>
                <a:spcPct val="110000"/>
              </a:lnSpc>
            </a:pPr>
            <a:r>
              <a:rPr lang="en-US" sz="1567" b="1" dirty="0">
                <a:solidFill>
                  <a:srgbClr val="0071E3"/>
                </a:solidFill>
                <a:latin typeface="MiSans" pitchFamily="34" charset="0"/>
                <a:ea typeface="MiSans" pitchFamily="34" charset="-122"/>
                <a:cs typeface="MiSans" pitchFamily="34" charset="-120"/>
              </a:rPr>
              <a:t>152亿</a:t>
            </a:r>
            <a:endParaRPr lang="en-US" sz="1600" dirty="0"/>
          </a:p>
        </p:txBody>
      </p:sp>
      <p:sp>
        <p:nvSpPr>
          <p:cNvPr id="21" name="Shape 19"/>
          <p:cNvSpPr/>
          <p:nvPr/>
        </p:nvSpPr>
        <p:spPr>
          <a:xfrm>
            <a:off x="536337" y="4274113"/>
            <a:ext cx="99527" cy="99527"/>
          </a:xfrm>
          <a:custGeom>
            <a:avLst/>
            <a:gdLst/>
            <a:ahLst/>
            <a:cxnLst/>
            <a:rect l="l" t="t" r="r" b="b"/>
            <a:pathLst>
              <a:path w="99527" h="99527">
                <a:moveTo>
                  <a:pt x="49763" y="0"/>
                </a:moveTo>
                <a:lnTo>
                  <a:pt x="49763" y="0"/>
                </a:lnTo>
                <a:cubicBezTo>
                  <a:pt x="77228" y="0"/>
                  <a:pt x="99527" y="22298"/>
                  <a:pt x="99527" y="49763"/>
                </a:cubicBezTo>
                <a:lnTo>
                  <a:pt x="99527" y="49763"/>
                </a:lnTo>
                <a:cubicBezTo>
                  <a:pt x="99527" y="77228"/>
                  <a:pt x="77228" y="99527"/>
                  <a:pt x="49763" y="99527"/>
                </a:cubicBezTo>
                <a:lnTo>
                  <a:pt x="49763" y="99527"/>
                </a:lnTo>
                <a:cubicBezTo>
                  <a:pt x="22298" y="99527"/>
                  <a:pt x="0" y="77228"/>
                  <a:pt x="0" y="49763"/>
                </a:cubicBezTo>
                <a:lnTo>
                  <a:pt x="0" y="49763"/>
                </a:lnTo>
                <a:cubicBezTo>
                  <a:pt x="0" y="22298"/>
                  <a:pt x="22298" y="0"/>
                  <a:pt x="49763" y="0"/>
                </a:cubicBezTo>
                <a:close/>
              </a:path>
            </a:pathLst>
          </a:custGeom>
          <a:solidFill>
            <a:srgbClr val="FB2C36"/>
          </a:solidFill>
          <a:ln/>
        </p:spPr>
        <p:txBody>
          <a:bodyPr/>
          <a:lstStyle/>
          <a:p>
            <a:endParaRPr lang="zh-CN" altLang="en-US"/>
          </a:p>
        </p:txBody>
      </p:sp>
      <p:sp>
        <p:nvSpPr>
          <p:cNvPr id="22" name="Text 20"/>
          <p:cNvSpPr/>
          <p:nvPr/>
        </p:nvSpPr>
        <p:spPr>
          <a:xfrm>
            <a:off x="735391" y="4141411"/>
            <a:ext cx="1426547"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重度使用</a:t>
            </a:r>
            <a:endParaRPr lang="en-US" sz="1600" dirty="0"/>
          </a:p>
        </p:txBody>
      </p:sp>
      <p:sp>
        <p:nvSpPr>
          <p:cNvPr id="23" name="Text 21"/>
          <p:cNvSpPr/>
          <p:nvPr/>
        </p:nvSpPr>
        <p:spPr>
          <a:xfrm>
            <a:off x="735391" y="4340464"/>
            <a:ext cx="1418253"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系数 1.5x · 人均2274万/天</a:t>
            </a:r>
            <a:endParaRPr lang="en-US" sz="1600" dirty="0"/>
          </a:p>
        </p:txBody>
      </p:sp>
      <p:sp>
        <p:nvSpPr>
          <p:cNvPr id="24" name="Text 22"/>
          <p:cNvSpPr/>
          <p:nvPr/>
        </p:nvSpPr>
        <p:spPr>
          <a:xfrm>
            <a:off x="5266785" y="4191174"/>
            <a:ext cx="622041" cy="265404"/>
          </a:xfrm>
          <a:prstGeom prst="rect">
            <a:avLst/>
          </a:prstGeom>
          <a:noFill/>
          <a:ln/>
        </p:spPr>
        <p:txBody>
          <a:bodyPr wrap="square" lIns="0" tIns="0" rIns="0" bIns="0" rtlCol="0" anchor="ctr"/>
          <a:lstStyle/>
          <a:p>
            <a:pPr>
              <a:lnSpc>
                <a:spcPct val="110000"/>
              </a:lnSpc>
            </a:pPr>
            <a:r>
              <a:rPr lang="en-US" sz="1567" b="1" dirty="0">
                <a:solidFill>
                  <a:srgbClr val="E7000B"/>
                </a:solidFill>
                <a:latin typeface="MiSans" pitchFamily="34" charset="0"/>
                <a:ea typeface="MiSans" pitchFamily="34" charset="-122"/>
                <a:cs typeface="MiSans" pitchFamily="34" charset="-120"/>
              </a:rPr>
              <a:t>227亿</a:t>
            </a:r>
            <a:endParaRPr lang="en-US" sz="1600" dirty="0"/>
          </a:p>
        </p:txBody>
      </p:sp>
      <p:sp>
        <p:nvSpPr>
          <p:cNvPr id="25" name="Shape 23"/>
          <p:cNvSpPr/>
          <p:nvPr/>
        </p:nvSpPr>
        <p:spPr>
          <a:xfrm>
            <a:off x="539102" y="4741335"/>
            <a:ext cx="5247260" cy="436811"/>
          </a:xfrm>
          <a:custGeom>
            <a:avLst/>
            <a:gdLst/>
            <a:ahLst/>
            <a:cxnLst/>
            <a:rect l="l" t="t" r="r" b="b"/>
            <a:pathLst>
              <a:path w="5247260" h="436811">
                <a:moveTo>
                  <a:pt x="99527" y="0"/>
                </a:moveTo>
                <a:lnTo>
                  <a:pt x="5147733" y="0"/>
                </a:lnTo>
                <a:cubicBezTo>
                  <a:pt x="5202700" y="0"/>
                  <a:pt x="5247260" y="44560"/>
                  <a:pt x="5247260" y="99527"/>
                </a:cubicBezTo>
                <a:lnTo>
                  <a:pt x="5247260" y="337284"/>
                </a:lnTo>
                <a:cubicBezTo>
                  <a:pt x="5247260" y="392251"/>
                  <a:pt x="5202700" y="436811"/>
                  <a:pt x="5147733" y="436811"/>
                </a:cubicBezTo>
                <a:lnTo>
                  <a:pt x="99527" y="436811"/>
                </a:lnTo>
                <a:cubicBezTo>
                  <a:pt x="44597" y="436811"/>
                  <a:pt x="0" y="392214"/>
                  <a:pt x="0" y="337284"/>
                </a:cubicBezTo>
                <a:lnTo>
                  <a:pt x="0" y="99527"/>
                </a:lnTo>
                <a:cubicBezTo>
                  <a:pt x="0" y="44597"/>
                  <a:pt x="44597" y="0"/>
                  <a:pt x="99527" y="0"/>
                </a:cubicBezTo>
                <a:close/>
              </a:path>
            </a:pathLst>
          </a:custGeom>
          <a:solidFill>
            <a:srgbClr val="FEF2F2"/>
          </a:solidFill>
          <a:ln w="8467">
            <a:solidFill>
              <a:srgbClr val="FFC9C9"/>
            </a:solidFill>
            <a:prstDash val="solid"/>
          </a:ln>
        </p:spPr>
        <p:txBody>
          <a:bodyPr/>
          <a:lstStyle/>
          <a:p>
            <a:endParaRPr lang="zh-CN" altLang="en-US"/>
          </a:p>
        </p:txBody>
      </p:sp>
      <p:sp>
        <p:nvSpPr>
          <p:cNvPr id="26" name="Shape 24"/>
          <p:cNvSpPr/>
          <p:nvPr/>
        </p:nvSpPr>
        <p:spPr>
          <a:xfrm>
            <a:off x="691156" y="4898920"/>
            <a:ext cx="116114" cy="116114"/>
          </a:xfrm>
          <a:custGeom>
            <a:avLst/>
            <a:gdLst/>
            <a:ahLst/>
            <a:cxnLst/>
            <a:rect l="l" t="t" r="r" b="b"/>
            <a:pathLst>
              <a:path w="116114" h="116114">
                <a:moveTo>
                  <a:pt x="58057" y="0"/>
                </a:moveTo>
                <a:cubicBezTo>
                  <a:pt x="61391" y="0"/>
                  <a:pt x="64452" y="1837"/>
                  <a:pt x="66040" y="4763"/>
                </a:cubicBezTo>
                <a:lnTo>
                  <a:pt x="115026" y="95477"/>
                </a:lnTo>
                <a:cubicBezTo>
                  <a:pt x="116545" y="98289"/>
                  <a:pt x="116477" y="101691"/>
                  <a:pt x="114844" y="104435"/>
                </a:cubicBezTo>
                <a:cubicBezTo>
                  <a:pt x="113211" y="107179"/>
                  <a:pt x="110241" y="108857"/>
                  <a:pt x="107043" y="108857"/>
                </a:cubicBezTo>
                <a:lnTo>
                  <a:pt x="9071" y="108857"/>
                </a:lnTo>
                <a:cubicBezTo>
                  <a:pt x="5874" y="108857"/>
                  <a:pt x="2926" y="107179"/>
                  <a:pt x="1270" y="104435"/>
                </a:cubicBezTo>
                <a:cubicBezTo>
                  <a:pt x="-386" y="101691"/>
                  <a:pt x="-431" y="98289"/>
                  <a:pt x="1089" y="95477"/>
                </a:cubicBezTo>
                <a:lnTo>
                  <a:pt x="50074" y="4763"/>
                </a:lnTo>
                <a:cubicBezTo>
                  <a:pt x="51662" y="1837"/>
                  <a:pt x="54723" y="0"/>
                  <a:pt x="58057" y="0"/>
                </a:cubicBezTo>
                <a:close/>
                <a:moveTo>
                  <a:pt x="58057" y="38100"/>
                </a:moveTo>
                <a:cubicBezTo>
                  <a:pt x="55041" y="38100"/>
                  <a:pt x="52614" y="40527"/>
                  <a:pt x="52614" y="43543"/>
                </a:cubicBezTo>
                <a:lnTo>
                  <a:pt x="52614" y="68943"/>
                </a:lnTo>
                <a:cubicBezTo>
                  <a:pt x="52614" y="71959"/>
                  <a:pt x="55041" y="74386"/>
                  <a:pt x="58057" y="74386"/>
                </a:cubicBezTo>
                <a:cubicBezTo>
                  <a:pt x="61073" y="74386"/>
                  <a:pt x="63500" y="71959"/>
                  <a:pt x="63500" y="68943"/>
                </a:cubicBezTo>
                <a:lnTo>
                  <a:pt x="63500" y="43543"/>
                </a:lnTo>
                <a:cubicBezTo>
                  <a:pt x="63500" y="40527"/>
                  <a:pt x="61073" y="38100"/>
                  <a:pt x="58057" y="38100"/>
                </a:cubicBezTo>
                <a:close/>
                <a:moveTo>
                  <a:pt x="64112" y="87086"/>
                </a:moveTo>
                <a:cubicBezTo>
                  <a:pt x="64250" y="84838"/>
                  <a:pt x="63129" y="82700"/>
                  <a:pt x="61202" y="81534"/>
                </a:cubicBezTo>
                <a:cubicBezTo>
                  <a:pt x="59276" y="80369"/>
                  <a:pt x="56861" y="80369"/>
                  <a:pt x="54935" y="81534"/>
                </a:cubicBezTo>
                <a:cubicBezTo>
                  <a:pt x="53008" y="82700"/>
                  <a:pt x="51887" y="84838"/>
                  <a:pt x="52025" y="87086"/>
                </a:cubicBezTo>
                <a:cubicBezTo>
                  <a:pt x="51887" y="89333"/>
                  <a:pt x="53008" y="91472"/>
                  <a:pt x="54935" y="92637"/>
                </a:cubicBezTo>
                <a:cubicBezTo>
                  <a:pt x="56861" y="93803"/>
                  <a:pt x="59276" y="93803"/>
                  <a:pt x="61202" y="92637"/>
                </a:cubicBezTo>
                <a:cubicBezTo>
                  <a:pt x="63129" y="91472"/>
                  <a:pt x="64250" y="89333"/>
                  <a:pt x="64112" y="87086"/>
                </a:cubicBezTo>
                <a:close/>
              </a:path>
            </a:pathLst>
          </a:custGeom>
          <a:solidFill>
            <a:srgbClr val="C10007"/>
          </a:solidFill>
          <a:ln/>
        </p:spPr>
        <p:txBody>
          <a:bodyPr/>
          <a:lstStyle/>
          <a:p>
            <a:endParaRPr lang="zh-CN" altLang="en-US"/>
          </a:p>
        </p:txBody>
      </p:sp>
      <p:sp>
        <p:nvSpPr>
          <p:cNvPr id="27" name="Text 25"/>
          <p:cNvSpPr/>
          <p:nvPr/>
        </p:nvSpPr>
        <p:spPr>
          <a:xfrm>
            <a:off x="867190" y="4876800"/>
            <a:ext cx="4841763" cy="165878"/>
          </a:xfrm>
          <a:prstGeom prst="rect">
            <a:avLst/>
          </a:prstGeom>
          <a:noFill/>
          <a:ln/>
        </p:spPr>
        <p:txBody>
          <a:bodyPr wrap="square" lIns="0" tIns="0" rIns="0" bIns="0" rtlCol="0" anchor="ctr"/>
          <a:lstStyle/>
          <a:p>
            <a:pPr>
              <a:lnSpc>
                <a:spcPct val="120000"/>
              </a:lnSpc>
            </a:pPr>
            <a:r>
              <a:rPr lang="en-US" sz="914" b="1" dirty="0">
                <a:solidFill>
                  <a:srgbClr val="C10007"/>
                </a:solidFill>
                <a:latin typeface="MiSans" pitchFamily="34" charset="0"/>
                <a:ea typeface="MiSans" pitchFamily="34" charset="-122"/>
                <a:cs typeface="MiSans" pitchFamily="34" charset="-120"/>
              </a:rPr>
              <a:t>警示：</a:t>
            </a:r>
            <a:r>
              <a:rPr lang="en-US" sz="914" dirty="0">
                <a:solidFill>
                  <a:srgbClr val="C10007"/>
                </a:solidFill>
                <a:latin typeface="MiSans" pitchFamily="34" charset="0"/>
                <a:ea typeface="MiSans" pitchFamily="34" charset="-122"/>
                <a:cs typeface="MiSans" pitchFamily="34" charset="-120"/>
              </a:rPr>
              <a:t>Vibe Coding模式算力消耗巨大，必须提前规划充足算力。</a:t>
            </a:r>
            <a:endParaRPr lang="en-US" sz="1600" dirty="0"/>
          </a:p>
        </p:txBody>
      </p:sp>
      <p:sp>
        <p:nvSpPr>
          <p:cNvPr id="28" name="Shape 26"/>
          <p:cNvSpPr/>
          <p:nvPr/>
        </p:nvSpPr>
        <p:spPr>
          <a:xfrm>
            <a:off x="6199155" y="1097556"/>
            <a:ext cx="5661954" cy="5222378"/>
          </a:xfrm>
          <a:custGeom>
            <a:avLst/>
            <a:gdLst/>
            <a:ahLst/>
            <a:cxnLst/>
            <a:rect l="l" t="t" r="r" b="b"/>
            <a:pathLst>
              <a:path w="5661954" h="5222378">
                <a:moveTo>
                  <a:pt x="132701" y="0"/>
                </a:moveTo>
                <a:lnTo>
                  <a:pt x="5529253" y="0"/>
                </a:lnTo>
                <a:cubicBezTo>
                  <a:pt x="5602542" y="0"/>
                  <a:pt x="5661954" y="59412"/>
                  <a:pt x="5661954" y="132701"/>
                </a:cubicBezTo>
                <a:lnTo>
                  <a:pt x="5661954" y="5089678"/>
                </a:lnTo>
                <a:cubicBezTo>
                  <a:pt x="5661954" y="5162966"/>
                  <a:pt x="5602542" y="5222378"/>
                  <a:pt x="5529253" y="5222378"/>
                </a:cubicBezTo>
                <a:lnTo>
                  <a:pt x="132701" y="5222378"/>
                </a:lnTo>
                <a:cubicBezTo>
                  <a:pt x="59412" y="5222378"/>
                  <a:pt x="0" y="5162966"/>
                  <a:pt x="0" y="5089678"/>
                </a:cubicBezTo>
                <a:lnTo>
                  <a:pt x="0" y="132701"/>
                </a:lnTo>
                <a:cubicBezTo>
                  <a:pt x="0" y="59461"/>
                  <a:pt x="59461" y="0"/>
                  <a:pt x="132701" y="0"/>
                </a:cubicBezTo>
                <a:close/>
              </a:path>
            </a:pathLst>
          </a:custGeom>
          <a:solidFill>
            <a:srgbClr val="FFFFFF"/>
          </a:solidFill>
          <a:ln w="8467">
            <a:solidFill>
              <a:srgbClr val="E5E5E5"/>
            </a:solidFill>
            <a:prstDash val="solid"/>
          </a:ln>
          <a:effectLst>
            <a:outerShdw blurRad="24882" dist="8294" dir="5400000" algn="bl" rotWithShape="0">
              <a:srgbClr val="000000">
                <a:alpha val="10196"/>
              </a:srgbClr>
            </a:outerShdw>
          </a:effectLst>
        </p:spPr>
        <p:txBody>
          <a:bodyPr/>
          <a:lstStyle/>
          <a:p>
            <a:endParaRPr lang="zh-CN" altLang="en-US"/>
          </a:p>
        </p:txBody>
      </p:sp>
      <p:sp>
        <p:nvSpPr>
          <p:cNvPr id="29" name="Shape 27"/>
          <p:cNvSpPr/>
          <p:nvPr/>
        </p:nvSpPr>
        <p:spPr>
          <a:xfrm>
            <a:off x="6421708" y="1332552"/>
            <a:ext cx="165878" cy="165878"/>
          </a:xfrm>
          <a:custGeom>
            <a:avLst/>
            <a:gdLst/>
            <a:ahLst/>
            <a:cxnLst/>
            <a:rect l="l" t="t" r="r" b="b"/>
            <a:pathLst>
              <a:path w="165878" h="165878">
                <a:moveTo>
                  <a:pt x="82939" y="165878"/>
                </a:moveTo>
                <a:cubicBezTo>
                  <a:pt x="128714" y="165878"/>
                  <a:pt x="165878" y="128714"/>
                  <a:pt x="165878" y="82939"/>
                </a:cubicBezTo>
                <a:cubicBezTo>
                  <a:pt x="165878" y="37164"/>
                  <a:pt x="128714" y="0"/>
                  <a:pt x="82939" y="0"/>
                </a:cubicBezTo>
                <a:cubicBezTo>
                  <a:pt x="37164" y="0"/>
                  <a:pt x="0" y="37164"/>
                  <a:pt x="0" y="82939"/>
                </a:cubicBezTo>
                <a:cubicBezTo>
                  <a:pt x="0" y="128714"/>
                  <a:pt x="37164" y="165878"/>
                  <a:pt x="82939" y="165878"/>
                </a:cubicBezTo>
                <a:close/>
                <a:moveTo>
                  <a:pt x="82939" y="44061"/>
                </a:moveTo>
                <a:cubicBezTo>
                  <a:pt x="87248" y="44061"/>
                  <a:pt x="90714" y="47528"/>
                  <a:pt x="90714" y="51837"/>
                </a:cubicBezTo>
                <a:lnTo>
                  <a:pt x="90714" y="88122"/>
                </a:lnTo>
                <a:cubicBezTo>
                  <a:pt x="90714" y="92431"/>
                  <a:pt x="87248" y="95898"/>
                  <a:pt x="82939" y="95898"/>
                </a:cubicBezTo>
                <a:cubicBezTo>
                  <a:pt x="78630" y="95898"/>
                  <a:pt x="75163" y="92431"/>
                  <a:pt x="75163" y="88122"/>
                </a:cubicBezTo>
                <a:lnTo>
                  <a:pt x="75163" y="51837"/>
                </a:lnTo>
                <a:cubicBezTo>
                  <a:pt x="75163" y="47528"/>
                  <a:pt x="78630" y="44061"/>
                  <a:pt x="82939" y="44061"/>
                </a:cubicBezTo>
                <a:close/>
                <a:moveTo>
                  <a:pt x="74289" y="114041"/>
                </a:moveTo>
                <a:cubicBezTo>
                  <a:pt x="74092" y="110830"/>
                  <a:pt x="75693" y="107775"/>
                  <a:pt x="78446" y="106110"/>
                </a:cubicBezTo>
                <a:cubicBezTo>
                  <a:pt x="81198" y="104445"/>
                  <a:pt x="84647" y="104445"/>
                  <a:pt x="87400" y="106110"/>
                </a:cubicBezTo>
                <a:cubicBezTo>
                  <a:pt x="90152" y="107775"/>
                  <a:pt x="91753" y="110830"/>
                  <a:pt x="91557" y="114041"/>
                </a:cubicBezTo>
                <a:cubicBezTo>
                  <a:pt x="91753" y="117252"/>
                  <a:pt x="90152" y="120307"/>
                  <a:pt x="87400" y="121971"/>
                </a:cubicBezTo>
                <a:cubicBezTo>
                  <a:pt x="84647" y="123636"/>
                  <a:pt x="81198" y="123636"/>
                  <a:pt x="78446" y="121971"/>
                </a:cubicBezTo>
                <a:cubicBezTo>
                  <a:pt x="75693" y="120307"/>
                  <a:pt x="74092" y="117252"/>
                  <a:pt x="74289" y="114041"/>
                </a:cubicBezTo>
                <a:close/>
              </a:path>
            </a:pathLst>
          </a:custGeom>
          <a:solidFill>
            <a:srgbClr val="0071E3"/>
          </a:solidFill>
          <a:ln/>
        </p:spPr>
        <p:txBody>
          <a:bodyPr/>
          <a:lstStyle/>
          <a:p>
            <a:endParaRPr lang="zh-CN" altLang="en-US"/>
          </a:p>
        </p:txBody>
      </p:sp>
      <p:sp>
        <p:nvSpPr>
          <p:cNvPr id="30" name="Text 28"/>
          <p:cNvSpPr/>
          <p:nvPr/>
        </p:nvSpPr>
        <p:spPr>
          <a:xfrm>
            <a:off x="6608320" y="1299377"/>
            <a:ext cx="5133910" cy="232229"/>
          </a:xfrm>
          <a:prstGeom prst="rect">
            <a:avLst/>
          </a:prstGeom>
          <a:noFill/>
          <a:ln/>
        </p:spPr>
        <p:txBody>
          <a:bodyPr wrap="square" lIns="0" tIns="0" rIns="0" bIns="0" rtlCol="0" anchor="ctr"/>
          <a:lstStyle/>
          <a:p>
            <a:pPr>
              <a:lnSpc>
                <a:spcPct val="120000"/>
              </a:lnSpc>
            </a:pPr>
            <a:r>
              <a:rPr lang="en-US" sz="1306" b="1" dirty="0">
                <a:solidFill>
                  <a:srgbClr val="1D1D1D"/>
                </a:solidFill>
                <a:latin typeface="MiSans" pitchFamily="34" charset="0"/>
                <a:ea typeface="MiSans" pitchFamily="34" charset="-122"/>
                <a:cs typeface="MiSans" pitchFamily="34" charset="-120"/>
              </a:rPr>
              <a:t>四大落地挑战与应对</a:t>
            </a:r>
            <a:endParaRPr lang="en-US" sz="1600" dirty="0"/>
          </a:p>
        </p:txBody>
      </p:sp>
      <p:sp>
        <p:nvSpPr>
          <p:cNvPr id="31" name="Shape 29"/>
          <p:cNvSpPr/>
          <p:nvPr/>
        </p:nvSpPr>
        <p:spPr>
          <a:xfrm>
            <a:off x="6403738" y="1700248"/>
            <a:ext cx="5247260" cy="1000795"/>
          </a:xfrm>
          <a:custGeom>
            <a:avLst/>
            <a:gdLst/>
            <a:ahLst/>
            <a:cxnLst/>
            <a:rect l="l" t="t" r="r" b="b"/>
            <a:pathLst>
              <a:path w="5247260" h="1000795">
                <a:moveTo>
                  <a:pt x="99529" y="0"/>
                </a:moveTo>
                <a:lnTo>
                  <a:pt x="5147731" y="0"/>
                </a:lnTo>
                <a:cubicBezTo>
                  <a:pt x="5202699" y="0"/>
                  <a:pt x="5247260" y="44561"/>
                  <a:pt x="5247260" y="99529"/>
                </a:cubicBezTo>
                <a:lnTo>
                  <a:pt x="5247260" y="901266"/>
                </a:lnTo>
                <a:cubicBezTo>
                  <a:pt x="5247260" y="956234"/>
                  <a:pt x="5202699" y="1000795"/>
                  <a:pt x="5147731" y="1000795"/>
                </a:cubicBezTo>
                <a:lnTo>
                  <a:pt x="99529" y="1000795"/>
                </a:lnTo>
                <a:cubicBezTo>
                  <a:pt x="44561" y="1000795"/>
                  <a:pt x="0" y="956234"/>
                  <a:pt x="0" y="901266"/>
                </a:cubicBezTo>
                <a:lnTo>
                  <a:pt x="0" y="99529"/>
                </a:lnTo>
                <a:cubicBezTo>
                  <a:pt x="0" y="44561"/>
                  <a:pt x="44561" y="0"/>
                  <a:pt x="99529" y="0"/>
                </a:cubicBezTo>
                <a:close/>
              </a:path>
            </a:pathLst>
          </a:custGeom>
          <a:solidFill>
            <a:srgbClr val="FAFAFA"/>
          </a:solidFill>
          <a:ln w="8467">
            <a:solidFill>
              <a:srgbClr val="E5E5E5"/>
            </a:solidFill>
            <a:prstDash val="solid"/>
          </a:ln>
        </p:spPr>
        <p:txBody>
          <a:bodyPr/>
          <a:lstStyle/>
          <a:p>
            <a:endParaRPr lang="zh-CN" altLang="en-US"/>
          </a:p>
        </p:txBody>
      </p:sp>
      <p:sp>
        <p:nvSpPr>
          <p:cNvPr id="32" name="Shape 30"/>
          <p:cNvSpPr/>
          <p:nvPr/>
        </p:nvSpPr>
        <p:spPr>
          <a:xfrm>
            <a:off x="6539204" y="1835713"/>
            <a:ext cx="265404" cy="265404"/>
          </a:xfrm>
          <a:custGeom>
            <a:avLst/>
            <a:gdLst/>
            <a:ahLst/>
            <a:cxnLst/>
            <a:rect l="l" t="t" r="r" b="b"/>
            <a:pathLst>
              <a:path w="265404" h="265404">
                <a:moveTo>
                  <a:pt x="66351" y="0"/>
                </a:moveTo>
                <a:lnTo>
                  <a:pt x="199053" y="0"/>
                </a:lnTo>
                <a:cubicBezTo>
                  <a:pt x="235673" y="0"/>
                  <a:pt x="265404" y="29731"/>
                  <a:pt x="265404" y="66351"/>
                </a:cubicBezTo>
                <a:lnTo>
                  <a:pt x="265404" y="199053"/>
                </a:lnTo>
                <a:cubicBezTo>
                  <a:pt x="265404" y="235673"/>
                  <a:pt x="235673" y="265404"/>
                  <a:pt x="199053" y="265404"/>
                </a:cubicBezTo>
                <a:lnTo>
                  <a:pt x="66351" y="265404"/>
                </a:lnTo>
                <a:cubicBezTo>
                  <a:pt x="29731" y="265404"/>
                  <a:pt x="0" y="235673"/>
                  <a:pt x="0" y="199053"/>
                </a:cubicBezTo>
                <a:lnTo>
                  <a:pt x="0" y="66351"/>
                </a:lnTo>
                <a:cubicBezTo>
                  <a:pt x="0" y="29706"/>
                  <a:pt x="29706" y="0"/>
                  <a:pt x="66351" y="0"/>
                </a:cubicBezTo>
                <a:close/>
              </a:path>
            </a:pathLst>
          </a:custGeom>
          <a:solidFill>
            <a:srgbClr val="FFE2E2"/>
          </a:solidFill>
          <a:ln/>
        </p:spPr>
        <p:txBody>
          <a:bodyPr/>
          <a:lstStyle/>
          <a:p>
            <a:endParaRPr lang="zh-CN" altLang="en-US"/>
          </a:p>
        </p:txBody>
      </p:sp>
      <p:sp>
        <p:nvSpPr>
          <p:cNvPr id="33" name="Shape 31"/>
          <p:cNvSpPr/>
          <p:nvPr/>
        </p:nvSpPr>
        <p:spPr>
          <a:xfrm>
            <a:off x="6605555" y="1902064"/>
            <a:ext cx="132702" cy="132702"/>
          </a:xfrm>
          <a:custGeom>
            <a:avLst/>
            <a:gdLst/>
            <a:ahLst/>
            <a:cxnLst/>
            <a:rect l="l" t="t" r="r" b="b"/>
            <a:pathLst>
              <a:path w="132702" h="132702">
                <a:moveTo>
                  <a:pt x="33176" y="24882"/>
                </a:moveTo>
                <a:lnTo>
                  <a:pt x="33176" y="20735"/>
                </a:lnTo>
                <a:cubicBezTo>
                  <a:pt x="33176" y="9279"/>
                  <a:pt x="55465" y="0"/>
                  <a:pt x="82939" y="0"/>
                </a:cubicBezTo>
                <a:cubicBezTo>
                  <a:pt x="110412" y="0"/>
                  <a:pt x="132702" y="9279"/>
                  <a:pt x="132702" y="20735"/>
                </a:cubicBezTo>
                <a:lnTo>
                  <a:pt x="132702" y="24882"/>
                </a:lnTo>
                <a:cubicBezTo>
                  <a:pt x="132702" y="32813"/>
                  <a:pt x="121998" y="39707"/>
                  <a:pt x="106265" y="43206"/>
                </a:cubicBezTo>
                <a:cubicBezTo>
                  <a:pt x="105643" y="42480"/>
                  <a:pt x="104995" y="41780"/>
                  <a:pt x="104347" y="41132"/>
                </a:cubicBezTo>
                <a:cubicBezTo>
                  <a:pt x="100330" y="37167"/>
                  <a:pt x="95146" y="34160"/>
                  <a:pt x="89729" y="31931"/>
                </a:cubicBezTo>
                <a:cubicBezTo>
                  <a:pt x="78870" y="27396"/>
                  <a:pt x="64718" y="24908"/>
                  <a:pt x="49763" y="24908"/>
                </a:cubicBezTo>
                <a:cubicBezTo>
                  <a:pt x="44087" y="24908"/>
                  <a:pt x="38541" y="25270"/>
                  <a:pt x="33227" y="25970"/>
                </a:cubicBezTo>
                <a:cubicBezTo>
                  <a:pt x="33176" y="25633"/>
                  <a:pt x="33176" y="25270"/>
                  <a:pt x="33176" y="24908"/>
                </a:cubicBezTo>
                <a:close/>
                <a:moveTo>
                  <a:pt x="111967" y="91492"/>
                </a:moveTo>
                <a:lnTo>
                  <a:pt x="111967" y="79518"/>
                </a:lnTo>
                <a:cubicBezTo>
                  <a:pt x="115881" y="78507"/>
                  <a:pt x="119561" y="77314"/>
                  <a:pt x="122905" y="75915"/>
                </a:cubicBezTo>
                <a:cubicBezTo>
                  <a:pt x="126326" y="74489"/>
                  <a:pt x="129670" y="72753"/>
                  <a:pt x="132702" y="70653"/>
                </a:cubicBezTo>
                <a:lnTo>
                  <a:pt x="132702" y="74645"/>
                </a:lnTo>
                <a:cubicBezTo>
                  <a:pt x="132702" y="81591"/>
                  <a:pt x="124538" y="87734"/>
                  <a:pt x="111967" y="91492"/>
                </a:cubicBezTo>
                <a:close/>
                <a:moveTo>
                  <a:pt x="111967" y="66610"/>
                </a:moveTo>
                <a:lnTo>
                  <a:pt x="111967" y="58057"/>
                </a:lnTo>
                <a:cubicBezTo>
                  <a:pt x="111967" y="56891"/>
                  <a:pt x="111864" y="55776"/>
                  <a:pt x="111708" y="54688"/>
                </a:cubicBezTo>
                <a:cubicBezTo>
                  <a:pt x="115726" y="53677"/>
                  <a:pt x="119484" y="52459"/>
                  <a:pt x="122905" y="51007"/>
                </a:cubicBezTo>
                <a:cubicBezTo>
                  <a:pt x="126326" y="49556"/>
                  <a:pt x="129670" y="47845"/>
                  <a:pt x="132702" y="45746"/>
                </a:cubicBezTo>
                <a:lnTo>
                  <a:pt x="132702" y="49737"/>
                </a:lnTo>
                <a:cubicBezTo>
                  <a:pt x="132702" y="56683"/>
                  <a:pt x="124538" y="62826"/>
                  <a:pt x="111967" y="66584"/>
                </a:cubicBezTo>
                <a:close/>
                <a:moveTo>
                  <a:pt x="0" y="62204"/>
                </a:moveTo>
                <a:lnTo>
                  <a:pt x="0" y="58057"/>
                </a:lnTo>
                <a:cubicBezTo>
                  <a:pt x="0" y="46601"/>
                  <a:pt x="22290" y="37322"/>
                  <a:pt x="49763" y="37322"/>
                </a:cubicBezTo>
                <a:cubicBezTo>
                  <a:pt x="77237" y="37322"/>
                  <a:pt x="99527" y="46601"/>
                  <a:pt x="99527" y="58057"/>
                </a:cubicBezTo>
                <a:lnTo>
                  <a:pt x="99527" y="62204"/>
                </a:lnTo>
                <a:cubicBezTo>
                  <a:pt x="99527" y="73660"/>
                  <a:pt x="77237" y="82939"/>
                  <a:pt x="49763" y="82939"/>
                </a:cubicBezTo>
                <a:cubicBezTo>
                  <a:pt x="22290" y="82939"/>
                  <a:pt x="0" y="73660"/>
                  <a:pt x="0" y="62204"/>
                </a:cubicBezTo>
                <a:close/>
                <a:moveTo>
                  <a:pt x="99527" y="87086"/>
                </a:moveTo>
                <a:cubicBezTo>
                  <a:pt x="99527" y="98542"/>
                  <a:pt x="77237" y="107820"/>
                  <a:pt x="49763" y="107820"/>
                </a:cubicBezTo>
                <a:cubicBezTo>
                  <a:pt x="22290" y="107820"/>
                  <a:pt x="0" y="98542"/>
                  <a:pt x="0" y="87086"/>
                </a:cubicBezTo>
                <a:lnTo>
                  <a:pt x="0" y="83094"/>
                </a:lnTo>
                <a:cubicBezTo>
                  <a:pt x="3007" y="85194"/>
                  <a:pt x="6350" y="86904"/>
                  <a:pt x="9797" y="88356"/>
                </a:cubicBezTo>
                <a:cubicBezTo>
                  <a:pt x="20657" y="92891"/>
                  <a:pt x="34808" y="95380"/>
                  <a:pt x="49763" y="95380"/>
                </a:cubicBezTo>
                <a:cubicBezTo>
                  <a:pt x="64718" y="95380"/>
                  <a:pt x="78870" y="92866"/>
                  <a:pt x="89729" y="88356"/>
                </a:cubicBezTo>
                <a:cubicBezTo>
                  <a:pt x="93151" y="86930"/>
                  <a:pt x="96494" y="85194"/>
                  <a:pt x="99527" y="83094"/>
                </a:cubicBezTo>
                <a:lnTo>
                  <a:pt x="99527" y="87086"/>
                </a:lnTo>
                <a:close/>
                <a:moveTo>
                  <a:pt x="99527" y="107976"/>
                </a:moveTo>
                <a:lnTo>
                  <a:pt x="99527" y="111967"/>
                </a:lnTo>
                <a:cubicBezTo>
                  <a:pt x="99527" y="123423"/>
                  <a:pt x="77237" y="132702"/>
                  <a:pt x="49763" y="132702"/>
                </a:cubicBezTo>
                <a:cubicBezTo>
                  <a:pt x="22290" y="132702"/>
                  <a:pt x="0" y="123423"/>
                  <a:pt x="0" y="111967"/>
                </a:cubicBezTo>
                <a:lnTo>
                  <a:pt x="0" y="107976"/>
                </a:lnTo>
                <a:cubicBezTo>
                  <a:pt x="3007" y="110075"/>
                  <a:pt x="6350" y="111786"/>
                  <a:pt x="9797" y="113237"/>
                </a:cubicBezTo>
                <a:cubicBezTo>
                  <a:pt x="20657" y="117773"/>
                  <a:pt x="34808" y="120261"/>
                  <a:pt x="49763" y="120261"/>
                </a:cubicBezTo>
                <a:cubicBezTo>
                  <a:pt x="64718" y="120261"/>
                  <a:pt x="78870" y="117747"/>
                  <a:pt x="89729" y="113237"/>
                </a:cubicBezTo>
                <a:cubicBezTo>
                  <a:pt x="93151" y="111812"/>
                  <a:pt x="96494" y="110075"/>
                  <a:pt x="99527" y="107976"/>
                </a:cubicBezTo>
                <a:close/>
              </a:path>
            </a:pathLst>
          </a:custGeom>
          <a:solidFill>
            <a:srgbClr val="E7000B"/>
          </a:solidFill>
          <a:ln/>
        </p:spPr>
        <p:txBody>
          <a:bodyPr/>
          <a:lstStyle/>
          <a:p>
            <a:endParaRPr lang="zh-CN" altLang="en-US"/>
          </a:p>
        </p:txBody>
      </p:sp>
      <p:sp>
        <p:nvSpPr>
          <p:cNvPr id="34" name="Text 32"/>
          <p:cNvSpPr/>
          <p:nvPr/>
        </p:nvSpPr>
        <p:spPr>
          <a:xfrm>
            <a:off x="6904135" y="1868888"/>
            <a:ext cx="597159"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算力成本</a:t>
            </a:r>
            <a:endParaRPr lang="en-US" sz="1600" dirty="0"/>
          </a:p>
        </p:txBody>
      </p:sp>
      <p:sp>
        <p:nvSpPr>
          <p:cNvPr id="35" name="Text 33"/>
          <p:cNvSpPr/>
          <p:nvPr/>
        </p:nvSpPr>
        <p:spPr>
          <a:xfrm>
            <a:off x="6539204" y="2167468"/>
            <a:ext cx="5034384"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核心问题：Token消耗指数级增加</a:t>
            </a:r>
            <a:endParaRPr lang="en-US" sz="1600" dirty="0"/>
          </a:p>
        </p:txBody>
      </p:sp>
      <p:sp>
        <p:nvSpPr>
          <p:cNvPr id="36" name="Shape 34"/>
          <p:cNvSpPr/>
          <p:nvPr/>
        </p:nvSpPr>
        <p:spPr>
          <a:xfrm>
            <a:off x="6555792" y="2421812"/>
            <a:ext cx="116114" cy="116114"/>
          </a:xfrm>
          <a:custGeom>
            <a:avLst/>
            <a:gdLst/>
            <a:ahLst/>
            <a:cxnLst/>
            <a:rect l="l" t="t" r="r" b="b"/>
            <a:pathLst>
              <a:path w="116114" h="116114">
                <a:moveTo>
                  <a:pt x="113983" y="63183"/>
                </a:moveTo>
                <a:cubicBezTo>
                  <a:pt x="116817" y="60348"/>
                  <a:pt x="116817" y="55744"/>
                  <a:pt x="113983" y="52909"/>
                </a:cubicBezTo>
                <a:lnTo>
                  <a:pt x="77697" y="16623"/>
                </a:lnTo>
                <a:cubicBezTo>
                  <a:pt x="74862" y="13789"/>
                  <a:pt x="70258" y="13789"/>
                  <a:pt x="67423" y="16623"/>
                </a:cubicBezTo>
                <a:cubicBezTo>
                  <a:pt x="64589" y="19458"/>
                  <a:pt x="64589" y="24062"/>
                  <a:pt x="67423" y="26897"/>
                </a:cubicBezTo>
                <a:lnTo>
                  <a:pt x="91327" y="50800"/>
                </a:lnTo>
                <a:lnTo>
                  <a:pt x="7257" y="50800"/>
                </a:lnTo>
                <a:cubicBezTo>
                  <a:pt x="3243" y="50800"/>
                  <a:pt x="0" y="54043"/>
                  <a:pt x="0" y="58057"/>
                </a:cubicBezTo>
                <a:cubicBezTo>
                  <a:pt x="0" y="62071"/>
                  <a:pt x="3243" y="65314"/>
                  <a:pt x="7257" y="65314"/>
                </a:cubicBezTo>
                <a:lnTo>
                  <a:pt x="91327" y="65314"/>
                </a:lnTo>
                <a:lnTo>
                  <a:pt x="67423" y="89217"/>
                </a:lnTo>
                <a:cubicBezTo>
                  <a:pt x="64589" y="92052"/>
                  <a:pt x="64589" y="96656"/>
                  <a:pt x="67423" y="99491"/>
                </a:cubicBezTo>
                <a:cubicBezTo>
                  <a:pt x="70258" y="102326"/>
                  <a:pt x="74862" y="102326"/>
                  <a:pt x="77697" y="99491"/>
                </a:cubicBezTo>
                <a:lnTo>
                  <a:pt x="113982" y="63205"/>
                </a:lnTo>
                <a:close/>
              </a:path>
            </a:pathLst>
          </a:custGeom>
          <a:solidFill>
            <a:srgbClr val="0071E3"/>
          </a:solidFill>
          <a:ln/>
        </p:spPr>
        <p:txBody>
          <a:bodyPr/>
          <a:lstStyle/>
          <a:p>
            <a:endParaRPr lang="zh-CN" altLang="en-US"/>
          </a:p>
        </p:txBody>
      </p:sp>
      <p:sp>
        <p:nvSpPr>
          <p:cNvPr id="37" name="Text 35"/>
          <p:cNvSpPr/>
          <p:nvPr/>
        </p:nvSpPr>
        <p:spPr>
          <a:xfrm>
            <a:off x="6710160" y="2399697"/>
            <a:ext cx="4863428" cy="165878"/>
          </a:xfrm>
          <a:prstGeom prst="rect">
            <a:avLst/>
          </a:prstGeom>
          <a:noFill/>
          <a:ln/>
        </p:spPr>
        <p:txBody>
          <a:bodyPr wrap="square" lIns="0" tIns="0" rIns="0" bIns="0" rtlCol="0" anchor="ctr"/>
          <a:lstStyle/>
          <a:p>
            <a:pPr>
              <a:lnSpc>
                <a:spcPct val="120000"/>
              </a:lnSpc>
            </a:pPr>
            <a:r>
              <a:rPr lang="en-US" sz="914" dirty="0">
                <a:solidFill>
                  <a:srgbClr val="0071E3"/>
                </a:solidFill>
                <a:latin typeface="MiSans" pitchFamily="34" charset="0"/>
                <a:ea typeface="MiSans" pitchFamily="34" charset="-122"/>
                <a:cs typeface="MiSans" pitchFamily="34" charset="-120"/>
              </a:rPr>
              <a:t>应对：按需选模型，预留冗余</a:t>
            </a:r>
            <a:endParaRPr lang="en-US" sz="1600" dirty="0"/>
          </a:p>
        </p:txBody>
      </p:sp>
      <p:sp>
        <p:nvSpPr>
          <p:cNvPr id="38" name="Shape 36"/>
          <p:cNvSpPr/>
          <p:nvPr/>
        </p:nvSpPr>
        <p:spPr>
          <a:xfrm>
            <a:off x="6403738" y="2839271"/>
            <a:ext cx="5247260" cy="1000795"/>
          </a:xfrm>
          <a:custGeom>
            <a:avLst/>
            <a:gdLst/>
            <a:ahLst/>
            <a:cxnLst/>
            <a:rect l="l" t="t" r="r" b="b"/>
            <a:pathLst>
              <a:path w="5247260" h="1000795">
                <a:moveTo>
                  <a:pt x="99529" y="0"/>
                </a:moveTo>
                <a:lnTo>
                  <a:pt x="5147731" y="0"/>
                </a:lnTo>
                <a:cubicBezTo>
                  <a:pt x="5202699" y="0"/>
                  <a:pt x="5247260" y="44561"/>
                  <a:pt x="5247260" y="99529"/>
                </a:cubicBezTo>
                <a:lnTo>
                  <a:pt x="5247260" y="901266"/>
                </a:lnTo>
                <a:cubicBezTo>
                  <a:pt x="5247260" y="956234"/>
                  <a:pt x="5202699" y="1000795"/>
                  <a:pt x="5147731" y="1000795"/>
                </a:cubicBezTo>
                <a:lnTo>
                  <a:pt x="99529" y="1000795"/>
                </a:lnTo>
                <a:cubicBezTo>
                  <a:pt x="44561" y="1000795"/>
                  <a:pt x="0" y="956234"/>
                  <a:pt x="0" y="901266"/>
                </a:cubicBezTo>
                <a:lnTo>
                  <a:pt x="0" y="99529"/>
                </a:lnTo>
                <a:cubicBezTo>
                  <a:pt x="0" y="44561"/>
                  <a:pt x="44561" y="0"/>
                  <a:pt x="99529" y="0"/>
                </a:cubicBezTo>
                <a:close/>
              </a:path>
            </a:pathLst>
          </a:custGeom>
          <a:solidFill>
            <a:srgbClr val="FAFAFA"/>
          </a:solidFill>
          <a:ln w="8467">
            <a:solidFill>
              <a:srgbClr val="E5E5E5"/>
            </a:solidFill>
            <a:prstDash val="solid"/>
          </a:ln>
        </p:spPr>
        <p:txBody>
          <a:bodyPr/>
          <a:lstStyle/>
          <a:p>
            <a:endParaRPr lang="zh-CN" altLang="en-US"/>
          </a:p>
        </p:txBody>
      </p:sp>
      <p:sp>
        <p:nvSpPr>
          <p:cNvPr id="39" name="Shape 37"/>
          <p:cNvSpPr/>
          <p:nvPr/>
        </p:nvSpPr>
        <p:spPr>
          <a:xfrm>
            <a:off x="6539204" y="2974740"/>
            <a:ext cx="265404" cy="265404"/>
          </a:xfrm>
          <a:custGeom>
            <a:avLst/>
            <a:gdLst/>
            <a:ahLst/>
            <a:cxnLst/>
            <a:rect l="l" t="t" r="r" b="b"/>
            <a:pathLst>
              <a:path w="265404" h="265404">
                <a:moveTo>
                  <a:pt x="66351" y="0"/>
                </a:moveTo>
                <a:lnTo>
                  <a:pt x="199053" y="0"/>
                </a:lnTo>
                <a:cubicBezTo>
                  <a:pt x="235673" y="0"/>
                  <a:pt x="265404" y="29731"/>
                  <a:pt x="265404" y="66351"/>
                </a:cubicBezTo>
                <a:lnTo>
                  <a:pt x="265404" y="199053"/>
                </a:lnTo>
                <a:cubicBezTo>
                  <a:pt x="265404" y="235673"/>
                  <a:pt x="235673" y="265404"/>
                  <a:pt x="199053" y="265404"/>
                </a:cubicBezTo>
                <a:lnTo>
                  <a:pt x="66351" y="265404"/>
                </a:lnTo>
                <a:cubicBezTo>
                  <a:pt x="29731" y="265404"/>
                  <a:pt x="0" y="235673"/>
                  <a:pt x="0" y="199053"/>
                </a:cubicBezTo>
                <a:lnTo>
                  <a:pt x="0" y="66351"/>
                </a:lnTo>
                <a:cubicBezTo>
                  <a:pt x="0" y="29706"/>
                  <a:pt x="29706" y="0"/>
                  <a:pt x="66351" y="0"/>
                </a:cubicBezTo>
                <a:close/>
              </a:path>
            </a:pathLst>
          </a:custGeom>
          <a:solidFill>
            <a:srgbClr val="FFEDD4"/>
          </a:solidFill>
          <a:ln/>
        </p:spPr>
        <p:txBody>
          <a:bodyPr/>
          <a:lstStyle/>
          <a:p>
            <a:endParaRPr lang="zh-CN" altLang="en-US"/>
          </a:p>
        </p:txBody>
      </p:sp>
      <p:sp>
        <p:nvSpPr>
          <p:cNvPr id="40" name="Shape 38"/>
          <p:cNvSpPr/>
          <p:nvPr/>
        </p:nvSpPr>
        <p:spPr>
          <a:xfrm>
            <a:off x="6605555" y="3041091"/>
            <a:ext cx="132702" cy="132702"/>
          </a:xfrm>
          <a:custGeom>
            <a:avLst/>
            <a:gdLst/>
            <a:ahLst/>
            <a:cxnLst/>
            <a:rect l="l" t="t" r="r" b="b"/>
            <a:pathLst>
              <a:path w="132702" h="132702">
                <a:moveTo>
                  <a:pt x="31102" y="14514"/>
                </a:moveTo>
                <a:cubicBezTo>
                  <a:pt x="31102" y="6506"/>
                  <a:pt x="37608" y="0"/>
                  <a:pt x="45616" y="0"/>
                </a:cubicBezTo>
                <a:lnTo>
                  <a:pt x="51837" y="0"/>
                </a:lnTo>
                <a:cubicBezTo>
                  <a:pt x="56424" y="0"/>
                  <a:pt x="60131" y="3706"/>
                  <a:pt x="60131" y="8294"/>
                </a:cubicBezTo>
                <a:lnTo>
                  <a:pt x="60131" y="124408"/>
                </a:lnTo>
                <a:cubicBezTo>
                  <a:pt x="60131" y="128996"/>
                  <a:pt x="56424" y="132702"/>
                  <a:pt x="51837" y="132702"/>
                </a:cubicBezTo>
                <a:lnTo>
                  <a:pt x="43543" y="132702"/>
                </a:lnTo>
                <a:cubicBezTo>
                  <a:pt x="35819" y="132702"/>
                  <a:pt x="29314" y="127415"/>
                  <a:pt x="27473" y="120261"/>
                </a:cubicBezTo>
                <a:cubicBezTo>
                  <a:pt x="27292" y="120261"/>
                  <a:pt x="27137" y="120261"/>
                  <a:pt x="26955" y="120261"/>
                </a:cubicBezTo>
                <a:cubicBezTo>
                  <a:pt x="15499" y="120261"/>
                  <a:pt x="6220" y="110982"/>
                  <a:pt x="6220" y="99527"/>
                </a:cubicBezTo>
                <a:cubicBezTo>
                  <a:pt x="6220" y="94861"/>
                  <a:pt x="7776" y="90559"/>
                  <a:pt x="10367" y="87086"/>
                </a:cubicBezTo>
                <a:cubicBezTo>
                  <a:pt x="5339" y="83302"/>
                  <a:pt x="2073" y="77289"/>
                  <a:pt x="2073" y="70498"/>
                </a:cubicBezTo>
                <a:cubicBezTo>
                  <a:pt x="2073" y="62489"/>
                  <a:pt x="6635" y="55517"/>
                  <a:pt x="13270" y="52070"/>
                </a:cubicBezTo>
                <a:cubicBezTo>
                  <a:pt x="11430" y="48960"/>
                  <a:pt x="10367" y="45331"/>
                  <a:pt x="10367" y="41469"/>
                </a:cubicBezTo>
                <a:cubicBezTo>
                  <a:pt x="10367" y="30013"/>
                  <a:pt x="19646" y="20735"/>
                  <a:pt x="31102" y="20735"/>
                </a:cubicBezTo>
                <a:lnTo>
                  <a:pt x="31102" y="14514"/>
                </a:lnTo>
                <a:close/>
                <a:moveTo>
                  <a:pt x="101600" y="14514"/>
                </a:moveTo>
                <a:lnTo>
                  <a:pt x="101600" y="20735"/>
                </a:lnTo>
                <a:cubicBezTo>
                  <a:pt x="113056" y="20735"/>
                  <a:pt x="122335" y="30013"/>
                  <a:pt x="122335" y="41469"/>
                </a:cubicBezTo>
                <a:cubicBezTo>
                  <a:pt x="122335" y="45357"/>
                  <a:pt x="121272" y="48986"/>
                  <a:pt x="119432" y="52070"/>
                </a:cubicBezTo>
                <a:cubicBezTo>
                  <a:pt x="126093" y="55517"/>
                  <a:pt x="130629" y="62463"/>
                  <a:pt x="130629" y="70498"/>
                </a:cubicBezTo>
                <a:cubicBezTo>
                  <a:pt x="130629" y="77289"/>
                  <a:pt x="127363" y="83302"/>
                  <a:pt x="122335" y="87086"/>
                </a:cubicBezTo>
                <a:cubicBezTo>
                  <a:pt x="124927" y="90559"/>
                  <a:pt x="126482" y="94861"/>
                  <a:pt x="126482" y="99527"/>
                </a:cubicBezTo>
                <a:cubicBezTo>
                  <a:pt x="126482" y="110982"/>
                  <a:pt x="117203" y="120261"/>
                  <a:pt x="105747" y="120261"/>
                </a:cubicBezTo>
                <a:cubicBezTo>
                  <a:pt x="105566" y="120261"/>
                  <a:pt x="105410" y="120261"/>
                  <a:pt x="105229" y="120261"/>
                </a:cubicBezTo>
                <a:cubicBezTo>
                  <a:pt x="103388" y="127415"/>
                  <a:pt x="96883" y="132702"/>
                  <a:pt x="89159" y="132702"/>
                </a:cubicBezTo>
                <a:lnTo>
                  <a:pt x="80865" y="132702"/>
                </a:lnTo>
                <a:cubicBezTo>
                  <a:pt x="76278" y="132702"/>
                  <a:pt x="72571" y="128996"/>
                  <a:pt x="72571" y="124408"/>
                </a:cubicBezTo>
                <a:lnTo>
                  <a:pt x="72571" y="8294"/>
                </a:lnTo>
                <a:cubicBezTo>
                  <a:pt x="72571" y="3706"/>
                  <a:pt x="76278" y="0"/>
                  <a:pt x="80865" y="0"/>
                </a:cubicBezTo>
                <a:lnTo>
                  <a:pt x="87086" y="0"/>
                </a:lnTo>
                <a:cubicBezTo>
                  <a:pt x="95094" y="0"/>
                  <a:pt x="101600" y="6506"/>
                  <a:pt x="101600" y="14514"/>
                </a:cubicBezTo>
                <a:close/>
              </a:path>
            </a:pathLst>
          </a:custGeom>
          <a:solidFill>
            <a:srgbClr val="F54900"/>
          </a:solidFill>
          <a:ln/>
        </p:spPr>
        <p:txBody>
          <a:bodyPr/>
          <a:lstStyle/>
          <a:p>
            <a:endParaRPr lang="zh-CN" altLang="en-US"/>
          </a:p>
        </p:txBody>
      </p:sp>
      <p:sp>
        <p:nvSpPr>
          <p:cNvPr id="41" name="Text 39"/>
          <p:cNvSpPr/>
          <p:nvPr/>
        </p:nvSpPr>
        <p:spPr>
          <a:xfrm>
            <a:off x="6904135" y="3007916"/>
            <a:ext cx="597159"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模型能力</a:t>
            </a:r>
            <a:endParaRPr lang="en-US" sz="1600" dirty="0"/>
          </a:p>
        </p:txBody>
      </p:sp>
      <p:sp>
        <p:nvSpPr>
          <p:cNvPr id="42" name="Text 40"/>
          <p:cNvSpPr/>
          <p:nvPr/>
        </p:nvSpPr>
        <p:spPr>
          <a:xfrm>
            <a:off x="6539204" y="3306495"/>
            <a:ext cx="5034384"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核心问题：上下文限制/幻觉</a:t>
            </a:r>
            <a:endParaRPr lang="en-US" sz="1600" dirty="0"/>
          </a:p>
        </p:txBody>
      </p:sp>
      <p:sp>
        <p:nvSpPr>
          <p:cNvPr id="43" name="Shape 41"/>
          <p:cNvSpPr/>
          <p:nvPr/>
        </p:nvSpPr>
        <p:spPr>
          <a:xfrm>
            <a:off x="6555792" y="3560839"/>
            <a:ext cx="116114" cy="116114"/>
          </a:xfrm>
          <a:custGeom>
            <a:avLst/>
            <a:gdLst/>
            <a:ahLst/>
            <a:cxnLst/>
            <a:rect l="l" t="t" r="r" b="b"/>
            <a:pathLst>
              <a:path w="116114" h="116114">
                <a:moveTo>
                  <a:pt x="113983" y="63183"/>
                </a:moveTo>
                <a:cubicBezTo>
                  <a:pt x="116817" y="60348"/>
                  <a:pt x="116817" y="55744"/>
                  <a:pt x="113983" y="52909"/>
                </a:cubicBezTo>
                <a:lnTo>
                  <a:pt x="77697" y="16623"/>
                </a:lnTo>
                <a:cubicBezTo>
                  <a:pt x="74862" y="13789"/>
                  <a:pt x="70258" y="13789"/>
                  <a:pt x="67423" y="16623"/>
                </a:cubicBezTo>
                <a:cubicBezTo>
                  <a:pt x="64589" y="19458"/>
                  <a:pt x="64589" y="24062"/>
                  <a:pt x="67423" y="26897"/>
                </a:cubicBezTo>
                <a:lnTo>
                  <a:pt x="91327" y="50800"/>
                </a:lnTo>
                <a:lnTo>
                  <a:pt x="7257" y="50800"/>
                </a:lnTo>
                <a:cubicBezTo>
                  <a:pt x="3243" y="50800"/>
                  <a:pt x="0" y="54043"/>
                  <a:pt x="0" y="58057"/>
                </a:cubicBezTo>
                <a:cubicBezTo>
                  <a:pt x="0" y="62071"/>
                  <a:pt x="3243" y="65314"/>
                  <a:pt x="7257" y="65314"/>
                </a:cubicBezTo>
                <a:lnTo>
                  <a:pt x="91327" y="65314"/>
                </a:lnTo>
                <a:lnTo>
                  <a:pt x="67423" y="89217"/>
                </a:lnTo>
                <a:cubicBezTo>
                  <a:pt x="64589" y="92052"/>
                  <a:pt x="64589" y="96656"/>
                  <a:pt x="67423" y="99491"/>
                </a:cubicBezTo>
                <a:cubicBezTo>
                  <a:pt x="70258" y="102326"/>
                  <a:pt x="74862" y="102326"/>
                  <a:pt x="77697" y="99491"/>
                </a:cubicBezTo>
                <a:lnTo>
                  <a:pt x="113982" y="63205"/>
                </a:lnTo>
                <a:close/>
              </a:path>
            </a:pathLst>
          </a:custGeom>
          <a:solidFill>
            <a:srgbClr val="0071E3"/>
          </a:solidFill>
          <a:ln/>
        </p:spPr>
        <p:txBody>
          <a:bodyPr/>
          <a:lstStyle/>
          <a:p>
            <a:endParaRPr lang="zh-CN" altLang="en-US"/>
          </a:p>
        </p:txBody>
      </p:sp>
      <p:sp>
        <p:nvSpPr>
          <p:cNvPr id="44" name="Text 42"/>
          <p:cNvSpPr/>
          <p:nvPr/>
        </p:nvSpPr>
        <p:spPr>
          <a:xfrm>
            <a:off x="6710160" y="3538724"/>
            <a:ext cx="4863428" cy="165878"/>
          </a:xfrm>
          <a:prstGeom prst="rect">
            <a:avLst/>
          </a:prstGeom>
          <a:noFill/>
          <a:ln/>
        </p:spPr>
        <p:txBody>
          <a:bodyPr wrap="square" lIns="0" tIns="0" rIns="0" bIns="0" rtlCol="0" anchor="ctr"/>
          <a:lstStyle/>
          <a:p>
            <a:pPr>
              <a:lnSpc>
                <a:spcPct val="120000"/>
              </a:lnSpc>
            </a:pPr>
            <a:r>
              <a:rPr lang="en-US" sz="914" dirty="0">
                <a:solidFill>
                  <a:srgbClr val="0071E3"/>
                </a:solidFill>
                <a:latin typeface="MiSans" pitchFamily="34" charset="0"/>
                <a:ea typeface="MiSans" pitchFamily="34" charset="-122"/>
                <a:cs typeface="MiSans" pitchFamily="34" charset="-120"/>
              </a:rPr>
              <a:t>应对：选用最新满血模型，人工控向</a:t>
            </a:r>
            <a:endParaRPr lang="en-US" sz="1600" dirty="0"/>
          </a:p>
        </p:txBody>
      </p:sp>
      <p:sp>
        <p:nvSpPr>
          <p:cNvPr id="45" name="Shape 43"/>
          <p:cNvSpPr/>
          <p:nvPr/>
        </p:nvSpPr>
        <p:spPr>
          <a:xfrm>
            <a:off x="6403738" y="3978298"/>
            <a:ext cx="5247260" cy="1000795"/>
          </a:xfrm>
          <a:custGeom>
            <a:avLst/>
            <a:gdLst/>
            <a:ahLst/>
            <a:cxnLst/>
            <a:rect l="l" t="t" r="r" b="b"/>
            <a:pathLst>
              <a:path w="5247260" h="1000795">
                <a:moveTo>
                  <a:pt x="99529" y="0"/>
                </a:moveTo>
                <a:lnTo>
                  <a:pt x="5147731" y="0"/>
                </a:lnTo>
                <a:cubicBezTo>
                  <a:pt x="5202699" y="0"/>
                  <a:pt x="5247260" y="44561"/>
                  <a:pt x="5247260" y="99529"/>
                </a:cubicBezTo>
                <a:lnTo>
                  <a:pt x="5247260" y="901266"/>
                </a:lnTo>
                <a:cubicBezTo>
                  <a:pt x="5247260" y="956234"/>
                  <a:pt x="5202699" y="1000795"/>
                  <a:pt x="5147731" y="1000795"/>
                </a:cubicBezTo>
                <a:lnTo>
                  <a:pt x="99529" y="1000795"/>
                </a:lnTo>
                <a:cubicBezTo>
                  <a:pt x="44561" y="1000795"/>
                  <a:pt x="0" y="956234"/>
                  <a:pt x="0" y="901266"/>
                </a:cubicBezTo>
                <a:lnTo>
                  <a:pt x="0" y="99529"/>
                </a:lnTo>
                <a:cubicBezTo>
                  <a:pt x="0" y="44561"/>
                  <a:pt x="44561" y="0"/>
                  <a:pt x="99529" y="0"/>
                </a:cubicBezTo>
                <a:close/>
              </a:path>
            </a:pathLst>
          </a:custGeom>
          <a:solidFill>
            <a:srgbClr val="FAFAFA"/>
          </a:solidFill>
          <a:ln w="8467">
            <a:solidFill>
              <a:srgbClr val="E5E5E5"/>
            </a:solidFill>
            <a:prstDash val="solid"/>
          </a:ln>
        </p:spPr>
        <p:txBody>
          <a:bodyPr/>
          <a:lstStyle/>
          <a:p>
            <a:endParaRPr lang="zh-CN" altLang="en-US"/>
          </a:p>
        </p:txBody>
      </p:sp>
      <p:sp>
        <p:nvSpPr>
          <p:cNvPr id="46" name="Shape 44"/>
          <p:cNvSpPr/>
          <p:nvPr/>
        </p:nvSpPr>
        <p:spPr>
          <a:xfrm>
            <a:off x="6539204" y="4113763"/>
            <a:ext cx="265404" cy="265404"/>
          </a:xfrm>
          <a:custGeom>
            <a:avLst/>
            <a:gdLst/>
            <a:ahLst/>
            <a:cxnLst/>
            <a:rect l="l" t="t" r="r" b="b"/>
            <a:pathLst>
              <a:path w="265404" h="265404">
                <a:moveTo>
                  <a:pt x="66351" y="0"/>
                </a:moveTo>
                <a:lnTo>
                  <a:pt x="199053" y="0"/>
                </a:lnTo>
                <a:cubicBezTo>
                  <a:pt x="235673" y="0"/>
                  <a:pt x="265404" y="29731"/>
                  <a:pt x="265404" y="66351"/>
                </a:cubicBezTo>
                <a:lnTo>
                  <a:pt x="265404" y="199053"/>
                </a:lnTo>
                <a:cubicBezTo>
                  <a:pt x="265404" y="235673"/>
                  <a:pt x="235673" y="265404"/>
                  <a:pt x="199053" y="265404"/>
                </a:cubicBezTo>
                <a:lnTo>
                  <a:pt x="66351" y="265404"/>
                </a:lnTo>
                <a:cubicBezTo>
                  <a:pt x="29731" y="265404"/>
                  <a:pt x="0" y="235673"/>
                  <a:pt x="0" y="199053"/>
                </a:cubicBezTo>
                <a:lnTo>
                  <a:pt x="0" y="66351"/>
                </a:lnTo>
                <a:cubicBezTo>
                  <a:pt x="0" y="29706"/>
                  <a:pt x="29706" y="0"/>
                  <a:pt x="66351" y="0"/>
                </a:cubicBezTo>
                <a:close/>
              </a:path>
            </a:pathLst>
          </a:custGeom>
          <a:solidFill>
            <a:srgbClr val="FEF9C2"/>
          </a:solidFill>
          <a:ln/>
        </p:spPr>
        <p:txBody>
          <a:bodyPr/>
          <a:lstStyle/>
          <a:p>
            <a:endParaRPr lang="zh-CN" altLang="en-US"/>
          </a:p>
        </p:txBody>
      </p:sp>
      <p:sp>
        <p:nvSpPr>
          <p:cNvPr id="47" name="Shape 45"/>
          <p:cNvSpPr/>
          <p:nvPr/>
        </p:nvSpPr>
        <p:spPr>
          <a:xfrm>
            <a:off x="6605555" y="4180114"/>
            <a:ext cx="132702" cy="132702"/>
          </a:xfrm>
          <a:custGeom>
            <a:avLst/>
            <a:gdLst/>
            <a:ahLst/>
            <a:cxnLst/>
            <a:rect l="l" t="t" r="r" b="b"/>
            <a:pathLst>
              <a:path w="132702" h="132702">
                <a:moveTo>
                  <a:pt x="66351" y="0"/>
                </a:moveTo>
                <a:cubicBezTo>
                  <a:pt x="67543" y="0"/>
                  <a:pt x="68736" y="259"/>
                  <a:pt x="69824" y="752"/>
                </a:cubicBezTo>
                <a:lnTo>
                  <a:pt x="118654" y="21460"/>
                </a:lnTo>
                <a:cubicBezTo>
                  <a:pt x="124356" y="23871"/>
                  <a:pt x="128607" y="29495"/>
                  <a:pt x="128581" y="36286"/>
                </a:cubicBezTo>
                <a:cubicBezTo>
                  <a:pt x="128451" y="61997"/>
                  <a:pt x="117877" y="109039"/>
                  <a:pt x="73219" y="130421"/>
                </a:cubicBezTo>
                <a:cubicBezTo>
                  <a:pt x="68891" y="132495"/>
                  <a:pt x="63863" y="132495"/>
                  <a:pt x="59534" y="130421"/>
                </a:cubicBezTo>
                <a:cubicBezTo>
                  <a:pt x="14851" y="109039"/>
                  <a:pt x="4302" y="61997"/>
                  <a:pt x="4173" y="36286"/>
                </a:cubicBezTo>
                <a:cubicBezTo>
                  <a:pt x="4147" y="29495"/>
                  <a:pt x="8398" y="23871"/>
                  <a:pt x="14100" y="21460"/>
                </a:cubicBezTo>
                <a:lnTo>
                  <a:pt x="62904" y="752"/>
                </a:lnTo>
                <a:cubicBezTo>
                  <a:pt x="63992" y="259"/>
                  <a:pt x="65159" y="0"/>
                  <a:pt x="66351" y="0"/>
                </a:cubicBezTo>
                <a:close/>
                <a:moveTo>
                  <a:pt x="66351" y="17313"/>
                </a:moveTo>
                <a:lnTo>
                  <a:pt x="66351" y="115311"/>
                </a:lnTo>
                <a:cubicBezTo>
                  <a:pt x="102118" y="97997"/>
                  <a:pt x="111734" y="59638"/>
                  <a:pt x="111967" y="36674"/>
                </a:cubicBezTo>
                <a:lnTo>
                  <a:pt x="66351" y="17339"/>
                </a:lnTo>
                <a:lnTo>
                  <a:pt x="66351" y="17339"/>
                </a:lnTo>
                <a:close/>
              </a:path>
            </a:pathLst>
          </a:custGeom>
          <a:solidFill>
            <a:srgbClr val="D08700"/>
          </a:solidFill>
          <a:ln/>
        </p:spPr>
        <p:txBody>
          <a:bodyPr/>
          <a:lstStyle/>
          <a:p>
            <a:endParaRPr lang="zh-CN" altLang="en-US"/>
          </a:p>
        </p:txBody>
      </p:sp>
      <p:sp>
        <p:nvSpPr>
          <p:cNvPr id="48" name="Text 46"/>
          <p:cNvSpPr/>
          <p:nvPr/>
        </p:nvSpPr>
        <p:spPr>
          <a:xfrm>
            <a:off x="6904135" y="4146939"/>
            <a:ext cx="597159"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质量控制</a:t>
            </a:r>
            <a:endParaRPr lang="en-US" sz="1600" dirty="0"/>
          </a:p>
        </p:txBody>
      </p:sp>
      <p:sp>
        <p:nvSpPr>
          <p:cNvPr id="49" name="Text 47"/>
          <p:cNvSpPr/>
          <p:nvPr/>
        </p:nvSpPr>
        <p:spPr>
          <a:xfrm>
            <a:off x="6539204" y="4445518"/>
            <a:ext cx="5034384"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核心问题：代码质量参差不齐</a:t>
            </a:r>
            <a:endParaRPr lang="en-US" sz="1600" dirty="0"/>
          </a:p>
        </p:txBody>
      </p:sp>
      <p:sp>
        <p:nvSpPr>
          <p:cNvPr id="50" name="Shape 48"/>
          <p:cNvSpPr/>
          <p:nvPr/>
        </p:nvSpPr>
        <p:spPr>
          <a:xfrm>
            <a:off x="6555792" y="4699867"/>
            <a:ext cx="116114" cy="116114"/>
          </a:xfrm>
          <a:custGeom>
            <a:avLst/>
            <a:gdLst/>
            <a:ahLst/>
            <a:cxnLst/>
            <a:rect l="l" t="t" r="r" b="b"/>
            <a:pathLst>
              <a:path w="116114" h="116114">
                <a:moveTo>
                  <a:pt x="113983" y="63183"/>
                </a:moveTo>
                <a:cubicBezTo>
                  <a:pt x="116817" y="60348"/>
                  <a:pt x="116817" y="55744"/>
                  <a:pt x="113983" y="52909"/>
                </a:cubicBezTo>
                <a:lnTo>
                  <a:pt x="77697" y="16623"/>
                </a:lnTo>
                <a:cubicBezTo>
                  <a:pt x="74862" y="13789"/>
                  <a:pt x="70258" y="13789"/>
                  <a:pt x="67423" y="16623"/>
                </a:cubicBezTo>
                <a:cubicBezTo>
                  <a:pt x="64589" y="19458"/>
                  <a:pt x="64589" y="24062"/>
                  <a:pt x="67423" y="26897"/>
                </a:cubicBezTo>
                <a:lnTo>
                  <a:pt x="91327" y="50800"/>
                </a:lnTo>
                <a:lnTo>
                  <a:pt x="7257" y="50800"/>
                </a:lnTo>
                <a:cubicBezTo>
                  <a:pt x="3243" y="50800"/>
                  <a:pt x="0" y="54043"/>
                  <a:pt x="0" y="58057"/>
                </a:cubicBezTo>
                <a:cubicBezTo>
                  <a:pt x="0" y="62071"/>
                  <a:pt x="3243" y="65314"/>
                  <a:pt x="7257" y="65314"/>
                </a:cubicBezTo>
                <a:lnTo>
                  <a:pt x="91327" y="65314"/>
                </a:lnTo>
                <a:lnTo>
                  <a:pt x="67423" y="89217"/>
                </a:lnTo>
                <a:cubicBezTo>
                  <a:pt x="64589" y="92052"/>
                  <a:pt x="64589" y="96656"/>
                  <a:pt x="67423" y="99491"/>
                </a:cubicBezTo>
                <a:cubicBezTo>
                  <a:pt x="70258" y="102326"/>
                  <a:pt x="74862" y="102326"/>
                  <a:pt x="77697" y="99491"/>
                </a:cubicBezTo>
                <a:lnTo>
                  <a:pt x="113982" y="63205"/>
                </a:lnTo>
                <a:close/>
              </a:path>
            </a:pathLst>
          </a:custGeom>
          <a:solidFill>
            <a:srgbClr val="0071E3"/>
          </a:solidFill>
          <a:ln/>
        </p:spPr>
        <p:txBody>
          <a:bodyPr/>
          <a:lstStyle/>
          <a:p>
            <a:endParaRPr lang="zh-CN" altLang="en-US"/>
          </a:p>
        </p:txBody>
      </p:sp>
      <p:sp>
        <p:nvSpPr>
          <p:cNvPr id="51" name="Text 49"/>
          <p:cNvSpPr/>
          <p:nvPr/>
        </p:nvSpPr>
        <p:spPr>
          <a:xfrm>
            <a:off x="6710160" y="4677747"/>
            <a:ext cx="4863428" cy="165878"/>
          </a:xfrm>
          <a:prstGeom prst="rect">
            <a:avLst/>
          </a:prstGeom>
          <a:noFill/>
          <a:ln/>
        </p:spPr>
        <p:txBody>
          <a:bodyPr wrap="square" lIns="0" tIns="0" rIns="0" bIns="0" rtlCol="0" anchor="ctr"/>
          <a:lstStyle/>
          <a:p>
            <a:pPr>
              <a:lnSpc>
                <a:spcPct val="120000"/>
              </a:lnSpc>
            </a:pPr>
            <a:r>
              <a:rPr lang="en-US" sz="914" dirty="0">
                <a:solidFill>
                  <a:srgbClr val="0071E3"/>
                </a:solidFill>
                <a:latin typeface="MiSans" pitchFamily="34" charset="0"/>
                <a:ea typeface="MiSans" pitchFamily="34" charset="-122"/>
                <a:cs typeface="MiSans" pitchFamily="34" charset="-120"/>
              </a:rPr>
              <a:t>应对：强制Code Review，SKILL标准化</a:t>
            </a:r>
            <a:endParaRPr lang="en-US" sz="1600" dirty="0"/>
          </a:p>
        </p:txBody>
      </p:sp>
      <p:sp>
        <p:nvSpPr>
          <p:cNvPr id="52" name="Shape 50"/>
          <p:cNvSpPr/>
          <p:nvPr/>
        </p:nvSpPr>
        <p:spPr>
          <a:xfrm>
            <a:off x="6403738" y="5117325"/>
            <a:ext cx="5247260" cy="1000795"/>
          </a:xfrm>
          <a:custGeom>
            <a:avLst/>
            <a:gdLst/>
            <a:ahLst/>
            <a:cxnLst/>
            <a:rect l="l" t="t" r="r" b="b"/>
            <a:pathLst>
              <a:path w="5247260" h="1000795">
                <a:moveTo>
                  <a:pt x="99529" y="0"/>
                </a:moveTo>
                <a:lnTo>
                  <a:pt x="5147731" y="0"/>
                </a:lnTo>
                <a:cubicBezTo>
                  <a:pt x="5202699" y="0"/>
                  <a:pt x="5247260" y="44561"/>
                  <a:pt x="5247260" y="99529"/>
                </a:cubicBezTo>
                <a:lnTo>
                  <a:pt x="5247260" y="901266"/>
                </a:lnTo>
                <a:cubicBezTo>
                  <a:pt x="5247260" y="956234"/>
                  <a:pt x="5202699" y="1000795"/>
                  <a:pt x="5147731" y="1000795"/>
                </a:cubicBezTo>
                <a:lnTo>
                  <a:pt x="99529" y="1000795"/>
                </a:lnTo>
                <a:cubicBezTo>
                  <a:pt x="44561" y="1000795"/>
                  <a:pt x="0" y="956234"/>
                  <a:pt x="0" y="901266"/>
                </a:cubicBezTo>
                <a:lnTo>
                  <a:pt x="0" y="99529"/>
                </a:lnTo>
                <a:cubicBezTo>
                  <a:pt x="0" y="44561"/>
                  <a:pt x="44561" y="0"/>
                  <a:pt x="99529" y="0"/>
                </a:cubicBezTo>
                <a:close/>
              </a:path>
            </a:pathLst>
          </a:custGeom>
          <a:solidFill>
            <a:srgbClr val="FAFAFA"/>
          </a:solidFill>
          <a:ln w="8467">
            <a:solidFill>
              <a:srgbClr val="E5E5E5"/>
            </a:solidFill>
            <a:prstDash val="solid"/>
          </a:ln>
        </p:spPr>
        <p:txBody>
          <a:bodyPr/>
          <a:lstStyle/>
          <a:p>
            <a:endParaRPr lang="zh-CN" altLang="en-US"/>
          </a:p>
        </p:txBody>
      </p:sp>
      <p:sp>
        <p:nvSpPr>
          <p:cNvPr id="53" name="Shape 51"/>
          <p:cNvSpPr/>
          <p:nvPr/>
        </p:nvSpPr>
        <p:spPr>
          <a:xfrm>
            <a:off x="6539204" y="5252790"/>
            <a:ext cx="265404" cy="265404"/>
          </a:xfrm>
          <a:custGeom>
            <a:avLst/>
            <a:gdLst/>
            <a:ahLst/>
            <a:cxnLst/>
            <a:rect l="l" t="t" r="r" b="b"/>
            <a:pathLst>
              <a:path w="265404" h="265404">
                <a:moveTo>
                  <a:pt x="66351" y="0"/>
                </a:moveTo>
                <a:lnTo>
                  <a:pt x="199053" y="0"/>
                </a:lnTo>
                <a:cubicBezTo>
                  <a:pt x="235673" y="0"/>
                  <a:pt x="265404" y="29731"/>
                  <a:pt x="265404" y="66351"/>
                </a:cubicBezTo>
                <a:lnTo>
                  <a:pt x="265404" y="199053"/>
                </a:lnTo>
                <a:cubicBezTo>
                  <a:pt x="265404" y="235673"/>
                  <a:pt x="235673" y="265404"/>
                  <a:pt x="199053" y="265404"/>
                </a:cubicBezTo>
                <a:lnTo>
                  <a:pt x="66351" y="265404"/>
                </a:lnTo>
                <a:cubicBezTo>
                  <a:pt x="29731" y="265404"/>
                  <a:pt x="0" y="235673"/>
                  <a:pt x="0" y="199053"/>
                </a:cubicBezTo>
                <a:lnTo>
                  <a:pt x="0" y="66351"/>
                </a:lnTo>
                <a:cubicBezTo>
                  <a:pt x="0" y="29706"/>
                  <a:pt x="29706" y="0"/>
                  <a:pt x="66351" y="0"/>
                </a:cubicBezTo>
                <a:close/>
              </a:path>
            </a:pathLst>
          </a:custGeom>
          <a:solidFill>
            <a:srgbClr val="DBEAFE"/>
          </a:solidFill>
          <a:ln/>
        </p:spPr>
        <p:txBody>
          <a:bodyPr/>
          <a:lstStyle/>
          <a:p>
            <a:endParaRPr lang="zh-CN" altLang="en-US"/>
          </a:p>
        </p:txBody>
      </p:sp>
      <p:sp>
        <p:nvSpPr>
          <p:cNvPr id="54" name="Shape 52"/>
          <p:cNvSpPr/>
          <p:nvPr/>
        </p:nvSpPr>
        <p:spPr>
          <a:xfrm>
            <a:off x="6588967" y="5319141"/>
            <a:ext cx="165878" cy="132702"/>
          </a:xfrm>
          <a:custGeom>
            <a:avLst/>
            <a:gdLst/>
            <a:ahLst/>
            <a:cxnLst/>
            <a:rect l="l" t="t" r="r" b="b"/>
            <a:pathLst>
              <a:path w="165878" h="132702">
                <a:moveTo>
                  <a:pt x="107794" y="54558"/>
                </a:moveTo>
                <a:cubicBezTo>
                  <a:pt x="110957" y="53703"/>
                  <a:pt x="114274" y="55206"/>
                  <a:pt x="115700" y="58135"/>
                </a:cubicBezTo>
                <a:lnTo>
                  <a:pt x="120520" y="67880"/>
                </a:lnTo>
                <a:cubicBezTo>
                  <a:pt x="123190" y="68243"/>
                  <a:pt x="125808" y="68969"/>
                  <a:pt x="128270" y="69980"/>
                </a:cubicBezTo>
                <a:lnTo>
                  <a:pt x="137341" y="63941"/>
                </a:lnTo>
                <a:cubicBezTo>
                  <a:pt x="140063" y="62126"/>
                  <a:pt x="143666" y="62489"/>
                  <a:pt x="145972" y="64796"/>
                </a:cubicBezTo>
                <a:lnTo>
                  <a:pt x="150949" y="69772"/>
                </a:lnTo>
                <a:cubicBezTo>
                  <a:pt x="153255" y="72079"/>
                  <a:pt x="153618" y="75708"/>
                  <a:pt x="151804" y="78403"/>
                </a:cubicBezTo>
                <a:lnTo>
                  <a:pt x="145765" y="87449"/>
                </a:lnTo>
                <a:cubicBezTo>
                  <a:pt x="146257" y="88667"/>
                  <a:pt x="146698" y="89937"/>
                  <a:pt x="147061" y="91259"/>
                </a:cubicBezTo>
                <a:cubicBezTo>
                  <a:pt x="147424" y="92580"/>
                  <a:pt x="147657" y="93876"/>
                  <a:pt x="147838" y="95198"/>
                </a:cubicBezTo>
                <a:lnTo>
                  <a:pt x="157610" y="100019"/>
                </a:lnTo>
                <a:cubicBezTo>
                  <a:pt x="160538" y="101470"/>
                  <a:pt x="162042" y="104788"/>
                  <a:pt x="161186" y="107924"/>
                </a:cubicBezTo>
                <a:lnTo>
                  <a:pt x="159372" y="114715"/>
                </a:lnTo>
                <a:cubicBezTo>
                  <a:pt x="158517" y="117851"/>
                  <a:pt x="155588" y="119976"/>
                  <a:pt x="152322" y="119769"/>
                </a:cubicBezTo>
                <a:lnTo>
                  <a:pt x="141437" y="119069"/>
                </a:lnTo>
                <a:cubicBezTo>
                  <a:pt x="139804" y="121168"/>
                  <a:pt x="137912" y="123112"/>
                  <a:pt x="135760" y="124771"/>
                </a:cubicBezTo>
                <a:lnTo>
                  <a:pt x="136460" y="135631"/>
                </a:lnTo>
                <a:cubicBezTo>
                  <a:pt x="136668" y="138897"/>
                  <a:pt x="134542" y="141851"/>
                  <a:pt x="131406" y="142681"/>
                </a:cubicBezTo>
                <a:lnTo>
                  <a:pt x="124616" y="144495"/>
                </a:lnTo>
                <a:cubicBezTo>
                  <a:pt x="121453" y="145350"/>
                  <a:pt x="118162" y="143847"/>
                  <a:pt x="116710" y="140918"/>
                </a:cubicBezTo>
                <a:lnTo>
                  <a:pt x="111890" y="131173"/>
                </a:lnTo>
                <a:cubicBezTo>
                  <a:pt x="109220" y="130810"/>
                  <a:pt x="106602" y="130084"/>
                  <a:pt x="104140" y="129073"/>
                </a:cubicBezTo>
                <a:lnTo>
                  <a:pt x="95069" y="135112"/>
                </a:lnTo>
                <a:cubicBezTo>
                  <a:pt x="92347" y="136927"/>
                  <a:pt x="88744" y="136564"/>
                  <a:pt x="86438" y="134257"/>
                </a:cubicBezTo>
                <a:lnTo>
                  <a:pt x="81461" y="129281"/>
                </a:lnTo>
                <a:cubicBezTo>
                  <a:pt x="79155" y="126974"/>
                  <a:pt x="78792" y="123371"/>
                  <a:pt x="80606" y="120650"/>
                </a:cubicBezTo>
                <a:lnTo>
                  <a:pt x="86645" y="111579"/>
                </a:lnTo>
                <a:cubicBezTo>
                  <a:pt x="86153" y="110360"/>
                  <a:pt x="85712" y="109090"/>
                  <a:pt x="85349" y="107769"/>
                </a:cubicBezTo>
                <a:cubicBezTo>
                  <a:pt x="84986" y="106447"/>
                  <a:pt x="84753" y="105125"/>
                  <a:pt x="84572" y="103829"/>
                </a:cubicBezTo>
                <a:lnTo>
                  <a:pt x="74800" y="99008"/>
                </a:lnTo>
                <a:cubicBezTo>
                  <a:pt x="71872" y="97557"/>
                  <a:pt x="70394" y="94239"/>
                  <a:pt x="71224" y="91103"/>
                </a:cubicBezTo>
                <a:lnTo>
                  <a:pt x="73038" y="84312"/>
                </a:lnTo>
                <a:cubicBezTo>
                  <a:pt x="73893" y="81176"/>
                  <a:pt x="76822" y="79051"/>
                  <a:pt x="80088" y="79258"/>
                </a:cubicBezTo>
                <a:lnTo>
                  <a:pt x="90948" y="79958"/>
                </a:lnTo>
                <a:cubicBezTo>
                  <a:pt x="92580" y="77859"/>
                  <a:pt x="94472" y="75915"/>
                  <a:pt x="96624" y="74256"/>
                </a:cubicBezTo>
                <a:lnTo>
                  <a:pt x="95924" y="63422"/>
                </a:lnTo>
                <a:cubicBezTo>
                  <a:pt x="95717" y="60157"/>
                  <a:pt x="97842" y="57202"/>
                  <a:pt x="100978" y="56372"/>
                </a:cubicBezTo>
                <a:lnTo>
                  <a:pt x="107769" y="54558"/>
                </a:lnTo>
                <a:close/>
                <a:moveTo>
                  <a:pt x="116218" y="88122"/>
                </a:moveTo>
                <a:cubicBezTo>
                  <a:pt x="109924" y="88130"/>
                  <a:pt x="104820" y="93245"/>
                  <a:pt x="104827" y="99539"/>
                </a:cubicBezTo>
                <a:cubicBezTo>
                  <a:pt x="104834" y="105834"/>
                  <a:pt x="109950" y="110938"/>
                  <a:pt x="116244" y="110931"/>
                </a:cubicBezTo>
                <a:cubicBezTo>
                  <a:pt x="122538" y="110923"/>
                  <a:pt x="127642" y="105808"/>
                  <a:pt x="127635" y="99514"/>
                </a:cubicBezTo>
                <a:cubicBezTo>
                  <a:pt x="127628" y="93219"/>
                  <a:pt x="122512" y="88115"/>
                  <a:pt x="116218" y="88122"/>
                </a:cubicBezTo>
                <a:close/>
                <a:moveTo>
                  <a:pt x="58290" y="-11793"/>
                </a:moveTo>
                <a:lnTo>
                  <a:pt x="65081" y="-9979"/>
                </a:lnTo>
                <a:cubicBezTo>
                  <a:pt x="68217" y="-9123"/>
                  <a:pt x="70342" y="-6169"/>
                  <a:pt x="70135" y="-2929"/>
                </a:cubicBezTo>
                <a:lnTo>
                  <a:pt x="69435" y="7905"/>
                </a:lnTo>
                <a:cubicBezTo>
                  <a:pt x="71587" y="9564"/>
                  <a:pt x="73479" y="11482"/>
                  <a:pt x="75111" y="13607"/>
                </a:cubicBezTo>
                <a:lnTo>
                  <a:pt x="85997" y="12907"/>
                </a:lnTo>
                <a:cubicBezTo>
                  <a:pt x="89237" y="12700"/>
                  <a:pt x="92192" y="14825"/>
                  <a:pt x="93047" y="17961"/>
                </a:cubicBezTo>
                <a:lnTo>
                  <a:pt x="94861" y="24752"/>
                </a:lnTo>
                <a:cubicBezTo>
                  <a:pt x="95691" y="27888"/>
                  <a:pt x="94213" y="31206"/>
                  <a:pt x="91284" y="32657"/>
                </a:cubicBezTo>
                <a:lnTo>
                  <a:pt x="81513" y="37478"/>
                </a:lnTo>
                <a:cubicBezTo>
                  <a:pt x="81332" y="38800"/>
                  <a:pt x="81073" y="40122"/>
                  <a:pt x="80736" y="41418"/>
                </a:cubicBezTo>
                <a:cubicBezTo>
                  <a:pt x="80399" y="42713"/>
                  <a:pt x="79932" y="44009"/>
                  <a:pt x="79440" y="45228"/>
                </a:cubicBezTo>
                <a:lnTo>
                  <a:pt x="85479" y="54299"/>
                </a:lnTo>
                <a:cubicBezTo>
                  <a:pt x="87293" y="57020"/>
                  <a:pt x="86930" y="60623"/>
                  <a:pt x="84623" y="62930"/>
                </a:cubicBezTo>
                <a:lnTo>
                  <a:pt x="79647" y="67906"/>
                </a:lnTo>
                <a:cubicBezTo>
                  <a:pt x="77340" y="70213"/>
                  <a:pt x="73738" y="70576"/>
                  <a:pt x="71016" y="68761"/>
                </a:cubicBezTo>
                <a:lnTo>
                  <a:pt x="61945" y="62722"/>
                </a:lnTo>
                <a:cubicBezTo>
                  <a:pt x="59483" y="63733"/>
                  <a:pt x="56865" y="64459"/>
                  <a:pt x="54195" y="64822"/>
                </a:cubicBezTo>
                <a:lnTo>
                  <a:pt x="49374" y="74567"/>
                </a:lnTo>
                <a:cubicBezTo>
                  <a:pt x="47923" y="77496"/>
                  <a:pt x="44606" y="78973"/>
                  <a:pt x="41469" y="78144"/>
                </a:cubicBezTo>
                <a:lnTo>
                  <a:pt x="34679" y="76330"/>
                </a:lnTo>
                <a:cubicBezTo>
                  <a:pt x="31517" y="75474"/>
                  <a:pt x="29417" y="72520"/>
                  <a:pt x="29625" y="69280"/>
                </a:cubicBezTo>
                <a:lnTo>
                  <a:pt x="30324" y="58420"/>
                </a:lnTo>
                <a:cubicBezTo>
                  <a:pt x="28173" y="56761"/>
                  <a:pt x="26281" y="54843"/>
                  <a:pt x="24648" y="52718"/>
                </a:cubicBezTo>
                <a:lnTo>
                  <a:pt x="13763" y="53418"/>
                </a:lnTo>
                <a:cubicBezTo>
                  <a:pt x="10523" y="53625"/>
                  <a:pt x="7568" y="51500"/>
                  <a:pt x="6713" y="48364"/>
                </a:cubicBezTo>
                <a:lnTo>
                  <a:pt x="4899" y="41573"/>
                </a:lnTo>
                <a:cubicBezTo>
                  <a:pt x="4069" y="38437"/>
                  <a:pt x="5547" y="35119"/>
                  <a:pt x="8475" y="33668"/>
                </a:cubicBezTo>
                <a:lnTo>
                  <a:pt x="18247" y="28847"/>
                </a:lnTo>
                <a:cubicBezTo>
                  <a:pt x="18428" y="27525"/>
                  <a:pt x="18687" y="26229"/>
                  <a:pt x="19024" y="24908"/>
                </a:cubicBezTo>
                <a:cubicBezTo>
                  <a:pt x="19387" y="23586"/>
                  <a:pt x="19802" y="22316"/>
                  <a:pt x="20320" y="21098"/>
                </a:cubicBezTo>
                <a:lnTo>
                  <a:pt x="14281" y="12052"/>
                </a:lnTo>
                <a:cubicBezTo>
                  <a:pt x="12467" y="9331"/>
                  <a:pt x="12830" y="5728"/>
                  <a:pt x="15136" y="3421"/>
                </a:cubicBezTo>
                <a:lnTo>
                  <a:pt x="20113" y="-1555"/>
                </a:lnTo>
                <a:cubicBezTo>
                  <a:pt x="22419" y="-3862"/>
                  <a:pt x="26022" y="-4225"/>
                  <a:pt x="28743" y="-2410"/>
                </a:cubicBezTo>
                <a:lnTo>
                  <a:pt x="37815" y="3629"/>
                </a:lnTo>
                <a:cubicBezTo>
                  <a:pt x="40277" y="2618"/>
                  <a:pt x="42895" y="1892"/>
                  <a:pt x="45564" y="1529"/>
                </a:cubicBezTo>
                <a:lnTo>
                  <a:pt x="50385" y="-8216"/>
                </a:lnTo>
                <a:cubicBezTo>
                  <a:pt x="51837" y="-11145"/>
                  <a:pt x="55128" y="-12622"/>
                  <a:pt x="58290" y="-11793"/>
                </a:cubicBezTo>
                <a:close/>
                <a:moveTo>
                  <a:pt x="49867" y="21771"/>
                </a:moveTo>
                <a:cubicBezTo>
                  <a:pt x="43573" y="21771"/>
                  <a:pt x="38463" y="26881"/>
                  <a:pt x="38463" y="33176"/>
                </a:cubicBezTo>
                <a:cubicBezTo>
                  <a:pt x="38463" y="39470"/>
                  <a:pt x="43573" y="44580"/>
                  <a:pt x="49867" y="44580"/>
                </a:cubicBezTo>
                <a:cubicBezTo>
                  <a:pt x="56161" y="44580"/>
                  <a:pt x="61271" y="39470"/>
                  <a:pt x="61271" y="33176"/>
                </a:cubicBezTo>
                <a:cubicBezTo>
                  <a:pt x="61271" y="26881"/>
                  <a:pt x="56161" y="21771"/>
                  <a:pt x="49867" y="21771"/>
                </a:cubicBezTo>
                <a:close/>
              </a:path>
            </a:pathLst>
          </a:custGeom>
          <a:solidFill>
            <a:srgbClr val="155DFC"/>
          </a:solidFill>
          <a:ln/>
        </p:spPr>
        <p:txBody>
          <a:bodyPr/>
          <a:lstStyle/>
          <a:p>
            <a:endParaRPr lang="zh-CN" altLang="en-US"/>
          </a:p>
        </p:txBody>
      </p:sp>
      <p:sp>
        <p:nvSpPr>
          <p:cNvPr id="55" name="Text 53"/>
          <p:cNvSpPr/>
          <p:nvPr/>
        </p:nvSpPr>
        <p:spPr>
          <a:xfrm>
            <a:off x="6904135" y="5285966"/>
            <a:ext cx="597159" cy="199053"/>
          </a:xfrm>
          <a:prstGeom prst="rect">
            <a:avLst/>
          </a:prstGeom>
          <a:noFill/>
          <a:ln/>
        </p:spPr>
        <p:txBody>
          <a:bodyPr wrap="square" lIns="0" tIns="0" rIns="0" bIns="0" rtlCol="0" anchor="ctr"/>
          <a:lstStyle/>
          <a:p>
            <a:pPr>
              <a:lnSpc>
                <a:spcPct val="130000"/>
              </a:lnSpc>
            </a:pPr>
            <a:r>
              <a:rPr lang="en-US" sz="1045" b="1" dirty="0">
                <a:solidFill>
                  <a:srgbClr val="1D1D1D"/>
                </a:solidFill>
                <a:latin typeface="MiSans" pitchFamily="34" charset="0"/>
                <a:ea typeface="MiSans" pitchFamily="34" charset="-122"/>
                <a:cs typeface="MiSans" pitchFamily="34" charset="-120"/>
              </a:rPr>
              <a:t>研发流程</a:t>
            </a:r>
            <a:endParaRPr lang="en-US" sz="1600" dirty="0"/>
          </a:p>
        </p:txBody>
      </p:sp>
      <p:sp>
        <p:nvSpPr>
          <p:cNvPr id="56" name="Text 54"/>
          <p:cNvSpPr/>
          <p:nvPr/>
        </p:nvSpPr>
        <p:spPr>
          <a:xfrm>
            <a:off x="6539204" y="5584546"/>
            <a:ext cx="5034384" cy="165878"/>
          </a:xfrm>
          <a:prstGeom prst="rect">
            <a:avLst/>
          </a:prstGeom>
          <a:noFill/>
          <a:ln/>
        </p:spPr>
        <p:txBody>
          <a:bodyPr wrap="square" lIns="0" tIns="0" rIns="0" bIns="0" rtlCol="0" anchor="ctr"/>
          <a:lstStyle/>
          <a:p>
            <a:pPr>
              <a:lnSpc>
                <a:spcPct val="120000"/>
              </a:lnSpc>
            </a:pPr>
            <a:r>
              <a:rPr lang="en-US" sz="914" dirty="0">
                <a:solidFill>
                  <a:srgbClr val="86868B"/>
                </a:solidFill>
                <a:latin typeface="MiSans" pitchFamily="34" charset="0"/>
                <a:ea typeface="MiSans" pitchFamily="34" charset="-122"/>
                <a:cs typeface="MiSans" pitchFamily="34" charset="-120"/>
              </a:rPr>
              <a:t>核心问题：遗留兼容/习惯阻力</a:t>
            </a:r>
            <a:endParaRPr lang="en-US" sz="1600" dirty="0"/>
          </a:p>
        </p:txBody>
      </p:sp>
      <p:sp>
        <p:nvSpPr>
          <p:cNvPr id="57" name="Shape 55"/>
          <p:cNvSpPr/>
          <p:nvPr/>
        </p:nvSpPr>
        <p:spPr>
          <a:xfrm>
            <a:off x="6555792" y="5838890"/>
            <a:ext cx="116114" cy="116114"/>
          </a:xfrm>
          <a:custGeom>
            <a:avLst/>
            <a:gdLst/>
            <a:ahLst/>
            <a:cxnLst/>
            <a:rect l="l" t="t" r="r" b="b"/>
            <a:pathLst>
              <a:path w="116114" h="116114">
                <a:moveTo>
                  <a:pt x="113983" y="63183"/>
                </a:moveTo>
                <a:cubicBezTo>
                  <a:pt x="116817" y="60348"/>
                  <a:pt x="116817" y="55744"/>
                  <a:pt x="113983" y="52909"/>
                </a:cubicBezTo>
                <a:lnTo>
                  <a:pt x="77697" y="16623"/>
                </a:lnTo>
                <a:cubicBezTo>
                  <a:pt x="74862" y="13789"/>
                  <a:pt x="70258" y="13789"/>
                  <a:pt x="67423" y="16623"/>
                </a:cubicBezTo>
                <a:cubicBezTo>
                  <a:pt x="64589" y="19458"/>
                  <a:pt x="64589" y="24062"/>
                  <a:pt x="67423" y="26897"/>
                </a:cubicBezTo>
                <a:lnTo>
                  <a:pt x="91327" y="50800"/>
                </a:lnTo>
                <a:lnTo>
                  <a:pt x="7257" y="50800"/>
                </a:lnTo>
                <a:cubicBezTo>
                  <a:pt x="3243" y="50800"/>
                  <a:pt x="0" y="54043"/>
                  <a:pt x="0" y="58057"/>
                </a:cubicBezTo>
                <a:cubicBezTo>
                  <a:pt x="0" y="62071"/>
                  <a:pt x="3243" y="65314"/>
                  <a:pt x="7257" y="65314"/>
                </a:cubicBezTo>
                <a:lnTo>
                  <a:pt x="91327" y="65314"/>
                </a:lnTo>
                <a:lnTo>
                  <a:pt x="67423" y="89217"/>
                </a:lnTo>
                <a:cubicBezTo>
                  <a:pt x="64589" y="92052"/>
                  <a:pt x="64589" y="96656"/>
                  <a:pt x="67423" y="99491"/>
                </a:cubicBezTo>
                <a:cubicBezTo>
                  <a:pt x="70258" y="102326"/>
                  <a:pt x="74862" y="102326"/>
                  <a:pt x="77697" y="99491"/>
                </a:cubicBezTo>
                <a:lnTo>
                  <a:pt x="113982" y="63205"/>
                </a:lnTo>
                <a:close/>
              </a:path>
            </a:pathLst>
          </a:custGeom>
          <a:solidFill>
            <a:srgbClr val="0071E3"/>
          </a:solidFill>
          <a:ln/>
        </p:spPr>
        <p:txBody>
          <a:bodyPr/>
          <a:lstStyle/>
          <a:p>
            <a:endParaRPr lang="zh-CN" altLang="en-US"/>
          </a:p>
        </p:txBody>
      </p:sp>
      <p:sp>
        <p:nvSpPr>
          <p:cNvPr id="58" name="Text 56"/>
          <p:cNvSpPr/>
          <p:nvPr/>
        </p:nvSpPr>
        <p:spPr>
          <a:xfrm>
            <a:off x="6710160" y="5816774"/>
            <a:ext cx="4863428" cy="165878"/>
          </a:xfrm>
          <a:prstGeom prst="rect">
            <a:avLst/>
          </a:prstGeom>
          <a:noFill/>
          <a:ln/>
        </p:spPr>
        <p:txBody>
          <a:bodyPr wrap="square" lIns="0" tIns="0" rIns="0" bIns="0" rtlCol="0" anchor="ctr"/>
          <a:lstStyle/>
          <a:p>
            <a:pPr>
              <a:lnSpc>
                <a:spcPct val="120000"/>
              </a:lnSpc>
            </a:pPr>
            <a:r>
              <a:rPr lang="en-US" sz="914" dirty="0">
                <a:solidFill>
                  <a:srgbClr val="0071E3"/>
                </a:solidFill>
                <a:latin typeface="MiSans" pitchFamily="34" charset="0"/>
                <a:ea typeface="MiSans" pitchFamily="34" charset="-122"/>
                <a:cs typeface="MiSans" pitchFamily="34" charset="-120"/>
              </a:rPr>
              <a:t>应对：从上往下推广，典型场景突破</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0071E3"/>
                </a:solidFill>
                <a:latin typeface="MiSans" pitchFamily="34" charset="0"/>
                <a:ea typeface="MiSans" pitchFamily="34" charset="-122"/>
                <a:cs typeface="MiSans" pitchFamily="34" charset="-120"/>
              </a:rPr>
              <a:t>07 / 战略建议</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D1D1D"/>
                </a:solidFill>
                <a:latin typeface="MiSans" pitchFamily="34" charset="0"/>
                <a:ea typeface="MiSans" pitchFamily="34" charset="-122"/>
                <a:cs typeface="MiSans" pitchFamily="34" charset="-120"/>
              </a:rPr>
              <a:t>公司级落地战略建议</a:t>
            </a:r>
            <a:endParaRPr lang="en-US" sz="1600" dirty="0"/>
          </a:p>
        </p:txBody>
      </p:sp>
      <p:sp>
        <p:nvSpPr>
          <p:cNvPr id="4" name="Shape 2"/>
          <p:cNvSpPr/>
          <p:nvPr/>
        </p:nvSpPr>
        <p:spPr>
          <a:xfrm>
            <a:off x="384175" y="1260475"/>
            <a:ext cx="3673475" cy="2197100"/>
          </a:xfrm>
          <a:custGeom>
            <a:avLst/>
            <a:gdLst/>
            <a:ahLst/>
            <a:cxnLst/>
            <a:rect l="l" t="t" r="r" b="b"/>
            <a:pathLst>
              <a:path w="3673475" h="2197100">
                <a:moveTo>
                  <a:pt x="152391" y="0"/>
                </a:moveTo>
                <a:lnTo>
                  <a:pt x="3521084" y="0"/>
                </a:lnTo>
                <a:cubicBezTo>
                  <a:pt x="3605247" y="0"/>
                  <a:pt x="3673475" y="68228"/>
                  <a:pt x="3673475" y="152391"/>
                </a:cubicBezTo>
                <a:lnTo>
                  <a:pt x="3673475" y="2044709"/>
                </a:lnTo>
                <a:cubicBezTo>
                  <a:pt x="3673475" y="2128872"/>
                  <a:pt x="3605247" y="2197100"/>
                  <a:pt x="3521084" y="2197100"/>
                </a:cubicBezTo>
                <a:lnTo>
                  <a:pt x="152391" y="2197100"/>
                </a:lnTo>
                <a:cubicBezTo>
                  <a:pt x="68284" y="2197100"/>
                  <a:pt x="0" y="2128816"/>
                  <a:pt x="0" y="2044709"/>
                </a:cubicBezTo>
                <a:lnTo>
                  <a:pt x="0" y="152391"/>
                </a:lnTo>
                <a:cubicBezTo>
                  <a:pt x="0" y="68284"/>
                  <a:pt x="68284" y="0"/>
                  <a:pt x="152391"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zh-CN" altLang="en-US"/>
          </a:p>
        </p:txBody>
      </p:sp>
      <p:sp>
        <p:nvSpPr>
          <p:cNvPr id="5" name="Shape 3"/>
          <p:cNvSpPr/>
          <p:nvPr/>
        </p:nvSpPr>
        <p:spPr>
          <a:xfrm>
            <a:off x="615950" y="1492253"/>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6" name="Text 4"/>
          <p:cNvSpPr/>
          <p:nvPr/>
        </p:nvSpPr>
        <p:spPr>
          <a:xfrm>
            <a:off x="799604" y="1568453"/>
            <a:ext cx="200025" cy="304800"/>
          </a:xfrm>
          <a:prstGeom prst="rect">
            <a:avLst/>
          </a:prstGeom>
          <a:noFill/>
          <a:ln/>
        </p:spPr>
        <p:txBody>
          <a:bodyPr wrap="square" lIns="0" tIns="0" rIns="0" bIns="0" rtlCol="0" anchor="ctr"/>
          <a:lstStyle/>
          <a:p>
            <a:pPr>
              <a:lnSpc>
                <a:spcPct val="110000"/>
              </a:lnSpc>
            </a:pPr>
            <a:r>
              <a:rPr lang="en-US" sz="1800" b="1" dirty="0">
                <a:solidFill>
                  <a:srgbClr val="0071E3"/>
                </a:solidFill>
                <a:latin typeface="MiSans" pitchFamily="34" charset="0"/>
                <a:ea typeface="MiSans" pitchFamily="34" charset="-122"/>
                <a:cs typeface="MiSans" pitchFamily="34" charset="-120"/>
              </a:rPr>
              <a:t>1</a:t>
            </a:r>
            <a:endParaRPr lang="en-US" sz="1600" dirty="0"/>
          </a:p>
        </p:txBody>
      </p:sp>
      <p:sp>
        <p:nvSpPr>
          <p:cNvPr id="7" name="Text 5"/>
          <p:cNvSpPr/>
          <p:nvPr/>
        </p:nvSpPr>
        <p:spPr>
          <a:xfrm>
            <a:off x="1187450" y="1587503"/>
            <a:ext cx="7715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MiSans" pitchFamily="34" charset="0"/>
                <a:ea typeface="MiSans" pitchFamily="34" charset="-122"/>
                <a:cs typeface="MiSans" pitchFamily="34" charset="-120"/>
              </a:rPr>
              <a:t>战略定调</a:t>
            </a:r>
            <a:endParaRPr lang="en-US" sz="1600" dirty="0"/>
          </a:p>
        </p:txBody>
      </p:sp>
      <p:sp>
        <p:nvSpPr>
          <p:cNvPr id="8" name="Text 6"/>
          <p:cNvSpPr/>
          <p:nvPr/>
        </p:nvSpPr>
        <p:spPr>
          <a:xfrm>
            <a:off x="615950" y="2101853"/>
            <a:ext cx="3286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MiSans" pitchFamily="34" charset="0"/>
                <a:ea typeface="MiSans" pitchFamily="34" charset="-122"/>
                <a:cs typeface="MiSans" pitchFamily="34" charset="-120"/>
              </a:rPr>
              <a:t>必须试点，全面推广</a:t>
            </a:r>
            <a:endParaRPr lang="en-US" sz="1600" dirty="0"/>
          </a:p>
        </p:txBody>
      </p:sp>
      <p:sp>
        <p:nvSpPr>
          <p:cNvPr id="9" name="Text 7"/>
          <p:cNvSpPr/>
          <p:nvPr/>
        </p:nvSpPr>
        <p:spPr>
          <a:xfrm>
            <a:off x="615950" y="2444753"/>
            <a:ext cx="3276600" cy="64770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Vibe Coding已足够成熟，不再是"可选项"，而是"必选项"。立即启动试点，验证成功后全公司推广。犹豫将导致研发效率代差。</a:t>
            </a:r>
            <a:endParaRPr lang="en-US" sz="1600" dirty="0"/>
          </a:p>
        </p:txBody>
      </p:sp>
      <p:sp>
        <p:nvSpPr>
          <p:cNvPr id="10" name="Shape 8"/>
          <p:cNvSpPr/>
          <p:nvPr/>
        </p:nvSpPr>
        <p:spPr>
          <a:xfrm>
            <a:off x="4257675" y="1260475"/>
            <a:ext cx="3673475" cy="2197100"/>
          </a:xfrm>
          <a:custGeom>
            <a:avLst/>
            <a:gdLst/>
            <a:ahLst/>
            <a:cxnLst/>
            <a:rect l="l" t="t" r="r" b="b"/>
            <a:pathLst>
              <a:path w="3673475" h="2197100">
                <a:moveTo>
                  <a:pt x="152391" y="0"/>
                </a:moveTo>
                <a:lnTo>
                  <a:pt x="3521084" y="0"/>
                </a:lnTo>
                <a:cubicBezTo>
                  <a:pt x="3605247" y="0"/>
                  <a:pt x="3673475" y="68228"/>
                  <a:pt x="3673475" y="152391"/>
                </a:cubicBezTo>
                <a:lnTo>
                  <a:pt x="3673475" y="2044709"/>
                </a:lnTo>
                <a:cubicBezTo>
                  <a:pt x="3673475" y="2128872"/>
                  <a:pt x="3605247" y="2197100"/>
                  <a:pt x="3521084" y="2197100"/>
                </a:cubicBezTo>
                <a:lnTo>
                  <a:pt x="152391" y="2197100"/>
                </a:lnTo>
                <a:cubicBezTo>
                  <a:pt x="68284" y="2197100"/>
                  <a:pt x="0" y="2128816"/>
                  <a:pt x="0" y="2044709"/>
                </a:cubicBezTo>
                <a:lnTo>
                  <a:pt x="0" y="152391"/>
                </a:lnTo>
                <a:cubicBezTo>
                  <a:pt x="0" y="68284"/>
                  <a:pt x="68284" y="0"/>
                  <a:pt x="152391"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zh-CN" altLang="en-US"/>
          </a:p>
        </p:txBody>
      </p:sp>
      <p:sp>
        <p:nvSpPr>
          <p:cNvPr id="11" name="Shape 9"/>
          <p:cNvSpPr/>
          <p:nvPr/>
        </p:nvSpPr>
        <p:spPr>
          <a:xfrm>
            <a:off x="4489450" y="1492253"/>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12" name="Text 10"/>
          <p:cNvSpPr/>
          <p:nvPr/>
        </p:nvSpPr>
        <p:spPr>
          <a:xfrm>
            <a:off x="4653756" y="1568453"/>
            <a:ext cx="238125" cy="304800"/>
          </a:xfrm>
          <a:prstGeom prst="rect">
            <a:avLst/>
          </a:prstGeom>
          <a:noFill/>
          <a:ln/>
        </p:spPr>
        <p:txBody>
          <a:bodyPr wrap="square" lIns="0" tIns="0" rIns="0" bIns="0" rtlCol="0" anchor="ctr"/>
          <a:lstStyle/>
          <a:p>
            <a:pPr>
              <a:lnSpc>
                <a:spcPct val="110000"/>
              </a:lnSpc>
            </a:pPr>
            <a:r>
              <a:rPr lang="en-US" sz="1800" b="1" dirty="0">
                <a:solidFill>
                  <a:srgbClr val="0071E3"/>
                </a:solidFill>
                <a:latin typeface="MiSans" pitchFamily="34" charset="0"/>
                <a:ea typeface="MiSans" pitchFamily="34" charset="-122"/>
                <a:cs typeface="MiSans" pitchFamily="34" charset="-120"/>
              </a:rPr>
              <a:t>2</a:t>
            </a:r>
            <a:endParaRPr lang="en-US" sz="1600" dirty="0"/>
          </a:p>
        </p:txBody>
      </p:sp>
      <p:sp>
        <p:nvSpPr>
          <p:cNvPr id="13" name="Text 11"/>
          <p:cNvSpPr/>
          <p:nvPr/>
        </p:nvSpPr>
        <p:spPr>
          <a:xfrm>
            <a:off x="5060950" y="1587503"/>
            <a:ext cx="7715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MiSans" pitchFamily="34" charset="0"/>
                <a:ea typeface="MiSans" pitchFamily="34" charset="-122"/>
                <a:cs typeface="MiSans" pitchFamily="34" charset="-120"/>
              </a:rPr>
              <a:t>资源规划</a:t>
            </a:r>
            <a:endParaRPr lang="en-US" sz="1600" dirty="0"/>
          </a:p>
        </p:txBody>
      </p:sp>
      <p:sp>
        <p:nvSpPr>
          <p:cNvPr id="14" name="Text 12"/>
          <p:cNvSpPr/>
          <p:nvPr/>
        </p:nvSpPr>
        <p:spPr>
          <a:xfrm>
            <a:off x="4489450" y="2101853"/>
            <a:ext cx="3286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MiSans" pitchFamily="34" charset="0"/>
                <a:ea typeface="MiSans" pitchFamily="34" charset="-122"/>
                <a:cs typeface="MiSans" pitchFamily="34" charset="-120"/>
              </a:rPr>
              <a:t>算力即生产力</a:t>
            </a:r>
            <a:endParaRPr lang="en-US" sz="1600" dirty="0"/>
          </a:p>
        </p:txBody>
      </p:sp>
      <p:sp>
        <p:nvSpPr>
          <p:cNvPr id="15" name="Text 13"/>
          <p:cNvSpPr/>
          <p:nvPr/>
        </p:nvSpPr>
        <p:spPr>
          <a:xfrm>
            <a:off x="4489450" y="2444753"/>
            <a:ext cx="3276600" cy="64770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Vibe Coding高频交互、长上下文特性导致</a:t>
            </a:r>
            <a:r>
              <a:rPr lang="en-US" sz="1050" b="1" dirty="0">
                <a:solidFill>
                  <a:srgbClr val="0071E3"/>
                </a:solidFill>
                <a:latin typeface="MiSans" pitchFamily="34" charset="0"/>
                <a:ea typeface="MiSans" pitchFamily="34" charset="-122"/>
                <a:cs typeface="MiSans" pitchFamily="34" charset="-120"/>
              </a:rPr>
              <a:t>算力消耗巨大</a:t>
            </a:r>
            <a:r>
              <a:rPr lang="en-US" sz="1050" dirty="0">
                <a:solidFill>
                  <a:srgbClr val="86868B"/>
                </a:solidFill>
                <a:latin typeface="MiSans" pitchFamily="34" charset="0"/>
                <a:ea typeface="MiSans" pitchFamily="34" charset="-122"/>
                <a:cs typeface="MiSans" pitchFamily="34" charset="-120"/>
              </a:rPr>
              <a:t>。先期限制使用用户（如核心团队），但必须确保</a:t>
            </a:r>
            <a:r>
              <a:rPr lang="en-US" sz="1050" b="1" dirty="0">
                <a:solidFill>
                  <a:srgbClr val="0071E3"/>
                </a:solidFill>
                <a:latin typeface="MiSans" pitchFamily="34" charset="0"/>
                <a:ea typeface="MiSans" pitchFamily="34" charset="-122"/>
                <a:cs typeface="MiSans" pitchFamily="34" charset="-120"/>
              </a:rPr>
              <a:t>算力储备充足</a:t>
            </a:r>
            <a:r>
              <a:rPr lang="en-US" sz="1050" dirty="0">
                <a:solidFill>
                  <a:srgbClr val="86868B"/>
                </a:solidFill>
                <a:latin typeface="MiSans" pitchFamily="34" charset="0"/>
                <a:ea typeface="MiSans" pitchFamily="34" charset="-122"/>
                <a:cs typeface="MiSans" pitchFamily="34" charset="-120"/>
              </a:rPr>
              <a:t>，避免体验中断。</a:t>
            </a:r>
            <a:endParaRPr lang="en-US" sz="1600" dirty="0"/>
          </a:p>
        </p:txBody>
      </p:sp>
      <p:sp>
        <p:nvSpPr>
          <p:cNvPr id="16" name="Shape 14"/>
          <p:cNvSpPr/>
          <p:nvPr/>
        </p:nvSpPr>
        <p:spPr>
          <a:xfrm>
            <a:off x="8131175" y="1260475"/>
            <a:ext cx="3673475" cy="2197100"/>
          </a:xfrm>
          <a:custGeom>
            <a:avLst/>
            <a:gdLst/>
            <a:ahLst/>
            <a:cxnLst/>
            <a:rect l="l" t="t" r="r" b="b"/>
            <a:pathLst>
              <a:path w="3673475" h="2197100">
                <a:moveTo>
                  <a:pt x="152391" y="0"/>
                </a:moveTo>
                <a:lnTo>
                  <a:pt x="3521084" y="0"/>
                </a:lnTo>
                <a:cubicBezTo>
                  <a:pt x="3605247" y="0"/>
                  <a:pt x="3673475" y="68228"/>
                  <a:pt x="3673475" y="152391"/>
                </a:cubicBezTo>
                <a:lnTo>
                  <a:pt x="3673475" y="2044709"/>
                </a:lnTo>
                <a:cubicBezTo>
                  <a:pt x="3673475" y="2128872"/>
                  <a:pt x="3605247" y="2197100"/>
                  <a:pt x="3521084" y="2197100"/>
                </a:cubicBezTo>
                <a:lnTo>
                  <a:pt x="152391" y="2197100"/>
                </a:lnTo>
                <a:cubicBezTo>
                  <a:pt x="68284" y="2197100"/>
                  <a:pt x="0" y="2128816"/>
                  <a:pt x="0" y="2044709"/>
                </a:cubicBezTo>
                <a:lnTo>
                  <a:pt x="0" y="152391"/>
                </a:lnTo>
                <a:cubicBezTo>
                  <a:pt x="0" y="68284"/>
                  <a:pt x="68284" y="0"/>
                  <a:pt x="152391"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zh-CN" altLang="en-US"/>
          </a:p>
        </p:txBody>
      </p:sp>
      <p:sp>
        <p:nvSpPr>
          <p:cNvPr id="17" name="Shape 15"/>
          <p:cNvSpPr/>
          <p:nvPr/>
        </p:nvSpPr>
        <p:spPr>
          <a:xfrm>
            <a:off x="8362950" y="1492253"/>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18" name="Text 16"/>
          <p:cNvSpPr/>
          <p:nvPr/>
        </p:nvSpPr>
        <p:spPr>
          <a:xfrm>
            <a:off x="8524280" y="1568453"/>
            <a:ext cx="247650" cy="304800"/>
          </a:xfrm>
          <a:prstGeom prst="rect">
            <a:avLst/>
          </a:prstGeom>
          <a:noFill/>
          <a:ln/>
        </p:spPr>
        <p:txBody>
          <a:bodyPr wrap="square" lIns="0" tIns="0" rIns="0" bIns="0" rtlCol="0" anchor="ctr"/>
          <a:lstStyle/>
          <a:p>
            <a:pPr>
              <a:lnSpc>
                <a:spcPct val="110000"/>
              </a:lnSpc>
            </a:pPr>
            <a:r>
              <a:rPr lang="en-US" sz="1800" b="1" dirty="0">
                <a:solidFill>
                  <a:srgbClr val="0071E3"/>
                </a:solidFill>
                <a:latin typeface="MiSans" pitchFamily="34" charset="0"/>
                <a:ea typeface="MiSans" pitchFamily="34" charset="-122"/>
                <a:cs typeface="MiSans" pitchFamily="34" charset="-120"/>
              </a:rPr>
              <a:t>3</a:t>
            </a:r>
            <a:endParaRPr lang="en-US" sz="1600" dirty="0"/>
          </a:p>
        </p:txBody>
      </p:sp>
      <p:sp>
        <p:nvSpPr>
          <p:cNvPr id="19" name="Text 17"/>
          <p:cNvSpPr/>
          <p:nvPr/>
        </p:nvSpPr>
        <p:spPr>
          <a:xfrm>
            <a:off x="8934450" y="1587503"/>
            <a:ext cx="7715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MiSans" pitchFamily="34" charset="0"/>
                <a:ea typeface="MiSans" pitchFamily="34" charset="-122"/>
                <a:cs typeface="MiSans" pitchFamily="34" charset="-120"/>
              </a:rPr>
              <a:t>模型选型</a:t>
            </a:r>
            <a:endParaRPr lang="en-US" sz="1600" dirty="0"/>
          </a:p>
        </p:txBody>
      </p:sp>
      <p:sp>
        <p:nvSpPr>
          <p:cNvPr id="20" name="Text 18"/>
          <p:cNvSpPr/>
          <p:nvPr/>
        </p:nvSpPr>
        <p:spPr>
          <a:xfrm>
            <a:off x="8362950" y="2101853"/>
            <a:ext cx="3286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MiSans" pitchFamily="34" charset="0"/>
                <a:ea typeface="MiSans" pitchFamily="34" charset="-122"/>
                <a:cs typeface="MiSans" pitchFamily="34" charset="-120"/>
              </a:rPr>
              <a:t>唯新唯强</a:t>
            </a:r>
            <a:endParaRPr lang="en-US" sz="1600" dirty="0"/>
          </a:p>
        </p:txBody>
      </p:sp>
      <p:sp>
        <p:nvSpPr>
          <p:cNvPr id="21" name="Text 19"/>
          <p:cNvSpPr/>
          <p:nvPr/>
        </p:nvSpPr>
        <p:spPr>
          <a:xfrm>
            <a:off x="8362950" y="2444753"/>
            <a:ext cx="32766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必须使用</a:t>
            </a:r>
            <a:r>
              <a:rPr lang="en-US" sz="1050" b="1" dirty="0">
                <a:solidFill>
                  <a:srgbClr val="0071E3"/>
                </a:solidFill>
                <a:latin typeface="MiSans" pitchFamily="34" charset="0"/>
                <a:ea typeface="MiSans" pitchFamily="34" charset="-122"/>
                <a:cs typeface="MiSans" pitchFamily="34" charset="-120"/>
              </a:rPr>
              <a:t>最新的、满血非量化</a:t>
            </a:r>
            <a:r>
              <a:rPr lang="en-US" sz="1050" dirty="0">
                <a:solidFill>
                  <a:srgbClr val="86868B"/>
                </a:solidFill>
                <a:latin typeface="MiSans" pitchFamily="34" charset="0"/>
                <a:ea typeface="MiSans" pitchFamily="34" charset="-122"/>
                <a:cs typeface="MiSans" pitchFamily="34" charset="-120"/>
              </a:rPr>
              <a:t>模型。实践来看，版本差异导致产出质量鸿沟。</a:t>
            </a:r>
            <a:endParaRPr lang="en-US" sz="1600" dirty="0"/>
          </a:p>
        </p:txBody>
      </p:sp>
      <p:sp>
        <p:nvSpPr>
          <p:cNvPr id="22" name="Shape 20"/>
          <p:cNvSpPr/>
          <p:nvPr/>
        </p:nvSpPr>
        <p:spPr>
          <a:xfrm>
            <a:off x="8362950" y="2992441"/>
            <a:ext cx="704850" cy="228600"/>
          </a:xfrm>
          <a:custGeom>
            <a:avLst/>
            <a:gdLst/>
            <a:ahLst/>
            <a:cxnLst/>
            <a:rect l="l" t="t" r="r" b="b"/>
            <a:pathLst>
              <a:path w="704850" h="228600">
                <a:moveTo>
                  <a:pt x="114300" y="0"/>
                </a:moveTo>
                <a:lnTo>
                  <a:pt x="590550" y="0"/>
                </a:lnTo>
                <a:cubicBezTo>
                  <a:pt x="653634" y="0"/>
                  <a:pt x="704850" y="51216"/>
                  <a:pt x="704850" y="114300"/>
                </a:cubicBezTo>
                <a:lnTo>
                  <a:pt x="704850" y="114300"/>
                </a:lnTo>
                <a:cubicBezTo>
                  <a:pt x="704850" y="177384"/>
                  <a:pt x="653634" y="228600"/>
                  <a:pt x="590550" y="228600"/>
                </a:cubicBezTo>
                <a:lnTo>
                  <a:pt x="114300" y="228600"/>
                </a:lnTo>
                <a:cubicBezTo>
                  <a:pt x="51216" y="228600"/>
                  <a:pt x="0" y="177384"/>
                  <a:pt x="0" y="1143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23" name="Text 21"/>
          <p:cNvSpPr/>
          <p:nvPr/>
        </p:nvSpPr>
        <p:spPr>
          <a:xfrm>
            <a:off x="8362950" y="2992441"/>
            <a:ext cx="762000" cy="228600"/>
          </a:xfrm>
          <a:prstGeom prst="rect">
            <a:avLst/>
          </a:prstGeom>
          <a:noFill/>
          <a:ln/>
        </p:spPr>
        <p:txBody>
          <a:bodyPr wrap="square" lIns="114300" tIns="38100" rIns="114300" bIns="38100" rtlCol="0" anchor="ctr"/>
          <a:lstStyle/>
          <a:p>
            <a:pPr>
              <a:lnSpc>
                <a:spcPct val="110000"/>
              </a:lnSpc>
            </a:pPr>
            <a:r>
              <a:rPr lang="en-US" sz="900" dirty="0">
                <a:solidFill>
                  <a:srgbClr val="0071E3"/>
                </a:solidFill>
                <a:latin typeface="MiSans" pitchFamily="34" charset="0"/>
                <a:ea typeface="MiSans" pitchFamily="34" charset="-122"/>
                <a:cs typeface="MiSans" pitchFamily="34" charset="-120"/>
              </a:rPr>
              <a:t>Qwen3.5</a:t>
            </a:r>
            <a:endParaRPr lang="en-US" sz="1600" dirty="0"/>
          </a:p>
        </p:txBody>
      </p:sp>
      <p:sp>
        <p:nvSpPr>
          <p:cNvPr id="24" name="Shape 22"/>
          <p:cNvSpPr/>
          <p:nvPr/>
        </p:nvSpPr>
        <p:spPr>
          <a:xfrm>
            <a:off x="9141916" y="2992441"/>
            <a:ext cx="600075" cy="228600"/>
          </a:xfrm>
          <a:custGeom>
            <a:avLst/>
            <a:gdLst/>
            <a:ahLst/>
            <a:cxnLst/>
            <a:rect l="l" t="t" r="r" b="b"/>
            <a:pathLst>
              <a:path w="600075" h="228600">
                <a:moveTo>
                  <a:pt x="114300" y="0"/>
                </a:moveTo>
                <a:lnTo>
                  <a:pt x="485775" y="0"/>
                </a:lnTo>
                <a:cubicBezTo>
                  <a:pt x="548859" y="0"/>
                  <a:pt x="600075" y="51216"/>
                  <a:pt x="600075" y="114300"/>
                </a:cubicBezTo>
                <a:lnTo>
                  <a:pt x="600075" y="114300"/>
                </a:lnTo>
                <a:cubicBezTo>
                  <a:pt x="600075" y="177384"/>
                  <a:pt x="548859" y="228600"/>
                  <a:pt x="485775" y="228600"/>
                </a:cubicBezTo>
                <a:lnTo>
                  <a:pt x="114300" y="228600"/>
                </a:lnTo>
                <a:cubicBezTo>
                  <a:pt x="51216" y="228600"/>
                  <a:pt x="0" y="177384"/>
                  <a:pt x="0" y="1143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25" name="Text 23"/>
          <p:cNvSpPr/>
          <p:nvPr/>
        </p:nvSpPr>
        <p:spPr>
          <a:xfrm>
            <a:off x="9141916" y="2992441"/>
            <a:ext cx="657225" cy="228600"/>
          </a:xfrm>
          <a:prstGeom prst="rect">
            <a:avLst/>
          </a:prstGeom>
          <a:noFill/>
          <a:ln/>
        </p:spPr>
        <p:txBody>
          <a:bodyPr wrap="square" lIns="114300" tIns="38100" rIns="114300" bIns="38100" rtlCol="0" anchor="ctr"/>
          <a:lstStyle/>
          <a:p>
            <a:pPr>
              <a:lnSpc>
                <a:spcPct val="110000"/>
              </a:lnSpc>
            </a:pPr>
            <a:r>
              <a:rPr lang="en-US" sz="900" dirty="0">
                <a:solidFill>
                  <a:srgbClr val="0071E3"/>
                </a:solidFill>
                <a:latin typeface="MiSans" pitchFamily="34" charset="0"/>
                <a:ea typeface="MiSans" pitchFamily="34" charset="-122"/>
                <a:cs typeface="MiSans" pitchFamily="34" charset="-120"/>
              </a:rPr>
              <a:t>GLM-5</a:t>
            </a:r>
            <a:endParaRPr lang="en-US" sz="1600" dirty="0"/>
          </a:p>
        </p:txBody>
      </p:sp>
      <p:sp>
        <p:nvSpPr>
          <p:cNvPr id="26" name="Shape 24"/>
          <p:cNvSpPr/>
          <p:nvPr/>
        </p:nvSpPr>
        <p:spPr>
          <a:xfrm>
            <a:off x="9813925" y="2992441"/>
            <a:ext cx="981075" cy="228600"/>
          </a:xfrm>
          <a:custGeom>
            <a:avLst/>
            <a:gdLst/>
            <a:ahLst/>
            <a:cxnLst/>
            <a:rect l="l" t="t" r="r" b="b"/>
            <a:pathLst>
              <a:path w="981075" h="228600">
                <a:moveTo>
                  <a:pt x="114300" y="0"/>
                </a:moveTo>
                <a:lnTo>
                  <a:pt x="866775" y="0"/>
                </a:lnTo>
                <a:cubicBezTo>
                  <a:pt x="929859" y="0"/>
                  <a:pt x="981075" y="51216"/>
                  <a:pt x="981075" y="114300"/>
                </a:cubicBezTo>
                <a:lnTo>
                  <a:pt x="981075" y="114300"/>
                </a:lnTo>
                <a:cubicBezTo>
                  <a:pt x="981075" y="177384"/>
                  <a:pt x="929859" y="228600"/>
                  <a:pt x="866775" y="228600"/>
                </a:cubicBezTo>
                <a:lnTo>
                  <a:pt x="114300" y="228600"/>
                </a:lnTo>
                <a:cubicBezTo>
                  <a:pt x="51216" y="228600"/>
                  <a:pt x="0" y="177384"/>
                  <a:pt x="0" y="1143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27" name="Text 25"/>
          <p:cNvSpPr/>
          <p:nvPr/>
        </p:nvSpPr>
        <p:spPr>
          <a:xfrm>
            <a:off x="9813925" y="2992441"/>
            <a:ext cx="1038225" cy="228600"/>
          </a:xfrm>
          <a:prstGeom prst="rect">
            <a:avLst/>
          </a:prstGeom>
          <a:noFill/>
          <a:ln/>
        </p:spPr>
        <p:txBody>
          <a:bodyPr wrap="square" lIns="114300" tIns="38100" rIns="114300" bIns="38100" rtlCol="0" anchor="ctr"/>
          <a:lstStyle/>
          <a:p>
            <a:pPr>
              <a:lnSpc>
                <a:spcPct val="110000"/>
              </a:lnSpc>
            </a:pPr>
            <a:r>
              <a:rPr lang="en-US" sz="900" dirty="0">
                <a:solidFill>
                  <a:srgbClr val="0071E3"/>
                </a:solidFill>
                <a:latin typeface="MiSans" pitchFamily="34" charset="0"/>
                <a:ea typeface="MiSans" pitchFamily="34" charset="-122"/>
                <a:cs typeface="MiSans" pitchFamily="34" charset="-120"/>
              </a:rPr>
              <a:t>Minimax-M2.5</a:t>
            </a:r>
            <a:endParaRPr lang="en-US" sz="1600" dirty="0"/>
          </a:p>
        </p:txBody>
      </p:sp>
      <p:sp>
        <p:nvSpPr>
          <p:cNvPr id="28" name="Shape 26"/>
          <p:cNvSpPr/>
          <p:nvPr/>
        </p:nvSpPr>
        <p:spPr>
          <a:xfrm>
            <a:off x="384175" y="3687769"/>
            <a:ext cx="3673475" cy="2063750"/>
          </a:xfrm>
          <a:custGeom>
            <a:avLst/>
            <a:gdLst/>
            <a:ahLst/>
            <a:cxnLst/>
            <a:rect l="l" t="t" r="r" b="b"/>
            <a:pathLst>
              <a:path w="3673475" h="2063750">
                <a:moveTo>
                  <a:pt x="152408" y="0"/>
                </a:moveTo>
                <a:lnTo>
                  <a:pt x="3521067" y="0"/>
                </a:lnTo>
                <a:cubicBezTo>
                  <a:pt x="3605240" y="0"/>
                  <a:pt x="3673475" y="68235"/>
                  <a:pt x="3673475" y="152408"/>
                </a:cubicBezTo>
                <a:lnTo>
                  <a:pt x="3673475" y="1911342"/>
                </a:lnTo>
                <a:cubicBezTo>
                  <a:pt x="3673475" y="1995515"/>
                  <a:pt x="3605240" y="2063750"/>
                  <a:pt x="3521067" y="2063750"/>
                </a:cubicBezTo>
                <a:lnTo>
                  <a:pt x="152408" y="2063750"/>
                </a:lnTo>
                <a:cubicBezTo>
                  <a:pt x="68235" y="2063750"/>
                  <a:pt x="0" y="1995515"/>
                  <a:pt x="0" y="1911342"/>
                </a:cubicBezTo>
                <a:lnTo>
                  <a:pt x="0" y="152408"/>
                </a:lnTo>
                <a:cubicBezTo>
                  <a:pt x="0" y="68292"/>
                  <a:pt x="68292" y="0"/>
                  <a:pt x="152408"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zh-CN" altLang="en-US"/>
          </a:p>
        </p:txBody>
      </p:sp>
      <p:sp>
        <p:nvSpPr>
          <p:cNvPr id="29" name="Shape 27"/>
          <p:cNvSpPr/>
          <p:nvPr/>
        </p:nvSpPr>
        <p:spPr>
          <a:xfrm>
            <a:off x="615950" y="3919537"/>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30" name="Text 28"/>
          <p:cNvSpPr/>
          <p:nvPr/>
        </p:nvSpPr>
        <p:spPr>
          <a:xfrm>
            <a:off x="777478" y="3995738"/>
            <a:ext cx="247650" cy="304800"/>
          </a:xfrm>
          <a:prstGeom prst="rect">
            <a:avLst/>
          </a:prstGeom>
          <a:noFill/>
          <a:ln/>
        </p:spPr>
        <p:txBody>
          <a:bodyPr wrap="square" lIns="0" tIns="0" rIns="0" bIns="0" rtlCol="0" anchor="ctr"/>
          <a:lstStyle/>
          <a:p>
            <a:pPr>
              <a:lnSpc>
                <a:spcPct val="110000"/>
              </a:lnSpc>
            </a:pPr>
            <a:r>
              <a:rPr lang="en-US" sz="1800" b="1" dirty="0">
                <a:solidFill>
                  <a:srgbClr val="0071E3"/>
                </a:solidFill>
                <a:latin typeface="MiSans" pitchFamily="34" charset="0"/>
                <a:ea typeface="MiSans" pitchFamily="34" charset="-122"/>
                <a:cs typeface="MiSans" pitchFamily="34" charset="-120"/>
              </a:rPr>
              <a:t>4</a:t>
            </a:r>
            <a:endParaRPr lang="en-US" sz="1600" dirty="0"/>
          </a:p>
        </p:txBody>
      </p:sp>
      <p:sp>
        <p:nvSpPr>
          <p:cNvPr id="31" name="Text 29"/>
          <p:cNvSpPr/>
          <p:nvPr/>
        </p:nvSpPr>
        <p:spPr>
          <a:xfrm>
            <a:off x="1187450" y="4014788"/>
            <a:ext cx="7715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MiSans" pitchFamily="34" charset="0"/>
                <a:ea typeface="MiSans" pitchFamily="34" charset="-122"/>
                <a:cs typeface="MiSans" pitchFamily="34" charset="-120"/>
              </a:rPr>
              <a:t>推广策略</a:t>
            </a:r>
            <a:endParaRPr lang="en-US" sz="1600" dirty="0"/>
          </a:p>
        </p:txBody>
      </p:sp>
      <p:sp>
        <p:nvSpPr>
          <p:cNvPr id="32" name="Text 30"/>
          <p:cNvSpPr/>
          <p:nvPr/>
        </p:nvSpPr>
        <p:spPr>
          <a:xfrm>
            <a:off x="615950" y="4529138"/>
            <a:ext cx="3286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MiSans" pitchFamily="34" charset="0"/>
                <a:ea typeface="MiSans" pitchFamily="34" charset="-122"/>
                <a:cs typeface="MiSans" pitchFamily="34" charset="-120"/>
              </a:rPr>
              <a:t>自上而下，典型突破</a:t>
            </a:r>
            <a:endParaRPr lang="en-US" sz="1600" dirty="0"/>
          </a:p>
        </p:txBody>
      </p:sp>
      <p:sp>
        <p:nvSpPr>
          <p:cNvPr id="33" name="Text 31"/>
          <p:cNvSpPr/>
          <p:nvPr/>
        </p:nvSpPr>
        <p:spPr>
          <a:xfrm>
            <a:off x="615950" y="4872038"/>
            <a:ext cx="3276600" cy="647700"/>
          </a:xfrm>
          <a:prstGeom prst="rect">
            <a:avLst/>
          </a:prstGeom>
          <a:noFill/>
          <a:ln/>
        </p:spPr>
        <p:txBody>
          <a:bodyPr wrap="square" lIns="0" tIns="0" rIns="0" bIns="0" rtlCol="0" anchor="ctr"/>
          <a:lstStyle/>
          <a:p>
            <a:pPr>
              <a:lnSpc>
                <a:spcPct val="140000"/>
              </a:lnSpc>
            </a:pPr>
            <a:r>
              <a:rPr lang="en-US" sz="1050" b="1" dirty="0">
                <a:solidFill>
                  <a:srgbClr val="0071E3"/>
                </a:solidFill>
                <a:latin typeface="MiSans" pitchFamily="34" charset="0"/>
                <a:ea typeface="MiSans" pitchFamily="34" charset="-122"/>
                <a:cs typeface="MiSans" pitchFamily="34" charset="-120"/>
              </a:rPr>
              <a:t>从上往下推广</a:t>
            </a:r>
            <a:r>
              <a:rPr lang="en-US" sz="1050" dirty="0">
                <a:solidFill>
                  <a:srgbClr val="86868B"/>
                </a:solidFill>
                <a:latin typeface="MiSans" pitchFamily="34" charset="0"/>
                <a:ea typeface="MiSans" pitchFamily="34" charset="-122"/>
                <a:cs typeface="MiSans" pitchFamily="34" charset="-120"/>
              </a:rPr>
              <a:t>，至少从团队长/架构师开始。管理者先用，消除团队顾虑。挑选</a:t>
            </a:r>
            <a:r>
              <a:rPr lang="en-US" sz="1050" b="1" dirty="0">
                <a:solidFill>
                  <a:srgbClr val="0071E3"/>
                </a:solidFill>
                <a:latin typeface="MiSans" pitchFamily="34" charset="0"/>
                <a:ea typeface="MiSans" pitchFamily="34" charset="-122"/>
                <a:cs typeface="MiSans" pitchFamily="34" charset="-120"/>
              </a:rPr>
              <a:t>典型应用</a:t>
            </a:r>
            <a:r>
              <a:rPr lang="en-US" sz="1050" dirty="0">
                <a:solidFill>
                  <a:srgbClr val="86868B"/>
                </a:solidFill>
                <a:latin typeface="MiSans" pitchFamily="34" charset="0"/>
                <a:ea typeface="MiSans" pitchFamily="34" charset="-122"/>
                <a:cs typeface="MiSans" pitchFamily="34" charset="-120"/>
              </a:rPr>
              <a:t>（如快速原型、遗留重构）作为第一批突破口。</a:t>
            </a:r>
            <a:endParaRPr lang="en-US" sz="1600" dirty="0"/>
          </a:p>
        </p:txBody>
      </p:sp>
      <p:sp>
        <p:nvSpPr>
          <p:cNvPr id="34" name="Shape 32"/>
          <p:cNvSpPr/>
          <p:nvPr/>
        </p:nvSpPr>
        <p:spPr>
          <a:xfrm>
            <a:off x="4257675" y="3687769"/>
            <a:ext cx="3673475" cy="2063750"/>
          </a:xfrm>
          <a:custGeom>
            <a:avLst/>
            <a:gdLst/>
            <a:ahLst/>
            <a:cxnLst/>
            <a:rect l="l" t="t" r="r" b="b"/>
            <a:pathLst>
              <a:path w="3673475" h="2063750">
                <a:moveTo>
                  <a:pt x="152408" y="0"/>
                </a:moveTo>
                <a:lnTo>
                  <a:pt x="3521067" y="0"/>
                </a:lnTo>
                <a:cubicBezTo>
                  <a:pt x="3605240" y="0"/>
                  <a:pt x="3673475" y="68235"/>
                  <a:pt x="3673475" y="152408"/>
                </a:cubicBezTo>
                <a:lnTo>
                  <a:pt x="3673475" y="1911342"/>
                </a:lnTo>
                <a:cubicBezTo>
                  <a:pt x="3673475" y="1995515"/>
                  <a:pt x="3605240" y="2063750"/>
                  <a:pt x="3521067" y="2063750"/>
                </a:cubicBezTo>
                <a:lnTo>
                  <a:pt x="152408" y="2063750"/>
                </a:lnTo>
                <a:cubicBezTo>
                  <a:pt x="68235" y="2063750"/>
                  <a:pt x="0" y="1995515"/>
                  <a:pt x="0" y="1911342"/>
                </a:cubicBezTo>
                <a:lnTo>
                  <a:pt x="0" y="152408"/>
                </a:lnTo>
                <a:cubicBezTo>
                  <a:pt x="0" y="68292"/>
                  <a:pt x="68292" y="0"/>
                  <a:pt x="152408"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zh-CN" altLang="en-US"/>
          </a:p>
        </p:txBody>
      </p:sp>
      <p:sp>
        <p:nvSpPr>
          <p:cNvPr id="35" name="Shape 33"/>
          <p:cNvSpPr/>
          <p:nvPr/>
        </p:nvSpPr>
        <p:spPr>
          <a:xfrm>
            <a:off x="4489450" y="3919537"/>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36" name="Text 34"/>
          <p:cNvSpPr/>
          <p:nvPr/>
        </p:nvSpPr>
        <p:spPr>
          <a:xfrm>
            <a:off x="4649788" y="3995738"/>
            <a:ext cx="247650" cy="304800"/>
          </a:xfrm>
          <a:prstGeom prst="rect">
            <a:avLst/>
          </a:prstGeom>
          <a:noFill/>
          <a:ln/>
        </p:spPr>
        <p:txBody>
          <a:bodyPr wrap="square" lIns="0" tIns="0" rIns="0" bIns="0" rtlCol="0" anchor="ctr"/>
          <a:lstStyle/>
          <a:p>
            <a:pPr>
              <a:lnSpc>
                <a:spcPct val="110000"/>
              </a:lnSpc>
            </a:pPr>
            <a:r>
              <a:rPr lang="en-US" sz="1800" b="1" dirty="0">
                <a:solidFill>
                  <a:srgbClr val="0071E3"/>
                </a:solidFill>
                <a:latin typeface="MiSans" pitchFamily="34" charset="0"/>
                <a:ea typeface="MiSans" pitchFamily="34" charset="-122"/>
                <a:cs typeface="MiSans" pitchFamily="34" charset="-120"/>
              </a:rPr>
              <a:t>5</a:t>
            </a:r>
            <a:endParaRPr lang="en-US" sz="1600" dirty="0"/>
          </a:p>
        </p:txBody>
      </p:sp>
      <p:sp>
        <p:nvSpPr>
          <p:cNvPr id="37" name="Text 35"/>
          <p:cNvSpPr/>
          <p:nvPr/>
        </p:nvSpPr>
        <p:spPr>
          <a:xfrm>
            <a:off x="5060950" y="4014788"/>
            <a:ext cx="77152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MiSans" pitchFamily="34" charset="0"/>
                <a:ea typeface="MiSans" pitchFamily="34" charset="-122"/>
                <a:cs typeface="MiSans" pitchFamily="34" charset="-120"/>
              </a:rPr>
              <a:t>平台赋能</a:t>
            </a:r>
            <a:endParaRPr lang="en-US" sz="1600" dirty="0"/>
          </a:p>
        </p:txBody>
      </p:sp>
      <p:sp>
        <p:nvSpPr>
          <p:cNvPr id="38" name="Text 36"/>
          <p:cNvSpPr/>
          <p:nvPr/>
        </p:nvSpPr>
        <p:spPr>
          <a:xfrm>
            <a:off x="4489450" y="4529138"/>
            <a:ext cx="3286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MiSans" pitchFamily="34" charset="0"/>
                <a:ea typeface="MiSans" pitchFamily="34" charset="-122"/>
                <a:cs typeface="MiSans" pitchFamily="34" charset="-120"/>
              </a:rPr>
              <a:t>OpenCode定位</a:t>
            </a:r>
            <a:endParaRPr lang="en-US" sz="1600" dirty="0"/>
          </a:p>
        </p:txBody>
      </p:sp>
      <p:sp>
        <p:nvSpPr>
          <p:cNvPr id="39" name="Text 37"/>
          <p:cNvSpPr/>
          <p:nvPr/>
        </p:nvSpPr>
        <p:spPr>
          <a:xfrm>
            <a:off x="4489450" y="4872038"/>
            <a:ext cx="3276600" cy="438150"/>
          </a:xfrm>
          <a:prstGeom prst="rect">
            <a:avLst/>
          </a:prstGeom>
          <a:noFill/>
          <a:ln/>
        </p:spPr>
        <p:txBody>
          <a:bodyPr wrap="square" lIns="0" tIns="0" rIns="0" bIns="0" rtlCol="0" anchor="ctr"/>
          <a:lstStyle/>
          <a:p>
            <a:pPr>
              <a:lnSpc>
                <a:spcPct val="140000"/>
              </a:lnSpc>
            </a:pPr>
            <a:r>
              <a:rPr lang="en-US" sz="1050" b="1" dirty="0">
                <a:solidFill>
                  <a:srgbClr val="0071E3"/>
                </a:solidFill>
                <a:latin typeface="MiSans" pitchFamily="34" charset="0"/>
                <a:ea typeface="MiSans" pitchFamily="34" charset="-122"/>
                <a:cs typeface="MiSans" pitchFamily="34" charset="-120"/>
              </a:rPr>
              <a:t>开箱即用</a:t>
            </a:r>
            <a:r>
              <a:rPr lang="en-US" sz="1050" dirty="0">
                <a:solidFill>
                  <a:srgbClr val="86868B"/>
                </a:solidFill>
                <a:latin typeface="MiSans" pitchFamily="34" charset="0"/>
                <a:ea typeface="MiSans" pitchFamily="34" charset="-122"/>
                <a:cs typeface="MiSans" pitchFamily="34" charset="-120"/>
              </a:rPr>
              <a:t>的开放开发运行平台 + 大模型内积的广泛知识库。实现"</a:t>
            </a:r>
            <a:r>
              <a:rPr lang="en-US" sz="1050" b="1" dirty="0">
                <a:solidFill>
                  <a:srgbClr val="0071E3"/>
                </a:solidFill>
                <a:latin typeface="MiSans" pitchFamily="34" charset="0"/>
                <a:ea typeface="MiSans" pitchFamily="34" charset="-122"/>
                <a:cs typeface="MiSans" pitchFamily="34" charset="-120"/>
              </a:rPr>
              <a:t>啥事都能干</a:t>
            </a:r>
            <a:r>
              <a:rPr lang="en-US" sz="1050" dirty="0">
                <a:solidFill>
                  <a:srgbClr val="86868B"/>
                </a:solidFill>
                <a:latin typeface="MiSans" pitchFamily="34" charset="0"/>
                <a:ea typeface="MiSans" pitchFamily="34" charset="-122"/>
                <a:cs typeface="MiSans" pitchFamily="34" charset="-120"/>
              </a:rPr>
              <a:t>"的全能覆盖，降低上手门槛。</a:t>
            </a:r>
            <a:endParaRPr lang="en-US" sz="1600" dirty="0"/>
          </a:p>
        </p:txBody>
      </p:sp>
      <p:sp>
        <p:nvSpPr>
          <p:cNvPr id="40" name="Shape 38"/>
          <p:cNvSpPr/>
          <p:nvPr/>
        </p:nvSpPr>
        <p:spPr>
          <a:xfrm>
            <a:off x="8131175" y="3687769"/>
            <a:ext cx="3673475" cy="2063750"/>
          </a:xfrm>
          <a:custGeom>
            <a:avLst/>
            <a:gdLst/>
            <a:ahLst/>
            <a:cxnLst/>
            <a:rect l="l" t="t" r="r" b="b"/>
            <a:pathLst>
              <a:path w="3673475" h="2063750">
                <a:moveTo>
                  <a:pt x="152408" y="0"/>
                </a:moveTo>
                <a:lnTo>
                  <a:pt x="3521067" y="0"/>
                </a:lnTo>
                <a:cubicBezTo>
                  <a:pt x="3605240" y="0"/>
                  <a:pt x="3673475" y="68235"/>
                  <a:pt x="3673475" y="152408"/>
                </a:cubicBezTo>
                <a:lnTo>
                  <a:pt x="3673475" y="1911342"/>
                </a:lnTo>
                <a:cubicBezTo>
                  <a:pt x="3673475" y="1995515"/>
                  <a:pt x="3605240" y="2063750"/>
                  <a:pt x="3521067" y="2063750"/>
                </a:cubicBezTo>
                <a:lnTo>
                  <a:pt x="152408" y="2063750"/>
                </a:lnTo>
                <a:cubicBezTo>
                  <a:pt x="68235" y="2063750"/>
                  <a:pt x="0" y="1995515"/>
                  <a:pt x="0" y="1911342"/>
                </a:cubicBezTo>
                <a:lnTo>
                  <a:pt x="0" y="152408"/>
                </a:lnTo>
                <a:cubicBezTo>
                  <a:pt x="0" y="68292"/>
                  <a:pt x="68292" y="0"/>
                  <a:pt x="152408" y="0"/>
                </a:cubicBezTo>
                <a:close/>
              </a:path>
            </a:pathLst>
          </a:custGeom>
          <a:solidFill>
            <a:srgbClr val="FFFFFF"/>
          </a:solidFill>
          <a:ln w="8467">
            <a:solidFill>
              <a:srgbClr val="E5E5E5"/>
            </a:solidFill>
            <a:prstDash val="solid"/>
          </a:ln>
          <a:effectLst>
            <a:outerShdw blurRad="28575" dist="9525" dir="5400000" algn="bl" rotWithShape="0">
              <a:srgbClr val="000000">
                <a:alpha val="10196"/>
              </a:srgbClr>
            </a:outerShdw>
          </a:effectLst>
        </p:spPr>
        <p:txBody>
          <a:bodyPr/>
          <a:lstStyle/>
          <a:p>
            <a:endParaRPr lang="zh-CN" altLang="en-US"/>
          </a:p>
        </p:txBody>
      </p:sp>
      <p:sp>
        <p:nvSpPr>
          <p:cNvPr id="41" name="Shape 39"/>
          <p:cNvSpPr/>
          <p:nvPr/>
        </p:nvSpPr>
        <p:spPr>
          <a:xfrm>
            <a:off x="8362950" y="3919537"/>
            <a:ext cx="457200" cy="457200"/>
          </a:xfrm>
          <a:custGeom>
            <a:avLst/>
            <a:gdLst/>
            <a:ahLst/>
            <a:cxnLst/>
            <a:rect l="l" t="t" r="r" b="b"/>
            <a:pathLst>
              <a:path w="457200" h="457200">
                <a:moveTo>
                  <a:pt x="114300" y="0"/>
                </a:moveTo>
                <a:lnTo>
                  <a:pt x="342900" y="0"/>
                </a:lnTo>
                <a:cubicBezTo>
                  <a:pt x="405984" y="0"/>
                  <a:pt x="457200" y="51216"/>
                  <a:pt x="457200" y="114300"/>
                </a:cubicBezTo>
                <a:lnTo>
                  <a:pt x="457200" y="342900"/>
                </a:lnTo>
                <a:cubicBezTo>
                  <a:pt x="457200" y="405984"/>
                  <a:pt x="405984" y="457200"/>
                  <a:pt x="342900" y="457200"/>
                </a:cubicBezTo>
                <a:lnTo>
                  <a:pt x="114300" y="457200"/>
                </a:lnTo>
                <a:cubicBezTo>
                  <a:pt x="51216" y="457200"/>
                  <a:pt x="0" y="405984"/>
                  <a:pt x="0" y="342900"/>
                </a:cubicBezTo>
                <a:lnTo>
                  <a:pt x="0" y="114300"/>
                </a:lnTo>
                <a:cubicBezTo>
                  <a:pt x="0" y="51216"/>
                  <a:pt x="51216" y="0"/>
                  <a:pt x="114300" y="0"/>
                </a:cubicBezTo>
                <a:close/>
              </a:path>
            </a:pathLst>
          </a:custGeom>
          <a:solidFill>
            <a:srgbClr val="0071E3">
              <a:alpha val="10196"/>
            </a:srgbClr>
          </a:solidFill>
          <a:ln/>
        </p:spPr>
        <p:txBody>
          <a:bodyPr/>
          <a:lstStyle/>
          <a:p>
            <a:endParaRPr lang="zh-CN" altLang="en-US"/>
          </a:p>
        </p:txBody>
      </p:sp>
      <p:sp>
        <p:nvSpPr>
          <p:cNvPr id="42" name="Text 40"/>
          <p:cNvSpPr/>
          <p:nvPr/>
        </p:nvSpPr>
        <p:spPr>
          <a:xfrm>
            <a:off x="8522791" y="3995738"/>
            <a:ext cx="247650" cy="304800"/>
          </a:xfrm>
          <a:prstGeom prst="rect">
            <a:avLst/>
          </a:prstGeom>
          <a:noFill/>
          <a:ln/>
        </p:spPr>
        <p:txBody>
          <a:bodyPr wrap="square" lIns="0" tIns="0" rIns="0" bIns="0" rtlCol="0" anchor="ctr"/>
          <a:lstStyle/>
          <a:p>
            <a:pPr>
              <a:lnSpc>
                <a:spcPct val="110000"/>
              </a:lnSpc>
            </a:pPr>
            <a:r>
              <a:rPr lang="en-US" sz="1800" b="1" dirty="0">
                <a:solidFill>
                  <a:srgbClr val="0071E3"/>
                </a:solidFill>
                <a:latin typeface="MiSans" pitchFamily="34" charset="0"/>
                <a:ea typeface="MiSans" pitchFamily="34" charset="-122"/>
                <a:cs typeface="MiSans" pitchFamily="34" charset="-120"/>
              </a:rPr>
              <a:t>6</a:t>
            </a:r>
            <a:endParaRPr lang="en-US" sz="1600" dirty="0"/>
          </a:p>
        </p:txBody>
      </p:sp>
      <p:sp>
        <p:nvSpPr>
          <p:cNvPr id="43" name="Text 41"/>
          <p:cNvSpPr/>
          <p:nvPr/>
        </p:nvSpPr>
        <p:spPr>
          <a:xfrm>
            <a:off x="8934450" y="4014788"/>
            <a:ext cx="942975" cy="266700"/>
          </a:xfrm>
          <a:prstGeom prst="rect">
            <a:avLst/>
          </a:prstGeom>
          <a:noFill/>
          <a:ln/>
        </p:spPr>
        <p:txBody>
          <a:bodyPr wrap="square" lIns="0" tIns="0" rIns="0" bIns="0" rtlCol="0" anchor="ctr"/>
          <a:lstStyle/>
          <a:p>
            <a:pPr>
              <a:lnSpc>
                <a:spcPct val="130000"/>
              </a:lnSpc>
            </a:pPr>
            <a:r>
              <a:rPr lang="en-US" sz="1350" b="1" dirty="0">
                <a:solidFill>
                  <a:srgbClr val="1D1D1D"/>
                </a:solidFill>
                <a:latin typeface="MiSans" pitchFamily="34" charset="0"/>
                <a:ea typeface="MiSans" pitchFamily="34" charset="-122"/>
                <a:cs typeface="MiSans" pitchFamily="34" charset="-120"/>
              </a:rPr>
              <a:t>核心方法论</a:t>
            </a:r>
            <a:endParaRPr lang="en-US" sz="1600" dirty="0"/>
          </a:p>
        </p:txBody>
      </p:sp>
      <p:sp>
        <p:nvSpPr>
          <p:cNvPr id="44" name="Text 42"/>
          <p:cNvSpPr/>
          <p:nvPr/>
        </p:nvSpPr>
        <p:spPr>
          <a:xfrm>
            <a:off x="8362950" y="4529138"/>
            <a:ext cx="3286125" cy="228600"/>
          </a:xfrm>
          <a:prstGeom prst="rect">
            <a:avLst/>
          </a:prstGeom>
          <a:noFill/>
          <a:ln/>
        </p:spPr>
        <p:txBody>
          <a:bodyPr wrap="square" lIns="0" tIns="0" rIns="0" bIns="0" rtlCol="0" anchor="ctr"/>
          <a:lstStyle/>
          <a:p>
            <a:pPr>
              <a:lnSpc>
                <a:spcPct val="130000"/>
              </a:lnSpc>
            </a:pPr>
            <a:r>
              <a:rPr lang="en-US" sz="1200" b="1" dirty="0">
                <a:solidFill>
                  <a:srgbClr val="0071E3"/>
                </a:solidFill>
                <a:latin typeface="MiSans" pitchFamily="34" charset="0"/>
                <a:ea typeface="MiSans" pitchFamily="34" charset="-122"/>
                <a:cs typeface="MiSans" pitchFamily="34" charset="-120"/>
              </a:rPr>
              <a:t>人机协同新范式</a:t>
            </a:r>
            <a:endParaRPr lang="en-US" sz="1600" dirty="0"/>
          </a:p>
        </p:txBody>
      </p:sp>
      <p:sp>
        <p:nvSpPr>
          <p:cNvPr id="45" name="Text 43"/>
          <p:cNvSpPr/>
          <p:nvPr/>
        </p:nvSpPr>
        <p:spPr>
          <a:xfrm>
            <a:off x="8362950" y="4872038"/>
            <a:ext cx="3276600" cy="438150"/>
          </a:xfrm>
          <a:prstGeom prst="rect">
            <a:avLst/>
          </a:prstGeom>
          <a:noFill/>
          <a:ln/>
        </p:spPr>
        <p:txBody>
          <a:bodyPr wrap="square" lIns="0" tIns="0" rIns="0" bIns="0" rtlCol="0" anchor="ctr"/>
          <a:lstStyle/>
          <a:p>
            <a:pPr>
              <a:lnSpc>
                <a:spcPct val="140000"/>
              </a:lnSpc>
            </a:pPr>
            <a:r>
              <a:rPr lang="en-US" sz="1050" dirty="0">
                <a:solidFill>
                  <a:srgbClr val="86868B"/>
                </a:solidFill>
                <a:latin typeface="MiSans" pitchFamily="34" charset="0"/>
                <a:ea typeface="MiSans" pitchFamily="34" charset="-122"/>
                <a:cs typeface="MiSans" pitchFamily="34" charset="-120"/>
              </a:rPr>
              <a:t>设计、开发并行。人的核心作用在于</a:t>
            </a:r>
            <a:r>
              <a:rPr lang="en-US" sz="1050" b="1" dirty="0">
                <a:solidFill>
                  <a:srgbClr val="0071E3"/>
                </a:solidFill>
                <a:latin typeface="MiSans" pitchFamily="34" charset="0"/>
                <a:ea typeface="MiSans" pitchFamily="34" charset="-122"/>
                <a:cs typeface="MiSans" pitchFamily="34" charset="-120"/>
              </a:rPr>
              <a:t>有效控制大模型往需要的方向发展</a:t>
            </a:r>
            <a:r>
              <a:rPr lang="en-US" sz="1050" dirty="0">
                <a:solidFill>
                  <a:srgbClr val="86868B"/>
                </a:solidFill>
                <a:latin typeface="MiSans" pitchFamily="34" charset="0"/>
                <a:ea typeface="MiSans" pitchFamily="34" charset="-122"/>
                <a:cs typeface="MiSans" pitchFamily="34" charset="-120"/>
              </a:rPr>
              <a:t>，人是方向的掌控者。</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A"/>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0071E3"/>
                </a:solidFill>
                <a:latin typeface="MiSans" pitchFamily="34" charset="0"/>
                <a:ea typeface="MiSans" pitchFamily="34" charset="-122"/>
                <a:cs typeface="MiSans" pitchFamily="34" charset="-120"/>
              </a:rPr>
              <a:t>08 / 实施路线</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zh-CN" altLang="en-US" sz="2250" b="1" dirty="0">
                <a:solidFill>
                  <a:srgbClr val="1D1D1D"/>
                </a:solidFill>
                <a:latin typeface="MiSans" pitchFamily="34" charset="0"/>
                <a:ea typeface="MiSans" pitchFamily="34" charset="-122"/>
                <a:cs typeface="MiSans" pitchFamily="34" charset="-120"/>
              </a:rPr>
              <a:t>中心</a:t>
            </a:r>
            <a:r>
              <a:rPr lang="en-US" sz="2250" b="1" dirty="0" err="1">
                <a:solidFill>
                  <a:srgbClr val="1D1D1D"/>
                </a:solidFill>
                <a:latin typeface="MiSans" pitchFamily="34" charset="0"/>
                <a:ea typeface="MiSans" pitchFamily="34" charset="-122"/>
                <a:cs typeface="MiSans" pitchFamily="34" charset="-120"/>
              </a:rPr>
              <a:t>实施路线图</a:t>
            </a:r>
            <a:endParaRPr lang="en-US" sz="1600" dirty="0"/>
          </a:p>
        </p:txBody>
      </p:sp>
      <p:sp>
        <p:nvSpPr>
          <p:cNvPr id="4" name="Shape 2"/>
          <p:cNvSpPr/>
          <p:nvPr/>
        </p:nvSpPr>
        <p:spPr>
          <a:xfrm>
            <a:off x="320146" y="1050396"/>
            <a:ext cx="5680604" cy="1592792"/>
          </a:xfrm>
          <a:custGeom>
            <a:avLst/>
            <a:gdLst/>
            <a:ahLst/>
            <a:cxnLst/>
            <a:rect l="l" t="t" r="r" b="b"/>
            <a:pathLst>
              <a:path w="5680604" h="1592792">
                <a:moveTo>
                  <a:pt x="126993" y="0"/>
                </a:moveTo>
                <a:lnTo>
                  <a:pt x="5553611" y="0"/>
                </a:lnTo>
                <a:cubicBezTo>
                  <a:pt x="5623747" y="0"/>
                  <a:pt x="5680604" y="56857"/>
                  <a:pt x="5680604" y="126993"/>
                </a:cubicBezTo>
                <a:lnTo>
                  <a:pt x="5680604" y="1465798"/>
                </a:lnTo>
                <a:cubicBezTo>
                  <a:pt x="5680604" y="1535935"/>
                  <a:pt x="5623747" y="1592792"/>
                  <a:pt x="5553611" y="1592792"/>
                </a:cubicBezTo>
                <a:lnTo>
                  <a:pt x="126993" y="1592792"/>
                </a:lnTo>
                <a:cubicBezTo>
                  <a:pt x="56857" y="1592792"/>
                  <a:pt x="0" y="1535935"/>
                  <a:pt x="0" y="1465798"/>
                </a:cubicBezTo>
                <a:lnTo>
                  <a:pt x="0" y="126993"/>
                </a:lnTo>
                <a:cubicBezTo>
                  <a:pt x="0" y="56904"/>
                  <a:pt x="56904" y="0"/>
                  <a:pt x="126993"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5" name="Shape 3"/>
          <p:cNvSpPr/>
          <p:nvPr/>
        </p:nvSpPr>
        <p:spPr>
          <a:xfrm>
            <a:off x="513292" y="1243544"/>
            <a:ext cx="381000" cy="381000"/>
          </a:xfrm>
          <a:custGeom>
            <a:avLst/>
            <a:gdLst/>
            <a:ahLst/>
            <a:cxnLst/>
            <a:rect l="l" t="t" r="r" b="b"/>
            <a:pathLst>
              <a:path w="381000" h="381000">
                <a:moveTo>
                  <a:pt x="95250" y="0"/>
                </a:moveTo>
                <a:lnTo>
                  <a:pt x="285750" y="0"/>
                </a:lnTo>
                <a:cubicBezTo>
                  <a:pt x="338320" y="0"/>
                  <a:pt x="381000" y="42680"/>
                  <a:pt x="381000" y="95250"/>
                </a:cubicBezTo>
                <a:lnTo>
                  <a:pt x="381000" y="285750"/>
                </a:lnTo>
                <a:cubicBezTo>
                  <a:pt x="381000" y="338320"/>
                  <a:pt x="338320" y="381000"/>
                  <a:pt x="285750" y="381000"/>
                </a:cubicBezTo>
                <a:lnTo>
                  <a:pt x="95250" y="381000"/>
                </a:lnTo>
                <a:cubicBezTo>
                  <a:pt x="42680" y="381000"/>
                  <a:pt x="0" y="338320"/>
                  <a:pt x="0" y="285750"/>
                </a:cubicBezTo>
                <a:lnTo>
                  <a:pt x="0" y="95250"/>
                </a:lnTo>
                <a:cubicBezTo>
                  <a:pt x="0" y="42680"/>
                  <a:pt x="42680" y="0"/>
                  <a:pt x="95250" y="0"/>
                </a:cubicBezTo>
                <a:close/>
              </a:path>
            </a:pathLst>
          </a:custGeom>
          <a:solidFill>
            <a:srgbClr val="0071E3"/>
          </a:solidFill>
          <a:ln/>
        </p:spPr>
        <p:txBody>
          <a:bodyPr/>
          <a:lstStyle/>
          <a:p>
            <a:endParaRPr lang="zh-CN" altLang="en-US"/>
          </a:p>
        </p:txBody>
      </p:sp>
      <p:sp>
        <p:nvSpPr>
          <p:cNvPr id="6" name="Text 4"/>
          <p:cNvSpPr/>
          <p:nvPr/>
        </p:nvSpPr>
        <p:spPr>
          <a:xfrm>
            <a:off x="666337" y="1307044"/>
            <a:ext cx="166688"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MiSans" pitchFamily="34" charset="0"/>
                <a:ea typeface="MiSans" pitchFamily="34" charset="-122"/>
                <a:cs typeface="MiSans" pitchFamily="34" charset="-120"/>
              </a:rPr>
              <a:t>1</a:t>
            </a:r>
            <a:endParaRPr lang="en-US" sz="1600" dirty="0"/>
          </a:p>
        </p:txBody>
      </p:sp>
      <p:sp>
        <p:nvSpPr>
          <p:cNvPr id="7" name="Text 5"/>
          <p:cNvSpPr/>
          <p:nvPr/>
        </p:nvSpPr>
        <p:spPr>
          <a:xfrm>
            <a:off x="989542" y="1243544"/>
            <a:ext cx="714375"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试点启动</a:t>
            </a:r>
            <a:endParaRPr lang="en-US" sz="1600" dirty="0"/>
          </a:p>
        </p:txBody>
      </p:sp>
      <p:sp>
        <p:nvSpPr>
          <p:cNvPr id="8" name="Text 6"/>
          <p:cNvSpPr/>
          <p:nvPr/>
        </p:nvSpPr>
        <p:spPr>
          <a:xfrm>
            <a:off x="989542" y="1465794"/>
            <a:ext cx="690563"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精准选点</a:t>
            </a:r>
            <a:endParaRPr lang="en-US" sz="1600" dirty="0"/>
          </a:p>
        </p:txBody>
      </p:sp>
      <p:sp>
        <p:nvSpPr>
          <p:cNvPr id="9" name="Text 7"/>
          <p:cNvSpPr/>
          <p:nvPr/>
        </p:nvSpPr>
        <p:spPr>
          <a:xfrm>
            <a:off x="513292" y="1751544"/>
            <a:ext cx="5357813"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各团队立即挑选 </a:t>
            </a:r>
            <a:r>
              <a:rPr lang="en-US" sz="1000" b="1" dirty="0">
                <a:solidFill>
                  <a:srgbClr val="0071E3"/>
                </a:solidFill>
                <a:latin typeface="MiSans" pitchFamily="34" charset="0"/>
                <a:ea typeface="MiSans" pitchFamily="34" charset="-122"/>
                <a:cs typeface="MiSans" pitchFamily="34" charset="-120"/>
              </a:rPr>
              <a:t>1-2个项目</a:t>
            </a:r>
            <a:r>
              <a:rPr lang="en-US" sz="1000" dirty="0">
                <a:solidFill>
                  <a:srgbClr val="1D1D1D"/>
                </a:solidFill>
                <a:latin typeface="MiSans" pitchFamily="34" charset="0"/>
                <a:ea typeface="MiSans" pitchFamily="34" charset="-122"/>
                <a:cs typeface="MiSans" pitchFamily="34" charset="-120"/>
              </a:rPr>
              <a:t> 试点用起来。</a:t>
            </a:r>
            <a:endParaRPr lang="en-US" sz="1600" dirty="0"/>
          </a:p>
        </p:txBody>
      </p:sp>
      <p:sp>
        <p:nvSpPr>
          <p:cNvPr id="10" name="Shape 8"/>
          <p:cNvSpPr/>
          <p:nvPr/>
        </p:nvSpPr>
        <p:spPr>
          <a:xfrm>
            <a:off x="529167" y="2084919"/>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71E3"/>
          </a:solidFill>
          <a:ln/>
        </p:spPr>
        <p:txBody>
          <a:bodyPr/>
          <a:lstStyle/>
          <a:p>
            <a:endParaRPr lang="zh-CN" altLang="en-US"/>
          </a:p>
        </p:txBody>
      </p:sp>
      <p:sp>
        <p:nvSpPr>
          <p:cNvPr id="11" name="Text 9"/>
          <p:cNvSpPr/>
          <p:nvPr/>
        </p:nvSpPr>
        <p:spPr>
          <a:xfrm>
            <a:off x="735542" y="2069044"/>
            <a:ext cx="2611438"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数据库密码管理项目</a:t>
            </a:r>
            <a:r>
              <a:rPr lang="en-US" sz="875" dirty="0">
                <a:solidFill>
                  <a:srgbClr val="1D1D1D"/>
                </a:solidFill>
                <a:latin typeface="MiSans" pitchFamily="34" charset="0"/>
                <a:ea typeface="MiSans" pitchFamily="34" charset="-122"/>
                <a:cs typeface="MiSans" pitchFamily="34" charset="-120"/>
              </a:rPr>
              <a:t>（涉及安全规范与多模式适配）</a:t>
            </a:r>
            <a:endParaRPr lang="en-US" sz="1600" dirty="0"/>
          </a:p>
        </p:txBody>
      </p:sp>
      <p:sp>
        <p:nvSpPr>
          <p:cNvPr id="12" name="Shape 10"/>
          <p:cNvSpPr/>
          <p:nvPr/>
        </p:nvSpPr>
        <p:spPr>
          <a:xfrm>
            <a:off x="529167" y="2307169"/>
            <a:ext cx="127000" cy="127000"/>
          </a:xfrm>
          <a:custGeom>
            <a:avLst/>
            <a:gdLst/>
            <a:ahLst/>
            <a:cxnLst/>
            <a:rect l="l" t="t" r="r" b="b"/>
            <a:pathLst>
              <a:path w="127000" h="127000">
                <a:moveTo>
                  <a:pt x="63500" y="127000"/>
                </a:moveTo>
                <a:cubicBezTo>
                  <a:pt x="98547" y="127000"/>
                  <a:pt x="127000" y="98547"/>
                  <a:pt x="127000" y="63500"/>
                </a:cubicBezTo>
                <a:cubicBezTo>
                  <a:pt x="127000" y="28453"/>
                  <a:pt x="98547" y="0"/>
                  <a:pt x="63500" y="0"/>
                </a:cubicBezTo>
                <a:cubicBezTo>
                  <a:pt x="28453" y="0"/>
                  <a:pt x="0" y="28453"/>
                  <a:pt x="0" y="63500"/>
                </a:cubicBezTo>
                <a:cubicBezTo>
                  <a:pt x="0" y="98547"/>
                  <a:pt x="28453" y="127000"/>
                  <a:pt x="63500" y="127000"/>
                </a:cubicBezTo>
                <a:close/>
                <a:moveTo>
                  <a:pt x="84435" y="52760"/>
                </a:moveTo>
                <a:lnTo>
                  <a:pt x="64591" y="84510"/>
                </a:lnTo>
                <a:cubicBezTo>
                  <a:pt x="63550" y="86171"/>
                  <a:pt x="61764" y="87213"/>
                  <a:pt x="59804" y="87313"/>
                </a:cubicBezTo>
                <a:cubicBezTo>
                  <a:pt x="57845" y="87412"/>
                  <a:pt x="55959" y="86519"/>
                  <a:pt x="54794" y="84931"/>
                </a:cubicBezTo>
                <a:lnTo>
                  <a:pt x="42887" y="69056"/>
                </a:lnTo>
                <a:cubicBezTo>
                  <a:pt x="40903" y="66427"/>
                  <a:pt x="41449" y="62706"/>
                  <a:pt x="44078" y="60722"/>
                </a:cubicBezTo>
                <a:cubicBezTo>
                  <a:pt x="46707" y="58737"/>
                  <a:pt x="50428" y="59283"/>
                  <a:pt x="52412" y="61913"/>
                </a:cubicBezTo>
                <a:lnTo>
                  <a:pt x="59110" y="70842"/>
                </a:lnTo>
                <a:lnTo>
                  <a:pt x="74340" y="46459"/>
                </a:lnTo>
                <a:cubicBezTo>
                  <a:pt x="76076" y="43681"/>
                  <a:pt x="79747" y="42813"/>
                  <a:pt x="82550" y="44574"/>
                </a:cubicBezTo>
                <a:cubicBezTo>
                  <a:pt x="85353" y="46335"/>
                  <a:pt x="86196" y="49981"/>
                  <a:pt x="84435" y="52784"/>
                </a:cubicBezTo>
                <a:close/>
              </a:path>
            </a:pathLst>
          </a:custGeom>
          <a:solidFill>
            <a:srgbClr val="0071E3"/>
          </a:solidFill>
          <a:ln/>
        </p:spPr>
        <p:txBody>
          <a:bodyPr/>
          <a:lstStyle/>
          <a:p>
            <a:endParaRPr lang="zh-CN" altLang="en-US"/>
          </a:p>
        </p:txBody>
      </p:sp>
      <p:sp>
        <p:nvSpPr>
          <p:cNvPr id="13" name="Text 11"/>
          <p:cNvSpPr/>
          <p:nvPr/>
        </p:nvSpPr>
        <p:spPr>
          <a:xfrm>
            <a:off x="735542" y="2291294"/>
            <a:ext cx="2603500" cy="158750"/>
          </a:xfrm>
          <a:prstGeom prst="rect">
            <a:avLst/>
          </a:prstGeom>
          <a:noFill/>
          <a:ln/>
        </p:spPr>
        <p:txBody>
          <a:bodyPr wrap="square" lIns="0" tIns="0" rIns="0" bIns="0" rtlCol="0" anchor="ctr"/>
          <a:lstStyle/>
          <a:p>
            <a:pPr>
              <a:lnSpc>
                <a:spcPct val="120000"/>
              </a:lnSpc>
            </a:pPr>
            <a:r>
              <a:rPr lang="en-US" sz="875" b="1" dirty="0">
                <a:solidFill>
                  <a:srgbClr val="1D1D1D"/>
                </a:solidFill>
                <a:latin typeface="MiSans" pitchFamily="34" charset="0"/>
                <a:ea typeface="MiSans" pitchFamily="34" charset="-122"/>
                <a:cs typeface="MiSans" pitchFamily="34" charset="-120"/>
              </a:rPr>
              <a:t>RPA信创改造项目</a:t>
            </a:r>
            <a:r>
              <a:rPr lang="en-US" sz="875" dirty="0">
                <a:solidFill>
                  <a:srgbClr val="1D1D1D"/>
                </a:solidFill>
                <a:latin typeface="MiSans" pitchFamily="34" charset="0"/>
                <a:ea typeface="MiSans" pitchFamily="34" charset="-122"/>
                <a:cs typeface="MiSans" pitchFamily="34" charset="-120"/>
              </a:rPr>
              <a:t>（涉及大量代码迁移与异构适配）</a:t>
            </a:r>
            <a:endParaRPr lang="en-US" sz="1600" dirty="0"/>
          </a:p>
        </p:txBody>
      </p:sp>
      <p:sp>
        <p:nvSpPr>
          <p:cNvPr id="14" name="Shape 12"/>
          <p:cNvSpPr/>
          <p:nvPr/>
        </p:nvSpPr>
        <p:spPr>
          <a:xfrm>
            <a:off x="320146" y="2807234"/>
            <a:ext cx="5680604" cy="2378604"/>
          </a:xfrm>
          <a:custGeom>
            <a:avLst/>
            <a:gdLst/>
            <a:ahLst/>
            <a:cxnLst/>
            <a:rect l="l" t="t" r="r" b="b"/>
            <a:pathLst>
              <a:path w="5680604" h="2378604">
                <a:moveTo>
                  <a:pt x="126994" y="0"/>
                </a:moveTo>
                <a:lnTo>
                  <a:pt x="5553610" y="0"/>
                </a:lnTo>
                <a:cubicBezTo>
                  <a:pt x="5623747" y="0"/>
                  <a:pt x="5680604" y="56857"/>
                  <a:pt x="5680604" y="126994"/>
                </a:cubicBezTo>
                <a:lnTo>
                  <a:pt x="5680604" y="2251610"/>
                </a:lnTo>
                <a:cubicBezTo>
                  <a:pt x="5680604" y="2321747"/>
                  <a:pt x="5623747" y="2378604"/>
                  <a:pt x="5553610" y="2378604"/>
                </a:cubicBezTo>
                <a:lnTo>
                  <a:pt x="126994" y="2378604"/>
                </a:lnTo>
                <a:cubicBezTo>
                  <a:pt x="56857" y="2378604"/>
                  <a:pt x="0" y="2321747"/>
                  <a:pt x="0" y="2251610"/>
                </a:cubicBezTo>
                <a:lnTo>
                  <a:pt x="0" y="126994"/>
                </a:lnTo>
                <a:cubicBezTo>
                  <a:pt x="0" y="56857"/>
                  <a:pt x="56857" y="0"/>
                  <a:pt x="126994"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15" name="Shape 13"/>
          <p:cNvSpPr/>
          <p:nvPr/>
        </p:nvSpPr>
        <p:spPr>
          <a:xfrm>
            <a:off x="513292" y="3000375"/>
            <a:ext cx="381000" cy="381000"/>
          </a:xfrm>
          <a:custGeom>
            <a:avLst/>
            <a:gdLst/>
            <a:ahLst/>
            <a:cxnLst/>
            <a:rect l="l" t="t" r="r" b="b"/>
            <a:pathLst>
              <a:path w="381000" h="381000">
                <a:moveTo>
                  <a:pt x="95250" y="0"/>
                </a:moveTo>
                <a:lnTo>
                  <a:pt x="285750" y="0"/>
                </a:lnTo>
                <a:cubicBezTo>
                  <a:pt x="338320" y="0"/>
                  <a:pt x="381000" y="42680"/>
                  <a:pt x="381000" y="95250"/>
                </a:cubicBezTo>
                <a:lnTo>
                  <a:pt x="381000" y="285750"/>
                </a:lnTo>
                <a:cubicBezTo>
                  <a:pt x="381000" y="338320"/>
                  <a:pt x="338320" y="381000"/>
                  <a:pt x="285750" y="381000"/>
                </a:cubicBezTo>
                <a:lnTo>
                  <a:pt x="95250" y="381000"/>
                </a:lnTo>
                <a:cubicBezTo>
                  <a:pt x="42680" y="381000"/>
                  <a:pt x="0" y="338320"/>
                  <a:pt x="0" y="285750"/>
                </a:cubicBezTo>
                <a:lnTo>
                  <a:pt x="0" y="95250"/>
                </a:lnTo>
                <a:cubicBezTo>
                  <a:pt x="0" y="42680"/>
                  <a:pt x="42680" y="0"/>
                  <a:pt x="95250" y="0"/>
                </a:cubicBezTo>
                <a:close/>
              </a:path>
            </a:pathLst>
          </a:custGeom>
          <a:solidFill>
            <a:srgbClr val="0071E3"/>
          </a:solidFill>
          <a:ln/>
        </p:spPr>
        <p:txBody>
          <a:bodyPr/>
          <a:lstStyle/>
          <a:p>
            <a:endParaRPr lang="zh-CN" altLang="en-US"/>
          </a:p>
        </p:txBody>
      </p:sp>
      <p:sp>
        <p:nvSpPr>
          <p:cNvPr id="16" name="Text 14"/>
          <p:cNvSpPr/>
          <p:nvPr/>
        </p:nvSpPr>
        <p:spPr>
          <a:xfrm>
            <a:off x="650214" y="3063875"/>
            <a:ext cx="198438"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MiSans" pitchFamily="34" charset="0"/>
                <a:ea typeface="MiSans" pitchFamily="34" charset="-122"/>
                <a:cs typeface="MiSans" pitchFamily="34" charset="-120"/>
              </a:rPr>
              <a:t>2</a:t>
            </a:r>
            <a:endParaRPr lang="en-US" sz="1600" dirty="0"/>
          </a:p>
        </p:txBody>
      </p:sp>
      <p:sp>
        <p:nvSpPr>
          <p:cNvPr id="17" name="Text 15"/>
          <p:cNvSpPr/>
          <p:nvPr/>
        </p:nvSpPr>
        <p:spPr>
          <a:xfrm>
            <a:off x="989542" y="3000375"/>
            <a:ext cx="714375"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实施策略</a:t>
            </a:r>
            <a:endParaRPr lang="en-US" sz="1600" dirty="0"/>
          </a:p>
        </p:txBody>
      </p:sp>
      <p:sp>
        <p:nvSpPr>
          <p:cNvPr id="18" name="Text 16"/>
          <p:cNvSpPr/>
          <p:nvPr/>
        </p:nvSpPr>
        <p:spPr>
          <a:xfrm>
            <a:off x="989542" y="3222625"/>
            <a:ext cx="690563"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双管齐下</a:t>
            </a:r>
            <a:endParaRPr lang="en-US" sz="1600" dirty="0"/>
          </a:p>
        </p:txBody>
      </p:sp>
      <p:sp>
        <p:nvSpPr>
          <p:cNvPr id="19" name="Shape 17"/>
          <p:cNvSpPr/>
          <p:nvPr/>
        </p:nvSpPr>
        <p:spPr>
          <a:xfrm>
            <a:off x="515938" y="3511021"/>
            <a:ext cx="5283729" cy="672042"/>
          </a:xfrm>
          <a:custGeom>
            <a:avLst/>
            <a:gdLst/>
            <a:ahLst/>
            <a:cxnLst/>
            <a:rect l="l" t="t" r="r" b="b"/>
            <a:pathLst>
              <a:path w="5283729" h="672042">
                <a:moveTo>
                  <a:pt x="95248" y="0"/>
                </a:moveTo>
                <a:lnTo>
                  <a:pt x="5188481" y="0"/>
                </a:lnTo>
                <a:cubicBezTo>
                  <a:pt x="5241085" y="0"/>
                  <a:pt x="5283729" y="42644"/>
                  <a:pt x="5283729" y="95248"/>
                </a:cubicBezTo>
                <a:lnTo>
                  <a:pt x="5283729" y="576793"/>
                </a:lnTo>
                <a:cubicBezTo>
                  <a:pt x="5283729" y="629397"/>
                  <a:pt x="5241085" y="672042"/>
                  <a:pt x="5188481" y="672042"/>
                </a:cubicBezTo>
                <a:lnTo>
                  <a:pt x="95248" y="672042"/>
                </a:lnTo>
                <a:cubicBezTo>
                  <a:pt x="42644" y="672042"/>
                  <a:pt x="0" y="629397"/>
                  <a:pt x="0" y="576793"/>
                </a:cubicBezTo>
                <a:lnTo>
                  <a:pt x="0" y="95248"/>
                </a:lnTo>
                <a:cubicBezTo>
                  <a:pt x="0" y="42679"/>
                  <a:pt x="42679" y="0"/>
                  <a:pt x="95248"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20" name="Text 18"/>
          <p:cNvSpPr/>
          <p:nvPr/>
        </p:nvSpPr>
        <p:spPr>
          <a:xfrm>
            <a:off x="645583" y="3640669"/>
            <a:ext cx="5087938" cy="190500"/>
          </a:xfrm>
          <a:prstGeom prst="rect">
            <a:avLst/>
          </a:prstGeom>
          <a:noFill/>
          <a:ln/>
        </p:spPr>
        <p:txBody>
          <a:bodyPr wrap="square" lIns="0" tIns="0" rIns="0" bIns="0" rtlCol="0" anchor="ctr"/>
          <a:lstStyle/>
          <a:p>
            <a:pPr>
              <a:lnSpc>
                <a:spcPct val="130000"/>
              </a:lnSpc>
            </a:pPr>
            <a:r>
              <a:rPr lang="en-US" sz="750" b="1" dirty="0">
                <a:solidFill>
                  <a:srgbClr val="FFFFFF"/>
                </a:solidFill>
                <a:highlight>
                  <a:srgbClr val="0071E3">
                    <a:alpha val="100000"/>
                  </a:srgbClr>
                </a:highlight>
                <a:latin typeface="MiSans" pitchFamily="34" charset="0"/>
                <a:ea typeface="MiSans" pitchFamily="34" charset="-122"/>
                <a:cs typeface="MiSans" pitchFamily="34" charset="-120"/>
              </a:rPr>
              <a:t>A </a:t>
            </a:r>
            <a:r>
              <a:rPr lang="en-US" sz="1000" b="1" dirty="0">
                <a:solidFill>
                  <a:srgbClr val="1D1D1D"/>
                </a:solidFill>
                <a:latin typeface="MiSans" pitchFamily="34" charset="0"/>
                <a:ea typeface="MiSans" pitchFamily="34" charset="-122"/>
                <a:cs typeface="MiSans" pitchFamily="34" charset="-120"/>
              </a:rPr>
              <a:t>基础工具智能化加工</a:t>
            </a:r>
            <a:endParaRPr lang="en-US" sz="1600" dirty="0"/>
          </a:p>
        </p:txBody>
      </p:sp>
      <p:sp>
        <p:nvSpPr>
          <p:cNvPr id="21" name="Text 19"/>
          <p:cNvSpPr/>
          <p:nvPr/>
        </p:nvSpPr>
        <p:spPr>
          <a:xfrm>
            <a:off x="645583" y="3894669"/>
            <a:ext cx="5080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利用大模型对基础工具进行加工，形成供项目组用的 </a:t>
            </a:r>
            <a:r>
              <a:rPr lang="en-US" sz="875" b="1" dirty="0">
                <a:solidFill>
                  <a:srgbClr val="0071E3"/>
                </a:solidFill>
                <a:latin typeface="MiSans" pitchFamily="34" charset="0"/>
                <a:ea typeface="MiSans" pitchFamily="34" charset="-122"/>
                <a:cs typeface="MiSans" pitchFamily="34" charset="-120"/>
              </a:rPr>
              <a:t>JAR包/SDK</a:t>
            </a:r>
            <a:r>
              <a:rPr lang="en-US" sz="875" dirty="0">
                <a:solidFill>
                  <a:srgbClr val="86868B"/>
                </a:solidFill>
                <a:latin typeface="MiSans" pitchFamily="34" charset="0"/>
                <a:ea typeface="MiSans" pitchFamily="34" charset="-122"/>
                <a:cs typeface="MiSans" pitchFamily="34" charset="-120"/>
              </a:rPr>
              <a:t>。目标：标准化、开箱即用。</a:t>
            </a:r>
            <a:endParaRPr lang="en-US" sz="1600" dirty="0"/>
          </a:p>
        </p:txBody>
      </p:sp>
      <p:sp>
        <p:nvSpPr>
          <p:cNvPr id="22" name="Shape 20"/>
          <p:cNvSpPr/>
          <p:nvPr/>
        </p:nvSpPr>
        <p:spPr>
          <a:xfrm>
            <a:off x="515938" y="4315359"/>
            <a:ext cx="5283729" cy="672042"/>
          </a:xfrm>
          <a:custGeom>
            <a:avLst/>
            <a:gdLst/>
            <a:ahLst/>
            <a:cxnLst/>
            <a:rect l="l" t="t" r="r" b="b"/>
            <a:pathLst>
              <a:path w="5283729" h="672042">
                <a:moveTo>
                  <a:pt x="95248" y="0"/>
                </a:moveTo>
                <a:lnTo>
                  <a:pt x="5188481" y="0"/>
                </a:lnTo>
                <a:cubicBezTo>
                  <a:pt x="5241085" y="0"/>
                  <a:pt x="5283729" y="42644"/>
                  <a:pt x="5283729" y="95248"/>
                </a:cubicBezTo>
                <a:lnTo>
                  <a:pt x="5283729" y="576793"/>
                </a:lnTo>
                <a:cubicBezTo>
                  <a:pt x="5283729" y="629397"/>
                  <a:pt x="5241085" y="672042"/>
                  <a:pt x="5188481" y="672042"/>
                </a:cubicBezTo>
                <a:lnTo>
                  <a:pt x="95248" y="672042"/>
                </a:lnTo>
                <a:cubicBezTo>
                  <a:pt x="42644" y="672042"/>
                  <a:pt x="0" y="629397"/>
                  <a:pt x="0" y="576793"/>
                </a:cubicBezTo>
                <a:lnTo>
                  <a:pt x="0" y="95248"/>
                </a:lnTo>
                <a:cubicBezTo>
                  <a:pt x="0" y="42679"/>
                  <a:pt x="42679" y="0"/>
                  <a:pt x="95248" y="0"/>
                </a:cubicBezTo>
                <a:close/>
              </a:path>
            </a:pathLst>
          </a:custGeom>
          <a:solidFill>
            <a:srgbClr val="0071E3">
              <a:alpha val="5098"/>
            </a:srgbClr>
          </a:solidFill>
          <a:ln w="8467">
            <a:solidFill>
              <a:srgbClr val="0071E3">
                <a:alpha val="20000"/>
              </a:srgbClr>
            </a:solidFill>
            <a:prstDash val="solid"/>
          </a:ln>
        </p:spPr>
        <p:txBody>
          <a:bodyPr/>
          <a:lstStyle/>
          <a:p>
            <a:endParaRPr lang="zh-CN" altLang="en-US"/>
          </a:p>
        </p:txBody>
      </p:sp>
      <p:sp>
        <p:nvSpPr>
          <p:cNvPr id="23" name="Text 21"/>
          <p:cNvSpPr/>
          <p:nvPr/>
        </p:nvSpPr>
        <p:spPr>
          <a:xfrm>
            <a:off x="645583" y="4445000"/>
            <a:ext cx="5087938" cy="190500"/>
          </a:xfrm>
          <a:prstGeom prst="rect">
            <a:avLst/>
          </a:prstGeom>
          <a:noFill/>
          <a:ln/>
        </p:spPr>
        <p:txBody>
          <a:bodyPr wrap="square" lIns="0" tIns="0" rIns="0" bIns="0" rtlCol="0" anchor="ctr"/>
          <a:lstStyle/>
          <a:p>
            <a:pPr>
              <a:lnSpc>
                <a:spcPct val="130000"/>
              </a:lnSpc>
            </a:pPr>
            <a:r>
              <a:rPr lang="en-US" sz="750" b="1" dirty="0">
                <a:solidFill>
                  <a:srgbClr val="FFFFFF"/>
                </a:solidFill>
                <a:highlight>
                  <a:srgbClr val="0071E3">
                    <a:alpha val="100000"/>
                  </a:srgbClr>
                </a:highlight>
                <a:latin typeface="MiSans" pitchFamily="34" charset="0"/>
                <a:ea typeface="MiSans" pitchFamily="34" charset="-122"/>
                <a:cs typeface="MiSans" pitchFamily="34" charset="-120"/>
              </a:rPr>
              <a:t>B </a:t>
            </a:r>
            <a:r>
              <a:rPr lang="en-US" sz="1000" b="1" dirty="0">
                <a:solidFill>
                  <a:srgbClr val="1D1D1D"/>
                </a:solidFill>
                <a:latin typeface="MiSans" pitchFamily="34" charset="0"/>
                <a:ea typeface="MiSans" pitchFamily="34" charset="-122"/>
                <a:cs typeface="MiSans" pitchFamily="34" charset="-120"/>
              </a:rPr>
              <a:t>SKILL沉淀</a:t>
            </a:r>
            <a:endParaRPr lang="en-US" sz="1600" dirty="0"/>
          </a:p>
        </p:txBody>
      </p:sp>
      <p:sp>
        <p:nvSpPr>
          <p:cNvPr id="24" name="Text 22"/>
          <p:cNvSpPr/>
          <p:nvPr/>
        </p:nvSpPr>
        <p:spPr>
          <a:xfrm>
            <a:off x="645583" y="4699000"/>
            <a:ext cx="508000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基于试点应用形成 </a:t>
            </a:r>
            <a:r>
              <a:rPr lang="en-US" sz="875" b="1" dirty="0">
                <a:solidFill>
                  <a:srgbClr val="0071E3"/>
                </a:solidFill>
                <a:latin typeface="MiSans" pitchFamily="34" charset="0"/>
                <a:ea typeface="MiSans" pitchFamily="34" charset="-122"/>
                <a:cs typeface="MiSans" pitchFamily="34" charset="-120"/>
              </a:rPr>
              <a:t>SKILL库</a:t>
            </a:r>
            <a:r>
              <a:rPr lang="en-US" sz="875" dirty="0">
                <a:solidFill>
                  <a:srgbClr val="86868B"/>
                </a:solidFill>
                <a:latin typeface="MiSans" pitchFamily="34" charset="0"/>
                <a:ea typeface="MiSans" pitchFamily="34" charset="-122"/>
                <a:cs typeface="MiSans" pitchFamily="34" charset="-120"/>
              </a:rPr>
              <a:t>。目标：供项目组实际集成时直接调用，实现"一次成功，全员复用"。</a:t>
            </a:r>
            <a:endParaRPr lang="en-US" sz="1600" dirty="0"/>
          </a:p>
        </p:txBody>
      </p:sp>
      <p:sp>
        <p:nvSpPr>
          <p:cNvPr id="25" name="Shape 23"/>
          <p:cNvSpPr/>
          <p:nvPr/>
        </p:nvSpPr>
        <p:spPr>
          <a:xfrm>
            <a:off x="6193896" y="1050396"/>
            <a:ext cx="5680604" cy="2005542"/>
          </a:xfrm>
          <a:custGeom>
            <a:avLst/>
            <a:gdLst/>
            <a:ahLst/>
            <a:cxnLst/>
            <a:rect l="l" t="t" r="r" b="b"/>
            <a:pathLst>
              <a:path w="5680604" h="2005542">
                <a:moveTo>
                  <a:pt x="126991" y="0"/>
                </a:moveTo>
                <a:lnTo>
                  <a:pt x="5553613" y="0"/>
                </a:lnTo>
                <a:cubicBezTo>
                  <a:pt x="5623748" y="0"/>
                  <a:pt x="5680604" y="56856"/>
                  <a:pt x="5680604" y="126991"/>
                </a:cubicBezTo>
                <a:lnTo>
                  <a:pt x="5680604" y="1878551"/>
                </a:lnTo>
                <a:cubicBezTo>
                  <a:pt x="5680604" y="1948686"/>
                  <a:pt x="5623748" y="2005542"/>
                  <a:pt x="5553613" y="2005542"/>
                </a:cubicBezTo>
                <a:lnTo>
                  <a:pt x="126991" y="2005542"/>
                </a:lnTo>
                <a:cubicBezTo>
                  <a:pt x="56856" y="2005542"/>
                  <a:pt x="0" y="1948686"/>
                  <a:pt x="0" y="1878551"/>
                </a:cubicBezTo>
                <a:lnTo>
                  <a:pt x="0" y="126991"/>
                </a:lnTo>
                <a:cubicBezTo>
                  <a:pt x="0" y="56856"/>
                  <a:pt x="56856" y="0"/>
                  <a:pt x="126991" y="0"/>
                </a:cubicBezTo>
                <a:close/>
              </a:path>
            </a:pathLst>
          </a:custGeom>
          <a:solidFill>
            <a:srgbClr val="FFFFFF"/>
          </a:solidFill>
          <a:ln w="8467">
            <a:solidFill>
              <a:srgbClr val="E5E5E5"/>
            </a:solidFill>
            <a:prstDash val="solid"/>
          </a:ln>
          <a:effectLst>
            <a:outerShdw blurRad="23813" dist="7938" dir="5400000" algn="bl" rotWithShape="0">
              <a:srgbClr val="000000">
                <a:alpha val="10196"/>
              </a:srgbClr>
            </a:outerShdw>
          </a:effectLst>
        </p:spPr>
        <p:txBody>
          <a:bodyPr/>
          <a:lstStyle/>
          <a:p>
            <a:endParaRPr lang="zh-CN" altLang="en-US"/>
          </a:p>
        </p:txBody>
      </p:sp>
      <p:sp>
        <p:nvSpPr>
          <p:cNvPr id="26" name="Shape 24"/>
          <p:cNvSpPr/>
          <p:nvPr/>
        </p:nvSpPr>
        <p:spPr>
          <a:xfrm>
            <a:off x="6387042" y="1243544"/>
            <a:ext cx="381000" cy="381000"/>
          </a:xfrm>
          <a:custGeom>
            <a:avLst/>
            <a:gdLst/>
            <a:ahLst/>
            <a:cxnLst/>
            <a:rect l="l" t="t" r="r" b="b"/>
            <a:pathLst>
              <a:path w="381000" h="381000">
                <a:moveTo>
                  <a:pt x="95250" y="0"/>
                </a:moveTo>
                <a:lnTo>
                  <a:pt x="285750" y="0"/>
                </a:lnTo>
                <a:cubicBezTo>
                  <a:pt x="338320" y="0"/>
                  <a:pt x="381000" y="42680"/>
                  <a:pt x="381000" y="95250"/>
                </a:cubicBezTo>
                <a:lnTo>
                  <a:pt x="381000" y="285750"/>
                </a:lnTo>
                <a:cubicBezTo>
                  <a:pt x="381000" y="338320"/>
                  <a:pt x="338320" y="381000"/>
                  <a:pt x="285750" y="381000"/>
                </a:cubicBezTo>
                <a:lnTo>
                  <a:pt x="95250" y="381000"/>
                </a:lnTo>
                <a:cubicBezTo>
                  <a:pt x="42680" y="381000"/>
                  <a:pt x="0" y="338320"/>
                  <a:pt x="0" y="285750"/>
                </a:cubicBezTo>
                <a:lnTo>
                  <a:pt x="0" y="95250"/>
                </a:lnTo>
                <a:cubicBezTo>
                  <a:pt x="0" y="42680"/>
                  <a:pt x="42680" y="0"/>
                  <a:pt x="95250" y="0"/>
                </a:cubicBezTo>
                <a:close/>
              </a:path>
            </a:pathLst>
          </a:custGeom>
          <a:solidFill>
            <a:srgbClr val="0071E3"/>
          </a:solidFill>
          <a:ln/>
        </p:spPr>
        <p:txBody>
          <a:bodyPr/>
          <a:lstStyle/>
          <a:p>
            <a:endParaRPr lang="zh-CN" altLang="en-US"/>
          </a:p>
        </p:txBody>
      </p:sp>
      <p:sp>
        <p:nvSpPr>
          <p:cNvPr id="27" name="Text 25"/>
          <p:cNvSpPr/>
          <p:nvPr/>
        </p:nvSpPr>
        <p:spPr>
          <a:xfrm>
            <a:off x="6521483" y="1307044"/>
            <a:ext cx="206375"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MiSans" pitchFamily="34" charset="0"/>
                <a:ea typeface="MiSans" pitchFamily="34" charset="-122"/>
                <a:cs typeface="MiSans" pitchFamily="34" charset="-120"/>
              </a:rPr>
              <a:t>3</a:t>
            </a:r>
            <a:endParaRPr lang="en-US" sz="1600" dirty="0"/>
          </a:p>
        </p:txBody>
      </p:sp>
      <p:sp>
        <p:nvSpPr>
          <p:cNvPr id="28" name="Text 26"/>
          <p:cNvSpPr/>
          <p:nvPr/>
        </p:nvSpPr>
        <p:spPr>
          <a:xfrm>
            <a:off x="6863292" y="1243544"/>
            <a:ext cx="873125" cy="222250"/>
          </a:xfrm>
          <a:prstGeom prst="rect">
            <a:avLst/>
          </a:prstGeom>
          <a:noFill/>
          <a:ln/>
        </p:spPr>
        <p:txBody>
          <a:bodyPr wrap="square" lIns="0" tIns="0" rIns="0" bIns="0" rtlCol="0" anchor="ctr"/>
          <a:lstStyle/>
          <a:p>
            <a:pPr>
              <a:lnSpc>
                <a:spcPct val="120000"/>
              </a:lnSpc>
            </a:pPr>
            <a:r>
              <a:rPr lang="en-US" sz="1250" b="1" dirty="0">
                <a:solidFill>
                  <a:srgbClr val="1D1D1D"/>
                </a:solidFill>
                <a:latin typeface="MiSans" pitchFamily="34" charset="0"/>
                <a:ea typeface="MiSans" pitchFamily="34" charset="-122"/>
                <a:cs typeface="MiSans" pitchFamily="34" charset="-120"/>
              </a:rPr>
              <a:t>新系统设计</a:t>
            </a:r>
            <a:endParaRPr lang="en-US" sz="1600" dirty="0"/>
          </a:p>
        </p:txBody>
      </p:sp>
      <p:sp>
        <p:nvSpPr>
          <p:cNvPr id="29" name="Text 27"/>
          <p:cNvSpPr/>
          <p:nvPr/>
        </p:nvSpPr>
        <p:spPr>
          <a:xfrm>
            <a:off x="6863292" y="1465794"/>
            <a:ext cx="849313" cy="158750"/>
          </a:xfrm>
          <a:prstGeom prst="rect">
            <a:avLst/>
          </a:prstGeom>
          <a:noFill/>
          <a:ln/>
        </p:spPr>
        <p:txBody>
          <a:bodyPr wrap="square" lIns="0" tIns="0" rIns="0" bIns="0" rtlCol="0" anchor="ctr"/>
          <a:lstStyle/>
          <a:p>
            <a:pPr>
              <a:lnSpc>
                <a:spcPct val="120000"/>
              </a:lnSpc>
            </a:pPr>
            <a:r>
              <a:rPr lang="en-US" sz="875" dirty="0">
                <a:solidFill>
                  <a:srgbClr val="0071E3"/>
                </a:solidFill>
                <a:latin typeface="MiSans" pitchFamily="34" charset="0"/>
                <a:ea typeface="MiSans" pitchFamily="34" charset="-122"/>
                <a:cs typeface="MiSans" pitchFamily="34" charset="-120"/>
              </a:rPr>
              <a:t>原生AI化</a:t>
            </a:r>
            <a:endParaRPr lang="en-US" sz="1600" dirty="0"/>
          </a:p>
        </p:txBody>
      </p:sp>
      <p:sp>
        <p:nvSpPr>
          <p:cNvPr id="30" name="Text 28"/>
          <p:cNvSpPr/>
          <p:nvPr/>
        </p:nvSpPr>
        <p:spPr>
          <a:xfrm>
            <a:off x="6387042" y="1751544"/>
            <a:ext cx="5357813" cy="190500"/>
          </a:xfrm>
          <a:prstGeom prst="rect">
            <a:avLst/>
          </a:prstGeom>
          <a:noFill/>
          <a:ln/>
        </p:spPr>
        <p:txBody>
          <a:bodyPr wrap="square" lIns="0" tIns="0" rIns="0" bIns="0" rtlCol="0" anchor="ctr"/>
          <a:lstStyle/>
          <a:p>
            <a:pPr>
              <a:lnSpc>
                <a:spcPct val="130000"/>
              </a:lnSpc>
            </a:pPr>
            <a:r>
              <a:rPr lang="en-US" sz="1000" dirty="0">
                <a:solidFill>
                  <a:srgbClr val="1D1D1D"/>
                </a:solidFill>
                <a:latin typeface="MiSans" pitchFamily="34" charset="0"/>
                <a:ea typeface="MiSans" pitchFamily="34" charset="-122"/>
                <a:cs typeface="MiSans" pitchFamily="34" charset="-120"/>
              </a:rPr>
              <a:t>针对</a:t>
            </a:r>
            <a:r>
              <a:rPr lang="en-US" sz="1000" b="1" dirty="0">
                <a:solidFill>
                  <a:srgbClr val="0071E3"/>
                </a:solidFill>
                <a:latin typeface="MiSans" pitchFamily="34" charset="0"/>
                <a:ea typeface="MiSans" pitchFamily="34" charset="-122"/>
                <a:cs typeface="MiSans" pitchFamily="34" charset="-120"/>
              </a:rPr>
              <a:t>通用平台</a:t>
            </a:r>
            <a:r>
              <a:rPr lang="en-US" sz="1000" dirty="0">
                <a:solidFill>
                  <a:srgbClr val="1D1D1D"/>
                </a:solidFill>
                <a:latin typeface="MiSans" pitchFamily="34" charset="0"/>
                <a:ea typeface="MiSans" pitchFamily="34" charset="-122"/>
                <a:cs typeface="MiSans" pitchFamily="34" charset="-120"/>
              </a:rPr>
              <a:t>等全新系统设计，必须从架构层面充分考虑大模型能力，实现双重转型：</a:t>
            </a:r>
            <a:endParaRPr lang="en-US" sz="1600" dirty="0"/>
          </a:p>
        </p:txBody>
      </p:sp>
      <p:sp>
        <p:nvSpPr>
          <p:cNvPr id="31" name="Shape 29"/>
          <p:cNvSpPr/>
          <p:nvPr/>
        </p:nvSpPr>
        <p:spPr>
          <a:xfrm>
            <a:off x="6394979" y="2100794"/>
            <a:ext cx="142875" cy="127000"/>
          </a:xfrm>
          <a:custGeom>
            <a:avLst/>
            <a:gdLst/>
            <a:ahLst/>
            <a:cxnLst/>
            <a:rect l="l" t="t" r="r" b="b"/>
            <a:pathLst>
              <a:path w="142875" h="127000">
                <a:moveTo>
                  <a:pt x="89495" y="298"/>
                </a:moveTo>
                <a:cubicBezTo>
                  <a:pt x="85279" y="-918"/>
                  <a:pt x="80888" y="1538"/>
                  <a:pt x="79673" y="5755"/>
                </a:cubicBezTo>
                <a:lnTo>
                  <a:pt x="47923" y="116880"/>
                </a:lnTo>
                <a:cubicBezTo>
                  <a:pt x="46707" y="121096"/>
                  <a:pt x="49163" y="125487"/>
                  <a:pt x="53380" y="126702"/>
                </a:cubicBezTo>
                <a:cubicBezTo>
                  <a:pt x="57596" y="127918"/>
                  <a:pt x="61987" y="125462"/>
                  <a:pt x="63202" y="121245"/>
                </a:cubicBezTo>
                <a:lnTo>
                  <a:pt x="94952" y="10120"/>
                </a:lnTo>
                <a:cubicBezTo>
                  <a:pt x="96168" y="5904"/>
                  <a:pt x="93712" y="1513"/>
                  <a:pt x="89495" y="298"/>
                </a:cubicBezTo>
                <a:close/>
                <a:moveTo>
                  <a:pt x="105519" y="34057"/>
                </a:moveTo>
                <a:cubicBezTo>
                  <a:pt x="102419" y="37157"/>
                  <a:pt x="102419" y="42193"/>
                  <a:pt x="105519" y="45293"/>
                </a:cubicBezTo>
                <a:lnTo>
                  <a:pt x="123726" y="63500"/>
                </a:lnTo>
                <a:lnTo>
                  <a:pt x="105519" y="81707"/>
                </a:lnTo>
                <a:cubicBezTo>
                  <a:pt x="102419" y="84807"/>
                  <a:pt x="102419" y="89843"/>
                  <a:pt x="105519" y="92943"/>
                </a:cubicBezTo>
                <a:cubicBezTo>
                  <a:pt x="108620" y="96044"/>
                  <a:pt x="113655" y="96044"/>
                  <a:pt x="116756" y="92943"/>
                </a:cubicBezTo>
                <a:lnTo>
                  <a:pt x="140568" y="69131"/>
                </a:lnTo>
                <a:cubicBezTo>
                  <a:pt x="143669" y="66030"/>
                  <a:pt x="143669" y="60995"/>
                  <a:pt x="140568" y="57894"/>
                </a:cubicBezTo>
                <a:lnTo>
                  <a:pt x="116756" y="34082"/>
                </a:lnTo>
                <a:cubicBezTo>
                  <a:pt x="113655" y="30981"/>
                  <a:pt x="108620" y="30981"/>
                  <a:pt x="105519" y="34082"/>
                </a:cubicBezTo>
                <a:close/>
                <a:moveTo>
                  <a:pt x="37381" y="34057"/>
                </a:moveTo>
                <a:cubicBezTo>
                  <a:pt x="34280" y="30956"/>
                  <a:pt x="29245" y="30956"/>
                  <a:pt x="26144" y="34057"/>
                </a:cubicBezTo>
                <a:lnTo>
                  <a:pt x="2332" y="57869"/>
                </a:lnTo>
                <a:cubicBezTo>
                  <a:pt x="-769" y="60970"/>
                  <a:pt x="-769" y="66005"/>
                  <a:pt x="2332" y="69106"/>
                </a:cubicBezTo>
                <a:lnTo>
                  <a:pt x="26144" y="92918"/>
                </a:lnTo>
                <a:cubicBezTo>
                  <a:pt x="29245" y="96019"/>
                  <a:pt x="34280" y="96019"/>
                  <a:pt x="37381" y="92918"/>
                </a:cubicBezTo>
                <a:cubicBezTo>
                  <a:pt x="40481" y="89818"/>
                  <a:pt x="40481" y="84782"/>
                  <a:pt x="37381" y="81682"/>
                </a:cubicBezTo>
                <a:lnTo>
                  <a:pt x="19174" y="63500"/>
                </a:lnTo>
                <a:lnTo>
                  <a:pt x="37356" y="45293"/>
                </a:lnTo>
                <a:cubicBezTo>
                  <a:pt x="40456" y="42193"/>
                  <a:pt x="40456" y="37157"/>
                  <a:pt x="37356" y="34057"/>
                </a:cubicBezTo>
                <a:close/>
              </a:path>
            </a:pathLst>
          </a:custGeom>
          <a:solidFill>
            <a:srgbClr val="0071E3"/>
          </a:solidFill>
          <a:ln/>
        </p:spPr>
        <p:txBody>
          <a:bodyPr/>
          <a:lstStyle/>
          <a:p>
            <a:endParaRPr lang="zh-CN" altLang="en-US"/>
          </a:p>
        </p:txBody>
      </p:sp>
      <p:sp>
        <p:nvSpPr>
          <p:cNvPr id="32" name="Text 30"/>
          <p:cNvSpPr/>
          <p:nvPr/>
        </p:nvSpPr>
        <p:spPr>
          <a:xfrm>
            <a:off x="6641042" y="2069044"/>
            <a:ext cx="4476750"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开发态转型 (Vibe Coding)</a:t>
            </a:r>
            <a:endParaRPr lang="en-US" sz="1600" dirty="0"/>
          </a:p>
        </p:txBody>
      </p:sp>
      <p:sp>
        <p:nvSpPr>
          <p:cNvPr id="33" name="Text 31"/>
          <p:cNvSpPr/>
          <p:nvPr/>
        </p:nvSpPr>
        <p:spPr>
          <a:xfrm>
            <a:off x="6641042" y="2259544"/>
            <a:ext cx="4468813"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全面采用 Vibe Coding 模式进行系统构建。利用 AI 快速生成骨架、业务逻辑及测试用例。</a:t>
            </a:r>
            <a:endParaRPr lang="en-US" sz="1600" dirty="0"/>
          </a:p>
        </p:txBody>
      </p:sp>
      <p:sp>
        <p:nvSpPr>
          <p:cNvPr id="34" name="Shape 32"/>
          <p:cNvSpPr/>
          <p:nvPr/>
        </p:nvSpPr>
        <p:spPr>
          <a:xfrm>
            <a:off x="6410854" y="2545294"/>
            <a:ext cx="111125" cy="127000"/>
          </a:xfrm>
          <a:custGeom>
            <a:avLst/>
            <a:gdLst/>
            <a:ahLst/>
            <a:cxnLst/>
            <a:rect l="l" t="t" r="r" b="b"/>
            <a:pathLst>
              <a:path w="111125" h="127000">
                <a:moveTo>
                  <a:pt x="15875" y="7938"/>
                </a:moveTo>
                <a:cubicBezTo>
                  <a:pt x="7119" y="7938"/>
                  <a:pt x="0" y="15056"/>
                  <a:pt x="0" y="23812"/>
                </a:cubicBezTo>
                <a:lnTo>
                  <a:pt x="0" y="39688"/>
                </a:lnTo>
                <a:cubicBezTo>
                  <a:pt x="0" y="48444"/>
                  <a:pt x="7119" y="55563"/>
                  <a:pt x="15875" y="55563"/>
                </a:cubicBezTo>
                <a:lnTo>
                  <a:pt x="95250" y="55563"/>
                </a:lnTo>
                <a:cubicBezTo>
                  <a:pt x="104006" y="55563"/>
                  <a:pt x="111125" y="48444"/>
                  <a:pt x="111125" y="39688"/>
                </a:cubicBezTo>
                <a:lnTo>
                  <a:pt x="111125" y="23812"/>
                </a:lnTo>
                <a:cubicBezTo>
                  <a:pt x="111125" y="15056"/>
                  <a:pt x="104006" y="7938"/>
                  <a:pt x="95250" y="7938"/>
                </a:cubicBezTo>
                <a:lnTo>
                  <a:pt x="15875" y="7938"/>
                </a:lnTo>
                <a:close/>
                <a:moveTo>
                  <a:pt x="69453" y="25797"/>
                </a:moveTo>
                <a:cubicBezTo>
                  <a:pt x="72739" y="25797"/>
                  <a:pt x="75406" y="28464"/>
                  <a:pt x="75406" y="31750"/>
                </a:cubicBezTo>
                <a:cubicBezTo>
                  <a:pt x="75406" y="35036"/>
                  <a:pt x="72739" y="37703"/>
                  <a:pt x="69453" y="37703"/>
                </a:cubicBezTo>
                <a:cubicBezTo>
                  <a:pt x="66168" y="37703"/>
                  <a:pt x="63500" y="35036"/>
                  <a:pt x="63500" y="31750"/>
                </a:cubicBezTo>
                <a:cubicBezTo>
                  <a:pt x="63500" y="28464"/>
                  <a:pt x="66168" y="25797"/>
                  <a:pt x="69453" y="25797"/>
                </a:cubicBezTo>
                <a:close/>
                <a:moveTo>
                  <a:pt x="83344" y="31750"/>
                </a:moveTo>
                <a:cubicBezTo>
                  <a:pt x="83344" y="28464"/>
                  <a:pt x="86011" y="25797"/>
                  <a:pt x="89297" y="25797"/>
                </a:cubicBezTo>
                <a:cubicBezTo>
                  <a:pt x="92582" y="25797"/>
                  <a:pt x="95250" y="28464"/>
                  <a:pt x="95250" y="31750"/>
                </a:cubicBezTo>
                <a:cubicBezTo>
                  <a:pt x="95250" y="35036"/>
                  <a:pt x="92582" y="37703"/>
                  <a:pt x="89297" y="37703"/>
                </a:cubicBezTo>
                <a:cubicBezTo>
                  <a:pt x="86011" y="37703"/>
                  <a:pt x="83344" y="35036"/>
                  <a:pt x="83344" y="31750"/>
                </a:cubicBezTo>
                <a:close/>
                <a:moveTo>
                  <a:pt x="15875" y="71438"/>
                </a:moveTo>
                <a:cubicBezTo>
                  <a:pt x="7119" y="71438"/>
                  <a:pt x="0" y="78556"/>
                  <a:pt x="0" y="87313"/>
                </a:cubicBezTo>
                <a:lnTo>
                  <a:pt x="0" y="103188"/>
                </a:lnTo>
                <a:cubicBezTo>
                  <a:pt x="0" y="111944"/>
                  <a:pt x="7119" y="119063"/>
                  <a:pt x="15875" y="119063"/>
                </a:cubicBezTo>
                <a:lnTo>
                  <a:pt x="95250" y="119063"/>
                </a:lnTo>
                <a:cubicBezTo>
                  <a:pt x="104006" y="119063"/>
                  <a:pt x="111125" y="111944"/>
                  <a:pt x="111125" y="103188"/>
                </a:cubicBezTo>
                <a:lnTo>
                  <a:pt x="111125" y="87313"/>
                </a:lnTo>
                <a:cubicBezTo>
                  <a:pt x="111125" y="78556"/>
                  <a:pt x="104006" y="71438"/>
                  <a:pt x="95250" y="71438"/>
                </a:cubicBezTo>
                <a:lnTo>
                  <a:pt x="15875" y="71438"/>
                </a:lnTo>
                <a:close/>
                <a:moveTo>
                  <a:pt x="69453" y="89297"/>
                </a:moveTo>
                <a:cubicBezTo>
                  <a:pt x="72739" y="89297"/>
                  <a:pt x="75406" y="91964"/>
                  <a:pt x="75406" y="95250"/>
                </a:cubicBezTo>
                <a:cubicBezTo>
                  <a:pt x="75406" y="98536"/>
                  <a:pt x="72739" y="101203"/>
                  <a:pt x="69453" y="101203"/>
                </a:cubicBezTo>
                <a:cubicBezTo>
                  <a:pt x="66168" y="101203"/>
                  <a:pt x="63500" y="98536"/>
                  <a:pt x="63500" y="95250"/>
                </a:cubicBezTo>
                <a:cubicBezTo>
                  <a:pt x="63500" y="91964"/>
                  <a:pt x="66168" y="89297"/>
                  <a:pt x="69453" y="89297"/>
                </a:cubicBezTo>
                <a:close/>
                <a:moveTo>
                  <a:pt x="83344" y="95250"/>
                </a:moveTo>
                <a:cubicBezTo>
                  <a:pt x="83344" y="91964"/>
                  <a:pt x="86011" y="89297"/>
                  <a:pt x="89297" y="89297"/>
                </a:cubicBezTo>
                <a:cubicBezTo>
                  <a:pt x="92582" y="89297"/>
                  <a:pt x="95250" y="91964"/>
                  <a:pt x="95250" y="95250"/>
                </a:cubicBezTo>
                <a:cubicBezTo>
                  <a:pt x="95250" y="98536"/>
                  <a:pt x="92582" y="101203"/>
                  <a:pt x="89297" y="101203"/>
                </a:cubicBezTo>
                <a:cubicBezTo>
                  <a:pt x="86011" y="101203"/>
                  <a:pt x="83344" y="98536"/>
                  <a:pt x="83344" y="95250"/>
                </a:cubicBezTo>
                <a:close/>
              </a:path>
            </a:pathLst>
          </a:custGeom>
          <a:solidFill>
            <a:srgbClr val="0071E3"/>
          </a:solidFill>
          <a:ln/>
        </p:spPr>
        <p:txBody>
          <a:bodyPr/>
          <a:lstStyle/>
          <a:p>
            <a:endParaRPr lang="zh-CN" altLang="en-US"/>
          </a:p>
        </p:txBody>
      </p:sp>
      <p:sp>
        <p:nvSpPr>
          <p:cNvPr id="35" name="Text 33"/>
          <p:cNvSpPr/>
          <p:nvPr/>
        </p:nvSpPr>
        <p:spPr>
          <a:xfrm>
            <a:off x="6641042" y="2513544"/>
            <a:ext cx="4167188" cy="190500"/>
          </a:xfrm>
          <a:prstGeom prst="rect">
            <a:avLst/>
          </a:prstGeom>
          <a:noFill/>
          <a:ln/>
        </p:spPr>
        <p:txBody>
          <a:bodyPr wrap="square" lIns="0" tIns="0" rIns="0" bIns="0" rtlCol="0" anchor="ctr"/>
          <a:lstStyle/>
          <a:p>
            <a:pPr>
              <a:lnSpc>
                <a:spcPct val="130000"/>
              </a:lnSpc>
            </a:pPr>
            <a:r>
              <a:rPr lang="en-US" sz="1000" b="1" dirty="0">
                <a:solidFill>
                  <a:srgbClr val="1D1D1D"/>
                </a:solidFill>
                <a:latin typeface="MiSans" pitchFamily="34" charset="0"/>
                <a:ea typeface="MiSans" pitchFamily="34" charset="-122"/>
                <a:cs typeface="MiSans" pitchFamily="34" charset="-120"/>
              </a:rPr>
              <a:t>运行态转型 (Agent-Driven)</a:t>
            </a:r>
            <a:endParaRPr lang="en-US" sz="1600" dirty="0"/>
          </a:p>
        </p:txBody>
      </p:sp>
      <p:sp>
        <p:nvSpPr>
          <p:cNvPr id="36" name="Text 34"/>
          <p:cNvSpPr/>
          <p:nvPr/>
        </p:nvSpPr>
        <p:spPr>
          <a:xfrm>
            <a:off x="6641042" y="2704044"/>
            <a:ext cx="4159250" cy="158750"/>
          </a:xfrm>
          <a:prstGeom prst="rect">
            <a:avLst/>
          </a:prstGeom>
          <a:noFill/>
          <a:ln/>
        </p:spPr>
        <p:txBody>
          <a:bodyPr wrap="square" lIns="0" tIns="0" rIns="0" bIns="0" rtlCol="0" anchor="ctr"/>
          <a:lstStyle/>
          <a:p>
            <a:pPr>
              <a:lnSpc>
                <a:spcPct val="120000"/>
              </a:lnSpc>
            </a:pPr>
            <a:r>
              <a:rPr lang="en-US" sz="875" dirty="0">
                <a:solidFill>
                  <a:srgbClr val="86868B"/>
                </a:solidFill>
                <a:latin typeface="MiSans" pitchFamily="34" charset="0"/>
                <a:ea typeface="MiSans" pitchFamily="34" charset="-122"/>
                <a:cs typeface="MiSans" pitchFamily="34" charset="-120"/>
              </a:rPr>
              <a:t>架构转向</a:t>
            </a:r>
            <a:r>
              <a:rPr lang="en-US" sz="875" b="1" dirty="0">
                <a:solidFill>
                  <a:srgbClr val="0071E3"/>
                </a:solidFill>
                <a:latin typeface="MiSans" pitchFamily="34" charset="0"/>
                <a:ea typeface="MiSans" pitchFamily="34" charset="-122"/>
                <a:cs typeface="MiSans" pitchFamily="34" charset="-120"/>
              </a:rPr>
              <a:t>大模型驱动的开放框架</a:t>
            </a:r>
            <a:r>
              <a:rPr lang="en-US" sz="875" dirty="0">
                <a:solidFill>
                  <a:srgbClr val="86868B"/>
                </a:solidFill>
                <a:latin typeface="MiSans" pitchFamily="34" charset="0"/>
                <a:ea typeface="MiSans" pitchFamily="34" charset="-122"/>
                <a:cs typeface="MiSans" pitchFamily="34" charset="-120"/>
              </a:rPr>
              <a:t>。参考 Claude Cowork、OpenClaw (自动化运维)。</a:t>
            </a:r>
            <a:endParaRPr lang="en-US" sz="1600" dirty="0"/>
          </a:p>
        </p:txBody>
      </p:sp>
      <p:sp>
        <p:nvSpPr>
          <p:cNvPr id="37" name="Shape 35"/>
          <p:cNvSpPr/>
          <p:nvPr/>
        </p:nvSpPr>
        <p:spPr>
          <a:xfrm>
            <a:off x="6191250" y="3217339"/>
            <a:ext cx="5683250" cy="2476500"/>
          </a:xfrm>
          <a:custGeom>
            <a:avLst/>
            <a:gdLst/>
            <a:ahLst/>
            <a:cxnLst/>
            <a:rect l="l" t="t" r="r" b="b"/>
            <a:pathLst>
              <a:path w="5683250" h="2476500">
                <a:moveTo>
                  <a:pt x="126995" y="0"/>
                </a:moveTo>
                <a:lnTo>
                  <a:pt x="5556255" y="0"/>
                </a:lnTo>
                <a:cubicBezTo>
                  <a:pt x="5626392" y="0"/>
                  <a:pt x="5683250" y="56858"/>
                  <a:pt x="5683250" y="126995"/>
                </a:cubicBezTo>
                <a:lnTo>
                  <a:pt x="5683250" y="2349505"/>
                </a:lnTo>
                <a:cubicBezTo>
                  <a:pt x="5683250" y="2419642"/>
                  <a:pt x="5626392" y="2476500"/>
                  <a:pt x="5556255" y="2476500"/>
                </a:cubicBezTo>
                <a:lnTo>
                  <a:pt x="126995" y="2476500"/>
                </a:lnTo>
                <a:cubicBezTo>
                  <a:pt x="56858" y="2476500"/>
                  <a:pt x="0" y="2419642"/>
                  <a:pt x="0" y="2349505"/>
                </a:cubicBezTo>
                <a:lnTo>
                  <a:pt x="0" y="126995"/>
                </a:lnTo>
                <a:cubicBezTo>
                  <a:pt x="0" y="56905"/>
                  <a:pt x="56905" y="0"/>
                  <a:pt x="126995" y="0"/>
                </a:cubicBezTo>
                <a:close/>
              </a:path>
            </a:pathLst>
          </a:custGeom>
          <a:gradFill flip="none" rotWithShape="1">
            <a:gsLst>
              <a:gs pos="0">
                <a:srgbClr val="0071E3"/>
              </a:gs>
              <a:gs pos="100000">
                <a:srgbClr val="0071E3">
                  <a:alpha val="80000"/>
                </a:srgbClr>
              </a:gs>
            </a:gsLst>
            <a:lin ang="2700000" scaled="1"/>
          </a:gradFill>
          <a:ln/>
        </p:spPr>
        <p:txBody>
          <a:bodyPr/>
          <a:lstStyle/>
          <a:p>
            <a:endParaRPr lang="zh-CN" altLang="en-US"/>
          </a:p>
        </p:txBody>
      </p:sp>
      <p:sp>
        <p:nvSpPr>
          <p:cNvPr id="38" name="Shape 36"/>
          <p:cNvSpPr/>
          <p:nvPr/>
        </p:nvSpPr>
        <p:spPr>
          <a:xfrm>
            <a:off x="6381750" y="3407839"/>
            <a:ext cx="381000" cy="381000"/>
          </a:xfrm>
          <a:custGeom>
            <a:avLst/>
            <a:gdLst/>
            <a:ahLst/>
            <a:cxnLst/>
            <a:rect l="l" t="t" r="r" b="b"/>
            <a:pathLst>
              <a:path w="381000" h="381000">
                <a:moveTo>
                  <a:pt x="95250" y="0"/>
                </a:moveTo>
                <a:lnTo>
                  <a:pt x="285750" y="0"/>
                </a:lnTo>
                <a:cubicBezTo>
                  <a:pt x="338320" y="0"/>
                  <a:pt x="381000" y="42680"/>
                  <a:pt x="381000" y="95250"/>
                </a:cubicBezTo>
                <a:lnTo>
                  <a:pt x="381000" y="285750"/>
                </a:lnTo>
                <a:cubicBezTo>
                  <a:pt x="381000" y="338320"/>
                  <a:pt x="338320" y="381000"/>
                  <a:pt x="285750" y="381000"/>
                </a:cubicBezTo>
                <a:lnTo>
                  <a:pt x="95250" y="381000"/>
                </a:lnTo>
                <a:cubicBezTo>
                  <a:pt x="42680" y="381000"/>
                  <a:pt x="0" y="338320"/>
                  <a:pt x="0" y="285750"/>
                </a:cubicBezTo>
                <a:lnTo>
                  <a:pt x="0" y="95250"/>
                </a:lnTo>
                <a:cubicBezTo>
                  <a:pt x="0" y="42680"/>
                  <a:pt x="42680" y="0"/>
                  <a:pt x="95250" y="0"/>
                </a:cubicBezTo>
                <a:close/>
              </a:path>
            </a:pathLst>
          </a:custGeom>
          <a:solidFill>
            <a:srgbClr val="FFFFFF">
              <a:alpha val="20000"/>
            </a:srgbClr>
          </a:solidFill>
          <a:ln/>
        </p:spPr>
        <p:txBody>
          <a:bodyPr/>
          <a:lstStyle/>
          <a:p>
            <a:endParaRPr lang="zh-CN" altLang="en-US"/>
          </a:p>
        </p:txBody>
      </p:sp>
      <p:sp>
        <p:nvSpPr>
          <p:cNvPr id="39" name="Text 37"/>
          <p:cNvSpPr/>
          <p:nvPr/>
        </p:nvSpPr>
        <p:spPr>
          <a:xfrm>
            <a:off x="6516357" y="3471339"/>
            <a:ext cx="206375" cy="254000"/>
          </a:xfrm>
          <a:prstGeom prst="rect">
            <a:avLst/>
          </a:prstGeom>
          <a:noFill/>
          <a:ln/>
        </p:spPr>
        <p:txBody>
          <a:bodyPr wrap="square" lIns="0" tIns="0" rIns="0" bIns="0" rtlCol="0" anchor="ctr"/>
          <a:lstStyle/>
          <a:p>
            <a:pPr>
              <a:lnSpc>
                <a:spcPct val="110000"/>
              </a:lnSpc>
            </a:pPr>
            <a:r>
              <a:rPr lang="en-US" sz="1500" b="1" dirty="0">
                <a:solidFill>
                  <a:srgbClr val="FFFFFF"/>
                </a:solidFill>
                <a:latin typeface="MiSans" pitchFamily="34" charset="0"/>
                <a:ea typeface="MiSans" pitchFamily="34" charset="-122"/>
                <a:cs typeface="MiSans" pitchFamily="34" charset="-120"/>
              </a:rPr>
              <a:t>4</a:t>
            </a:r>
            <a:endParaRPr lang="en-US" sz="1600" dirty="0"/>
          </a:p>
        </p:txBody>
      </p:sp>
      <p:sp>
        <p:nvSpPr>
          <p:cNvPr id="40" name="Text 38"/>
          <p:cNvSpPr/>
          <p:nvPr/>
        </p:nvSpPr>
        <p:spPr>
          <a:xfrm>
            <a:off x="6858000" y="3407839"/>
            <a:ext cx="968375" cy="222250"/>
          </a:xfrm>
          <a:prstGeom prst="rect">
            <a:avLst/>
          </a:prstGeom>
          <a:noFill/>
          <a:ln/>
        </p:spPr>
        <p:txBody>
          <a:bodyPr wrap="square" lIns="0" tIns="0" rIns="0" bIns="0" rtlCol="0" anchor="ctr"/>
          <a:lstStyle/>
          <a:p>
            <a:pPr>
              <a:lnSpc>
                <a:spcPct val="120000"/>
              </a:lnSpc>
            </a:pPr>
            <a:r>
              <a:rPr lang="en-US" sz="1250" b="1" dirty="0">
                <a:solidFill>
                  <a:srgbClr val="FFFFFF"/>
                </a:solidFill>
                <a:latin typeface="MiSans" pitchFamily="34" charset="0"/>
                <a:ea typeface="MiSans" pitchFamily="34" charset="-122"/>
                <a:cs typeface="MiSans" pitchFamily="34" charset="-120"/>
              </a:rPr>
              <a:t>演进目标</a:t>
            </a:r>
            <a:endParaRPr lang="en-US" sz="1600" dirty="0"/>
          </a:p>
        </p:txBody>
      </p:sp>
      <p:sp>
        <p:nvSpPr>
          <p:cNvPr id="41" name="Text 39"/>
          <p:cNvSpPr/>
          <p:nvPr/>
        </p:nvSpPr>
        <p:spPr>
          <a:xfrm>
            <a:off x="6858000" y="3630089"/>
            <a:ext cx="944563"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MiSans" pitchFamily="34" charset="0"/>
                <a:ea typeface="MiSans" pitchFamily="34" charset="-122"/>
                <a:cs typeface="MiSans" pitchFamily="34" charset="-120"/>
              </a:rPr>
              <a:t>从辅助到全量承接</a:t>
            </a:r>
            <a:endParaRPr lang="en-US" sz="1600" dirty="0"/>
          </a:p>
        </p:txBody>
      </p:sp>
      <p:sp>
        <p:nvSpPr>
          <p:cNvPr id="42" name="Shape 40"/>
          <p:cNvSpPr/>
          <p:nvPr/>
        </p:nvSpPr>
        <p:spPr>
          <a:xfrm>
            <a:off x="6381750" y="3915839"/>
            <a:ext cx="5302250" cy="666750"/>
          </a:xfrm>
          <a:custGeom>
            <a:avLst/>
            <a:gdLst/>
            <a:ahLst/>
            <a:cxnLst/>
            <a:rect l="l" t="t" r="r" b="b"/>
            <a:pathLst>
              <a:path w="5302250" h="666750">
                <a:moveTo>
                  <a:pt x="95252" y="0"/>
                </a:moveTo>
                <a:lnTo>
                  <a:pt x="5206998" y="0"/>
                </a:lnTo>
                <a:cubicBezTo>
                  <a:pt x="5259604" y="0"/>
                  <a:pt x="5302250" y="42646"/>
                  <a:pt x="5302250" y="95252"/>
                </a:cubicBezTo>
                <a:lnTo>
                  <a:pt x="5302250" y="571498"/>
                </a:lnTo>
                <a:cubicBezTo>
                  <a:pt x="5302250" y="624104"/>
                  <a:pt x="5259604" y="666750"/>
                  <a:pt x="5206998" y="666750"/>
                </a:cubicBezTo>
                <a:lnTo>
                  <a:pt x="95252" y="666750"/>
                </a:lnTo>
                <a:cubicBezTo>
                  <a:pt x="42681" y="666750"/>
                  <a:pt x="0" y="624069"/>
                  <a:pt x="0" y="571498"/>
                </a:cubicBezTo>
                <a:lnTo>
                  <a:pt x="0" y="95252"/>
                </a:lnTo>
                <a:cubicBezTo>
                  <a:pt x="0" y="42646"/>
                  <a:pt x="42646" y="0"/>
                  <a:pt x="95252" y="0"/>
                </a:cubicBezTo>
                <a:close/>
              </a:path>
            </a:pathLst>
          </a:custGeom>
          <a:solidFill>
            <a:srgbClr val="FFFFFF">
              <a:alpha val="10196"/>
            </a:srgbClr>
          </a:solidFill>
          <a:ln/>
        </p:spPr>
        <p:txBody>
          <a:bodyPr/>
          <a:lstStyle/>
          <a:p>
            <a:endParaRPr lang="zh-CN" altLang="en-US"/>
          </a:p>
        </p:txBody>
      </p:sp>
      <p:sp>
        <p:nvSpPr>
          <p:cNvPr id="43" name="Text 41"/>
          <p:cNvSpPr/>
          <p:nvPr/>
        </p:nvSpPr>
        <p:spPr>
          <a:xfrm>
            <a:off x="6508750" y="4042839"/>
            <a:ext cx="511175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MiSans" pitchFamily="34" charset="0"/>
                <a:ea typeface="MiSans" pitchFamily="34" charset="-122"/>
                <a:cs typeface="MiSans" pitchFamily="34" charset="-120"/>
              </a:rPr>
              <a:t>短期目标</a:t>
            </a:r>
            <a:endParaRPr lang="en-US" sz="1600" dirty="0"/>
          </a:p>
        </p:txBody>
      </p:sp>
      <p:sp>
        <p:nvSpPr>
          <p:cNvPr id="44" name="Text 42"/>
          <p:cNvSpPr/>
          <p:nvPr/>
        </p:nvSpPr>
        <p:spPr>
          <a:xfrm>
            <a:off x="6508750" y="4296839"/>
            <a:ext cx="5103813" cy="158750"/>
          </a:xfrm>
          <a:prstGeom prst="rect">
            <a:avLst/>
          </a:prstGeom>
          <a:noFill/>
          <a:ln/>
        </p:spPr>
        <p:txBody>
          <a:bodyPr wrap="square" lIns="0" tIns="0" rIns="0" bIns="0" rtlCol="0" anchor="ctr"/>
          <a:lstStyle/>
          <a:p>
            <a:pPr>
              <a:lnSpc>
                <a:spcPct val="120000"/>
              </a:lnSpc>
            </a:pPr>
            <a:r>
              <a:rPr lang="en-US" sz="875" dirty="0">
                <a:solidFill>
                  <a:srgbClr val="FFFFFF">
                    <a:alpha val="90000"/>
                  </a:srgbClr>
                </a:solidFill>
                <a:latin typeface="MiSans" pitchFamily="34" charset="0"/>
                <a:ea typeface="MiSans" pitchFamily="34" charset="-122"/>
                <a:cs typeface="MiSans" pitchFamily="34" charset="-120"/>
              </a:rPr>
              <a:t>验证"人控方向+模型执行"模式，产出高质量组件与SKILL。</a:t>
            </a:r>
            <a:endParaRPr lang="en-US" sz="1600" dirty="0"/>
          </a:p>
        </p:txBody>
      </p:sp>
      <p:sp>
        <p:nvSpPr>
          <p:cNvPr id="45" name="Shape 43"/>
          <p:cNvSpPr/>
          <p:nvPr/>
        </p:nvSpPr>
        <p:spPr>
          <a:xfrm>
            <a:off x="6381750" y="4677839"/>
            <a:ext cx="5302250" cy="825500"/>
          </a:xfrm>
          <a:custGeom>
            <a:avLst/>
            <a:gdLst/>
            <a:ahLst/>
            <a:cxnLst/>
            <a:rect l="l" t="t" r="r" b="b"/>
            <a:pathLst>
              <a:path w="5302250" h="825500">
                <a:moveTo>
                  <a:pt x="95246" y="0"/>
                </a:moveTo>
                <a:lnTo>
                  <a:pt x="5207004" y="0"/>
                </a:lnTo>
                <a:cubicBezTo>
                  <a:pt x="5259607" y="0"/>
                  <a:pt x="5302250" y="42643"/>
                  <a:pt x="5302250" y="95246"/>
                </a:cubicBezTo>
                <a:lnTo>
                  <a:pt x="5302250" y="730254"/>
                </a:lnTo>
                <a:cubicBezTo>
                  <a:pt x="5302250" y="782857"/>
                  <a:pt x="5259607" y="825500"/>
                  <a:pt x="5207004" y="825500"/>
                </a:cubicBezTo>
                <a:lnTo>
                  <a:pt x="95246" y="825500"/>
                </a:lnTo>
                <a:cubicBezTo>
                  <a:pt x="42643" y="825500"/>
                  <a:pt x="0" y="782857"/>
                  <a:pt x="0" y="730254"/>
                </a:cubicBezTo>
                <a:lnTo>
                  <a:pt x="0" y="95246"/>
                </a:lnTo>
                <a:cubicBezTo>
                  <a:pt x="0" y="42643"/>
                  <a:pt x="42643" y="0"/>
                  <a:pt x="95246" y="0"/>
                </a:cubicBezTo>
                <a:close/>
              </a:path>
            </a:pathLst>
          </a:custGeom>
          <a:solidFill>
            <a:srgbClr val="FFFFFF">
              <a:alpha val="10196"/>
            </a:srgbClr>
          </a:solidFill>
          <a:ln/>
        </p:spPr>
        <p:txBody>
          <a:bodyPr/>
          <a:lstStyle/>
          <a:p>
            <a:endParaRPr lang="zh-CN" altLang="en-US"/>
          </a:p>
        </p:txBody>
      </p:sp>
      <p:sp>
        <p:nvSpPr>
          <p:cNvPr id="46" name="Text 44"/>
          <p:cNvSpPr/>
          <p:nvPr/>
        </p:nvSpPr>
        <p:spPr>
          <a:xfrm>
            <a:off x="6508750" y="4804839"/>
            <a:ext cx="5111750" cy="190500"/>
          </a:xfrm>
          <a:prstGeom prst="rect">
            <a:avLst/>
          </a:prstGeom>
          <a:noFill/>
          <a:ln/>
        </p:spPr>
        <p:txBody>
          <a:bodyPr wrap="square" lIns="0" tIns="0" rIns="0" bIns="0" rtlCol="0" anchor="ctr"/>
          <a:lstStyle/>
          <a:p>
            <a:pPr>
              <a:lnSpc>
                <a:spcPct val="130000"/>
              </a:lnSpc>
            </a:pPr>
            <a:r>
              <a:rPr lang="en-US" sz="1000" b="1" dirty="0">
                <a:solidFill>
                  <a:srgbClr val="FFFFFF"/>
                </a:solidFill>
                <a:latin typeface="MiSans" pitchFamily="34" charset="0"/>
                <a:ea typeface="MiSans" pitchFamily="34" charset="-122"/>
                <a:cs typeface="MiSans" pitchFamily="34" charset="-120"/>
              </a:rPr>
              <a:t>中长期目标</a:t>
            </a:r>
            <a:endParaRPr lang="en-US" sz="1600" dirty="0"/>
          </a:p>
        </p:txBody>
      </p:sp>
      <p:sp>
        <p:nvSpPr>
          <p:cNvPr id="47" name="Text 45"/>
          <p:cNvSpPr/>
          <p:nvPr/>
        </p:nvSpPr>
        <p:spPr>
          <a:xfrm>
            <a:off x="6508750" y="5058839"/>
            <a:ext cx="5103813" cy="317500"/>
          </a:xfrm>
          <a:prstGeom prst="rect">
            <a:avLst/>
          </a:prstGeom>
          <a:noFill/>
          <a:ln/>
        </p:spPr>
        <p:txBody>
          <a:bodyPr wrap="square" lIns="0" tIns="0" rIns="0" bIns="0" rtlCol="0" anchor="ctr"/>
          <a:lstStyle/>
          <a:p>
            <a:pPr>
              <a:lnSpc>
                <a:spcPct val="120000"/>
              </a:lnSpc>
            </a:pPr>
            <a:r>
              <a:rPr lang="en-US" sz="875" b="1" dirty="0">
                <a:solidFill>
                  <a:srgbClr val="FFFFFF">
                    <a:alpha val="90000"/>
                  </a:srgbClr>
                </a:solidFill>
                <a:latin typeface="MiSans" pitchFamily="34" charset="0"/>
                <a:ea typeface="MiSans" pitchFamily="34" charset="-122"/>
                <a:cs typeface="MiSans" pitchFamily="34" charset="-120"/>
              </a:rPr>
              <a:t>承接应用集成的全生命周期</a:t>
            </a:r>
            <a:r>
              <a:rPr lang="en-US" sz="875" dirty="0">
                <a:solidFill>
                  <a:srgbClr val="FFFFFF">
                    <a:alpha val="90000"/>
                  </a:srgbClr>
                </a:solidFill>
                <a:latin typeface="MiSans" pitchFamily="34" charset="0"/>
                <a:ea typeface="MiSans" pitchFamily="34" charset="-122"/>
                <a:cs typeface="MiSans" pitchFamily="34" charset="-120"/>
              </a:rPr>
              <a:t>。考虑将应用的集成完整的承接过来。真正实现 </a:t>
            </a:r>
            <a:r>
              <a:rPr lang="en-US" sz="875" b="1" dirty="0">
                <a:solidFill>
                  <a:srgbClr val="FFFFFF">
                    <a:alpha val="90000"/>
                  </a:srgbClr>
                </a:solidFill>
                <a:latin typeface="MiSans" pitchFamily="34" charset="0"/>
                <a:ea typeface="MiSans" pitchFamily="34" charset="-122"/>
                <a:cs typeface="MiSans" pitchFamily="34" charset="-120"/>
              </a:rPr>
              <a:t>端到端 (End-to-End)</a:t>
            </a:r>
            <a:r>
              <a:rPr lang="en-US" sz="875" dirty="0">
                <a:solidFill>
                  <a:srgbClr val="FFFFFF">
                    <a:alpha val="90000"/>
                  </a:srgbClr>
                </a:solidFill>
                <a:latin typeface="MiSans" pitchFamily="34" charset="0"/>
                <a:ea typeface="MiSans" pitchFamily="34" charset="-122"/>
                <a:cs typeface="MiSans" pitchFamily="34" charset="-120"/>
              </a:rPr>
              <a:t> 的全量基础组件的开发、使用、集成。</a:t>
            </a:r>
            <a:endParaRPr lang="en-US" sz="1600" dirty="0"/>
          </a:p>
        </p:txBody>
      </p:sp>
      <p:sp>
        <p:nvSpPr>
          <p:cNvPr id="48" name="Shape 46"/>
          <p:cNvSpPr/>
          <p:nvPr/>
        </p:nvSpPr>
        <p:spPr>
          <a:xfrm>
            <a:off x="333375" y="5884339"/>
            <a:ext cx="11541125" cy="539750"/>
          </a:xfrm>
          <a:custGeom>
            <a:avLst/>
            <a:gdLst/>
            <a:ahLst/>
            <a:cxnLst/>
            <a:rect l="l" t="t" r="r" b="b"/>
            <a:pathLst>
              <a:path w="11541125" h="539750">
                <a:moveTo>
                  <a:pt x="31750" y="0"/>
                </a:moveTo>
                <a:lnTo>
                  <a:pt x="11414127" y="0"/>
                </a:lnTo>
                <a:cubicBezTo>
                  <a:pt x="11484266" y="0"/>
                  <a:pt x="11541125" y="56859"/>
                  <a:pt x="11541125" y="126998"/>
                </a:cubicBezTo>
                <a:lnTo>
                  <a:pt x="11541125" y="412752"/>
                </a:lnTo>
                <a:cubicBezTo>
                  <a:pt x="11541125" y="482891"/>
                  <a:pt x="11484266" y="539750"/>
                  <a:pt x="11414127" y="539750"/>
                </a:cubicBezTo>
                <a:lnTo>
                  <a:pt x="31750" y="539750"/>
                </a:lnTo>
                <a:cubicBezTo>
                  <a:pt x="14227" y="539750"/>
                  <a:pt x="0" y="525523"/>
                  <a:pt x="0" y="508000"/>
                </a:cubicBezTo>
                <a:lnTo>
                  <a:pt x="0" y="31750"/>
                </a:lnTo>
                <a:cubicBezTo>
                  <a:pt x="0" y="14227"/>
                  <a:pt x="14227" y="0"/>
                  <a:pt x="31750" y="0"/>
                </a:cubicBezTo>
                <a:close/>
              </a:path>
            </a:pathLst>
          </a:custGeom>
          <a:gradFill flip="none" rotWithShape="1">
            <a:gsLst>
              <a:gs pos="0">
                <a:srgbClr val="0071E3">
                  <a:alpha val="10000"/>
                </a:srgbClr>
              </a:gs>
              <a:gs pos="100000">
                <a:srgbClr val="000000">
                  <a:alpha val="0"/>
                </a:srgbClr>
              </a:gs>
            </a:gsLst>
            <a:lin ang="0" scaled="1"/>
          </a:gradFill>
          <a:ln/>
        </p:spPr>
        <p:txBody>
          <a:bodyPr/>
          <a:lstStyle/>
          <a:p>
            <a:endParaRPr lang="zh-CN" altLang="en-US"/>
          </a:p>
        </p:txBody>
      </p:sp>
      <p:sp>
        <p:nvSpPr>
          <p:cNvPr id="49" name="Shape 47"/>
          <p:cNvSpPr/>
          <p:nvPr/>
        </p:nvSpPr>
        <p:spPr>
          <a:xfrm>
            <a:off x="333375" y="5884339"/>
            <a:ext cx="31750" cy="539750"/>
          </a:xfrm>
          <a:custGeom>
            <a:avLst/>
            <a:gdLst/>
            <a:ahLst/>
            <a:cxnLst/>
            <a:rect l="l" t="t" r="r" b="b"/>
            <a:pathLst>
              <a:path w="31750" h="539750">
                <a:moveTo>
                  <a:pt x="31750" y="0"/>
                </a:moveTo>
                <a:lnTo>
                  <a:pt x="31750" y="0"/>
                </a:lnTo>
                <a:lnTo>
                  <a:pt x="31750" y="539750"/>
                </a:lnTo>
                <a:lnTo>
                  <a:pt x="31750" y="539750"/>
                </a:lnTo>
                <a:cubicBezTo>
                  <a:pt x="14227" y="539750"/>
                  <a:pt x="0" y="525523"/>
                  <a:pt x="0" y="508000"/>
                </a:cubicBezTo>
                <a:lnTo>
                  <a:pt x="0" y="31750"/>
                </a:lnTo>
                <a:cubicBezTo>
                  <a:pt x="0" y="14227"/>
                  <a:pt x="14227" y="0"/>
                  <a:pt x="31750" y="0"/>
                </a:cubicBezTo>
                <a:close/>
              </a:path>
            </a:pathLst>
          </a:custGeom>
          <a:solidFill>
            <a:srgbClr val="0071E3"/>
          </a:solidFill>
          <a:ln/>
        </p:spPr>
        <p:txBody>
          <a:bodyPr/>
          <a:lstStyle/>
          <a:p>
            <a:endParaRPr lang="zh-CN" altLang="en-US"/>
          </a:p>
        </p:txBody>
      </p:sp>
      <p:sp>
        <p:nvSpPr>
          <p:cNvPr id="50" name="Shape 48"/>
          <p:cNvSpPr/>
          <p:nvPr/>
        </p:nvSpPr>
        <p:spPr>
          <a:xfrm>
            <a:off x="531813" y="6058964"/>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0071E3"/>
          </a:solidFill>
          <a:ln/>
        </p:spPr>
        <p:txBody>
          <a:bodyPr/>
          <a:lstStyle/>
          <a:p>
            <a:endParaRPr lang="zh-CN" altLang="en-US"/>
          </a:p>
        </p:txBody>
      </p:sp>
      <p:sp>
        <p:nvSpPr>
          <p:cNvPr id="51" name="Text 49"/>
          <p:cNvSpPr/>
          <p:nvPr/>
        </p:nvSpPr>
        <p:spPr>
          <a:xfrm>
            <a:off x="841375" y="6043089"/>
            <a:ext cx="4389438" cy="222250"/>
          </a:xfrm>
          <a:prstGeom prst="rect">
            <a:avLst/>
          </a:prstGeom>
          <a:noFill/>
          <a:ln/>
        </p:spPr>
        <p:txBody>
          <a:bodyPr wrap="square" lIns="0" tIns="0" rIns="0" bIns="0" rtlCol="0" anchor="ctr"/>
          <a:lstStyle/>
          <a:p>
            <a:pPr>
              <a:lnSpc>
                <a:spcPct val="130000"/>
              </a:lnSpc>
            </a:pPr>
            <a:r>
              <a:rPr lang="en-US" sz="1125" b="1" dirty="0">
                <a:solidFill>
                  <a:srgbClr val="1D1D1D"/>
                </a:solidFill>
                <a:latin typeface="MiSans" pitchFamily="34" charset="0"/>
                <a:ea typeface="MiSans" pitchFamily="34" charset="-122"/>
                <a:cs typeface="MiSans" pitchFamily="34" charset="-120"/>
              </a:rPr>
              <a:t>愿景：</a:t>
            </a:r>
            <a:r>
              <a:rPr lang="en-US" sz="1125" dirty="0">
                <a:solidFill>
                  <a:srgbClr val="1D1D1D"/>
                </a:solidFill>
                <a:latin typeface="MiSans" pitchFamily="34" charset="0"/>
                <a:ea typeface="MiSans" pitchFamily="34" charset="-122"/>
                <a:cs typeface="MiSans" pitchFamily="34" charset="-120"/>
              </a:rPr>
              <a:t>通过Vibe Coding与SKILL体系，实现研发效能的</a:t>
            </a:r>
            <a:r>
              <a:rPr lang="en-US" sz="1125" b="1" dirty="0">
                <a:solidFill>
                  <a:srgbClr val="0071E3"/>
                </a:solidFill>
                <a:latin typeface="MiSans" pitchFamily="34" charset="0"/>
                <a:ea typeface="MiSans" pitchFamily="34" charset="-122"/>
                <a:cs typeface="MiSans" pitchFamily="34" charset="-120"/>
              </a:rPr>
              <a:t>指数级跃升</a:t>
            </a:r>
            <a:r>
              <a:rPr lang="en-US" sz="1125" dirty="0">
                <a:solidFill>
                  <a:srgbClr val="1D1D1D"/>
                </a:solidFill>
                <a:latin typeface="MiSans" pitchFamily="34" charset="0"/>
                <a:ea typeface="MiSans" pitchFamily="34" charset="-122"/>
                <a:cs typeface="MiSans" pitchFamily="34" charset="-120"/>
              </a:rPr>
              <a:t>。</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A"/>
        </a:solidFill>
        <a:effectLst/>
      </p:bgPr>
    </p:bg>
    <p:spTree>
      <p:nvGrpSpPr>
        <p:cNvPr id="1" name=""/>
        <p:cNvGrpSpPr/>
        <p:nvPr/>
      </p:nvGrpSpPr>
      <p:grpSpPr>
        <a:xfrm>
          <a:off x="0" y="0"/>
          <a:ext cx="0" cy="0"/>
          <a:chOff x="0" y="0"/>
          <a:chExt cx="0" cy="0"/>
        </a:xfrm>
      </p:grpSpPr>
      <p:pic>
        <p:nvPicPr>
          <p:cNvPr id="2" name="Image 0" descr="https://kimi-web-img.moonshot.cn/img/images.stockcake.com/584f557f19d418f79ed00ee763af04464e88fba1.jpg"/>
          <p:cNvPicPr>
            <a:picLocks noChangeAspect="1"/>
          </p:cNvPicPr>
          <p:nvPr/>
        </p:nvPicPr>
        <p:blipFill>
          <a:blip r:embed="rId3">
            <a:alphaModFix amt="20000"/>
          </a:blip>
          <a:srcRect t="781" b="781"/>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FAFAFA">
                  <a:alpha val="95000"/>
                </a:srgbClr>
              </a:gs>
              <a:gs pos="50000">
                <a:srgbClr val="FAFAFA">
                  <a:alpha val="90000"/>
                </a:srgbClr>
              </a:gs>
              <a:gs pos="100000">
                <a:srgbClr val="FAFAFA">
                  <a:alpha val="80000"/>
                </a:srgbClr>
              </a:gs>
            </a:gsLst>
            <a:lin ang="2700000" scaled="1"/>
          </a:gradFill>
          <a:ln/>
        </p:spPr>
        <p:txBody>
          <a:bodyPr/>
          <a:lstStyle/>
          <a:p>
            <a:endParaRPr lang="zh-CN" altLang="en-US"/>
          </a:p>
        </p:txBody>
      </p:sp>
      <p:sp>
        <p:nvSpPr>
          <p:cNvPr id="4" name="Shape 1"/>
          <p:cNvSpPr/>
          <p:nvPr/>
        </p:nvSpPr>
        <p:spPr>
          <a:xfrm>
            <a:off x="5638800" y="1060456"/>
            <a:ext cx="914400" cy="914400"/>
          </a:xfrm>
          <a:custGeom>
            <a:avLst/>
            <a:gdLst/>
            <a:ahLst/>
            <a:cxnLst/>
            <a:rect l="l" t="t" r="r" b="b"/>
            <a:pathLst>
              <a:path w="914400" h="914400">
                <a:moveTo>
                  <a:pt x="457200" y="0"/>
                </a:moveTo>
                <a:lnTo>
                  <a:pt x="457200" y="0"/>
                </a:lnTo>
                <a:cubicBezTo>
                  <a:pt x="709536" y="0"/>
                  <a:pt x="914400" y="204864"/>
                  <a:pt x="914400" y="457200"/>
                </a:cubicBezTo>
                <a:lnTo>
                  <a:pt x="914400" y="457200"/>
                </a:lnTo>
                <a:cubicBezTo>
                  <a:pt x="914400" y="709536"/>
                  <a:pt x="709536" y="914400"/>
                  <a:pt x="457200" y="914400"/>
                </a:cubicBezTo>
                <a:lnTo>
                  <a:pt x="457200" y="914400"/>
                </a:lnTo>
                <a:cubicBezTo>
                  <a:pt x="204864" y="914400"/>
                  <a:pt x="0" y="709536"/>
                  <a:pt x="0" y="457200"/>
                </a:cubicBezTo>
                <a:lnTo>
                  <a:pt x="0" y="457200"/>
                </a:lnTo>
                <a:cubicBezTo>
                  <a:pt x="0" y="204864"/>
                  <a:pt x="204864" y="0"/>
                  <a:pt x="457200" y="0"/>
                </a:cubicBezTo>
                <a:close/>
              </a:path>
            </a:pathLst>
          </a:custGeom>
          <a:solidFill>
            <a:srgbClr val="0071E3">
              <a:alpha val="10196"/>
            </a:srgbClr>
          </a:solidFill>
          <a:ln/>
        </p:spPr>
        <p:txBody>
          <a:bodyPr/>
          <a:lstStyle/>
          <a:p>
            <a:endParaRPr lang="zh-CN" altLang="en-US"/>
          </a:p>
        </p:txBody>
      </p:sp>
      <p:sp>
        <p:nvSpPr>
          <p:cNvPr id="5" name="Shape 2"/>
          <p:cNvSpPr/>
          <p:nvPr/>
        </p:nvSpPr>
        <p:spPr>
          <a:xfrm>
            <a:off x="5867400" y="1289056"/>
            <a:ext cx="457200" cy="457200"/>
          </a:xfrm>
          <a:custGeom>
            <a:avLst/>
            <a:gdLst/>
            <a:ahLst/>
            <a:cxnLst/>
            <a:rect l="l" t="t" r="r" b="b"/>
            <a:pathLst>
              <a:path w="457200" h="457200">
                <a:moveTo>
                  <a:pt x="114300" y="285750"/>
                </a:moveTo>
                <a:lnTo>
                  <a:pt x="21878" y="285750"/>
                </a:lnTo>
                <a:cubicBezTo>
                  <a:pt x="-357" y="285750"/>
                  <a:pt x="-14020" y="261551"/>
                  <a:pt x="-2590" y="242441"/>
                </a:cubicBezTo>
                <a:lnTo>
                  <a:pt x="44648" y="163681"/>
                </a:lnTo>
                <a:cubicBezTo>
                  <a:pt x="52417" y="150733"/>
                  <a:pt x="66348" y="142875"/>
                  <a:pt x="81439" y="142875"/>
                </a:cubicBezTo>
                <a:lnTo>
                  <a:pt x="166271" y="142875"/>
                </a:lnTo>
                <a:cubicBezTo>
                  <a:pt x="234226" y="27771"/>
                  <a:pt x="335578" y="21967"/>
                  <a:pt x="403354" y="31879"/>
                </a:cubicBezTo>
                <a:cubicBezTo>
                  <a:pt x="414784" y="33576"/>
                  <a:pt x="423714" y="42505"/>
                  <a:pt x="425321" y="53846"/>
                </a:cubicBezTo>
                <a:cubicBezTo>
                  <a:pt x="435233" y="121622"/>
                  <a:pt x="429429" y="222974"/>
                  <a:pt x="314325" y="290929"/>
                </a:cubicBezTo>
                <a:lnTo>
                  <a:pt x="314325" y="375761"/>
                </a:lnTo>
                <a:cubicBezTo>
                  <a:pt x="314325" y="390852"/>
                  <a:pt x="306467" y="404783"/>
                  <a:pt x="293519" y="412552"/>
                </a:cubicBezTo>
                <a:lnTo>
                  <a:pt x="214759" y="459790"/>
                </a:lnTo>
                <a:cubicBezTo>
                  <a:pt x="195739" y="471220"/>
                  <a:pt x="171450" y="457468"/>
                  <a:pt x="171450" y="435322"/>
                </a:cubicBezTo>
                <a:lnTo>
                  <a:pt x="171450" y="342900"/>
                </a:lnTo>
                <a:cubicBezTo>
                  <a:pt x="171450" y="311378"/>
                  <a:pt x="145822" y="285750"/>
                  <a:pt x="114300" y="285750"/>
                </a:cubicBezTo>
                <a:lnTo>
                  <a:pt x="114211" y="285750"/>
                </a:lnTo>
                <a:close/>
                <a:moveTo>
                  <a:pt x="357188" y="142875"/>
                </a:moveTo>
                <a:cubicBezTo>
                  <a:pt x="357188" y="119219"/>
                  <a:pt x="337981" y="100013"/>
                  <a:pt x="314325" y="100013"/>
                </a:cubicBezTo>
                <a:cubicBezTo>
                  <a:pt x="290669" y="100013"/>
                  <a:pt x="271463" y="119219"/>
                  <a:pt x="271463" y="142875"/>
                </a:cubicBezTo>
                <a:cubicBezTo>
                  <a:pt x="271463" y="166531"/>
                  <a:pt x="290669" y="185738"/>
                  <a:pt x="314325" y="185738"/>
                </a:cubicBezTo>
                <a:cubicBezTo>
                  <a:pt x="337981" y="185738"/>
                  <a:pt x="357188" y="166531"/>
                  <a:pt x="357188" y="142875"/>
                </a:cubicBezTo>
                <a:close/>
              </a:path>
            </a:pathLst>
          </a:custGeom>
          <a:solidFill>
            <a:srgbClr val="0071E3"/>
          </a:solidFill>
          <a:ln/>
        </p:spPr>
        <p:txBody>
          <a:bodyPr/>
          <a:lstStyle/>
          <a:p>
            <a:endParaRPr lang="zh-CN" altLang="en-US"/>
          </a:p>
        </p:txBody>
      </p:sp>
      <p:sp>
        <p:nvSpPr>
          <p:cNvPr id="6" name="Text 3"/>
          <p:cNvSpPr/>
          <p:nvPr/>
        </p:nvSpPr>
        <p:spPr>
          <a:xfrm>
            <a:off x="3773686" y="2203456"/>
            <a:ext cx="4648200" cy="714375"/>
          </a:xfrm>
          <a:prstGeom prst="rect">
            <a:avLst/>
          </a:prstGeom>
          <a:noFill/>
          <a:ln/>
        </p:spPr>
        <p:txBody>
          <a:bodyPr wrap="square" lIns="0" tIns="0" rIns="0" bIns="0" rtlCol="0" anchor="ctr"/>
          <a:lstStyle/>
          <a:p>
            <a:pPr algn="ctr">
              <a:lnSpc>
                <a:spcPct val="100000"/>
              </a:lnSpc>
            </a:pPr>
            <a:r>
              <a:rPr lang="en-US" sz="4500" b="1" dirty="0">
                <a:solidFill>
                  <a:srgbClr val="1D1D1D"/>
                </a:solidFill>
                <a:latin typeface="MiSans" pitchFamily="34" charset="0"/>
                <a:ea typeface="MiSans" pitchFamily="34" charset="-122"/>
                <a:cs typeface="MiSans" pitchFamily="34" charset="-120"/>
              </a:rPr>
              <a:t>拥抱Vibe Coding</a:t>
            </a:r>
            <a:endParaRPr lang="en-US" sz="1600" dirty="0"/>
          </a:p>
        </p:txBody>
      </p:sp>
      <p:sp>
        <p:nvSpPr>
          <p:cNvPr id="7" name="Text 4"/>
          <p:cNvSpPr/>
          <p:nvPr/>
        </p:nvSpPr>
        <p:spPr>
          <a:xfrm>
            <a:off x="3845123" y="3146431"/>
            <a:ext cx="4505325" cy="342900"/>
          </a:xfrm>
          <a:prstGeom prst="rect">
            <a:avLst/>
          </a:prstGeom>
          <a:noFill/>
          <a:ln/>
        </p:spPr>
        <p:txBody>
          <a:bodyPr wrap="square" lIns="0" tIns="0" rIns="0" bIns="0" rtlCol="0" anchor="ctr"/>
          <a:lstStyle/>
          <a:p>
            <a:pPr algn="ctr">
              <a:lnSpc>
                <a:spcPct val="100000"/>
              </a:lnSpc>
            </a:pPr>
            <a:r>
              <a:rPr lang="en-US" sz="2250" dirty="0">
                <a:solidFill>
                  <a:srgbClr val="86868B"/>
                </a:solidFill>
                <a:latin typeface="MiSans" pitchFamily="34" charset="0"/>
                <a:ea typeface="MiSans" pitchFamily="34" charset="-122"/>
                <a:cs typeface="MiSans" pitchFamily="34" charset="-120"/>
              </a:rPr>
              <a:t>构建智能研发新引擎</a:t>
            </a:r>
            <a:endParaRPr lang="en-US" sz="1600" dirty="0"/>
          </a:p>
        </p:txBody>
      </p:sp>
      <p:sp>
        <p:nvSpPr>
          <p:cNvPr id="8" name="Shape 5"/>
          <p:cNvSpPr/>
          <p:nvPr/>
        </p:nvSpPr>
        <p:spPr>
          <a:xfrm>
            <a:off x="4530527" y="4102106"/>
            <a:ext cx="3130550" cy="1692275"/>
          </a:xfrm>
          <a:custGeom>
            <a:avLst/>
            <a:gdLst/>
            <a:ahLst/>
            <a:cxnLst/>
            <a:rect l="l" t="t" r="r" b="b"/>
            <a:pathLst>
              <a:path w="3130550" h="1692275">
                <a:moveTo>
                  <a:pt x="152406" y="0"/>
                </a:moveTo>
                <a:lnTo>
                  <a:pt x="2978144" y="0"/>
                </a:lnTo>
                <a:cubicBezTo>
                  <a:pt x="3062315" y="0"/>
                  <a:pt x="3130550" y="68235"/>
                  <a:pt x="3130550" y="152406"/>
                </a:cubicBezTo>
                <a:lnTo>
                  <a:pt x="3130550" y="1539869"/>
                </a:lnTo>
                <a:cubicBezTo>
                  <a:pt x="3130550" y="1624040"/>
                  <a:pt x="3062315" y="1692275"/>
                  <a:pt x="2978144" y="1692275"/>
                </a:cubicBezTo>
                <a:lnTo>
                  <a:pt x="152406" y="1692275"/>
                </a:lnTo>
                <a:cubicBezTo>
                  <a:pt x="68235" y="1692275"/>
                  <a:pt x="0" y="1624040"/>
                  <a:pt x="0" y="1539869"/>
                </a:cubicBezTo>
                <a:lnTo>
                  <a:pt x="0" y="152406"/>
                </a:lnTo>
                <a:cubicBezTo>
                  <a:pt x="0" y="68291"/>
                  <a:pt x="68291" y="0"/>
                  <a:pt x="152406" y="0"/>
                </a:cubicBezTo>
                <a:close/>
              </a:path>
            </a:pathLst>
          </a:custGeom>
          <a:solidFill>
            <a:srgbClr val="FFFFFF">
              <a:alpha val="80000"/>
            </a:srgbClr>
          </a:solidFill>
          <a:ln w="8467">
            <a:solidFill>
              <a:srgbClr val="E5E5E5"/>
            </a:solidFill>
            <a:prstDash val="solid"/>
          </a:ln>
          <a:effectLst>
            <a:outerShdw blurRad="142875" dist="95250" dir="5400000" algn="bl" rotWithShape="0">
              <a:srgbClr val="000000">
                <a:alpha val="10196"/>
              </a:srgbClr>
            </a:outerShdw>
          </a:effectLst>
        </p:spPr>
        <p:txBody>
          <a:bodyPr/>
          <a:lstStyle/>
          <a:p>
            <a:endParaRPr lang="zh-CN" altLang="en-US"/>
          </a:p>
        </p:txBody>
      </p:sp>
      <p:sp>
        <p:nvSpPr>
          <p:cNvPr id="9" name="Text 6"/>
          <p:cNvSpPr/>
          <p:nvPr/>
        </p:nvSpPr>
        <p:spPr>
          <a:xfrm>
            <a:off x="4790877" y="4410075"/>
            <a:ext cx="2609850" cy="619125"/>
          </a:xfrm>
          <a:prstGeom prst="rect">
            <a:avLst/>
          </a:prstGeom>
          <a:noFill/>
          <a:ln/>
        </p:spPr>
        <p:txBody>
          <a:bodyPr wrap="square" lIns="0" tIns="0" rIns="0" bIns="0" rtlCol="0" anchor="ctr"/>
          <a:lstStyle/>
          <a:p>
            <a:pPr algn="ctr">
              <a:lnSpc>
                <a:spcPct val="140000"/>
              </a:lnSpc>
            </a:pPr>
            <a:r>
              <a:rPr lang="en-US" sz="1500" dirty="0">
                <a:solidFill>
                  <a:srgbClr val="1D1D1D"/>
                </a:solidFill>
                <a:latin typeface="MiSans" pitchFamily="34" charset="0"/>
                <a:ea typeface="MiSans" pitchFamily="34" charset="-122"/>
                <a:cs typeface="MiSans" pitchFamily="34" charset="-120"/>
              </a:rPr>
              <a:t>从辅助到主导，从工具到范式</a:t>
            </a:r>
            <a:endParaRPr lang="en-US" sz="1600" dirty="0"/>
          </a:p>
          <a:p>
            <a:pPr algn="ctr">
              <a:lnSpc>
                <a:spcPct val="140000"/>
              </a:lnSpc>
            </a:pPr>
            <a:r>
              <a:rPr lang="en-US" sz="1500" dirty="0">
                <a:solidFill>
                  <a:srgbClr val="1D1D1D"/>
                </a:solidFill>
                <a:latin typeface="MiSans" pitchFamily="34" charset="0"/>
                <a:ea typeface="MiSans" pitchFamily="34" charset="-122"/>
                <a:cs typeface="MiSans" pitchFamily="34" charset="-120"/>
              </a:rPr>
              <a:t>让AI成为研发的核心驱动力</a:t>
            </a:r>
            <a:endParaRPr lang="en-US" sz="1600" dirty="0"/>
          </a:p>
        </p:txBody>
      </p:sp>
      <p:sp>
        <p:nvSpPr>
          <p:cNvPr id="10" name="Shape 7"/>
          <p:cNvSpPr/>
          <p:nvPr/>
        </p:nvSpPr>
        <p:spPr>
          <a:xfrm>
            <a:off x="4867077" y="5295900"/>
            <a:ext cx="133350" cy="152400"/>
          </a:xfrm>
          <a:custGeom>
            <a:avLst/>
            <a:gdLst/>
            <a:ahLst/>
            <a:cxnLst/>
            <a:rect l="l" t="t" r="r" b="b"/>
            <a:pathLst>
              <a:path w="133350" h="15240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0071E3"/>
          </a:solidFill>
          <a:ln/>
        </p:spPr>
        <p:txBody>
          <a:bodyPr/>
          <a:lstStyle/>
          <a:p>
            <a:endParaRPr lang="zh-CN" altLang="en-US"/>
          </a:p>
        </p:txBody>
      </p:sp>
      <p:sp>
        <p:nvSpPr>
          <p:cNvPr id="11" name="Text 8"/>
          <p:cNvSpPr/>
          <p:nvPr/>
        </p:nvSpPr>
        <p:spPr>
          <a:xfrm>
            <a:off x="5067102" y="5257800"/>
            <a:ext cx="828675" cy="228600"/>
          </a:xfrm>
          <a:prstGeom prst="rect">
            <a:avLst/>
          </a:prstGeom>
          <a:noFill/>
          <a:ln/>
        </p:spPr>
        <p:txBody>
          <a:bodyPr wrap="square" lIns="0" tIns="0" rIns="0" bIns="0" rtlCol="0" anchor="ctr"/>
          <a:lstStyle/>
          <a:p>
            <a:pPr algn="ctr">
              <a:lnSpc>
                <a:spcPct val="130000"/>
              </a:lnSpc>
            </a:pPr>
            <a:r>
              <a:rPr lang="en-US" sz="1200" dirty="0">
                <a:solidFill>
                  <a:srgbClr val="86868B"/>
                </a:solidFill>
                <a:latin typeface="MiSans" pitchFamily="34" charset="0"/>
                <a:ea typeface="MiSans" pitchFamily="34" charset="-122"/>
                <a:cs typeface="MiSans" pitchFamily="34" charset="-120"/>
              </a:rPr>
              <a:t>2026年3月</a:t>
            </a:r>
            <a:endParaRPr lang="en-US" sz="1600" dirty="0"/>
          </a:p>
        </p:txBody>
      </p:sp>
      <p:sp>
        <p:nvSpPr>
          <p:cNvPr id="12" name="Shape 9"/>
          <p:cNvSpPr/>
          <p:nvPr/>
        </p:nvSpPr>
        <p:spPr>
          <a:xfrm>
            <a:off x="6162874" y="5257800"/>
            <a:ext cx="9525" cy="228600"/>
          </a:xfrm>
          <a:custGeom>
            <a:avLst/>
            <a:gdLst/>
            <a:ahLst/>
            <a:cxnLst/>
            <a:rect l="l" t="t" r="r" b="b"/>
            <a:pathLst>
              <a:path w="9525" h="228600">
                <a:moveTo>
                  <a:pt x="0" y="0"/>
                </a:moveTo>
                <a:lnTo>
                  <a:pt x="9525" y="0"/>
                </a:lnTo>
                <a:lnTo>
                  <a:pt x="9525" y="228600"/>
                </a:lnTo>
                <a:lnTo>
                  <a:pt x="0" y="228600"/>
                </a:lnTo>
                <a:lnTo>
                  <a:pt x="0" y="0"/>
                </a:lnTo>
                <a:close/>
              </a:path>
            </a:pathLst>
          </a:custGeom>
          <a:solidFill>
            <a:srgbClr val="E5E5E5"/>
          </a:solidFill>
          <a:ln/>
        </p:spPr>
        <p:txBody>
          <a:bodyPr/>
          <a:lstStyle/>
          <a:p>
            <a:endParaRPr lang="zh-CN" altLang="en-US"/>
          </a:p>
        </p:txBody>
      </p:sp>
      <p:sp>
        <p:nvSpPr>
          <p:cNvPr id="13" name="Shape 10"/>
          <p:cNvSpPr/>
          <p:nvPr/>
        </p:nvSpPr>
        <p:spPr>
          <a:xfrm>
            <a:off x="6496249" y="5295900"/>
            <a:ext cx="152400" cy="152400"/>
          </a:xfrm>
          <a:custGeom>
            <a:avLst/>
            <a:gdLst/>
            <a:ahLst/>
            <a:cxnLst/>
            <a:rect l="l" t="t" r="r" b="b"/>
            <a:pathLst>
              <a:path w="152400" h="152400">
                <a:moveTo>
                  <a:pt x="71735" y="25926"/>
                </a:moveTo>
                <a:lnTo>
                  <a:pt x="76200" y="32087"/>
                </a:lnTo>
                <a:lnTo>
                  <a:pt x="80665" y="25926"/>
                </a:lnTo>
                <a:cubicBezTo>
                  <a:pt x="88106" y="15627"/>
                  <a:pt x="100072" y="9525"/>
                  <a:pt x="112782" y="9525"/>
                </a:cubicBezTo>
                <a:cubicBezTo>
                  <a:pt x="134660" y="9525"/>
                  <a:pt x="152400" y="27265"/>
                  <a:pt x="152400" y="49143"/>
                </a:cubicBezTo>
                <a:lnTo>
                  <a:pt x="152400" y="49917"/>
                </a:lnTo>
                <a:cubicBezTo>
                  <a:pt x="152400" y="83314"/>
                  <a:pt x="110758" y="122099"/>
                  <a:pt x="89029" y="138678"/>
                </a:cubicBezTo>
                <a:cubicBezTo>
                  <a:pt x="85338" y="141476"/>
                  <a:pt x="80814" y="142875"/>
                  <a:pt x="76200" y="142875"/>
                </a:cubicBezTo>
                <a:cubicBezTo>
                  <a:pt x="71586" y="142875"/>
                  <a:pt x="67032" y="141506"/>
                  <a:pt x="63371" y="138678"/>
                </a:cubicBezTo>
                <a:cubicBezTo>
                  <a:pt x="41642" y="122099"/>
                  <a:pt x="0" y="83314"/>
                  <a:pt x="0" y="49917"/>
                </a:cubicBezTo>
                <a:lnTo>
                  <a:pt x="0" y="49143"/>
                </a:lnTo>
                <a:cubicBezTo>
                  <a:pt x="0" y="27265"/>
                  <a:pt x="17740" y="9525"/>
                  <a:pt x="39618" y="9525"/>
                </a:cubicBezTo>
                <a:cubicBezTo>
                  <a:pt x="52328" y="9525"/>
                  <a:pt x="64294" y="15627"/>
                  <a:pt x="71735" y="25926"/>
                </a:cubicBezTo>
                <a:close/>
              </a:path>
            </a:pathLst>
          </a:custGeom>
          <a:solidFill>
            <a:srgbClr val="0071E3"/>
          </a:solidFill>
          <a:ln/>
        </p:spPr>
        <p:txBody>
          <a:bodyPr/>
          <a:lstStyle/>
          <a:p>
            <a:endParaRPr lang="zh-CN" altLang="en-US"/>
          </a:p>
        </p:txBody>
      </p:sp>
      <p:sp>
        <p:nvSpPr>
          <p:cNvPr id="14" name="Text 11"/>
          <p:cNvSpPr/>
          <p:nvPr/>
        </p:nvSpPr>
        <p:spPr>
          <a:xfrm>
            <a:off x="6705799" y="5257800"/>
            <a:ext cx="685800" cy="228600"/>
          </a:xfrm>
          <a:prstGeom prst="rect">
            <a:avLst/>
          </a:prstGeom>
          <a:noFill/>
          <a:ln/>
        </p:spPr>
        <p:txBody>
          <a:bodyPr wrap="square" lIns="0" tIns="0" rIns="0" bIns="0" rtlCol="0" anchor="ctr"/>
          <a:lstStyle/>
          <a:p>
            <a:pPr algn="ctr">
              <a:lnSpc>
                <a:spcPct val="130000"/>
              </a:lnSpc>
            </a:pPr>
            <a:r>
              <a:rPr lang="en-US" sz="1200" dirty="0">
                <a:solidFill>
                  <a:srgbClr val="86868B"/>
                </a:solidFill>
                <a:latin typeface="MiSans" pitchFamily="34" charset="0"/>
                <a:ea typeface="MiSans" pitchFamily="34" charset="-122"/>
                <a:cs typeface="MiSans" pitchFamily="34" charset="-120"/>
              </a:rPr>
              <a:t>感谢聆听</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1214</Words>
  <Application>Microsoft Office PowerPoint</Application>
  <PresentationFormat>Widescreen</PresentationFormat>
  <Paragraphs>398</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微软雅黑</vt:lpstr>
      <vt:lpstr>Arial</vt:lpstr>
      <vt:lpstr>MiSans</vt:lpstr>
      <vt:lpstr>Custom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Code Agent编程模式 - 落地实施探讨</dc:title>
  <dc:subject>Code Agent编程模式 - 落地实施探讨</dc:subject>
  <dc:creator>Kimi</dc:creator>
  <cp:lastModifiedBy>faunt</cp:lastModifiedBy>
  <cp:revision>3</cp:revision>
  <dcterms:created xsi:type="dcterms:W3CDTF">2026-03-01T06:40:51Z</dcterms:created>
  <dcterms:modified xsi:type="dcterms:W3CDTF">2026-03-01T07:39:17Z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{"Label":"Code Agent编程模式 - 落地实施探讨","ContentProducer":"001191110108MACG2KBH8F10000","ProduceID":"19ca80df-a092-869e-8000-00008e22bbc9","ReservedCode1":"","ContentPropagator":"001191110108MACG2KBH8F20000","PropagateID":"19ca80df-a092-869e-8000-00008e22bbc9","ReservedCode2":""}</vt:lpwstr>
  </property>
</Properties>
</file>