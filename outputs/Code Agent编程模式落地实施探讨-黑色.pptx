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28ec42ff464e8bdc21b64da39661932627fa1c37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0127" r="20127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80000"/>
                </a:srgbClr>
              </a:gs>
              <a:gs pos="50000">
                <a:srgbClr val="4A6C8C">
                  <a:alpha val="40000"/>
                </a:srgbClr>
              </a:gs>
              <a:gs pos="100000">
                <a:srgbClr val="5E8B7E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685800"/>
            <a:ext cx="57150" cy="609600"/>
          </a:xfrm>
          <a:custGeom>
            <a:avLst/>
            <a:gdLst/>
            <a:ahLst/>
            <a:cxnLst/>
            <a:rect l="l" t="t" r="r" b="b"/>
            <a:pathLst>
              <a:path w="57150" h="609600">
                <a:moveTo>
                  <a:pt x="0" y="0"/>
                </a:moveTo>
                <a:lnTo>
                  <a:pt x="57150" y="0"/>
                </a:lnTo>
                <a:lnTo>
                  <a:pt x="571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Text 2"/>
          <p:cNvSpPr/>
          <p:nvPr/>
        </p:nvSpPr>
        <p:spPr>
          <a:xfrm>
            <a:off x="552450" y="857250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405" kern="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AGENT PROGRAMMING MODEL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43509"/>
            <a:ext cx="11849100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Agent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编程模式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16028"/>
            <a:ext cx="4552950" cy="9525"/>
          </a:xfrm>
          <a:custGeom>
            <a:avLst/>
            <a:gdLst/>
            <a:ahLst/>
            <a:cxnLst/>
            <a:rect l="l" t="t" r="r" b="b"/>
            <a:pathLst>
              <a:path w="4552950" h="9525">
                <a:moveTo>
                  <a:pt x="0" y="0"/>
                </a:moveTo>
                <a:lnTo>
                  <a:pt x="4552950" y="0"/>
                </a:lnTo>
                <a:lnTo>
                  <a:pt x="4552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E8B7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5158680" y="4192191"/>
            <a:ext cx="2028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60" kern="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落地实施探讨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61821" y="4416028"/>
            <a:ext cx="4552950" cy="9525"/>
          </a:xfrm>
          <a:custGeom>
            <a:avLst/>
            <a:gdLst/>
            <a:ahLst/>
            <a:cxnLst/>
            <a:rect l="l" t="t" r="r" b="b"/>
            <a:pathLst>
              <a:path w="4552950" h="9525">
                <a:moveTo>
                  <a:pt x="0" y="0"/>
                </a:moveTo>
                <a:lnTo>
                  <a:pt x="4552950" y="0"/>
                </a:lnTo>
                <a:lnTo>
                  <a:pt x="4552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E8B7E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384175" y="5033566"/>
            <a:ext cx="1406525" cy="387350"/>
          </a:xfrm>
          <a:custGeom>
            <a:avLst/>
            <a:gdLst/>
            <a:ahLst/>
            <a:cxnLst/>
            <a:rect l="l" t="t" r="r" b="b"/>
            <a:pathLst>
              <a:path w="1406525" h="387350">
                <a:moveTo>
                  <a:pt x="193675" y="0"/>
                </a:moveTo>
                <a:lnTo>
                  <a:pt x="1212850" y="0"/>
                </a:lnTo>
                <a:cubicBezTo>
                  <a:pt x="1319814" y="0"/>
                  <a:pt x="1406525" y="86711"/>
                  <a:pt x="1406525" y="193675"/>
                </a:cubicBezTo>
                <a:lnTo>
                  <a:pt x="1406525" y="193675"/>
                </a:lnTo>
                <a:cubicBezTo>
                  <a:pt x="1406525" y="300639"/>
                  <a:pt x="1319814" y="387350"/>
                  <a:pt x="1212850" y="387350"/>
                </a:cubicBezTo>
                <a:lnTo>
                  <a:pt x="193675" y="387350"/>
                </a:lnTo>
                <a:cubicBezTo>
                  <a:pt x="86711" y="387350"/>
                  <a:pt x="0" y="300639"/>
                  <a:pt x="0" y="193675"/>
                </a:cubicBezTo>
                <a:lnTo>
                  <a:pt x="0" y="193675"/>
                </a:lnTo>
                <a:cubicBezTo>
                  <a:pt x="0" y="86711"/>
                  <a:pt x="86711" y="0"/>
                  <a:pt x="19367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6425" y="51446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5719" y="0"/>
                </a:moveTo>
                <a:cubicBezTo>
                  <a:pt x="39678" y="0"/>
                  <a:pt x="42863" y="3185"/>
                  <a:pt x="42863" y="7144"/>
                </a:cubicBezTo>
                <a:lnTo>
                  <a:pt x="42863" y="19050"/>
                </a:lnTo>
                <a:lnTo>
                  <a:pt x="90488" y="19050"/>
                </a:lnTo>
                <a:lnTo>
                  <a:pt x="90488" y="7144"/>
                </a:lnTo>
                <a:cubicBezTo>
                  <a:pt x="90488" y="3185"/>
                  <a:pt x="93672" y="0"/>
                  <a:pt x="97631" y="0"/>
                </a:cubicBezTo>
                <a:cubicBezTo>
                  <a:pt x="101590" y="0"/>
                  <a:pt x="104775" y="3185"/>
                  <a:pt x="104775" y="7144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7144"/>
                </a:lnTo>
                <a:cubicBezTo>
                  <a:pt x="28575" y="3185"/>
                  <a:pt x="31760" y="0"/>
                  <a:pt x="35719" y="0"/>
                </a:cubicBezTo>
                <a:close/>
                <a:moveTo>
                  <a:pt x="114300" y="128588"/>
                </a:moveTo>
                <a:cubicBezTo>
                  <a:pt x="116919" y="128588"/>
                  <a:pt x="119062" y="126444"/>
                  <a:pt x="119062" y="123825"/>
                </a:cubicBezTo>
                <a:lnTo>
                  <a:pt x="119062" y="104775"/>
                </a:lnTo>
                <a:lnTo>
                  <a:pt x="92869" y="104775"/>
                </a:lnTo>
                <a:lnTo>
                  <a:pt x="92869" y="128588"/>
                </a:lnTo>
                <a:lnTo>
                  <a:pt x="114300" y="128588"/>
                </a:lnTo>
                <a:close/>
                <a:moveTo>
                  <a:pt x="119062" y="90488"/>
                </a:moveTo>
                <a:lnTo>
                  <a:pt x="119062" y="66675"/>
                </a:lnTo>
                <a:lnTo>
                  <a:pt x="92869" y="66675"/>
                </a:lnTo>
                <a:lnTo>
                  <a:pt x="92869" y="90488"/>
                </a:lnTo>
                <a:lnTo>
                  <a:pt x="119062" y="90488"/>
                </a:lnTo>
                <a:close/>
                <a:moveTo>
                  <a:pt x="78581" y="90488"/>
                </a:moveTo>
                <a:lnTo>
                  <a:pt x="78581" y="66675"/>
                </a:lnTo>
                <a:lnTo>
                  <a:pt x="54769" y="66675"/>
                </a:lnTo>
                <a:lnTo>
                  <a:pt x="54769" y="90488"/>
                </a:lnTo>
                <a:lnTo>
                  <a:pt x="78581" y="90488"/>
                </a:lnTo>
                <a:close/>
                <a:moveTo>
                  <a:pt x="40481" y="90488"/>
                </a:moveTo>
                <a:lnTo>
                  <a:pt x="40481" y="66675"/>
                </a:lnTo>
                <a:lnTo>
                  <a:pt x="14288" y="66675"/>
                </a:lnTo>
                <a:lnTo>
                  <a:pt x="14288" y="90488"/>
                </a:lnTo>
                <a:lnTo>
                  <a:pt x="40481" y="90488"/>
                </a:lnTo>
                <a:close/>
                <a:moveTo>
                  <a:pt x="14288" y="104775"/>
                </a:moveTo>
                <a:lnTo>
                  <a:pt x="14288" y="123825"/>
                </a:lnTo>
                <a:cubicBezTo>
                  <a:pt x="14288" y="126444"/>
                  <a:pt x="16431" y="128588"/>
                  <a:pt x="19050" y="128588"/>
                </a:cubicBezTo>
                <a:lnTo>
                  <a:pt x="40481" y="128588"/>
                </a:lnTo>
                <a:lnTo>
                  <a:pt x="40481" y="104775"/>
                </a:lnTo>
                <a:lnTo>
                  <a:pt x="14288" y="104775"/>
                </a:lnTo>
                <a:close/>
                <a:moveTo>
                  <a:pt x="54769" y="104775"/>
                </a:moveTo>
                <a:lnTo>
                  <a:pt x="54769" y="128588"/>
                </a:lnTo>
                <a:lnTo>
                  <a:pt x="78581" y="128588"/>
                </a:lnTo>
                <a:lnTo>
                  <a:pt x="78581" y="104775"/>
                </a:lnTo>
                <a:lnTo>
                  <a:pt x="54769" y="104775"/>
                </a:lnTo>
                <a:close/>
                <a:moveTo>
                  <a:pt x="35719" y="33338"/>
                </a:moveTo>
                <a:lnTo>
                  <a:pt x="19050" y="33338"/>
                </a:lnTo>
                <a:cubicBezTo>
                  <a:pt x="16431" y="33338"/>
                  <a:pt x="14288" y="35481"/>
                  <a:pt x="14288" y="38100"/>
                </a:cubicBezTo>
                <a:lnTo>
                  <a:pt x="14288" y="52388"/>
                </a:lnTo>
                <a:lnTo>
                  <a:pt x="119062" y="52388"/>
                </a:lnTo>
                <a:lnTo>
                  <a:pt x="119062" y="38100"/>
                </a:lnTo>
                <a:cubicBezTo>
                  <a:pt x="119062" y="35481"/>
                  <a:pt x="116919" y="33338"/>
                  <a:pt x="114300" y="33338"/>
                </a:cubicBezTo>
                <a:lnTo>
                  <a:pt x="35719" y="3333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9"/>
          <p:cNvSpPr/>
          <p:nvPr/>
        </p:nvSpPr>
        <p:spPr>
          <a:xfrm>
            <a:off x="628650" y="5030391"/>
            <a:ext cx="122872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2026年3月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85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2985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850" y="1492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9769" y="15684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9350" y="158750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850" y="2063750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AI主导的研发新范式，自然语言驱动开发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6900" y="2536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820738" y="25082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核心特征与演进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7675" y="12985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1350" y="1492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44020" y="15684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2850" y="15875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市场成熟度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1350" y="2063750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92%开发者日均使用，AI编程已成事实标准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70400" y="2536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4694238" y="25082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关键数据与趋势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1175" y="12985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4850" y="1492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4544" y="15684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6350" y="15875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工具全景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4850" y="2063750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Code、OpenCode等主流工具对比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43900" y="2536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8567738" y="25082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国内外产品分析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175" y="30892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7850" y="32829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7742" y="335915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9350" y="3378201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典型案例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7850" y="3854451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数据库密码管理系统，1人12天完成2人月工作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6900" y="4327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820738" y="429895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AI驱动开发实践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7675" y="30892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51350" y="32829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39953" y="335915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22850" y="3378201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SKILL方法论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51350" y="3854451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从手册到自动化，经验资产化的新范式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70400" y="4327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4694238" y="429895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技术改造体系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31175" y="30892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4850" y="32829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413056" y="335915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96350" y="3378201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算力需求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24850" y="3854451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1000人团队Token消耗预估与成本分析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43900" y="4327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4"/>
          <p:cNvSpPr/>
          <p:nvPr/>
        </p:nvSpPr>
        <p:spPr>
          <a:xfrm>
            <a:off x="8567738" y="429895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资源规划参考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4175" y="48799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7850" y="50736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75481" y="514985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49350" y="5168901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落地挑战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77850" y="5645151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四大挑战与应对策略，质量与效率平衡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96900" y="6118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1"/>
          <p:cNvSpPr/>
          <p:nvPr/>
        </p:nvSpPr>
        <p:spPr>
          <a:xfrm>
            <a:off x="820738" y="608965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风险管控方案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57675" y="48799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51350" y="50736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537075" y="5149851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022850" y="5168901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公司级建议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451350" y="5645151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六大战略建议，从上往下推广落地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470400" y="6118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0" name="Text 58"/>
          <p:cNvSpPr/>
          <p:nvPr/>
        </p:nvSpPr>
        <p:spPr>
          <a:xfrm>
            <a:off x="4694238" y="608965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组织变革指南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31175" y="4879975"/>
            <a:ext cx="3673475" cy="1597025"/>
          </a:xfrm>
          <a:custGeom>
            <a:avLst/>
            <a:gdLst/>
            <a:ahLst/>
            <a:cxnLst/>
            <a:rect l="l" t="t" r="r" b="b"/>
            <a:pathLst>
              <a:path w="3673475" h="1597025">
                <a:moveTo>
                  <a:pt x="114299" y="0"/>
                </a:moveTo>
                <a:lnTo>
                  <a:pt x="3559176" y="0"/>
                </a:lnTo>
                <a:cubicBezTo>
                  <a:pt x="3622302" y="0"/>
                  <a:pt x="3673475" y="51173"/>
                  <a:pt x="3673475" y="114299"/>
                </a:cubicBezTo>
                <a:lnTo>
                  <a:pt x="3673475" y="1482726"/>
                </a:lnTo>
                <a:cubicBezTo>
                  <a:pt x="3673475" y="1545852"/>
                  <a:pt x="3622302" y="1597025"/>
                  <a:pt x="3559176" y="1597025"/>
                </a:cubicBezTo>
                <a:lnTo>
                  <a:pt x="114299" y="1597025"/>
                </a:lnTo>
                <a:cubicBezTo>
                  <a:pt x="51173" y="1597025"/>
                  <a:pt x="0" y="1545852"/>
                  <a:pt x="0" y="14827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8467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24850" y="50736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413750" y="514985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896350" y="5168901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实施路线图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24850" y="5645151"/>
            <a:ext cx="33623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FTC四阶段实施，从试点到全量承接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43900" y="6118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7" name="Text 65"/>
          <p:cNvSpPr/>
          <p:nvPr/>
        </p:nvSpPr>
        <p:spPr>
          <a:xfrm>
            <a:off x="8567738" y="60896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端到端交付路径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495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Coding：AI主导的研发新范式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 &amp; CORE CHARACTERISTICS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260475"/>
            <a:ext cx="5616575" cy="1444625"/>
          </a:xfrm>
          <a:custGeom>
            <a:avLst/>
            <a:gdLst/>
            <a:ahLst/>
            <a:cxnLst/>
            <a:rect l="l" t="t" r="r" b="b"/>
            <a:pathLst>
              <a:path w="5616575" h="1444625">
                <a:moveTo>
                  <a:pt x="114299" y="0"/>
                </a:moveTo>
                <a:lnTo>
                  <a:pt x="5502276" y="0"/>
                </a:lnTo>
                <a:cubicBezTo>
                  <a:pt x="5565402" y="0"/>
                  <a:pt x="5616575" y="51173"/>
                  <a:pt x="5616575" y="114299"/>
                </a:cubicBezTo>
                <a:lnTo>
                  <a:pt x="5616575" y="1330326"/>
                </a:lnTo>
                <a:cubicBezTo>
                  <a:pt x="5616575" y="1393452"/>
                  <a:pt x="5565402" y="1444625"/>
                  <a:pt x="5502276" y="1444625"/>
                </a:cubicBezTo>
                <a:lnTo>
                  <a:pt x="114299" y="1444625"/>
                </a:lnTo>
                <a:cubicBezTo>
                  <a:pt x="51216" y="1444625"/>
                  <a:pt x="0" y="1393409"/>
                  <a:pt x="0" y="13303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850" y="14541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4538" y="160655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1263650" y="1454151"/>
            <a:ext cx="46291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"用自然语言描述你想要什么，让AI生成代码。你'顺从于感觉(surrender to the vibes)'，忘记了代码的存在。"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650" y="2125663"/>
            <a:ext cx="461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Andrej Karpathy, 2025年2月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175" y="2859088"/>
            <a:ext cx="5616575" cy="3616325"/>
          </a:xfrm>
          <a:custGeom>
            <a:avLst/>
            <a:gdLst/>
            <a:ahLst/>
            <a:cxnLst/>
            <a:rect l="l" t="t" r="r" b="b"/>
            <a:pathLst>
              <a:path w="5616575" h="3616325">
                <a:moveTo>
                  <a:pt x="114312" y="0"/>
                </a:moveTo>
                <a:lnTo>
                  <a:pt x="5502263" y="0"/>
                </a:lnTo>
                <a:cubicBezTo>
                  <a:pt x="5565396" y="0"/>
                  <a:pt x="5616575" y="51179"/>
                  <a:pt x="5616575" y="114312"/>
                </a:cubicBezTo>
                <a:lnTo>
                  <a:pt x="5616575" y="3502013"/>
                </a:lnTo>
                <a:cubicBezTo>
                  <a:pt x="5616575" y="3565146"/>
                  <a:pt x="5565396" y="3616325"/>
                  <a:pt x="5502263" y="3616325"/>
                </a:cubicBezTo>
                <a:lnTo>
                  <a:pt x="114312" y="3616325"/>
                </a:lnTo>
                <a:cubicBezTo>
                  <a:pt x="51179" y="3616325"/>
                  <a:pt x="0" y="3565146"/>
                  <a:pt x="0" y="3502013"/>
                </a:cubicBezTo>
                <a:lnTo>
                  <a:pt x="0" y="114312"/>
                </a:lnTo>
                <a:cubicBezTo>
                  <a:pt x="0" y="51179"/>
                  <a:pt x="51179" y="0"/>
                  <a:pt x="11431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56" y="30908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815975" y="3052763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" y="35099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0286" y="3548063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6950" y="347186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自然语言驱动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6950" y="373856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用描述性语言表达需求，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降低技术门槛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" y="41576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7388" y="4195763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6950" y="4119562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AI主导开发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6950" y="4386263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AI负责大部分编码工作，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人类聚焦设计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" y="48053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403" y="4843463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6950" y="4767263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快速迭代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6950" y="5033963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通过对话式提示不断调整，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实现分钟级交付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4425" y="1260475"/>
            <a:ext cx="5616575" cy="5216525"/>
          </a:xfrm>
          <a:custGeom>
            <a:avLst/>
            <a:gdLst/>
            <a:ahLst/>
            <a:cxnLst/>
            <a:rect l="l" t="t" r="r" b="b"/>
            <a:pathLst>
              <a:path w="5616575" h="5216525">
                <a:moveTo>
                  <a:pt x="114294" y="0"/>
                </a:moveTo>
                <a:lnTo>
                  <a:pt x="5502281" y="0"/>
                </a:lnTo>
                <a:cubicBezTo>
                  <a:pt x="5565404" y="0"/>
                  <a:pt x="5616575" y="51171"/>
                  <a:pt x="5616575" y="114294"/>
                </a:cubicBezTo>
                <a:lnTo>
                  <a:pt x="5616575" y="5102231"/>
                </a:lnTo>
                <a:cubicBezTo>
                  <a:pt x="5616575" y="5165354"/>
                  <a:pt x="5565404" y="5216525"/>
                  <a:pt x="5502281" y="5216525"/>
                </a:cubicBezTo>
                <a:lnTo>
                  <a:pt x="114294" y="5216525"/>
                </a:lnTo>
                <a:cubicBezTo>
                  <a:pt x="51171" y="5216525"/>
                  <a:pt x="0" y="5165354"/>
                  <a:pt x="0" y="5102231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006" y="149225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5"/>
          <p:cNvSpPr/>
          <p:nvPr/>
        </p:nvSpPr>
        <p:spPr>
          <a:xfrm>
            <a:off x="6626225" y="1454151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演进历程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8100" y="1866900"/>
            <a:ext cx="735409" cy="254000"/>
          </a:xfrm>
          <a:custGeom>
            <a:avLst/>
            <a:gdLst/>
            <a:ahLst/>
            <a:cxnLst/>
            <a:rect l="l" t="t" r="r" b="b"/>
            <a:pathLst>
              <a:path w="735409" h="254000">
                <a:moveTo>
                  <a:pt x="127000" y="0"/>
                </a:moveTo>
                <a:lnTo>
                  <a:pt x="608409" y="0"/>
                </a:lnTo>
                <a:cubicBezTo>
                  <a:pt x="678550" y="0"/>
                  <a:pt x="735409" y="56860"/>
                  <a:pt x="735409" y="127000"/>
                </a:cubicBezTo>
                <a:lnTo>
                  <a:pt x="735409" y="127000"/>
                </a:lnTo>
                <a:cubicBezTo>
                  <a:pt x="735409" y="197140"/>
                  <a:pt x="678550" y="254000"/>
                  <a:pt x="608409" y="254000"/>
                </a:cubicBezTo>
                <a:lnTo>
                  <a:pt x="127000" y="254000"/>
                </a:lnTo>
                <a:cubicBezTo>
                  <a:pt x="56860" y="254000"/>
                  <a:pt x="0" y="197140"/>
                  <a:pt x="0" y="1270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88100" y="1866900"/>
            <a:ext cx="802084" cy="2540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2025.02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54900" y="2486026"/>
            <a:ext cx="4162425" cy="6350"/>
          </a:xfrm>
          <a:custGeom>
            <a:avLst/>
            <a:gdLst/>
            <a:ahLst/>
            <a:cxnLst/>
            <a:rect l="l" t="t" r="r" b="b"/>
            <a:pathLst>
              <a:path w="4162425" h="6350">
                <a:moveTo>
                  <a:pt x="0" y="0"/>
                </a:moveTo>
                <a:lnTo>
                  <a:pt x="4162425" y="0"/>
                </a:lnTo>
                <a:lnTo>
                  <a:pt x="41624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454900" y="1873251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概念提出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54900" y="2139951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Andrej Karpathy首次提出Vibe Coding概念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8100" y="2597151"/>
            <a:ext cx="712887" cy="254000"/>
          </a:xfrm>
          <a:custGeom>
            <a:avLst/>
            <a:gdLst/>
            <a:ahLst/>
            <a:cxnLst/>
            <a:rect l="l" t="t" r="r" b="b"/>
            <a:pathLst>
              <a:path w="712887" h="254000">
                <a:moveTo>
                  <a:pt x="127000" y="0"/>
                </a:moveTo>
                <a:lnTo>
                  <a:pt x="585887" y="0"/>
                </a:lnTo>
                <a:cubicBezTo>
                  <a:pt x="656027" y="0"/>
                  <a:pt x="712887" y="56860"/>
                  <a:pt x="712887" y="127000"/>
                </a:cubicBezTo>
                <a:lnTo>
                  <a:pt x="712887" y="127000"/>
                </a:lnTo>
                <a:cubicBezTo>
                  <a:pt x="712887" y="197140"/>
                  <a:pt x="656027" y="254000"/>
                  <a:pt x="585887" y="254000"/>
                </a:cubicBezTo>
                <a:lnTo>
                  <a:pt x="127000" y="254000"/>
                </a:lnTo>
                <a:cubicBezTo>
                  <a:pt x="56860" y="254000"/>
                  <a:pt x="0" y="197140"/>
                  <a:pt x="0" y="1270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88100" y="2597151"/>
            <a:ext cx="779562" cy="2540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2025.10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54900" y="3216275"/>
            <a:ext cx="4162425" cy="6350"/>
          </a:xfrm>
          <a:custGeom>
            <a:avLst/>
            <a:gdLst/>
            <a:ahLst/>
            <a:cxnLst/>
            <a:rect l="l" t="t" r="r" b="b"/>
            <a:pathLst>
              <a:path w="4162425" h="6350">
                <a:moveTo>
                  <a:pt x="0" y="0"/>
                </a:moveTo>
                <a:lnTo>
                  <a:pt x="4162425" y="0"/>
                </a:lnTo>
                <a:lnTo>
                  <a:pt x="41624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454900" y="26035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企业跟进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54900" y="28702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Salesforce发布Agentforce Vibes，Cognizant发布企业蓝图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3324226"/>
            <a:ext cx="561380" cy="273050"/>
          </a:xfrm>
          <a:custGeom>
            <a:avLst/>
            <a:gdLst/>
            <a:ahLst/>
            <a:cxnLst/>
            <a:rect l="l" t="t" r="r" b="b"/>
            <a:pathLst>
              <a:path w="561380" h="273050">
                <a:moveTo>
                  <a:pt x="136525" y="0"/>
                </a:moveTo>
                <a:lnTo>
                  <a:pt x="424855" y="0"/>
                </a:lnTo>
                <a:cubicBezTo>
                  <a:pt x="500255" y="0"/>
                  <a:pt x="561380" y="61124"/>
                  <a:pt x="561380" y="136525"/>
                </a:cubicBezTo>
                <a:lnTo>
                  <a:pt x="561380" y="136525"/>
                </a:lnTo>
                <a:cubicBezTo>
                  <a:pt x="561380" y="211926"/>
                  <a:pt x="500255" y="273050"/>
                  <a:pt x="424855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8467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8100" y="3321051"/>
            <a:ext cx="62170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54900" y="333375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主流范式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54900" y="360045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已成为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主流研发范式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，从辅助走向核心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1275" y="3984625"/>
            <a:ext cx="5216525" cy="539750"/>
          </a:xfrm>
          <a:custGeom>
            <a:avLst/>
            <a:gdLst/>
            <a:ahLst/>
            <a:cxnLst/>
            <a:rect l="l" t="t" r="r" b="b"/>
            <a:pathLst>
              <a:path w="5216525" h="539750">
                <a:moveTo>
                  <a:pt x="76202" y="0"/>
                </a:moveTo>
                <a:lnTo>
                  <a:pt x="5140323" y="0"/>
                </a:lnTo>
                <a:cubicBezTo>
                  <a:pt x="5182408" y="0"/>
                  <a:pt x="5216525" y="34117"/>
                  <a:pt x="5216525" y="76202"/>
                </a:cubicBezTo>
                <a:lnTo>
                  <a:pt x="5216525" y="463548"/>
                </a:lnTo>
                <a:cubicBezTo>
                  <a:pt x="5216525" y="505633"/>
                  <a:pt x="5182408" y="539750"/>
                  <a:pt x="5140323" y="539750"/>
                </a:cubicBezTo>
                <a:lnTo>
                  <a:pt x="76202" y="539750"/>
                </a:lnTo>
                <a:cubicBezTo>
                  <a:pt x="34145" y="539750"/>
                  <a:pt x="0" y="505605"/>
                  <a:pt x="0" y="46354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4950" y="4171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794500" y="4140201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AI编程已从"工具升级"演变为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"范式革命"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276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市场成熟度：AI编程已成事实标准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MARKET DATA &amp; GROWTH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222375"/>
            <a:ext cx="2740025" cy="1301750"/>
          </a:xfrm>
          <a:custGeom>
            <a:avLst/>
            <a:gdLst/>
            <a:ahLst/>
            <a:cxnLst/>
            <a:rect l="l" t="t" r="r" b="b"/>
            <a:pathLst>
              <a:path w="2740025" h="1301750">
                <a:moveTo>
                  <a:pt x="114294" y="0"/>
                </a:moveTo>
                <a:lnTo>
                  <a:pt x="2625731" y="0"/>
                </a:lnTo>
                <a:cubicBezTo>
                  <a:pt x="2688854" y="0"/>
                  <a:pt x="2740025" y="51171"/>
                  <a:pt x="2740025" y="114294"/>
                </a:cubicBezTo>
                <a:lnTo>
                  <a:pt x="2740025" y="1187456"/>
                </a:lnTo>
                <a:cubicBezTo>
                  <a:pt x="2740025" y="1250579"/>
                  <a:pt x="2688854" y="1301750"/>
                  <a:pt x="26257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450" y="1377951"/>
            <a:ext cx="265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1650" y="1911351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开发者日均使用率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6413" y="2178051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美国开发者每日必用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9775" y="1222375"/>
            <a:ext cx="2740025" cy="1301750"/>
          </a:xfrm>
          <a:custGeom>
            <a:avLst/>
            <a:gdLst/>
            <a:ahLst/>
            <a:cxnLst/>
            <a:rect l="l" t="t" r="r" b="b"/>
            <a:pathLst>
              <a:path w="2740025" h="1301750">
                <a:moveTo>
                  <a:pt x="114294" y="0"/>
                </a:moveTo>
                <a:lnTo>
                  <a:pt x="2625731" y="0"/>
                </a:lnTo>
                <a:cubicBezTo>
                  <a:pt x="2688854" y="0"/>
                  <a:pt x="2740025" y="51171"/>
                  <a:pt x="2740025" y="114294"/>
                </a:cubicBezTo>
                <a:lnTo>
                  <a:pt x="2740025" y="1187456"/>
                </a:lnTo>
                <a:cubicBezTo>
                  <a:pt x="2740025" y="1250579"/>
                  <a:pt x="2688854" y="1301750"/>
                  <a:pt x="26257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1050" y="1377951"/>
            <a:ext cx="265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41%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97250" y="1911351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AI生成代码占比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02013" y="2178051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全年2560亿行代码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5375" y="1222375"/>
            <a:ext cx="2740025" cy="1301750"/>
          </a:xfrm>
          <a:custGeom>
            <a:avLst/>
            <a:gdLst/>
            <a:ahLst/>
            <a:cxnLst/>
            <a:rect l="l" t="t" r="r" b="b"/>
            <a:pathLst>
              <a:path w="2740025" h="1301750">
                <a:moveTo>
                  <a:pt x="114294" y="0"/>
                </a:moveTo>
                <a:lnTo>
                  <a:pt x="2625731" y="0"/>
                </a:lnTo>
                <a:cubicBezTo>
                  <a:pt x="2688854" y="0"/>
                  <a:pt x="2740025" y="51171"/>
                  <a:pt x="2740025" y="114294"/>
                </a:cubicBezTo>
                <a:lnTo>
                  <a:pt x="2740025" y="1187456"/>
                </a:lnTo>
                <a:cubicBezTo>
                  <a:pt x="2740025" y="1250579"/>
                  <a:pt x="2688854" y="1301750"/>
                  <a:pt x="26257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6650" y="1377951"/>
            <a:ext cx="265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2850" y="1911351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企业渗透率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97613" y="2178051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财富500强已部署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70975" y="1222375"/>
            <a:ext cx="2740025" cy="1301750"/>
          </a:xfrm>
          <a:custGeom>
            <a:avLst/>
            <a:gdLst/>
            <a:ahLst/>
            <a:cxnLst/>
            <a:rect l="l" t="t" r="r" b="b"/>
            <a:pathLst>
              <a:path w="2740025" h="1301750">
                <a:moveTo>
                  <a:pt x="114294" y="0"/>
                </a:moveTo>
                <a:lnTo>
                  <a:pt x="2625731" y="0"/>
                </a:lnTo>
                <a:cubicBezTo>
                  <a:pt x="2688854" y="0"/>
                  <a:pt x="2740025" y="51171"/>
                  <a:pt x="2740025" y="114294"/>
                </a:cubicBezTo>
                <a:lnTo>
                  <a:pt x="2740025" y="1187456"/>
                </a:lnTo>
                <a:cubicBezTo>
                  <a:pt x="2740025" y="1250579"/>
                  <a:pt x="2688854" y="1301750"/>
                  <a:pt x="26257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8467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2250" y="1377951"/>
            <a:ext cx="2657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8450" y="1911351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Code占比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93213" y="2178051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GitHub总提交量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175" y="2682877"/>
            <a:ext cx="5635625" cy="3787775"/>
          </a:xfrm>
          <a:custGeom>
            <a:avLst/>
            <a:gdLst/>
            <a:ahLst/>
            <a:cxnLst/>
            <a:rect l="l" t="t" r="r" b="b"/>
            <a:pathLst>
              <a:path w="5635625" h="3787775">
                <a:moveTo>
                  <a:pt x="114315" y="0"/>
                </a:moveTo>
                <a:lnTo>
                  <a:pt x="5521310" y="0"/>
                </a:lnTo>
                <a:cubicBezTo>
                  <a:pt x="5584444" y="0"/>
                  <a:pt x="5635625" y="51181"/>
                  <a:pt x="5635625" y="114315"/>
                </a:cubicBezTo>
                <a:lnTo>
                  <a:pt x="5635625" y="3673460"/>
                </a:lnTo>
                <a:cubicBezTo>
                  <a:pt x="5635625" y="3736594"/>
                  <a:pt x="5584444" y="3787775"/>
                  <a:pt x="5521310" y="3787775"/>
                </a:cubicBezTo>
                <a:lnTo>
                  <a:pt x="114315" y="3787775"/>
                </a:lnTo>
                <a:cubicBezTo>
                  <a:pt x="51181" y="3787775"/>
                  <a:pt x="0" y="3736594"/>
                  <a:pt x="0" y="3673460"/>
                </a:cubicBezTo>
                <a:lnTo>
                  <a:pt x="0" y="114315"/>
                </a:lnTo>
                <a:cubicBezTo>
                  <a:pt x="0" y="51223"/>
                  <a:pt x="51223" y="0"/>
                  <a:pt x="11431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63" y="2914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815975" y="287655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Code 爆发式增长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850" y="3295650"/>
            <a:ext cx="5248275" cy="495300"/>
          </a:xfrm>
          <a:custGeom>
            <a:avLst/>
            <a:gdLst/>
            <a:ahLst/>
            <a:cxnLst/>
            <a:rect l="l" t="t" r="r" b="b"/>
            <a:pathLst>
              <a:path w="5248275" h="495300">
                <a:moveTo>
                  <a:pt x="76202" y="0"/>
                </a:moveTo>
                <a:lnTo>
                  <a:pt x="5172073" y="0"/>
                </a:lnTo>
                <a:cubicBezTo>
                  <a:pt x="5214158" y="0"/>
                  <a:pt x="5248275" y="34117"/>
                  <a:pt x="5248275" y="76202"/>
                </a:cubicBezTo>
                <a:lnTo>
                  <a:pt x="5248275" y="419098"/>
                </a:lnTo>
                <a:cubicBezTo>
                  <a:pt x="5248275" y="461183"/>
                  <a:pt x="5214158" y="495300"/>
                  <a:pt x="51720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2150" y="34671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996950" y="3429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用户增速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60441" y="340995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6个月 → 500万周活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7850" y="3905250"/>
            <a:ext cx="5248275" cy="495300"/>
          </a:xfrm>
          <a:custGeom>
            <a:avLst/>
            <a:gdLst/>
            <a:ahLst/>
            <a:cxnLst/>
            <a:rect l="l" t="t" r="r" b="b"/>
            <a:pathLst>
              <a:path w="5248275" h="495300">
                <a:moveTo>
                  <a:pt x="76202" y="0"/>
                </a:moveTo>
                <a:lnTo>
                  <a:pt x="5172073" y="0"/>
                </a:lnTo>
                <a:cubicBezTo>
                  <a:pt x="5214158" y="0"/>
                  <a:pt x="5248275" y="34117"/>
                  <a:pt x="5248275" y="76202"/>
                </a:cubicBezTo>
                <a:lnTo>
                  <a:pt x="5248275" y="419098"/>
                </a:lnTo>
                <a:cubicBezTo>
                  <a:pt x="5248275" y="461183"/>
                  <a:pt x="5214158" y="495300"/>
                  <a:pt x="51720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11200" y="407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996950" y="40386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Token消耗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73402" y="4019550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 → 60%+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7850" y="4514850"/>
            <a:ext cx="5248275" cy="495300"/>
          </a:xfrm>
          <a:custGeom>
            <a:avLst/>
            <a:gdLst/>
            <a:ahLst/>
            <a:cxnLst/>
            <a:rect l="l" t="t" r="r" b="b"/>
            <a:pathLst>
              <a:path w="5248275" h="495300">
                <a:moveTo>
                  <a:pt x="76202" y="0"/>
                </a:moveTo>
                <a:lnTo>
                  <a:pt x="5172073" y="0"/>
                </a:lnTo>
                <a:cubicBezTo>
                  <a:pt x="5214158" y="0"/>
                  <a:pt x="5248275" y="34117"/>
                  <a:pt x="5248275" y="76202"/>
                </a:cubicBezTo>
                <a:lnTo>
                  <a:pt x="5248275" y="419098"/>
                </a:lnTo>
                <a:cubicBezTo>
                  <a:pt x="5248275" y="461183"/>
                  <a:pt x="5214158" y="495300"/>
                  <a:pt x="51720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0250" y="4686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2"/>
          <p:cNvSpPr/>
          <p:nvPr/>
        </p:nvSpPr>
        <p:spPr>
          <a:xfrm>
            <a:off x="996950" y="46482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企业签约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63938" y="46291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 Fortune 100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7850" y="5124450"/>
            <a:ext cx="5248275" cy="495300"/>
          </a:xfrm>
          <a:custGeom>
            <a:avLst/>
            <a:gdLst/>
            <a:ahLst/>
            <a:cxnLst/>
            <a:rect l="l" t="t" r="r" b="b"/>
            <a:pathLst>
              <a:path w="5248275" h="495300">
                <a:moveTo>
                  <a:pt x="76202" y="0"/>
                </a:moveTo>
                <a:lnTo>
                  <a:pt x="5172073" y="0"/>
                </a:lnTo>
                <a:cubicBezTo>
                  <a:pt x="5214158" y="0"/>
                  <a:pt x="5248275" y="34117"/>
                  <a:pt x="5248275" y="76202"/>
                </a:cubicBezTo>
                <a:lnTo>
                  <a:pt x="5248275" y="419098"/>
                </a:lnTo>
                <a:cubicBezTo>
                  <a:pt x="5248275" y="461183"/>
                  <a:pt x="5214158" y="495300"/>
                  <a:pt x="51720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11200" y="5295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6"/>
          <p:cNvSpPr/>
          <p:nvPr/>
        </p:nvSpPr>
        <p:spPr>
          <a:xfrm>
            <a:off x="996950" y="5257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资本验证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45396" y="5238750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$100亿营收 / $1800亿估值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5375" y="2682877"/>
            <a:ext cx="5635625" cy="3787775"/>
          </a:xfrm>
          <a:custGeom>
            <a:avLst/>
            <a:gdLst/>
            <a:ahLst/>
            <a:cxnLst/>
            <a:rect l="l" t="t" r="r" b="b"/>
            <a:pathLst>
              <a:path w="5635625" h="3787775">
                <a:moveTo>
                  <a:pt x="114315" y="0"/>
                </a:moveTo>
                <a:lnTo>
                  <a:pt x="5521310" y="0"/>
                </a:lnTo>
                <a:cubicBezTo>
                  <a:pt x="5584444" y="0"/>
                  <a:pt x="5635625" y="51181"/>
                  <a:pt x="5635625" y="114315"/>
                </a:cubicBezTo>
                <a:lnTo>
                  <a:pt x="5635625" y="3673460"/>
                </a:lnTo>
                <a:cubicBezTo>
                  <a:pt x="5635625" y="3736594"/>
                  <a:pt x="5584444" y="3787775"/>
                  <a:pt x="5521310" y="3787775"/>
                </a:cubicBezTo>
                <a:lnTo>
                  <a:pt x="114315" y="3787775"/>
                </a:lnTo>
                <a:cubicBezTo>
                  <a:pt x="51181" y="3787775"/>
                  <a:pt x="0" y="3736594"/>
                  <a:pt x="0" y="3673460"/>
                </a:cubicBezTo>
                <a:lnTo>
                  <a:pt x="0" y="114315"/>
                </a:lnTo>
                <a:cubicBezTo>
                  <a:pt x="0" y="51223"/>
                  <a:pt x="51223" y="0"/>
                  <a:pt x="11431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92863" y="2914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6607175" y="287655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关键指标对比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69050" y="32956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开发者采用率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12823" y="329565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9050" y="3562350"/>
            <a:ext cx="5248275" cy="95250"/>
          </a:xfrm>
          <a:custGeom>
            <a:avLst/>
            <a:gdLst/>
            <a:ahLst/>
            <a:cxnLst/>
            <a:rect l="l" t="t" r="r" b="b"/>
            <a:pathLst>
              <a:path w="5248275" h="95250">
                <a:moveTo>
                  <a:pt x="47625" y="0"/>
                </a:moveTo>
                <a:lnTo>
                  <a:pt x="5200650" y="0"/>
                </a:lnTo>
                <a:cubicBezTo>
                  <a:pt x="5226935" y="0"/>
                  <a:pt x="5248275" y="21340"/>
                  <a:pt x="5248275" y="47625"/>
                </a:cubicBezTo>
                <a:lnTo>
                  <a:pt x="5248275" y="47625"/>
                </a:lnTo>
                <a:cubicBezTo>
                  <a:pt x="5248275" y="73910"/>
                  <a:pt x="5226935" y="95250"/>
                  <a:pt x="52006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69050" y="3562350"/>
            <a:ext cx="4829175" cy="95250"/>
          </a:xfrm>
          <a:custGeom>
            <a:avLst/>
            <a:gdLst/>
            <a:ahLst/>
            <a:cxnLst/>
            <a:rect l="l" t="t" r="r" b="b"/>
            <a:pathLst>
              <a:path w="4829175" h="95250">
                <a:moveTo>
                  <a:pt x="47625" y="0"/>
                </a:moveTo>
                <a:lnTo>
                  <a:pt x="4781550" y="0"/>
                </a:lnTo>
                <a:cubicBezTo>
                  <a:pt x="4807835" y="0"/>
                  <a:pt x="4829175" y="21340"/>
                  <a:pt x="4829175" y="47625"/>
                </a:cubicBezTo>
                <a:lnTo>
                  <a:pt x="4829175" y="47625"/>
                </a:lnTo>
                <a:cubicBezTo>
                  <a:pt x="4829175" y="73910"/>
                  <a:pt x="4807835" y="95250"/>
                  <a:pt x="47815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7" name="Text 45"/>
          <p:cNvSpPr/>
          <p:nvPr/>
        </p:nvSpPr>
        <p:spPr>
          <a:xfrm>
            <a:off x="6369050" y="37719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代码生成占比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39910" y="3771900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41%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69050" y="4038600"/>
            <a:ext cx="5248275" cy="95250"/>
          </a:xfrm>
          <a:custGeom>
            <a:avLst/>
            <a:gdLst/>
            <a:ahLst/>
            <a:cxnLst/>
            <a:rect l="l" t="t" r="r" b="b"/>
            <a:pathLst>
              <a:path w="5248275" h="95250">
                <a:moveTo>
                  <a:pt x="47625" y="0"/>
                </a:moveTo>
                <a:lnTo>
                  <a:pt x="5200650" y="0"/>
                </a:lnTo>
                <a:cubicBezTo>
                  <a:pt x="5226935" y="0"/>
                  <a:pt x="5248275" y="21340"/>
                  <a:pt x="5248275" y="47625"/>
                </a:cubicBezTo>
                <a:lnTo>
                  <a:pt x="5248275" y="47625"/>
                </a:lnTo>
                <a:cubicBezTo>
                  <a:pt x="5248275" y="73910"/>
                  <a:pt x="5226935" y="95250"/>
                  <a:pt x="52006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69050" y="4038600"/>
            <a:ext cx="2152650" cy="95250"/>
          </a:xfrm>
          <a:custGeom>
            <a:avLst/>
            <a:gdLst/>
            <a:ahLst/>
            <a:cxnLst/>
            <a:rect l="l" t="t" r="r" b="b"/>
            <a:pathLst>
              <a:path w="2152650" h="95250">
                <a:moveTo>
                  <a:pt x="47625" y="0"/>
                </a:moveTo>
                <a:lnTo>
                  <a:pt x="2105025" y="0"/>
                </a:lnTo>
                <a:cubicBezTo>
                  <a:pt x="2131310" y="0"/>
                  <a:pt x="2152650" y="21340"/>
                  <a:pt x="2152650" y="47625"/>
                </a:cubicBezTo>
                <a:lnTo>
                  <a:pt x="2152650" y="47625"/>
                </a:lnTo>
                <a:cubicBezTo>
                  <a:pt x="2152650" y="73910"/>
                  <a:pt x="2131310" y="95250"/>
                  <a:pt x="21050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1" name="Text 49"/>
          <p:cNvSpPr/>
          <p:nvPr/>
        </p:nvSpPr>
        <p:spPr>
          <a:xfrm>
            <a:off x="6369050" y="42481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企业部署率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319173" y="4248150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69050" y="4514850"/>
            <a:ext cx="5248275" cy="95250"/>
          </a:xfrm>
          <a:custGeom>
            <a:avLst/>
            <a:gdLst/>
            <a:ahLst/>
            <a:cxnLst/>
            <a:rect l="l" t="t" r="r" b="b"/>
            <a:pathLst>
              <a:path w="5248275" h="95250">
                <a:moveTo>
                  <a:pt x="47625" y="0"/>
                </a:moveTo>
                <a:lnTo>
                  <a:pt x="5200650" y="0"/>
                </a:lnTo>
                <a:cubicBezTo>
                  <a:pt x="5226935" y="0"/>
                  <a:pt x="5248275" y="21340"/>
                  <a:pt x="5248275" y="47625"/>
                </a:cubicBezTo>
                <a:lnTo>
                  <a:pt x="5248275" y="47625"/>
                </a:lnTo>
                <a:cubicBezTo>
                  <a:pt x="5248275" y="73910"/>
                  <a:pt x="5226935" y="95250"/>
                  <a:pt x="52006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69050" y="4514850"/>
            <a:ext cx="3933825" cy="95250"/>
          </a:xfrm>
          <a:custGeom>
            <a:avLst/>
            <a:gdLst/>
            <a:ahLst/>
            <a:cxnLst/>
            <a:rect l="l" t="t" r="r" b="b"/>
            <a:pathLst>
              <a:path w="3933825" h="95250">
                <a:moveTo>
                  <a:pt x="47625" y="0"/>
                </a:moveTo>
                <a:lnTo>
                  <a:pt x="3886200" y="0"/>
                </a:lnTo>
                <a:cubicBezTo>
                  <a:pt x="3912485" y="0"/>
                  <a:pt x="3933825" y="21340"/>
                  <a:pt x="3933825" y="47625"/>
                </a:cubicBezTo>
                <a:lnTo>
                  <a:pt x="3933825" y="47625"/>
                </a:lnTo>
                <a:cubicBezTo>
                  <a:pt x="3933825" y="73910"/>
                  <a:pt x="3912485" y="95250"/>
                  <a:pt x="38862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5" name="Text 53"/>
          <p:cNvSpPr/>
          <p:nvPr/>
        </p:nvSpPr>
        <p:spPr>
          <a:xfrm>
            <a:off x="6369050" y="47244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Code渗透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399838" y="47244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9050" y="4991100"/>
            <a:ext cx="5248275" cy="95250"/>
          </a:xfrm>
          <a:custGeom>
            <a:avLst/>
            <a:gdLst/>
            <a:ahLst/>
            <a:cxnLst/>
            <a:rect l="l" t="t" r="r" b="b"/>
            <a:pathLst>
              <a:path w="5248275" h="95250">
                <a:moveTo>
                  <a:pt x="47625" y="0"/>
                </a:moveTo>
                <a:lnTo>
                  <a:pt x="5200650" y="0"/>
                </a:lnTo>
                <a:cubicBezTo>
                  <a:pt x="5226935" y="0"/>
                  <a:pt x="5248275" y="21340"/>
                  <a:pt x="5248275" y="47625"/>
                </a:cubicBezTo>
                <a:lnTo>
                  <a:pt x="5248275" y="47625"/>
                </a:lnTo>
                <a:cubicBezTo>
                  <a:pt x="5248275" y="73910"/>
                  <a:pt x="5226935" y="95250"/>
                  <a:pt x="52006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69050" y="4991100"/>
            <a:ext cx="209550" cy="95250"/>
          </a:xfrm>
          <a:custGeom>
            <a:avLst/>
            <a:gdLst/>
            <a:ahLst/>
            <a:cxnLst/>
            <a:rect l="l" t="t" r="r" b="b"/>
            <a:pathLst>
              <a:path w="209550" h="95250">
                <a:moveTo>
                  <a:pt x="47625" y="0"/>
                </a:moveTo>
                <a:lnTo>
                  <a:pt x="161925" y="0"/>
                </a:lnTo>
                <a:cubicBezTo>
                  <a:pt x="188210" y="0"/>
                  <a:pt x="209550" y="21340"/>
                  <a:pt x="209550" y="47625"/>
                </a:cubicBezTo>
                <a:lnTo>
                  <a:pt x="209550" y="47625"/>
                </a:lnTo>
                <a:cubicBezTo>
                  <a:pt x="209550" y="73910"/>
                  <a:pt x="188210" y="95250"/>
                  <a:pt x="1619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9" name="Shape 57"/>
          <p:cNvSpPr/>
          <p:nvPr/>
        </p:nvSpPr>
        <p:spPr>
          <a:xfrm>
            <a:off x="6372225" y="5241925"/>
            <a:ext cx="5235575" cy="463550"/>
          </a:xfrm>
          <a:custGeom>
            <a:avLst/>
            <a:gdLst/>
            <a:ahLst/>
            <a:cxnLst/>
            <a:rect l="l" t="t" r="r" b="b"/>
            <a:pathLst>
              <a:path w="5235575" h="463550">
                <a:moveTo>
                  <a:pt x="76198" y="0"/>
                </a:moveTo>
                <a:lnTo>
                  <a:pt x="5159377" y="0"/>
                </a:lnTo>
                <a:cubicBezTo>
                  <a:pt x="5201460" y="0"/>
                  <a:pt x="5235575" y="34115"/>
                  <a:pt x="5235575" y="76198"/>
                </a:cubicBezTo>
                <a:lnTo>
                  <a:pt x="5235575" y="387352"/>
                </a:lnTo>
                <a:cubicBezTo>
                  <a:pt x="5235575" y="429435"/>
                  <a:pt x="5201460" y="463550"/>
                  <a:pt x="5159377" y="463550"/>
                </a:cubicBezTo>
                <a:lnTo>
                  <a:pt x="76198" y="463550"/>
                </a:lnTo>
                <a:cubicBezTo>
                  <a:pt x="34143" y="463550"/>
                  <a:pt x="0" y="429407"/>
                  <a:pt x="0" y="3873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08750" y="5391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1" name="Text 59"/>
          <p:cNvSpPr/>
          <p:nvPr/>
        </p:nvSpPr>
        <p:spPr>
          <a:xfrm>
            <a:off x="6737350" y="5359401"/>
            <a:ext cx="482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2026年现状：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Code成为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事实标准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主流Code Agent工具全景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&amp; DOMESTIC TOOLS LANDSCAPE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222375"/>
            <a:ext cx="5635625" cy="3940175"/>
          </a:xfrm>
          <a:custGeom>
            <a:avLst/>
            <a:gdLst/>
            <a:ahLst/>
            <a:cxnLst/>
            <a:rect l="l" t="t" r="r" b="b"/>
            <a:pathLst>
              <a:path w="5635625" h="3940175">
                <a:moveTo>
                  <a:pt x="114304" y="0"/>
                </a:moveTo>
                <a:lnTo>
                  <a:pt x="5521321" y="0"/>
                </a:lnTo>
                <a:cubicBezTo>
                  <a:pt x="5584449" y="0"/>
                  <a:pt x="5635625" y="51176"/>
                  <a:pt x="5635625" y="114304"/>
                </a:cubicBezTo>
                <a:lnTo>
                  <a:pt x="5635625" y="3825871"/>
                </a:lnTo>
                <a:cubicBezTo>
                  <a:pt x="5635625" y="3888999"/>
                  <a:pt x="5584449" y="3940175"/>
                  <a:pt x="5521321" y="3940175"/>
                </a:cubicBezTo>
                <a:lnTo>
                  <a:pt x="114304" y="3940175"/>
                </a:lnTo>
                <a:cubicBezTo>
                  <a:pt x="51176" y="3940175"/>
                  <a:pt x="0" y="3888999"/>
                  <a:pt x="0" y="382587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563" y="14160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377951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国际主流工具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" y="1758951"/>
            <a:ext cx="5305425" cy="685800"/>
          </a:xfrm>
          <a:custGeom>
            <a:avLst/>
            <a:gdLst/>
            <a:ahLst/>
            <a:cxnLst/>
            <a:rect l="l" t="t" r="r" b="b"/>
            <a:pathLst>
              <a:path w="5305425" h="685800">
                <a:moveTo>
                  <a:pt x="38100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609601"/>
                </a:lnTo>
                <a:cubicBezTo>
                  <a:pt x="5305425" y="651684"/>
                  <a:pt x="5271309" y="685800"/>
                  <a:pt x="52292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8800" y="175895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8"/>
          <p:cNvSpPr/>
          <p:nvPr/>
        </p:nvSpPr>
        <p:spPr>
          <a:xfrm>
            <a:off x="692150" y="1873251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2850" y="1873251"/>
            <a:ext cx="723900" cy="190500"/>
          </a:xfrm>
          <a:custGeom>
            <a:avLst/>
            <a:gdLst/>
            <a:ahLst/>
            <a:cxnLst/>
            <a:rect l="l" t="t" r="r" b="b"/>
            <a:pathLst>
              <a:path w="723900" h="190500">
                <a:moveTo>
                  <a:pt x="38100" y="0"/>
                </a:moveTo>
                <a:lnTo>
                  <a:pt x="685800" y="0"/>
                </a:lnTo>
                <a:cubicBezTo>
                  <a:pt x="706828" y="0"/>
                  <a:pt x="723900" y="17072"/>
                  <a:pt x="723900" y="38100"/>
                </a:cubicBezTo>
                <a:lnTo>
                  <a:pt x="723900" y="152400"/>
                </a:lnTo>
                <a:cubicBezTo>
                  <a:pt x="723900" y="173428"/>
                  <a:pt x="706828" y="190500"/>
                  <a:pt x="685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2850" y="1873251"/>
            <a:ext cx="781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企业级首选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2150" y="2139951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 | 复杂重构、大型项目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8800" y="2520951"/>
            <a:ext cx="5305425" cy="685800"/>
          </a:xfrm>
          <a:custGeom>
            <a:avLst/>
            <a:gdLst/>
            <a:ahLst/>
            <a:cxnLst/>
            <a:rect l="l" t="t" r="r" b="b"/>
            <a:pathLst>
              <a:path w="5305425" h="685800">
                <a:moveTo>
                  <a:pt x="38100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609601"/>
                </a:lnTo>
                <a:cubicBezTo>
                  <a:pt x="5305425" y="651684"/>
                  <a:pt x="5271309" y="685800"/>
                  <a:pt x="52292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8800" y="252095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4"/>
          <p:cNvSpPr/>
          <p:nvPr/>
        </p:nvSpPr>
        <p:spPr>
          <a:xfrm>
            <a:off x="692150" y="2635251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OpenCode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2850" y="2635251"/>
            <a:ext cx="723900" cy="190500"/>
          </a:xfrm>
          <a:custGeom>
            <a:avLst/>
            <a:gdLst/>
            <a:ahLst/>
            <a:cxnLst/>
            <a:rect l="l" t="t" r="r" b="b"/>
            <a:pathLst>
              <a:path w="723900" h="190500">
                <a:moveTo>
                  <a:pt x="38100" y="0"/>
                </a:moveTo>
                <a:lnTo>
                  <a:pt x="685800" y="0"/>
                </a:lnTo>
                <a:cubicBezTo>
                  <a:pt x="706828" y="0"/>
                  <a:pt x="723900" y="17072"/>
                  <a:pt x="723900" y="38100"/>
                </a:cubicBezTo>
                <a:lnTo>
                  <a:pt x="723900" y="152400"/>
                </a:lnTo>
                <a:cubicBezTo>
                  <a:pt x="723900" y="173428"/>
                  <a:pt x="706828" y="190500"/>
                  <a:pt x="685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2850" y="2635251"/>
            <a:ext cx="781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开源可部署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2150" y="2901951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社区/开源 | 私有化部署、定制SKILL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8800" y="3282951"/>
            <a:ext cx="5305425" cy="685800"/>
          </a:xfrm>
          <a:custGeom>
            <a:avLst/>
            <a:gdLst/>
            <a:ahLst/>
            <a:cxnLst/>
            <a:rect l="l" t="t" r="r" b="b"/>
            <a:pathLst>
              <a:path w="5305425" h="685800">
                <a:moveTo>
                  <a:pt x="38100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609601"/>
                </a:lnTo>
                <a:cubicBezTo>
                  <a:pt x="5305425" y="651684"/>
                  <a:pt x="5271309" y="685800"/>
                  <a:pt x="52292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58800" y="328295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692150" y="3397251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Codex CLI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51450" y="3397251"/>
            <a:ext cx="495300" cy="190500"/>
          </a:xfrm>
          <a:custGeom>
            <a:avLst/>
            <a:gdLst/>
            <a:ahLst/>
            <a:cxnLst/>
            <a:rect l="l" t="t" r="r" b="b"/>
            <a:pathLst>
              <a:path w="495300" h="190500">
                <a:moveTo>
                  <a:pt x="38100" y="0"/>
                </a:moveTo>
                <a:lnTo>
                  <a:pt x="457200" y="0"/>
                </a:lnTo>
                <a:cubicBezTo>
                  <a:pt x="478228" y="0"/>
                  <a:pt x="495300" y="17072"/>
                  <a:pt x="495300" y="38100"/>
                </a:cubicBezTo>
                <a:lnTo>
                  <a:pt x="495300" y="152400"/>
                </a:lnTo>
                <a:cubicBezTo>
                  <a:pt x="495300" y="173428"/>
                  <a:pt x="478228" y="190500"/>
                  <a:pt x="4572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1450" y="3397251"/>
            <a:ext cx="5524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轻量级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2150" y="3663951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 | 快速脚本、原型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8800" y="4044951"/>
            <a:ext cx="5305425" cy="685800"/>
          </a:xfrm>
          <a:custGeom>
            <a:avLst/>
            <a:gdLst/>
            <a:ahLst/>
            <a:cxnLst/>
            <a:rect l="l" t="t" r="r" b="b"/>
            <a:pathLst>
              <a:path w="5305425" h="685800">
                <a:moveTo>
                  <a:pt x="38100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609601"/>
                </a:lnTo>
                <a:cubicBezTo>
                  <a:pt x="5305425" y="651684"/>
                  <a:pt x="5271309" y="685800"/>
                  <a:pt x="52292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8800" y="404495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692150" y="4159251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Copilot CLI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2850" y="4159251"/>
            <a:ext cx="723900" cy="190500"/>
          </a:xfrm>
          <a:custGeom>
            <a:avLst/>
            <a:gdLst/>
            <a:ahLst/>
            <a:cxnLst/>
            <a:rect l="l" t="t" r="r" b="b"/>
            <a:pathLst>
              <a:path w="723900" h="190500">
                <a:moveTo>
                  <a:pt x="38100" y="0"/>
                </a:moveTo>
                <a:lnTo>
                  <a:pt x="685800" y="0"/>
                </a:lnTo>
                <a:cubicBezTo>
                  <a:pt x="706828" y="0"/>
                  <a:pt x="723900" y="17072"/>
                  <a:pt x="723900" y="38100"/>
                </a:cubicBezTo>
                <a:lnTo>
                  <a:pt x="723900" y="152400"/>
                </a:lnTo>
                <a:cubicBezTo>
                  <a:pt x="723900" y="173428"/>
                  <a:pt x="706828" y="190500"/>
                  <a:pt x="685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2850" y="4159251"/>
            <a:ext cx="781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命令行增强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2150" y="4425951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| Git工作流集成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5375" y="1222375"/>
            <a:ext cx="5635625" cy="3940175"/>
          </a:xfrm>
          <a:custGeom>
            <a:avLst/>
            <a:gdLst/>
            <a:ahLst/>
            <a:cxnLst/>
            <a:rect l="l" t="t" r="r" b="b"/>
            <a:pathLst>
              <a:path w="5635625" h="3940175">
                <a:moveTo>
                  <a:pt x="114304" y="0"/>
                </a:moveTo>
                <a:lnTo>
                  <a:pt x="5521321" y="0"/>
                </a:lnTo>
                <a:cubicBezTo>
                  <a:pt x="5584449" y="0"/>
                  <a:pt x="5635625" y="51176"/>
                  <a:pt x="5635625" y="114304"/>
                </a:cubicBezTo>
                <a:lnTo>
                  <a:pt x="5635625" y="3825871"/>
                </a:lnTo>
                <a:cubicBezTo>
                  <a:pt x="5635625" y="3888999"/>
                  <a:pt x="5584449" y="3940175"/>
                  <a:pt x="5521321" y="3940175"/>
                </a:cubicBezTo>
                <a:lnTo>
                  <a:pt x="114304" y="3940175"/>
                </a:lnTo>
                <a:cubicBezTo>
                  <a:pt x="51176" y="3940175"/>
                  <a:pt x="0" y="3888999"/>
                  <a:pt x="0" y="382587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6669" y="141605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23812" y="5321"/>
                  <a:pt x="18492" y="0"/>
                  <a:pt x="11906" y="0"/>
                </a:cubicBezTo>
                <a:cubicBezTo>
                  <a:pt x="5321" y="0"/>
                  <a:pt x="0" y="5321"/>
                  <a:pt x="0" y="11906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133350"/>
                </a:lnTo>
                <a:lnTo>
                  <a:pt x="47141" y="126355"/>
                </a:lnTo>
                <a:cubicBezTo>
                  <a:pt x="62731" y="121667"/>
                  <a:pt x="79549" y="123118"/>
                  <a:pt x="94097" y="130411"/>
                </a:cubicBezTo>
                <a:cubicBezTo>
                  <a:pt x="109984" y="138373"/>
                  <a:pt x="128513" y="139340"/>
                  <a:pt x="145145" y="133090"/>
                </a:cubicBezTo>
                <a:lnTo>
                  <a:pt x="158948" y="127918"/>
                </a:lnTo>
                <a:cubicBezTo>
                  <a:pt x="163599" y="126169"/>
                  <a:pt x="166688" y="121741"/>
                  <a:pt x="166688" y="116756"/>
                </a:cubicBezTo>
                <a:lnTo>
                  <a:pt x="166688" y="24594"/>
                </a:lnTo>
                <a:cubicBezTo>
                  <a:pt x="166688" y="16036"/>
                  <a:pt x="157683" y="10455"/>
                  <a:pt x="150019" y="14287"/>
                </a:cubicBezTo>
                <a:lnTo>
                  <a:pt x="145628" y="16483"/>
                </a:lnTo>
                <a:cubicBezTo>
                  <a:pt x="128922" y="24854"/>
                  <a:pt x="109240" y="24854"/>
                  <a:pt x="92497" y="16483"/>
                </a:cubicBezTo>
                <a:cubicBezTo>
                  <a:pt x="78953" y="9711"/>
                  <a:pt x="63364" y="8372"/>
                  <a:pt x="48890" y="12725"/>
                </a:cubicBezTo>
                <a:lnTo>
                  <a:pt x="23812" y="20241"/>
                </a:lnTo>
                <a:lnTo>
                  <a:pt x="23812" y="1190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2"/>
          <p:cNvSpPr/>
          <p:nvPr/>
        </p:nvSpPr>
        <p:spPr>
          <a:xfrm>
            <a:off x="6569075" y="1377951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国内主流工具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0000" y="1758951"/>
            <a:ext cx="5305425" cy="685800"/>
          </a:xfrm>
          <a:custGeom>
            <a:avLst/>
            <a:gdLst/>
            <a:ahLst/>
            <a:cxnLst/>
            <a:rect l="l" t="t" r="r" b="b"/>
            <a:pathLst>
              <a:path w="5305425" h="685800">
                <a:moveTo>
                  <a:pt x="38100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609601"/>
                </a:lnTo>
                <a:cubicBezTo>
                  <a:pt x="5305425" y="651684"/>
                  <a:pt x="5271309" y="685800"/>
                  <a:pt x="52292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350000" y="175895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6483350" y="1873251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CodeFuse CLI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042650" y="1873251"/>
            <a:ext cx="495300" cy="190500"/>
          </a:xfrm>
          <a:custGeom>
            <a:avLst/>
            <a:gdLst/>
            <a:ahLst/>
            <a:cxnLst/>
            <a:rect l="l" t="t" r="r" b="b"/>
            <a:pathLst>
              <a:path w="495300" h="190500">
                <a:moveTo>
                  <a:pt x="38100" y="0"/>
                </a:moveTo>
                <a:lnTo>
                  <a:pt x="457200" y="0"/>
                </a:lnTo>
                <a:cubicBezTo>
                  <a:pt x="478228" y="0"/>
                  <a:pt x="495300" y="17072"/>
                  <a:pt x="495300" y="38100"/>
                </a:cubicBezTo>
                <a:lnTo>
                  <a:pt x="495300" y="152400"/>
                </a:lnTo>
                <a:cubicBezTo>
                  <a:pt x="495300" y="173428"/>
                  <a:pt x="478228" y="190500"/>
                  <a:pt x="4572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042650" y="1873251"/>
            <a:ext cx="5524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83350" y="2139951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蚂蚁集团 | 金融场景适配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0000" y="2520951"/>
            <a:ext cx="5305425" cy="685800"/>
          </a:xfrm>
          <a:custGeom>
            <a:avLst/>
            <a:gdLst/>
            <a:ahLst/>
            <a:cxnLst/>
            <a:rect l="l" t="t" r="r" b="b"/>
            <a:pathLst>
              <a:path w="5305425" h="685800">
                <a:moveTo>
                  <a:pt x="38100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609601"/>
                </a:lnTo>
                <a:cubicBezTo>
                  <a:pt x="5305425" y="651684"/>
                  <a:pt x="5271309" y="685800"/>
                  <a:pt x="52292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50000" y="252095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3" name="Text 41"/>
          <p:cNvSpPr/>
          <p:nvPr/>
        </p:nvSpPr>
        <p:spPr>
          <a:xfrm>
            <a:off x="6483350" y="263525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文心快码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928350" y="2635251"/>
            <a:ext cx="609600" cy="190500"/>
          </a:xfrm>
          <a:custGeom>
            <a:avLst/>
            <a:gdLst/>
            <a:ahLst/>
            <a:cxnLst/>
            <a:rect l="l" t="t" r="r" b="b"/>
            <a:pathLst>
              <a:path w="609600" h="190500">
                <a:moveTo>
                  <a:pt x="38100" y="0"/>
                </a:moveTo>
                <a:lnTo>
                  <a:pt x="571500" y="0"/>
                </a:lnTo>
                <a:cubicBezTo>
                  <a:pt x="592528" y="0"/>
                  <a:pt x="609600" y="17072"/>
                  <a:pt x="609600" y="38100"/>
                </a:cubicBezTo>
                <a:lnTo>
                  <a:pt x="609600" y="152400"/>
                </a:lnTo>
                <a:cubicBezTo>
                  <a:pt x="609600" y="173428"/>
                  <a:pt x="592528" y="190500"/>
                  <a:pt x="5715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928350" y="2635251"/>
            <a:ext cx="6667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全栈智能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83350" y="2901951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百度 | 中文理解强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0000" y="3282951"/>
            <a:ext cx="5305425" cy="685800"/>
          </a:xfrm>
          <a:custGeom>
            <a:avLst/>
            <a:gdLst/>
            <a:ahLst/>
            <a:cxnLst/>
            <a:rect l="l" t="t" r="r" b="b"/>
            <a:pathLst>
              <a:path w="5305425" h="685800">
                <a:moveTo>
                  <a:pt x="38100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609601"/>
                </a:lnTo>
                <a:cubicBezTo>
                  <a:pt x="5305425" y="651684"/>
                  <a:pt x="5271309" y="685800"/>
                  <a:pt x="52292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50000" y="328295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9" name="Text 47"/>
          <p:cNvSpPr/>
          <p:nvPr/>
        </p:nvSpPr>
        <p:spPr>
          <a:xfrm>
            <a:off x="6483350" y="3397251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CodeGeeX CLI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042650" y="3397251"/>
            <a:ext cx="495300" cy="190500"/>
          </a:xfrm>
          <a:custGeom>
            <a:avLst/>
            <a:gdLst/>
            <a:ahLst/>
            <a:cxnLst/>
            <a:rect l="l" t="t" r="r" b="b"/>
            <a:pathLst>
              <a:path w="495300" h="190500">
                <a:moveTo>
                  <a:pt x="38100" y="0"/>
                </a:moveTo>
                <a:lnTo>
                  <a:pt x="457200" y="0"/>
                </a:lnTo>
                <a:cubicBezTo>
                  <a:pt x="478228" y="0"/>
                  <a:pt x="495300" y="17072"/>
                  <a:pt x="495300" y="38100"/>
                </a:cubicBezTo>
                <a:lnTo>
                  <a:pt x="495300" y="152400"/>
                </a:lnTo>
                <a:cubicBezTo>
                  <a:pt x="495300" y="173428"/>
                  <a:pt x="478228" y="190500"/>
                  <a:pt x="4572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1042650" y="3397251"/>
            <a:ext cx="5524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多语言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83350" y="3663951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智谱AI | 国产模型生态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0000" y="4044951"/>
            <a:ext cx="5305425" cy="685800"/>
          </a:xfrm>
          <a:custGeom>
            <a:avLst/>
            <a:gdLst/>
            <a:ahLst/>
            <a:cxnLst/>
            <a:rect l="l" t="t" r="r" b="b"/>
            <a:pathLst>
              <a:path w="5305425" h="685800">
                <a:moveTo>
                  <a:pt x="38100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609601"/>
                </a:lnTo>
                <a:cubicBezTo>
                  <a:pt x="5305425" y="651684"/>
                  <a:pt x="5271309" y="685800"/>
                  <a:pt x="52292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0000" y="404495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5" name="Text 53"/>
          <p:cNvSpPr/>
          <p:nvPr/>
        </p:nvSpPr>
        <p:spPr>
          <a:xfrm>
            <a:off x="6483350" y="4159251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华为云 CodeArts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814050" y="4159251"/>
            <a:ext cx="723900" cy="190500"/>
          </a:xfrm>
          <a:custGeom>
            <a:avLst/>
            <a:gdLst/>
            <a:ahLst/>
            <a:cxnLst/>
            <a:rect l="l" t="t" r="r" b="b"/>
            <a:pathLst>
              <a:path w="723900" h="190500">
                <a:moveTo>
                  <a:pt x="38100" y="0"/>
                </a:moveTo>
                <a:lnTo>
                  <a:pt x="685800" y="0"/>
                </a:lnTo>
                <a:cubicBezTo>
                  <a:pt x="706828" y="0"/>
                  <a:pt x="723900" y="17072"/>
                  <a:pt x="723900" y="38100"/>
                </a:cubicBezTo>
                <a:lnTo>
                  <a:pt x="723900" y="152400"/>
                </a:lnTo>
                <a:cubicBezTo>
                  <a:pt x="723900" y="173428"/>
                  <a:pt x="706828" y="190500"/>
                  <a:pt x="6858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814050" y="4159251"/>
            <a:ext cx="7810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全生命周期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83350" y="4425951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华为云 | DevOps集成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4175" y="5324476"/>
            <a:ext cx="5635625" cy="1149350"/>
          </a:xfrm>
          <a:custGeom>
            <a:avLst/>
            <a:gdLst/>
            <a:ahLst/>
            <a:cxnLst/>
            <a:rect l="l" t="t" r="r" b="b"/>
            <a:pathLst>
              <a:path w="5635625" h="1149350">
                <a:moveTo>
                  <a:pt x="114303" y="0"/>
                </a:moveTo>
                <a:lnTo>
                  <a:pt x="5521322" y="0"/>
                </a:lnTo>
                <a:cubicBezTo>
                  <a:pt x="5584450" y="0"/>
                  <a:pt x="5635625" y="51175"/>
                  <a:pt x="5635625" y="114303"/>
                </a:cubicBezTo>
                <a:lnTo>
                  <a:pt x="5635625" y="1035047"/>
                </a:lnTo>
                <a:cubicBezTo>
                  <a:pt x="5635625" y="1098175"/>
                  <a:pt x="5584450" y="1149350"/>
                  <a:pt x="5521322" y="1149350"/>
                </a:cubicBezTo>
                <a:lnTo>
                  <a:pt x="114303" y="1149350"/>
                </a:lnTo>
                <a:cubicBezTo>
                  <a:pt x="51175" y="1149350"/>
                  <a:pt x="0" y="1098175"/>
                  <a:pt x="0" y="10350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3563" y="552767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1" name="Text 59"/>
          <p:cNvSpPr/>
          <p:nvPr/>
        </p:nvSpPr>
        <p:spPr>
          <a:xfrm>
            <a:off x="758825" y="5480052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Code 核心能力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92138" y="5889627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3" name="Text 61"/>
          <p:cNvSpPr/>
          <p:nvPr/>
        </p:nvSpPr>
        <p:spPr>
          <a:xfrm>
            <a:off x="782638" y="5861052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200k+上下文窗口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290888" y="5889627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5" name="Text 63"/>
          <p:cNvSpPr/>
          <p:nvPr/>
        </p:nvSpPr>
        <p:spPr>
          <a:xfrm>
            <a:off x="3481388" y="5861052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MCP工具调用协议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92138" y="6156327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7" name="Text 65"/>
          <p:cNvSpPr/>
          <p:nvPr/>
        </p:nvSpPr>
        <p:spPr>
          <a:xfrm>
            <a:off x="782638" y="6127752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Artifacts实时预览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90888" y="6156327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9" name="Text 67"/>
          <p:cNvSpPr/>
          <p:nvPr/>
        </p:nvSpPr>
        <p:spPr>
          <a:xfrm>
            <a:off x="3481388" y="6127752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内置安全扫描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75375" y="5324476"/>
            <a:ext cx="5635625" cy="1149350"/>
          </a:xfrm>
          <a:custGeom>
            <a:avLst/>
            <a:gdLst/>
            <a:ahLst/>
            <a:cxnLst/>
            <a:rect l="l" t="t" r="r" b="b"/>
            <a:pathLst>
              <a:path w="5635625" h="1149350">
                <a:moveTo>
                  <a:pt x="114303" y="0"/>
                </a:moveTo>
                <a:lnTo>
                  <a:pt x="5521322" y="0"/>
                </a:lnTo>
                <a:cubicBezTo>
                  <a:pt x="5584450" y="0"/>
                  <a:pt x="5635625" y="51175"/>
                  <a:pt x="5635625" y="114303"/>
                </a:cubicBezTo>
                <a:lnTo>
                  <a:pt x="5635625" y="1035047"/>
                </a:lnTo>
                <a:cubicBezTo>
                  <a:pt x="5635625" y="1098175"/>
                  <a:pt x="5584450" y="1149350"/>
                  <a:pt x="5521322" y="1149350"/>
                </a:cubicBezTo>
                <a:lnTo>
                  <a:pt x="114303" y="1149350"/>
                </a:lnTo>
                <a:cubicBezTo>
                  <a:pt x="51175" y="1149350"/>
                  <a:pt x="0" y="1098175"/>
                  <a:pt x="0" y="10350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54763" y="552767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2" name="Text 70"/>
          <p:cNvSpPr/>
          <p:nvPr/>
        </p:nvSpPr>
        <p:spPr>
          <a:xfrm>
            <a:off x="6550025" y="5480052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OpenCode 核心能力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83338" y="5889627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4" name="Text 72"/>
          <p:cNvSpPr/>
          <p:nvPr/>
        </p:nvSpPr>
        <p:spPr>
          <a:xfrm>
            <a:off x="6573838" y="5861052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多Agent编排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082088" y="5889627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6" name="Text 74"/>
          <p:cNvSpPr/>
          <p:nvPr/>
        </p:nvSpPr>
        <p:spPr>
          <a:xfrm>
            <a:off x="9272588" y="5861052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多模型后端切换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383338" y="6156327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8" name="Text 76"/>
          <p:cNvSpPr/>
          <p:nvPr/>
        </p:nvSpPr>
        <p:spPr>
          <a:xfrm>
            <a:off x="6573838" y="6127752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Skill系统沉淀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082088" y="6156327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0" name="Text 78"/>
          <p:cNvSpPr/>
          <p:nvPr/>
        </p:nvSpPr>
        <p:spPr>
          <a:xfrm>
            <a:off x="9272588" y="6127752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开源可部署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4714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典型案例：数据库密码管理系统开发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49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 PASSWORD MANAGER - AI-DRIVEN DEVELOPMENT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146" y="1018646"/>
            <a:ext cx="7657042" cy="2711979"/>
          </a:xfrm>
          <a:custGeom>
            <a:avLst/>
            <a:gdLst/>
            <a:ahLst/>
            <a:cxnLst/>
            <a:rect l="l" t="t" r="r" b="b"/>
            <a:pathLst>
              <a:path w="7657042" h="2711979">
                <a:moveTo>
                  <a:pt x="95245" y="0"/>
                </a:moveTo>
                <a:lnTo>
                  <a:pt x="7561797" y="0"/>
                </a:lnTo>
                <a:cubicBezTo>
                  <a:pt x="7614399" y="0"/>
                  <a:pt x="7657042" y="42643"/>
                  <a:pt x="7657042" y="95245"/>
                </a:cubicBezTo>
                <a:lnTo>
                  <a:pt x="7657042" y="2616734"/>
                </a:lnTo>
                <a:cubicBezTo>
                  <a:pt x="7657042" y="2669337"/>
                  <a:pt x="7614399" y="2711979"/>
                  <a:pt x="7561797" y="2711979"/>
                </a:cubicBezTo>
                <a:lnTo>
                  <a:pt x="95245" y="2711979"/>
                </a:lnTo>
                <a:cubicBezTo>
                  <a:pt x="42643" y="2711979"/>
                  <a:pt x="0" y="2669337"/>
                  <a:pt x="0" y="2616734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1385" y="121179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679979" y="1180042"/>
            <a:ext cx="7215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项目背景与核心特性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1542" y="1529292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1542" y="1783292"/>
            <a:ext cx="3667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SM4国密算法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的数据库密码管理系统，提供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7种核心集成模式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，覆盖主流Java技术栈。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12167" y="1529292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12167" y="1783292"/>
            <a:ext cx="3667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确保生产环境数据库密码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不在代码库和配置文件中明文出现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，全程加密保护。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8" y="2325690"/>
            <a:ext cx="1759479" cy="679979"/>
          </a:xfrm>
          <a:custGeom>
            <a:avLst/>
            <a:gdLst/>
            <a:ahLst/>
            <a:cxnLst/>
            <a:rect l="l" t="t" r="r" b="b"/>
            <a:pathLst>
              <a:path w="1759479" h="679979">
                <a:moveTo>
                  <a:pt x="63503" y="0"/>
                </a:moveTo>
                <a:lnTo>
                  <a:pt x="1695976" y="0"/>
                </a:lnTo>
                <a:cubicBezTo>
                  <a:pt x="1731048" y="0"/>
                  <a:pt x="1759479" y="28431"/>
                  <a:pt x="1759479" y="63503"/>
                </a:cubicBezTo>
                <a:lnTo>
                  <a:pt x="1759479" y="616476"/>
                </a:lnTo>
                <a:cubicBezTo>
                  <a:pt x="1759479" y="651548"/>
                  <a:pt x="1731048" y="679979"/>
                  <a:pt x="1695976" y="679979"/>
                </a:cubicBezTo>
                <a:lnTo>
                  <a:pt x="63503" y="679979"/>
                </a:lnTo>
                <a:cubicBezTo>
                  <a:pt x="28431" y="679979"/>
                  <a:pt x="0" y="651548"/>
                  <a:pt x="0" y="616476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3229" y="242358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554302" y="2619375"/>
            <a:ext cx="161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SM4-GCM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8271" y="2778125"/>
            <a:ext cx="1611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认证加密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41563" y="2325690"/>
            <a:ext cx="1759479" cy="679979"/>
          </a:xfrm>
          <a:custGeom>
            <a:avLst/>
            <a:gdLst/>
            <a:ahLst/>
            <a:cxnLst/>
            <a:rect l="l" t="t" r="r" b="b"/>
            <a:pathLst>
              <a:path w="1759479" h="679979">
                <a:moveTo>
                  <a:pt x="63503" y="0"/>
                </a:moveTo>
                <a:lnTo>
                  <a:pt x="1695976" y="0"/>
                </a:lnTo>
                <a:cubicBezTo>
                  <a:pt x="1731048" y="0"/>
                  <a:pt x="1759479" y="28431"/>
                  <a:pt x="1759479" y="63503"/>
                </a:cubicBezTo>
                <a:lnTo>
                  <a:pt x="1759479" y="616476"/>
                </a:lnTo>
                <a:cubicBezTo>
                  <a:pt x="1759479" y="651548"/>
                  <a:pt x="1731048" y="679979"/>
                  <a:pt x="1695976" y="679979"/>
                </a:cubicBezTo>
                <a:lnTo>
                  <a:pt x="63503" y="679979"/>
                </a:lnTo>
                <a:cubicBezTo>
                  <a:pt x="28431" y="679979"/>
                  <a:pt x="0" y="651548"/>
                  <a:pt x="0" y="616476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40604" y="242358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8057" y="-403"/>
                </a:moveTo>
                <a:cubicBezTo>
                  <a:pt x="82693" y="-3504"/>
                  <a:pt x="76057" y="-3504"/>
                  <a:pt x="70693" y="-403"/>
                </a:cubicBezTo>
                <a:lnTo>
                  <a:pt x="44586" y="14666"/>
                </a:lnTo>
                <a:cubicBezTo>
                  <a:pt x="39222" y="17766"/>
                  <a:pt x="35905" y="23502"/>
                  <a:pt x="35905" y="29704"/>
                </a:cubicBezTo>
                <a:lnTo>
                  <a:pt x="35905" y="61299"/>
                </a:lnTo>
                <a:lnTo>
                  <a:pt x="8527" y="77112"/>
                </a:lnTo>
                <a:cubicBezTo>
                  <a:pt x="3163" y="80212"/>
                  <a:pt x="-155" y="85948"/>
                  <a:pt x="-155" y="92149"/>
                </a:cubicBezTo>
                <a:lnTo>
                  <a:pt x="-155" y="122318"/>
                </a:lnTo>
                <a:cubicBezTo>
                  <a:pt x="-155" y="128519"/>
                  <a:pt x="3163" y="134255"/>
                  <a:pt x="8527" y="137356"/>
                </a:cubicBezTo>
                <a:lnTo>
                  <a:pt x="34665" y="152425"/>
                </a:lnTo>
                <a:cubicBezTo>
                  <a:pt x="40029" y="155525"/>
                  <a:pt x="46664" y="155525"/>
                  <a:pt x="52028" y="152425"/>
                </a:cubicBezTo>
                <a:lnTo>
                  <a:pt x="79406" y="136612"/>
                </a:lnTo>
                <a:lnTo>
                  <a:pt x="106784" y="152425"/>
                </a:lnTo>
                <a:cubicBezTo>
                  <a:pt x="112148" y="155525"/>
                  <a:pt x="118783" y="155525"/>
                  <a:pt x="124147" y="152425"/>
                </a:cubicBezTo>
                <a:lnTo>
                  <a:pt x="150223" y="137356"/>
                </a:lnTo>
                <a:cubicBezTo>
                  <a:pt x="155587" y="134255"/>
                  <a:pt x="158905" y="128519"/>
                  <a:pt x="158905" y="122318"/>
                </a:cubicBezTo>
                <a:lnTo>
                  <a:pt x="158905" y="92149"/>
                </a:lnTo>
                <a:cubicBezTo>
                  <a:pt x="158905" y="85948"/>
                  <a:pt x="155587" y="80212"/>
                  <a:pt x="150223" y="77112"/>
                </a:cubicBezTo>
                <a:lnTo>
                  <a:pt x="122845" y="61299"/>
                </a:lnTo>
                <a:lnTo>
                  <a:pt x="122845" y="29704"/>
                </a:lnTo>
                <a:cubicBezTo>
                  <a:pt x="122845" y="23502"/>
                  <a:pt x="119528" y="17766"/>
                  <a:pt x="114164" y="14666"/>
                </a:cubicBezTo>
                <a:lnTo>
                  <a:pt x="88057" y="-403"/>
                </a:lnTo>
                <a:close/>
                <a:moveTo>
                  <a:pt x="71934" y="90723"/>
                </a:moveTo>
                <a:lnTo>
                  <a:pt x="71934" y="123744"/>
                </a:lnTo>
                <a:lnTo>
                  <a:pt x="44555" y="139557"/>
                </a:lnTo>
                <a:cubicBezTo>
                  <a:pt x="44183" y="139774"/>
                  <a:pt x="43749" y="139898"/>
                  <a:pt x="43315" y="139898"/>
                </a:cubicBezTo>
                <a:lnTo>
                  <a:pt x="43315" y="107249"/>
                </a:lnTo>
                <a:lnTo>
                  <a:pt x="71934" y="90723"/>
                </a:lnTo>
                <a:close/>
                <a:moveTo>
                  <a:pt x="143681" y="90909"/>
                </a:moveTo>
                <a:cubicBezTo>
                  <a:pt x="143898" y="91281"/>
                  <a:pt x="144022" y="91715"/>
                  <a:pt x="144022" y="92149"/>
                </a:cubicBezTo>
                <a:lnTo>
                  <a:pt x="144022" y="122318"/>
                </a:lnTo>
                <a:cubicBezTo>
                  <a:pt x="144022" y="123217"/>
                  <a:pt x="143557" y="124023"/>
                  <a:pt x="142782" y="124458"/>
                </a:cubicBezTo>
                <a:lnTo>
                  <a:pt x="116644" y="139526"/>
                </a:lnTo>
                <a:cubicBezTo>
                  <a:pt x="116272" y="139743"/>
                  <a:pt x="115838" y="139867"/>
                  <a:pt x="115404" y="139867"/>
                </a:cubicBezTo>
                <a:lnTo>
                  <a:pt x="115404" y="107218"/>
                </a:lnTo>
                <a:lnTo>
                  <a:pt x="143681" y="90909"/>
                </a:lnTo>
                <a:close/>
                <a:moveTo>
                  <a:pt x="107993" y="29704"/>
                </a:moveTo>
                <a:lnTo>
                  <a:pt x="107993" y="61299"/>
                </a:lnTo>
                <a:lnTo>
                  <a:pt x="79375" y="77825"/>
                </a:lnTo>
                <a:lnTo>
                  <a:pt x="79375" y="44803"/>
                </a:lnTo>
                <a:lnTo>
                  <a:pt x="107652" y="28494"/>
                </a:lnTo>
                <a:cubicBezTo>
                  <a:pt x="107869" y="28866"/>
                  <a:pt x="107993" y="29301"/>
                  <a:pt x="107993" y="2973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2411677" y="2619375"/>
            <a:ext cx="161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7种模式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15646" y="2778125"/>
            <a:ext cx="1611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集成方案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98938" y="2325690"/>
            <a:ext cx="1759479" cy="679979"/>
          </a:xfrm>
          <a:custGeom>
            <a:avLst/>
            <a:gdLst/>
            <a:ahLst/>
            <a:cxnLst/>
            <a:rect l="l" t="t" r="r" b="b"/>
            <a:pathLst>
              <a:path w="1759479" h="679979">
                <a:moveTo>
                  <a:pt x="63503" y="0"/>
                </a:moveTo>
                <a:lnTo>
                  <a:pt x="1695976" y="0"/>
                </a:lnTo>
                <a:cubicBezTo>
                  <a:pt x="1731048" y="0"/>
                  <a:pt x="1759479" y="28431"/>
                  <a:pt x="1759479" y="63503"/>
                </a:cubicBezTo>
                <a:lnTo>
                  <a:pt x="1759479" y="616476"/>
                </a:lnTo>
                <a:cubicBezTo>
                  <a:pt x="1759479" y="651548"/>
                  <a:pt x="1731048" y="679979"/>
                  <a:pt x="1695976" y="679979"/>
                </a:cubicBezTo>
                <a:lnTo>
                  <a:pt x="63503" y="679979"/>
                </a:lnTo>
                <a:cubicBezTo>
                  <a:pt x="28431" y="679979"/>
                  <a:pt x="0" y="651548"/>
                  <a:pt x="0" y="616476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8057" y="242358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2712" y="-7720"/>
                </a:moveTo>
                <a:cubicBezTo>
                  <a:pt x="9798" y="-10635"/>
                  <a:pt x="5085" y="-10635"/>
                  <a:pt x="2201" y="-7720"/>
                </a:cubicBezTo>
                <a:cubicBezTo>
                  <a:pt x="-682" y="-4806"/>
                  <a:pt x="-713" y="-93"/>
                  <a:pt x="2170" y="2822"/>
                </a:cubicBezTo>
                <a:lnTo>
                  <a:pt x="165881" y="166532"/>
                </a:lnTo>
                <a:cubicBezTo>
                  <a:pt x="168796" y="169447"/>
                  <a:pt x="173509" y="169447"/>
                  <a:pt x="176392" y="166532"/>
                </a:cubicBezTo>
                <a:cubicBezTo>
                  <a:pt x="179276" y="163618"/>
                  <a:pt x="179307" y="158905"/>
                  <a:pt x="176392" y="156021"/>
                </a:cubicBezTo>
                <a:lnTo>
                  <a:pt x="146503" y="126132"/>
                </a:lnTo>
                <a:cubicBezTo>
                  <a:pt x="147340" y="125388"/>
                  <a:pt x="148177" y="124644"/>
                  <a:pt x="148983" y="123899"/>
                </a:cubicBezTo>
                <a:cubicBezTo>
                  <a:pt x="163494" y="110412"/>
                  <a:pt x="173199" y="94320"/>
                  <a:pt x="177819" y="83251"/>
                </a:cubicBezTo>
                <a:cubicBezTo>
                  <a:pt x="178842" y="80801"/>
                  <a:pt x="178842" y="78073"/>
                  <a:pt x="177819" y="75623"/>
                </a:cubicBezTo>
                <a:cubicBezTo>
                  <a:pt x="173199" y="64554"/>
                  <a:pt x="163494" y="48431"/>
                  <a:pt x="148983" y="34975"/>
                </a:cubicBezTo>
                <a:cubicBezTo>
                  <a:pt x="134379" y="21425"/>
                  <a:pt x="114319" y="9984"/>
                  <a:pt x="89266" y="9984"/>
                </a:cubicBezTo>
                <a:cubicBezTo>
                  <a:pt x="71655" y="9984"/>
                  <a:pt x="56524" y="15627"/>
                  <a:pt x="43997" y="23688"/>
                </a:cubicBezTo>
                <a:lnTo>
                  <a:pt x="12712" y="-7720"/>
                </a:lnTo>
                <a:close/>
                <a:moveTo>
                  <a:pt x="63407" y="43005"/>
                </a:moveTo>
                <a:cubicBezTo>
                  <a:pt x="70693" y="37796"/>
                  <a:pt x="79654" y="34727"/>
                  <a:pt x="89297" y="34727"/>
                </a:cubicBezTo>
                <a:cubicBezTo>
                  <a:pt x="113947" y="34727"/>
                  <a:pt x="133945" y="54725"/>
                  <a:pt x="133945" y="79375"/>
                </a:cubicBezTo>
                <a:cubicBezTo>
                  <a:pt x="133945" y="89018"/>
                  <a:pt x="130876" y="97948"/>
                  <a:pt x="125667" y="105265"/>
                </a:cubicBezTo>
                <a:lnTo>
                  <a:pt x="114908" y="94506"/>
                </a:lnTo>
                <a:cubicBezTo>
                  <a:pt x="118845" y="87871"/>
                  <a:pt x="120179" y="79716"/>
                  <a:pt x="118039" y="71655"/>
                </a:cubicBezTo>
                <a:cubicBezTo>
                  <a:pt x="113792" y="55780"/>
                  <a:pt x="97451" y="46354"/>
                  <a:pt x="81576" y="50602"/>
                </a:cubicBezTo>
                <a:cubicBezTo>
                  <a:pt x="78910" y="51315"/>
                  <a:pt x="76398" y="52369"/>
                  <a:pt x="74135" y="53702"/>
                </a:cubicBezTo>
                <a:lnTo>
                  <a:pt x="63376" y="42943"/>
                </a:lnTo>
                <a:close/>
                <a:moveTo>
                  <a:pt x="100862" y="122504"/>
                </a:moveTo>
                <a:cubicBezTo>
                  <a:pt x="97172" y="123496"/>
                  <a:pt x="93297" y="124023"/>
                  <a:pt x="89297" y="124023"/>
                </a:cubicBezTo>
                <a:cubicBezTo>
                  <a:pt x="64647" y="124023"/>
                  <a:pt x="44648" y="104025"/>
                  <a:pt x="44648" y="79375"/>
                </a:cubicBezTo>
                <a:cubicBezTo>
                  <a:pt x="44648" y="75375"/>
                  <a:pt x="45176" y="71500"/>
                  <a:pt x="46168" y="67810"/>
                </a:cubicBezTo>
                <a:lnTo>
                  <a:pt x="21518" y="43160"/>
                </a:lnTo>
                <a:cubicBezTo>
                  <a:pt x="11410" y="54570"/>
                  <a:pt x="4465" y="66663"/>
                  <a:pt x="775" y="75561"/>
                </a:cubicBezTo>
                <a:cubicBezTo>
                  <a:pt x="-248" y="78011"/>
                  <a:pt x="-248" y="80739"/>
                  <a:pt x="775" y="83189"/>
                </a:cubicBezTo>
                <a:cubicBezTo>
                  <a:pt x="5395" y="94258"/>
                  <a:pt x="15100" y="110381"/>
                  <a:pt x="29611" y="123837"/>
                </a:cubicBezTo>
                <a:cubicBezTo>
                  <a:pt x="44214" y="137387"/>
                  <a:pt x="64275" y="148828"/>
                  <a:pt x="89328" y="148828"/>
                </a:cubicBezTo>
                <a:cubicBezTo>
                  <a:pt x="100893" y="148828"/>
                  <a:pt x="111404" y="146379"/>
                  <a:pt x="120799" y="142441"/>
                </a:cubicBezTo>
                <a:lnTo>
                  <a:pt x="100893" y="12253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4269052" y="2619375"/>
            <a:ext cx="161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无感知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73021" y="2778125"/>
            <a:ext cx="1611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应用集成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56313" y="2325690"/>
            <a:ext cx="1759479" cy="679979"/>
          </a:xfrm>
          <a:custGeom>
            <a:avLst/>
            <a:gdLst/>
            <a:ahLst/>
            <a:cxnLst/>
            <a:rect l="l" t="t" r="r" b="b"/>
            <a:pathLst>
              <a:path w="1759479" h="679979">
                <a:moveTo>
                  <a:pt x="63503" y="0"/>
                </a:moveTo>
                <a:lnTo>
                  <a:pt x="1695976" y="0"/>
                </a:lnTo>
                <a:cubicBezTo>
                  <a:pt x="1731048" y="0"/>
                  <a:pt x="1759479" y="28431"/>
                  <a:pt x="1759479" y="63503"/>
                </a:cubicBezTo>
                <a:lnTo>
                  <a:pt x="1759479" y="616476"/>
                </a:lnTo>
                <a:cubicBezTo>
                  <a:pt x="1759479" y="651548"/>
                  <a:pt x="1731048" y="679979"/>
                  <a:pt x="1695976" y="679979"/>
                </a:cubicBezTo>
                <a:lnTo>
                  <a:pt x="63503" y="679979"/>
                </a:lnTo>
                <a:cubicBezTo>
                  <a:pt x="28431" y="679979"/>
                  <a:pt x="0" y="651548"/>
                  <a:pt x="0" y="616476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45432" y="242358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27" y="2619375"/>
            <a:ext cx="161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零代码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30396" y="2778125"/>
            <a:ext cx="1611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快速集成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9479" y="1018646"/>
            <a:ext cx="3759729" cy="2711979"/>
          </a:xfrm>
          <a:custGeom>
            <a:avLst/>
            <a:gdLst/>
            <a:ahLst/>
            <a:cxnLst/>
            <a:rect l="l" t="t" r="r" b="b"/>
            <a:pathLst>
              <a:path w="3759729" h="2711979">
                <a:moveTo>
                  <a:pt x="95245" y="0"/>
                </a:moveTo>
                <a:lnTo>
                  <a:pt x="3664484" y="0"/>
                </a:lnTo>
                <a:cubicBezTo>
                  <a:pt x="3717087" y="0"/>
                  <a:pt x="3759729" y="42643"/>
                  <a:pt x="3759729" y="95245"/>
                </a:cubicBezTo>
                <a:lnTo>
                  <a:pt x="3759729" y="2616734"/>
                </a:lnTo>
                <a:cubicBezTo>
                  <a:pt x="3759729" y="2669337"/>
                  <a:pt x="3717087" y="2711979"/>
                  <a:pt x="3664484" y="2711979"/>
                </a:cubicBezTo>
                <a:lnTo>
                  <a:pt x="95245" y="2711979"/>
                </a:lnTo>
                <a:cubicBezTo>
                  <a:pt x="42643" y="2711979"/>
                  <a:pt x="0" y="2669337"/>
                  <a:pt x="0" y="2616734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90719" y="121179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8469313" y="1180042"/>
            <a:ext cx="331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开发成果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70875" y="1529292"/>
            <a:ext cx="3436938" cy="698500"/>
          </a:xfrm>
          <a:custGeom>
            <a:avLst/>
            <a:gdLst/>
            <a:ahLst/>
            <a:cxnLst/>
            <a:rect l="l" t="t" r="r" b="b"/>
            <a:pathLst>
              <a:path w="3436938" h="698500">
                <a:moveTo>
                  <a:pt x="63501" y="0"/>
                </a:moveTo>
                <a:lnTo>
                  <a:pt x="3373437" y="0"/>
                </a:lnTo>
                <a:cubicBezTo>
                  <a:pt x="3408507" y="0"/>
                  <a:pt x="3436938" y="28430"/>
                  <a:pt x="3436938" y="63501"/>
                </a:cubicBezTo>
                <a:lnTo>
                  <a:pt x="3436938" y="634999"/>
                </a:lnTo>
                <a:cubicBezTo>
                  <a:pt x="3436938" y="670070"/>
                  <a:pt x="3408507" y="698500"/>
                  <a:pt x="3373437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94688" y="1624542"/>
            <a:ext cx="3389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1人12天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38344" y="197379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实际投入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70875" y="2323044"/>
            <a:ext cx="3436938" cy="698500"/>
          </a:xfrm>
          <a:custGeom>
            <a:avLst/>
            <a:gdLst/>
            <a:ahLst/>
            <a:cxnLst/>
            <a:rect l="l" t="t" r="r" b="b"/>
            <a:pathLst>
              <a:path w="3436938" h="698500">
                <a:moveTo>
                  <a:pt x="63501" y="0"/>
                </a:moveTo>
                <a:lnTo>
                  <a:pt x="3373437" y="0"/>
                </a:lnTo>
                <a:cubicBezTo>
                  <a:pt x="3408507" y="0"/>
                  <a:pt x="3436938" y="28430"/>
                  <a:pt x="3436938" y="63501"/>
                </a:cubicBezTo>
                <a:lnTo>
                  <a:pt x="3436938" y="634999"/>
                </a:lnTo>
                <a:cubicBezTo>
                  <a:pt x="3436938" y="670070"/>
                  <a:pt x="3408507" y="698500"/>
                  <a:pt x="3373437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94688" y="2418294"/>
            <a:ext cx="3389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2人月+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38344" y="2767544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传统预估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73521" y="3119440"/>
            <a:ext cx="3434292" cy="449792"/>
          </a:xfrm>
          <a:custGeom>
            <a:avLst/>
            <a:gdLst/>
            <a:ahLst/>
            <a:cxnLst/>
            <a:rect l="l" t="t" r="r" b="b"/>
            <a:pathLst>
              <a:path w="3434292" h="449792">
                <a:moveTo>
                  <a:pt x="63502" y="0"/>
                </a:moveTo>
                <a:lnTo>
                  <a:pt x="3370790" y="0"/>
                </a:lnTo>
                <a:cubicBezTo>
                  <a:pt x="3405861" y="0"/>
                  <a:pt x="3434292" y="28431"/>
                  <a:pt x="3434292" y="63502"/>
                </a:cubicBezTo>
                <a:lnTo>
                  <a:pt x="3434292" y="386290"/>
                </a:lnTo>
                <a:cubicBezTo>
                  <a:pt x="3434292" y="421361"/>
                  <a:pt x="3405861" y="449792"/>
                  <a:pt x="3370790" y="449792"/>
                </a:cubicBezTo>
                <a:lnTo>
                  <a:pt x="63502" y="449792"/>
                </a:lnTo>
                <a:cubicBezTo>
                  <a:pt x="28431" y="449792"/>
                  <a:pt x="0" y="421361"/>
                  <a:pt x="0" y="386290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95189" y="3302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8538105" y="3217335"/>
            <a:ext cx="3103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效率提升 </a:t>
            </a:r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5倍+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0146" y="3865565"/>
            <a:ext cx="5712354" cy="3315229"/>
          </a:xfrm>
          <a:custGeom>
            <a:avLst/>
            <a:gdLst/>
            <a:ahLst/>
            <a:cxnLst/>
            <a:rect l="l" t="t" r="r" b="b"/>
            <a:pathLst>
              <a:path w="5712354" h="3315229">
                <a:moveTo>
                  <a:pt x="95247" y="0"/>
                </a:moveTo>
                <a:lnTo>
                  <a:pt x="5617108" y="0"/>
                </a:lnTo>
                <a:cubicBezTo>
                  <a:pt x="5669711" y="0"/>
                  <a:pt x="5712354" y="42643"/>
                  <a:pt x="5712354" y="95247"/>
                </a:cubicBezTo>
                <a:lnTo>
                  <a:pt x="5712354" y="3219983"/>
                </a:lnTo>
                <a:cubicBezTo>
                  <a:pt x="5712354" y="3272586"/>
                  <a:pt x="5669711" y="3315229"/>
                  <a:pt x="5617108" y="3315229"/>
                </a:cubicBezTo>
                <a:lnTo>
                  <a:pt x="95247" y="3315229"/>
                </a:lnTo>
                <a:cubicBezTo>
                  <a:pt x="42643" y="3315229"/>
                  <a:pt x="0" y="3272586"/>
                  <a:pt x="0" y="321998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1385" y="405871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679979" y="402696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项目结构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9479" y="4376210"/>
            <a:ext cx="5381625" cy="285750"/>
          </a:xfrm>
          <a:custGeom>
            <a:avLst/>
            <a:gdLst/>
            <a:ahLst/>
            <a:cxnLst/>
            <a:rect l="l" t="t" r="r" b="b"/>
            <a:pathLst>
              <a:path w="5381625" h="285750">
                <a:moveTo>
                  <a:pt x="15875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254000"/>
                </a:lnTo>
                <a:cubicBezTo>
                  <a:pt x="5381625" y="271535"/>
                  <a:pt x="5367410" y="285750"/>
                  <a:pt x="5349875" y="285750"/>
                </a:cubicBez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479" y="4376210"/>
            <a:ext cx="15875" cy="285750"/>
          </a:xfrm>
          <a:custGeom>
            <a:avLst/>
            <a:gdLst/>
            <a:ahLst/>
            <a:cxnLst/>
            <a:rect l="l" t="t" r="r" b="b"/>
            <a:pathLst>
              <a:path w="15875" h="285750">
                <a:moveTo>
                  <a:pt x="15875" y="0"/>
                </a:moveTo>
                <a:lnTo>
                  <a:pt x="15875" y="0"/>
                </a:lnTo>
                <a:lnTo>
                  <a:pt x="15875" y="285750"/>
                </a:ln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5" name="Shape 43"/>
          <p:cNvSpPr/>
          <p:nvPr/>
        </p:nvSpPr>
        <p:spPr>
          <a:xfrm>
            <a:off x="576792" y="446352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97234"/>
                </a:moveTo>
                <a:lnTo>
                  <a:pt x="97234" y="97234"/>
                </a:lnTo>
                <a:cubicBezTo>
                  <a:pt x="104896" y="97234"/>
                  <a:pt x="111125" y="91005"/>
                  <a:pt x="111125" y="83344"/>
                </a:cubicBezTo>
                <a:lnTo>
                  <a:pt x="111125" y="31254"/>
                </a:lnTo>
                <a:cubicBezTo>
                  <a:pt x="111125" y="23592"/>
                  <a:pt x="104896" y="17363"/>
                  <a:pt x="97234" y="17363"/>
                </a:cubicBezTo>
                <a:lnTo>
                  <a:pt x="64830" y="17363"/>
                </a:lnTo>
                <a:cubicBezTo>
                  <a:pt x="63333" y="17363"/>
                  <a:pt x="61857" y="16886"/>
                  <a:pt x="60663" y="15974"/>
                </a:cubicBezTo>
                <a:lnTo>
                  <a:pt x="52329" y="9723"/>
                </a:lnTo>
                <a:cubicBezTo>
                  <a:pt x="49919" y="7922"/>
                  <a:pt x="46989" y="6945"/>
                  <a:pt x="43994" y="6945"/>
                </a:cubicBezTo>
                <a:lnTo>
                  <a:pt x="13891" y="6945"/>
                </a:lnTo>
                <a:cubicBezTo>
                  <a:pt x="6229" y="6945"/>
                  <a:pt x="0" y="13174"/>
                  <a:pt x="0" y="20836"/>
                </a:cubicBezTo>
                <a:lnTo>
                  <a:pt x="0" y="83344"/>
                </a:lnTo>
                <a:cubicBezTo>
                  <a:pt x="0" y="91005"/>
                  <a:pt x="6229" y="97234"/>
                  <a:pt x="13891" y="9723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4"/>
          <p:cNvSpPr/>
          <p:nvPr/>
        </p:nvSpPr>
        <p:spPr>
          <a:xfrm>
            <a:off x="763323" y="4439710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db-pwd-core/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548639" y="4439710"/>
            <a:ext cx="61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核心加解密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9479" y="4725460"/>
            <a:ext cx="5381625" cy="285750"/>
          </a:xfrm>
          <a:custGeom>
            <a:avLst/>
            <a:gdLst/>
            <a:ahLst/>
            <a:cxnLst/>
            <a:rect l="l" t="t" r="r" b="b"/>
            <a:pathLst>
              <a:path w="5381625" h="285750">
                <a:moveTo>
                  <a:pt x="15875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254000"/>
                </a:lnTo>
                <a:cubicBezTo>
                  <a:pt x="5381625" y="271535"/>
                  <a:pt x="5367410" y="285750"/>
                  <a:pt x="5349875" y="285750"/>
                </a:cubicBez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89479" y="4725460"/>
            <a:ext cx="15875" cy="285750"/>
          </a:xfrm>
          <a:custGeom>
            <a:avLst/>
            <a:gdLst/>
            <a:ahLst/>
            <a:cxnLst/>
            <a:rect l="l" t="t" r="r" b="b"/>
            <a:pathLst>
              <a:path w="15875" h="285750">
                <a:moveTo>
                  <a:pt x="15875" y="0"/>
                </a:moveTo>
                <a:lnTo>
                  <a:pt x="15875" y="0"/>
                </a:lnTo>
                <a:lnTo>
                  <a:pt x="15875" y="285750"/>
                </a:ln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0" name="Shape 48"/>
          <p:cNvSpPr/>
          <p:nvPr/>
        </p:nvSpPr>
        <p:spPr>
          <a:xfrm>
            <a:off x="576792" y="481277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97234"/>
                </a:moveTo>
                <a:lnTo>
                  <a:pt x="97234" y="97234"/>
                </a:lnTo>
                <a:cubicBezTo>
                  <a:pt x="104896" y="97234"/>
                  <a:pt x="111125" y="91005"/>
                  <a:pt x="111125" y="83344"/>
                </a:cubicBezTo>
                <a:lnTo>
                  <a:pt x="111125" y="31254"/>
                </a:lnTo>
                <a:cubicBezTo>
                  <a:pt x="111125" y="23592"/>
                  <a:pt x="104896" y="17363"/>
                  <a:pt x="97234" y="17363"/>
                </a:cubicBezTo>
                <a:lnTo>
                  <a:pt x="64830" y="17363"/>
                </a:lnTo>
                <a:cubicBezTo>
                  <a:pt x="63333" y="17363"/>
                  <a:pt x="61857" y="16886"/>
                  <a:pt x="60663" y="15974"/>
                </a:cubicBezTo>
                <a:lnTo>
                  <a:pt x="52329" y="9723"/>
                </a:lnTo>
                <a:cubicBezTo>
                  <a:pt x="49919" y="7922"/>
                  <a:pt x="46989" y="6945"/>
                  <a:pt x="43994" y="6945"/>
                </a:cubicBezTo>
                <a:lnTo>
                  <a:pt x="13891" y="6945"/>
                </a:lnTo>
                <a:cubicBezTo>
                  <a:pt x="6229" y="6945"/>
                  <a:pt x="0" y="13174"/>
                  <a:pt x="0" y="20836"/>
                </a:cubicBezTo>
                <a:lnTo>
                  <a:pt x="0" y="83344"/>
                </a:lnTo>
                <a:cubicBezTo>
                  <a:pt x="0" y="91005"/>
                  <a:pt x="6229" y="97234"/>
                  <a:pt x="13891" y="9723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1" name="Text 49"/>
          <p:cNvSpPr/>
          <p:nvPr/>
        </p:nvSpPr>
        <p:spPr>
          <a:xfrm>
            <a:off x="763323" y="4788960"/>
            <a:ext cx="81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db-pwd-druid/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87665" y="4788960"/>
            <a:ext cx="55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Druid集成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9479" y="5074710"/>
            <a:ext cx="5381625" cy="285750"/>
          </a:xfrm>
          <a:custGeom>
            <a:avLst/>
            <a:gdLst/>
            <a:ahLst/>
            <a:cxnLst/>
            <a:rect l="l" t="t" r="r" b="b"/>
            <a:pathLst>
              <a:path w="5381625" h="285750">
                <a:moveTo>
                  <a:pt x="15875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254000"/>
                </a:lnTo>
                <a:cubicBezTo>
                  <a:pt x="5381625" y="271535"/>
                  <a:pt x="5367410" y="285750"/>
                  <a:pt x="5349875" y="285750"/>
                </a:cubicBez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89479" y="5074710"/>
            <a:ext cx="15875" cy="285750"/>
          </a:xfrm>
          <a:custGeom>
            <a:avLst/>
            <a:gdLst/>
            <a:ahLst/>
            <a:cxnLst/>
            <a:rect l="l" t="t" r="r" b="b"/>
            <a:pathLst>
              <a:path w="15875" h="285750">
                <a:moveTo>
                  <a:pt x="15875" y="0"/>
                </a:moveTo>
                <a:lnTo>
                  <a:pt x="15875" y="0"/>
                </a:lnTo>
                <a:lnTo>
                  <a:pt x="15875" y="285750"/>
                </a:ln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5" name="Shape 53"/>
          <p:cNvSpPr/>
          <p:nvPr/>
        </p:nvSpPr>
        <p:spPr>
          <a:xfrm>
            <a:off x="576792" y="516202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97234"/>
                </a:moveTo>
                <a:lnTo>
                  <a:pt x="97234" y="97234"/>
                </a:lnTo>
                <a:cubicBezTo>
                  <a:pt x="104896" y="97234"/>
                  <a:pt x="111125" y="91005"/>
                  <a:pt x="111125" y="83344"/>
                </a:cubicBezTo>
                <a:lnTo>
                  <a:pt x="111125" y="31254"/>
                </a:lnTo>
                <a:cubicBezTo>
                  <a:pt x="111125" y="23592"/>
                  <a:pt x="104896" y="17363"/>
                  <a:pt x="97234" y="17363"/>
                </a:cubicBezTo>
                <a:lnTo>
                  <a:pt x="64830" y="17363"/>
                </a:lnTo>
                <a:cubicBezTo>
                  <a:pt x="63333" y="17363"/>
                  <a:pt x="61857" y="16886"/>
                  <a:pt x="60663" y="15974"/>
                </a:cubicBezTo>
                <a:lnTo>
                  <a:pt x="52329" y="9723"/>
                </a:lnTo>
                <a:cubicBezTo>
                  <a:pt x="49919" y="7922"/>
                  <a:pt x="46989" y="6945"/>
                  <a:pt x="43994" y="6945"/>
                </a:cubicBezTo>
                <a:lnTo>
                  <a:pt x="13891" y="6945"/>
                </a:lnTo>
                <a:cubicBezTo>
                  <a:pt x="6229" y="6945"/>
                  <a:pt x="0" y="13174"/>
                  <a:pt x="0" y="20836"/>
                </a:cubicBezTo>
                <a:lnTo>
                  <a:pt x="0" y="83344"/>
                </a:lnTo>
                <a:cubicBezTo>
                  <a:pt x="0" y="91005"/>
                  <a:pt x="6229" y="97234"/>
                  <a:pt x="13891" y="9723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6" name="Text 54"/>
          <p:cNvSpPr/>
          <p:nvPr/>
        </p:nvSpPr>
        <p:spPr>
          <a:xfrm>
            <a:off x="763323" y="5138210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db-pwd-spring-boot-starter/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306340" y="5138210"/>
            <a:ext cx="658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89479" y="5423960"/>
            <a:ext cx="5381625" cy="285750"/>
          </a:xfrm>
          <a:custGeom>
            <a:avLst/>
            <a:gdLst/>
            <a:ahLst/>
            <a:cxnLst/>
            <a:rect l="l" t="t" r="r" b="b"/>
            <a:pathLst>
              <a:path w="5381625" h="285750">
                <a:moveTo>
                  <a:pt x="15875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254000"/>
                </a:lnTo>
                <a:cubicBezTo>
                  <a:pt x="5381625" y="271535"/>
                  <a:pt x="5367410" y="285750"/>
                  <a:pt x="5349875" y="285750"/>
                </a:cubicBez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89479" y="5423960"/>
            <a:ext cx="15875" cy="285750"/>
          </a:xfrm>
          <a:custGeom>
            <a:avLst/>
            <a:gdLst/>
            <a:ahLst/>
            <a:cxnLst/>
            <a:rect l="l" t="t" r="r" b="b"/>
            <a:pathLst>
              <a:path w="15875" h="285750">
                <a:moveTo>
                  <a:pt x="15875" y="0"/>
                </a:moveTo>
                <a:lnTo>
                  <a:pt x="15875" y="0"/>
                </a:lnTo>
                <a:lnTo>
                  <a:pt x="15875" y="285750"/>
                </a:ln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0" name="Shape 58"/>
          <p:cNvSpPr/>
          <p:nvPr/>
        </p:nvSpPr>
        <p:spPr>
          <a:xfrm>
            <a:off x="576792" y="551127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97234"/>
                </a:moveTo>
                <a:lnTo>
                  <a:pt x="97234" y="97234"/>
                </a:lnTo>
                <a:cubicBezTo>
                  <a:pt x="104896" y="97234"/>
                  <a:pt x="111125" y="91005"/>
                  <a:pt x="111125" y="83344"/>
                </a:cubicBezTo>
                <a:lnTo>
                  <a:pt x="111125" y="31254"/>
                </a:lnTo>
                <a:cubicBezTo>
                  <a:pt x="111125" y="23592"/>
                  <a:pt x="104896" y="17363"/>
                  <a:pt x="97234" y="17363"/>
                </a:cubicBezTo>
                <a:lnTo>
                  <a:pt x="64830" y="17363"/>
                </a:lnTo>
                <a:cubicBezTo>
                  <a:pt x="63333" y="17363"/>
                  <a:pt x="61857" y="16886"/>
                  <a:pt x="60663" y="15974"/>
                </a:cubicBezTo>
                <a:lnTo>
                  <a:pt x="52329" y="9723"/>
                </a:lnTo>
                <a:cubicBezTo>
                  <a:pt x="49919" y="7922"/>
                  <a:pt x="46989" y="6945"/>
                  <a:pt x="43994" y="6945"/>
                </a:cubicBezTo>
                <a:lnTo>
                  <a:pt x="13891" y="6945"/>
                </a:lnTo>
                <a:cubicBezTo>
                  <a:pt x="6229" y="6945"/>
                  <a:pt x="0" y="13174"/>
                  <a:pt x="0" y="20836"/>
                </a:cubicBezTo>
                <a:lnTo>
                  <a:pt x="0" y="83344"/>
                </a:lnTo>
                <a:cubicBezTo>
                  <a:pt x="0" y="91005"/>
                  <a:pt x="6229" y="97234"/>
                  <a:pt x="13891" y="9723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1" name="Text 59"/>
          <p:cNvSpPr/>
          <p:nvPr/>
        </p:nvSpPr>
        <p:spPr>
          <a:xfrm>
            <a:off x="763323" y="5487460"/>
            <a:ext cx="952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db-pwd-mybatis/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720536" y="5487460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MyBatis集成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89479" y="5773210"/>
            <a:ext cx="5381625" cy="285750"/>
          </a:xfrm>
          <a:custGeom>
            <a:avLst/>
            <a:gdLst/>
            <a:ahLst/>
            <a:cxnLst/>
            <a:rect l="l" t="t" r="r" b="b"/>
            <a:pathLst>
              <a:path w="5381625" h="285750">
                <a:moveTo>
                  <a:pt x="15875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254000"/>
                </a:lnTo>
                <a:cubicBezTo>
                  <a:pt x="5381625" y="271535"/>
                  <a:pt x="5367410" y="285750"/>
                  <a:pt x="5349875" y="285750"/>
                </a:cubicBez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89479" y="5773210"/>
            <a:ext cx="15875" cy="285750"/>
          </a:xfrm>
          <a:custGeom>
            <a:avLst/>
            <a:gdLst/>
            <a:ahLst/>
            <a:cxnLst/>
            <a:rect l="l" t="t" r="r" b="b"/>
            <a:pathLst>
              <a:path w="15875" h="285750">
                <a:moveTo>
                  <a:pt x="15875" y="0"/>
                </a:moveTo>
                <a:lnTo>
                  <a:pt x="15875" y="0"/>
                </a:lnTo>
                <a:lnTo>
                  <a:pt x="15875" y="285750"/>
                </a:lnTo>
                <a:lnTo>
                  <a:pt x="15875" y="285750"/>
                </a:lnTo>
                <a:cubicBezTo>
                  <a:pt x="7113" y="285750"/>
                  <a:pt x="0" y="278637"/>
                  <a:pt x="0" y="269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5" name="Shape 63"/>
          <p:cNvSpPr/>
          <p:nvPr/>
        </p:nvSpPr>
        <p:spPr>
          <a:xfrm>
            <a:off x="576792" y="586052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97234"/>
                </a:moveTo>
                <a:lnTo>
                  <a:pt x="97234" y="97234"/>
                </a:lnTo>
                <a:cubicBezTo>
                  <a:pt x="104896" y="97234"/>
                  <a:pt x="111125" y="91005"/>
                  <a:pt x="111125" y="83344"/>
                </a:cubicBezTo>
                <a:lnTo>
                  <a:pt x="111125" y="31254"/>
                </a:lnTo>
                <a:cubicBezTo>
                  <a:pt x="111125" y="23592"/>
                  <a:pt x="104896" y="17363"/>
                  <a:pt x="97234" y="17363"/>
                </a:cubicBezTo>
                <a:lnTo>
                  <a:pt x="64830" y="17363"/>
                </a:lnTo>
                <a:cubicBezTo>
                  <a:pt x="63333" y="17363"/>
                  <a:pt x="61857" y="16886"/>
                  <a:pt x="60663" y="15974"/>
                </a:cubicBezTo>
                <a:lnTo>
                  <a:pt x="52329" y="9723"/>
                </a:lnTo>
                <a:cubicBezTo>
                  <a:pt x="49919" y="7922"/>
                  <a:pt x="46989" y="6945"/>
                  <a:pt x="43994" y="6945"/>
                </a:cubicBezTo>
                <a:lnTo>
                  <a:pt x="13891" y="6945"/>
                </a:lnTo>
                <a:cubicBezTo>
                  <a:pt x="6229" y="6945"/>
                  <a:pt x="0" y="13174"/>
                  <a:pt x="0" y="20836"/>
                </a:cubicBezTo>
                <a:lnTo>
                  <a:pt x="0" y="83344"/>
                </a:lnTo>
                <a:cubicBezTo>
                  <a:pt x="0" y="91005"/>
                  <a:pt x="6229" y="97234"/>
                  <a:pt x="13891" y="9723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6" name="Text 64"/>
          <p:cNvSpPr/>
          <p:nvPr/>
        </p:nvSpPr>
        <p:spPr>
          <a:xfrm>
            <a:off x="763323" y="5836710"/>
            <a:ext cx="44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demos/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212619" y="5836710"/>
            <a:ext cx="82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Demo应用(9个)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84188" y="6156855"/>
            <a:ext cx="5378979" cy="354542"/>
          </a:xfrm>
          <a:custGeom>
            <a:avLst/>
            <a:gdLst/>
            <a:ahLst/>
            <a:cxnLst/>
            <a:rect l="l" t="t" r="r" b="b"/>
            <a:pathLst>
              <a:path w="5378979" h="354542">
                <a:moveTo>
                  <a:pt x="63498" y="0"/>
                </a:moveTo>
                <a:lnTo>
                  <a:pt x="5315481" y="0"/>
                </a:lnTo>
                <a:cubicBezTo>
                  <a:pt x="5350550" y="0"/>
                  <a:pt x="5378979" y="28429"/>
                  <a:pt x="5378979" y="63498"/>
                </a:cubicBezTo>
                <a:lnTo>
                  <a:pt x="5378979" y="291043"/>
                </a:lnTo>
                <a:cubicBezTo>
                  <a:pt x="5378979" y="326112"/>
                  <a:pt x="5350550" y="354542"/>
                  <a:pt x="5315481" y="354542"/>
                </a:cubicBezTo>
                <a:lnTo>
                  <a:pt x="63498" y="354542"/>
                </a:lnTo>
                <a:cubicBezTo>
                  <a:pt x="28429" y="354542"/>
                  <a:pt x="0" y="326112"/>
                  <a:pt x="0" y="291043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7958" y="627591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0" name="Text 68"/>
          <p:cNvSpPr/>
          <p:nvPr/>
        </p:nvSpPr>
        <p:spPr>
          <a:xfrm>
            <a:off x="764646" y="6254750"/>
            <a:ext cx="505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全流程AI生成：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架构设计、核心代码、集成模块、Demo应用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62146" y="3865565"/>
            <a:ext cx="5712354" cy="3315229"/>
          </a:xfrm>
          <a:custGeom>
            <a:avLst/>
            <a:gdLst/>
            <a:ahLst/>
            <a:cxnLst/>
            <a:rect l="l" t="t" r="r" b="b"/>
            <a:pathLst>
              <a:path w="5712354" h="3315229">
                <a:moveTo>
                  <a:pt x="95247" y="0"/>
                </a:moveTo>
                <a:lnTo>
                  <a:pt x="5617108" y="0"/>
                </a:lnTo>
                <a:cubicBezTo>
                  <a:pt x="5669711" y="0"/>
                  <a:pt x="5712354" y="42643"/>
                  <a:pt x="5712354" y="95247"/>
                </a:cubicBezTo>
                <a:lnTo>
                  <a:pt x="5712354" y="3219983"/>
                </a:lnTo>
                <a:cubicBezTo>
                  <a:pt x="5712354" y="3272586"/>
                  <a:pt x="5669711" y="3315229"/>
                  <a:pt x="5617108" y="3315229"/>
                </a:cubicBezTo>
                <a:lnTo>
                  <a:pt x="95247" y="3315229"/>
                </a:lnTo>
                <a:cubicBezTo>
                  <a:pt x="42643" y="3315229"/>
                  <a:pt x="0" y="3272586"/>
                  <a:pt x="0" y="321998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43386" y="405871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2324"/>
                </a:moveTo>
                <a:cubicBezTo>
                  <a:pt x="0" y="18231"/>
                  <a:pt x="3318" y="14883"/>
                  <a:pt x="7441" y="14883"/>
                </a:cubicBezTo>
                <a:lnTo>
                  <a:pt x="22324" y="14883"/>
                </a:lnTo>
                <a:cubicBezTo>
                  <a:pt x="26448" y="14883"/>
                  <a:pt x="29766" y="18200"/>
                  <a:pt x="29766" y="22324"/>
                </a:cubicBezTo>
                <a:lnTo>
                  <a:pt x="29766" y="54570"/>
                </a:lnTo>
                <a:lnTo>
                  <a:pt x="37207" y="54570"/>
                </a:lnTo>
                <a:cubicBezTo>
                  <a:pt x="41331" y="54570"/>
                  <a:pt x="44648" y="57888"/>
                  <a:pt x="44648" y="62012"/>
                </a:cubicBezTo>
                <a:cubicBezTo>
                  <a:pt x="44648" y="66135"/>
                  <a:pt x="41331" y="69453"/>
                  <a:pt x="37207" y="69453"/>
                </a:cubicBezTo>
                <a:lnTo>
                  <a:pt x="7441" y="69453"/>
                </a:lnTo>
                <a:cubicBezTo>
                  <a:pt x="3318" y="69453"/>
                  <a:pt x="0" y="66135"/>
                  <a:pt x="0" y="62012"/>
                </a:cubicBezTo>
                <a:cubicBezTo>
                  <a:pt x="0" y="57888"/>
                  <a:pt x="3318" y="54570"/>
                  <a:pt x="7441" y="54570"/>
                </a:cubicBezTo>
                <a:lnTo>
                  <a:pt x="14883" y="54570"/>
                </a:lnTo>
                <a:lnTo>
                  <a:pt x="14883" y="29766"/>
                </a:lnTo>
                <a:lnTo>
                  <a:pt x="7441" y="29766"/>
                </a:lnTo>
                <a:cubicBezTo>
                  <a:pt x="3318" y="29766"/>
                  <a:pt x="0" y="26448"/>
                  <a:pt x="0" y="22324"/>
                </a:cubicBezTo>
                <a:close/>
                <a:moveTo>
                  <a:pt x="9426" y="93390"/>
                </a:moveTo>
                <a:cubicBezTo>
                  <a:pt x="12960" y="90723"/>
                  <a:pt x="17270" y="89297"/>
                  <a:pt x="21704" y="89297"/>
                </a:cubicBezTo>
                <a:lnTo>
                  <a:pt x="23223" y="89297"/>
                </a:lnTo>
                <a:cubicBezTo>
                  <a:pt x="33672" y="89297"/>
                  <a:pt x="42168" y="97792"/>
                  <a:pt x="42168" y="108241"/>
                </a:cubicBezTo>
                <a:cubicBezTo>
                  <a:pt x="42168" y="114319"/>
                  <a:pt x="39253" y="119993"/>
                  <a:pt x="34354" y="123558"/>
                </a:cubicBezTo>
                <a:lnTo>
                  <a:pt x="26913" y="128984"/>
                </a:lnTo>
                <a:lnTo>
                  <a:pt x="37207" y="128984"/>
                </a:lnTo>
                <a:cubicBezTo>
                  <a:pt x="41331" y="128984"/>
                  <a:pt x="44648" y="132302"/>
                  <a:pt x="44648" y="136426"/>
                </a:cubicBezTo>
                <a:cubicBezTo>
                  <a:pt x="44648" y="140550"/>
                  <a:pt x="41331" y="143867"/>
                  <a:pt x="37207" y="143867"/>
                </a:cubicBezTo>
                <a:lnTo>
                  <a:pt x="9085" y="143867"/>
                </a:lnTo>
                <a:cubicBezTo>
                  <a:pt x="4062" y="143867"/>
                  <a:pt x="0" y="139805"/>
                  <a:pt x="0" y="134782"/>
                </a:cubicBezTo>
                <a:cubicBezTo>
                  <a:pt x="0" y="131868"/>
                  <a:pt x="1395" y="129139"/>
                  <a:pt x="3752" y="127434"/>
                </a:cubicBezTo>
                <a:lnTo>
                  <a:pt x="25611" y="111528"/>
                </a:lnTo>
                <a:cubicBezTo>
                  <a:pt x="26665" y="110753"/>
                  <a:pt x="27285" y="109544"/>
                  <a:pt x="27285" y="108241"/>
                </a:cubicBezTo>
                <a:cubicBezTo>
                  <a:pt x="27285" y="106009"/>
                  <a:pt x="25456" y="104180"/>
                  <a:pt x="23223" y="104180"/>
                </a:cubicBezTo>
                <a:lnTo>
                  <a:pt x="21704" y="104180"/>
                </a:lnTo>
                <a:cubicBezTo>
                  <a:pt x="20495" y="104180"/>
                  <a:pt x="19317" y="104583"/>
                  <a:pt x="18355" y="105296"/>
                </a:cubicBezTo>
                <a:lnTo>
                  <a:pt x="11906" y="110133"/>
                </a:lnTo>
                <a:cubicBezTo>
                  <a:pt x="8620" y="112613"/>
                  <a:pt x="3969" y="111931"/>
                  <a:pt x="1488" y="108645"/>
                </a:cubicBezTo>
                <a:cubicBezTo>
                  <a:pt x="-992" y="105358"/>
                  <a:pt x="-310" y="100707"/>
                  <a:pt x="2977" y="98227"/>
                </a:cubicBezTo>
                <a:lnTo>
                  <a:pt x="9426" y="93390"/>
                </a:lnTo>
                <a:close/>
                <a:moveTo>
                  <a:pt x="69453" y="19844"/>
                </a:move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69453" y="39688"/>
                </a:lnTo>
                <a:cubicBezTo>
                  <a:pt x="63965" y="39688"/>
                  <a:pt x="59531" y="35254"/>
                  <a:pt x="59531" y="29766"/>
                </a:cubicBezTo>
                <a:cubicBezTo>
                  <a:pt x="59531" y="24278"/>
                  <a:pt x="63965" y="19844"/>
                  <a:pt x="69453" y="19844"/>
                </a:cubicBezTo>
                <a:close/>
                <a:moveTo>
                  <a:pt x="69453" y="69453"/>
                </a:move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69453" y="89297"/>
                </a:lnTo>
                <a:cubicBezTo>
                  <a:pt x="63965" y="89297"/>
                  <a:pt x="59531" y="84863"/>
                  <a:pt x="59531" y="79375"/>
                </a:cubicBezTo>
                <a:cubicBezTo>
                  <a:pt x="59531" y="73887"/>
                  <a:pt x="63965" y="69453"/>
                  <a:pt x="69453" y="69453"/>
                </a:cubicBezTo>
                <a:close/>
                <a:moveTo>
                  <a:pt x="69453" y="119062"/>
                </a:move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69453" y="138906"/>
                </a:lnTo>
                <a:cubicBezTo>
                  <a:pt x="63965" y="138906"/>
                  <a:pt x="59531" y="134472"/>
                  <a:pt x="59531" y="128984"/>
                </a:cubicBezTo>
                <a:cubicBezTo>
                  <a:pt x="59531" y="123496"/>
                  <a:pt x="63965" y="119062"/>
                  <a:pt x="69453" y="11906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3" name="Text 71"/>
          <p:cNvSpPr/>
          <p:nvPr/>
        </p:nvSpPr>
        <p:spPr>
          <a:xfrm>
            <a:off x="6521979" y="402696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7种集成模式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26188" y="4378855"/>
            <a:ext cx="2656417" cy="608542"/>
          </a:xfrm>
          <a:custGeom>
            <a:avLst/>
            <a:gdLst/>
            <a:ahLst/>
            <a:cxnLst/>
            <a:rect l="l" t="t" r="r" b="b"/>
            <a:pathLst>
              <a:path w="2656417" h="608542">
                <a:moveTo>
                  <a:pt x="31748" y="0"/>
                </a:moveTo>
                <a:lnTo>
                  <a:pt x="2624669" y="0"/>
                </a:lnTo>
                <a:cubicBezTo>
                  <a:pt x="2642203" y="0"/>
                  <a:pt x="2656417" y="14214"/>
                  <a:pt x="2656417" y="31748"/>
                </a:cubicBezTo>
                <a:lnTo>
                  <a:pt x="2656417" y="576794"/>
                </a:lnTo>
                <a:cubicBezTo>
                  <a:pt x="2656417" y="594328"/>
                  <a:pt x="2642203" y="608542"/>
                  <a:pt x="2624669" y="608542"/>
                </a:cubicBezTo>
                <a:lnTo>
                  <a:pt x="31748" y="608542"/>
                </a:lnTo>
                <a:cubicBezTo>
                  <a:pt x="14214" y="608542"/>
                  <a:pt x="0" y="594328"/>
                  <a:pt x="0" y="576794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64552" y="4445000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方案1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368521" y="4603750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Druid连接池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378650" y="4773085"/>
            <a:ext cx="55140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自动解密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051396" y="4378855"/>
            <a:ext cx="2656417" cy="608542"/>
          </a:xfrm>
          <a:custGeom>
            <a:avLst/>
            <a:gdLst/>
            <a:ahLst/>
            <a:cxnLst/>
            <a:rect l="l" t="t" r="r" b="b"/>
            <a:pathLst>
              <a:path w="2656417" h="608542">
                <a:moveTo>
                  <a:pt x="31748" y="0"/>
                </a:moveTo>
                <a:lnTo>
                  <a:pt x="2624669" y="0"/>
                </a:lnTo>
                <a:cubicBezTo>
                  <a:pt x="2642203" y="0"/>
                  <a:pt x="2656417" y="14214"/>
                  <a:pt x="2656417" y="31748"/>
                </a:cubicBezTo>
                <a:lnTo>
                  <a:pt x="2656417" y="576794"/>
                </a:lnTo>
                <a:cubicBezTo>
                  <a:pt x="2656417" y="594328"/>
                  <a:pt x="2642203" y="608542"/>
                  <a:pt x="2624669" y="608542"/>
                </a:cubicBezTo>
                <a:lnTo>
                  <a:pt x="31748" y="608542"/>
                </a:lnTo>
                <a:cubicBezTo>
                  <a:pt x="14214" y="608542"/>
                  <a:pt x="0" y="594328"/>
                  <a:pt x="0" y="576794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89761" y="4445000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方案2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093730" y="4603750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103859" y="4773085"/>
            <a:ext cx="55140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自动解密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26188" y="5056190"/>
            <a:ext cx="2656417" cy="608542"/>
          </a:xfrm>
          <a:custGeom>
            <a:avLst/>
            <a:gdLst/>
            <a:ahLst/>
            <a:cxnLst/>
            <a:rect l="l" t="t" r="r" b="b"/>
            <a:pathLst>
              <a:path w="2656417" h="608542">
                <a:moveTo>
                  <a:pt x="31748" y="0"/>
                </a:moveTo>
                <a:lnTo>
                  <a:pt x="2624669" y="0"/>
                </a:lnTo>
                <a:cubicBezTo>
                  <a:pt x="2642203" y="0"/>
                  <a:pt x="2656417" y="14214"/>
                  <a:pt x="2656417" y="31748"/>
                </a:cubicBezTo>
                <a:lnTo>
                  <a:pt x="2656417" y="576794"/>
                </a:lnTo>
                <a:cubicBezTo>
                  <a:pt x="2656417" y="594328"/>
                  <a:pt x="2642203" y="608542"/>
                  <a:pt x="2624669" y="608542"/>
                </a:cubicBezTo>
                <a:lnTo>
                  <a:pt x="31748" y="608542"/>
                </a:lnTo>
                <a:cubicBezTo>
                  <a:pt x="14214" y="608542"/>
                  <a:pt x="0" y="594328"/>
                  <a:pt x="0" y="576794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64552" y="5122335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方案3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68521" y="5281085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传统Spring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378650" y="5450419"/>
            <a:ext cx="55140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自动解密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051396" y="5056190"/>
            <a:ext cx="2656417" cy="608542"/>
          </a:xfrm>
          <a:custGeom>
            <a:avLst/>
            <a:gdLst/>
            <a:ahLst/>
            <a:cxnLst/>
            <a:rect l="l" t="t" r="r" b="b"/>
            <a:pathLst>
              <a:path w="2656417" h="608542">
                <a:moveTo>
                  <a:pt x="31748" y="0"/>
                </a:moveTo>
                <a:lnTo>
                  <a:pt x="2624669" y="0"/>
                </a:lnTo>
                <a:cubicBezTo>
                  <a:pt x="2642203" y="0"/>
                  <a:pt x="2656417" y="14214"/>
                  <a:pt x="2656417" y="31748"/>
                </a:cubicBezTo>
                <a:lnTo>
                  <a:pt x="2656417" y="576794"/>
                </a:lnTo>
                <a:cubicBezTo>
                  <a:pt x="2656417" y="594328"/>
                  <a:pt x="2642203" y="608542"/>
                  <a:pt x="2624669" y="608542"/>
                </a:cubicBezTo>
                <a:lnTo>
                  <a:pt x="31748" y="608542"/>
                </a:lnTo>
                <a:cubicBezTo>
                  <a:pt x="14214" y="608542"/>
                  <a:pt x="0" y="594328"/>
                  <a:pt x="0" y="576794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89761" y="5122335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方案4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093730" y="5281085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MyBatis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0103859" y="5450419"/>
            <a:ext cx="55140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自动解密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326188" y="5733521"/>
            <a:ext cx="2656417" cy="608542"/>
          </a:xfrm>
          <a:custGeom>
            <a:avLst/>
            <a:gdLst/>
            <a:ahLst/>
            <a:cxnLst/>
            <a:rect l="l" t="t" r="r" b="b"/>
            <a:pathLst>
              <a:path w="2656417" h="608542">
                <a:moveTo>
                  <a:pt x="31748" y="0"/>
                </a:moveTo>
                <a:lnTo>
                  <a:pt x="2624669" y="0"/>
                </a:lnTo>
                <a:cubicBezTo>
                  <a:pt x="2642203" y="0"/>
                  <a:pt x="2656417" y="14214"/>
                  <a:pt x="2656417" y="31748"/>
                </a:cubicBezTo>
                <a:lnTo>
                  <a:pt x="2656417" y="576794"/>
                </a:lnTo>
                <a:cubicBezTo>
                  <a:pt x="2656417" y="594328"/>
                  <a:pt x="2642203" y="608542"/>
                  <a:pt x="2624669" y="608542"/>
                </a:cubicBezTo>
                <a:lnTo>
                  <a:pt x="31748" y="608542"/>
                </a:lnTo>
                <a:cubicBezTo>
                  <a:pt x="14214" y="608542"/>
                  <a:pt x="0" y="594328"/>
                  <a:pt x="0" y="576794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64552" y="5799669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方案5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368521" y="5958419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纯JDBC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482665" y="6127750"/>
            <a:ext cx="34346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手动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9051396" y="5733521"/>
            <a:ext cx="2656417" cy="608542"/>
          </a:xfrm>
          <a:custGeom>
            <a:avLst/>
            <a:gdLst/>
            <a:ahLst/>
            <a:cxnLst/>
            <a:rect l="l" t="t" r="r" b="b"/>
            <a:pathLst>
              <a:path w="2656417" h="608542">
                <a:moveTo>
                  <a:pt x="31748" y="0"/>
                </a:moveTo>
                <a:lnTo>
                  <a:pt x="2624669" y="0"/>
                </a:lnTo>
                <a:cubicBezTo>
                  <a:pt x="2642203" y="0"/>
                  <a:pt x="2656417" y="14214"/>
                  <a:pt x="2656417" y="31748"/>
                </a:cubicBezTo>
                <a:lnTo>
                  <a:pt x="2656417" y="576794"/>
                </a:lnTo>
                <a:cubicBezTo>
                  <a:pt x="2656417" y="594328"/>
                  <a:pt x="2642203" y="608542"/>
                  <a:pt x="2624669" y="608542"/>
                </a:cubicBezTo>
                <a:lnTo>
                  <a:pt x="31748" y="608542"/>
                </a:lnTo>
                <a:cubicBezTo>
                  <a:pt x="14214" y="608542"/>
                  <a:pt x="0" y="594328"/>
                  <a:pt x="0" y="576794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089761" y="5799669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方案6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9093730" y="5958419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Servlet/Web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10103859" y="6127750"/>
            <a:ext cx="55140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自动解密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6326188" y="6410855"/>
            <a:ext cx="5378979" cy="608542"/>
          </a:xfrm>
          <a:custGeom>
            <a:avLst/>
            <a:gdLst/>
            <a:ahLst/>
            <a:cxnLst/>
            <a:rect l="l" t="t" r="r" b="b"/>
            <a:pathLst>
              <a:path w="5378979" h="608542">
                <a:moveTo>
                  <a:pt x="31748" y="0"/>
                </a:moveTo>
                <a:lnTo>
                  <a:pt x="5347232" y="0"/>
                </a:lnTo>
                <a:cubicBezTo>
                  <a:pt x="5364765" y="0"/>
                  <a:pt x="5378979" y="14214"/>
                  <a:pt x="5378979" y="31748"/>
                </a:cubicBezTo>
                <a:lnTo>
                  <a:pt x="5378979" y="576794"/>
                </a:lnTo>
                <a:cubicBezTo>
                  <a:pt x="5378979" y="594328"/>
                  <a:pt x="5364765" y="608542"/>
                  <a:pt x="5347232" y="608542"/>
                </a:cubicBezTo>
                <a:lnTo>
                  <a:pt x="31748" y="608542"/>
                </a:lnTo>
                <a:cubicBezTo>
                  <a:pt x="14214" y="608542"/>
                  <a:pt x="0" y="594328"/>
                  <a:pt x="0" y="576794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64552" y="6477000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方案7：零代码集成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6368521" y="6635750"/>
            <a:ext cx="529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通过ServletContext共享DataSource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8741255" y="6805085"/>
            <a:ext cx="55140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完全自动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346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SKILL驱动技术改造方法论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49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MANUAL TO AUTOMATION - SKILL-DRIVEN TRANSFORMATION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146" y="1018646"/>
            <a:ext cx="5712354" cy="2997729"/>
          </a:xfrm>
          <a:custGeom>
            <a:avLst/>
            <a:gdLst/>
            <a:ahLst/>
            <a:cxnLst/>
            <a:rect l="l" t="t" r="r" b="b"/>
            <a:pathLst>
              <a:path w="5712354" h="2997729">
                <a:moveTo>
                  <a:pt x="95238" y="0"/>
                </a:moveTo>
                <a:lnTo>
                  <a:pt x="5617116" y="0"/>
                </a:lnTo>
                <a:cubicBezTo>
                  <a:pt x="5669715" y="0"/>
                  <a:pt x="5712354" y="42639"/>
                  <a:pt x="5712354" y="95238"/>
                </a:cubicBezTo>
                <a:lnTo>
                  <a:pt x="5712354" y="2902491"/>
                </a:lnTo>
                <a:cubicBezTo>
                  <a:pt x="5712354" y="2955090"/>
                  <a:pt x="5669715" y="2997729"/>
                  <a:pt x="5617116" y="2997729"/>
                </a:cubicBezTo>
                <a:lnTo>
                  <a:pt x="95238" y="2997729"/>
                </a:lnTo>
                <a:cubicBezTo>
                  <a:pt x="42639" y="2997729"/>
                  <a:pt x="0" y="2955090"/>
                  <a:pt x="0" y="2902491"/>
                </a:cubicBezTo>
                <a:lnTo>
                  <a:pt x="0" y="95238"/>
                </a:lnTo>
                <a:cubicBezTo>
                  <a:pt x="0" y="42675"/>
                  <a:pt x="42675" y="0"/>
                  <a:pt x="9523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1385" y="121179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46695"/>
                </a:moveTo>
                <a:lnTo>
                  <a:pt x="126070" y="76460"/>
                </a:lnTo>
                <a:cubicBezTo>
                  <a:pt x="123217" y="79313"/>
                  <a:pt x="118969" y="80150"/>
                  <a:pt x="115249" y="78600"/>
                </a:cubicBezTo>
                <a:cubicBezTo>
                  <a:pt x="111528" y="77050"/>
                  <a:pt x="109141" y="73453"/>
                  <a:pt x="109141" y="69453"/>
                </a:cubicBezTo>
                <a:lnTo>
                  <a:pt x="109141" y="49609"/>
                </a:lnTo>
                <a:lnTo>
                  <a:pt x="9922" y="49609"/>
                </a:lnTo>
                <a:cubicBezTo>
                  <a:pt x="4434" y="49609"/>
                  <a:pt x="0" y="45176"/>
                  <a:pt x="0" y="39688"/>
                </a:cubicBezTo>
                <a:cubicBezTo>
                  <a:pt x="0" y="34199"/>
                  <a:pt x="4434" y="29766"/>
                  <a:pt x="9922" y="29766"/>
                </a:cubicBezTo>
                <a:lnTo>
                  <a:pt x="109141" y="29766"/>
                </a:lnTo>
                <a:lnTo>
                  <a:pt x="109141" y="9922"/>
                </a:lnTo>
                <a:cubicBezTo>
                  <a:pt x="109141" y="5922"/>
                  <a:pt x="111559" y="2294"/>
                  <a:pt x="115280" y="744"/>
                </a:cubicBezTo>
                <a:cubicBezTo>
                  <a:pt x="119000" y="-806"/>
                  <a:pt x="123248" y="62"/>
                  <a:pt x="126101" y="2884"/>
                </a:cubicBezTo>
                <a:lnTo>
                  <a:pt x="155866" y="32649"/>
                </a:lnTo>
                <a:cubicBezTo>
                  <a:pt x="159742" y="36525"/>
                  <a:pt x="159742" y="42819"/>
                  <a:pt x="155866" y="46695"/>
                </a:cubicBezTo>
                <a:close/>
                <a:moveTo>
                  <a:pt x="32649" y="155835"/>
                </a:moveTo>
                <a:lnTo>
                  <a:pt x="2884" y="126070"/>
                </a:lnTo>
                <a:cubicBezTo>
                  <a:pt x="-992" y="122194"/>
                  <a:pt x="-992" y="115900"/>
                  <a:pt x="2884" y="112024"/>
                </a:cubicBezTo>
                <a:lnTo>
                  <a:pt x="32649" y="82259"/>
                </a:lnTo>
                <a:cubicBezTo>
                  <a:pt x="35502" y="79406"/>
                  <a:pt x="39750" y="78569"/>
                  <a:pt x="43470" y="80119"/>
                </a:cubicBezTo>
                <a:cubicBezTo>
                  <a:pt x="47191" y="81669"/>
                  <a:pt x="49609" y="85297"/>
                  <a:pt x="49609" y="89297"/>
                </a:cubicBezTo>
                <a:lnTo>
                  <a:pt x="49609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cubicBezTo>
                  <a:pt x="158750" y="124551"/>
                  <a:pt x="154316" y="128984"/>
                  <a:pt x="148828" y="128984"/>
                </a:cubicBezTo>
                <a:lnTo>
                  <a:pt x="49609" y="128984"/>
                </a:lnTo>
                <a:lnTo>
                  <a:pt x="49609" y="148828"/>
                </a:lnTo>
                <a:cubicBezTo>
                  <a:pt x="49609" y="152828"/>
                  <a:pt x="47191" y="156456"/>
                  <a:pt x="43470" y="158006"/>
                </a:cubicBezTo>
                <a:cubicBezTo>
                  <a:pt x="39750" y="159556"/>
                  <a:pt x="35502" y="158688"/>
                  <a:pt x="32649" y="15586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679979" y="1180044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传统模式 vs AI新模式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7417" y="1529294"/>
            <a:ext cx="5373688" cy="984250"/>
          </a:xfrm>
          <a:custGeom>
            <a:avLst/>
            <a:gdLst/>
            <a:ahLst/>
            <a:cxnLst/>
            <a:rect l="l" t="t" r="r" b="b"/>
            <a:pathLst>
              <a:path w="5373688" h="984250">
                <a:moveTo>
                  <a:pt x="31750" y="0"/>
                </a:moveTo>
                <a:lnTo>
                  <a:pt x="5310184" y="0"/>
                </a:lnTo>
                <a:cubicBezTo>
                  <a:pt x="5345256" y="0"/>
                  <a:pt x="5373688" y="28432"/>
                  <a:pt x="5373688" y="63504"/>
                </a:cubicBezTo>
                <a:lnTo>
                  <a:pt x="5373688" y="920746"/>
                </a:lnTo>
                <a:cubicBezTo>
                  <a:pt x="5373687" y="955818"/>
                  <a:pt x="5345256" y="984250"/>
                  <a:pt x="5310184" y="984250"/>
                </a:cubicBezTo>
                <a:lnTo>
                  <a:pt x="31750" y="984250"/>
                </a:lnTo>
                <a:cubicBezTo>
                  <a:pt x="14215" y="984250"/>
                  <a:pt x="0" y="970035"/>
                  <a:pt x="0" y="95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7417" y="1529294"/>
            <a:ext cx="31750" cy="984250"/>
          </a:xfrm>
          <a:custGeom>
            <a:avLst/>
            <a:gdLst/>
            <a:ahLst/>
            <a:cxnLst/>
            <a:rect l="l" t="t" r="r" b="b"/>
            <a:pathLst>
              <a:path w="31750" h="984250">
                <a:moveTo>
                  <a:pt x="31750" y="0"/>
                </a:moveTo>
                <a:lnTo>
                  <a:pt x="31750" y="0"/>
                </a:lnTo>
                <a:lnTo>
                  <a:pt x="31750" y="984250"/>
                </a:lnTo>
                <a:lnTo>
                  <a:pt x="31750" y="984250"/>
                </a:lnTo>
                <a:cubicBezTo>
                  <a:pt x="14227" y="984250"/>
                  <a:pt x="0" y="970023"/>
                  <a:pt x="0" y="95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608542" y="1624544"/>
            <a:ext cx="523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传统模式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542" y="1878544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框架开发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3170" y="1878544"/>
            <a:ext cx="86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实现底层组件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542" y="2069044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使用手册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63170" y="2069044"/>
            <a:ext cx="86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提供集成文档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542" y="2259544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集成实施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52045" y="2259544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⚠ 效率低，易出错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7417" y="2611440"/>
            <a:ext cx="5368396" cy="1180042"/>
          </a:xfrm>
          <a:custGeom>
            <a:avLst/>
            <a:gdLst/>
            <a:ahLst/>
            <a:cxnLst/>
            <a:rect l="l" t="t" r="r" b="b"/>
            <a:pathLst>
              <a:path w="5368396" h="1180042">
                <a:moveTo>
                  <a:pt x="63498" y="0"/>
                </a:moveTo>
                <a:lnTo>
                  <a:pt x="5304898" y="0"/>
                </a:lnTo>
                <a:cubicBezTo>
                  <a:pt x="5339967" y="0"/>
                  <a:pt x="5368396" y="28429"/>
                  <a:pt x="5368396" y="63498"/>
                </a:cubicBezTo>
                <a:lnTo>
                  <a:pt x="5368396" y="1116544"/>
                </a:lnTo>
                <a:cubicBezTo>
                  <a:pt x="5368396" y="1151613"/>
                  <a:pt x="5339967" y="1180042"/>
                  <a:pt x="5304898" y="1180042"/>
                </a:cubicBezTo>
                <a:lnTo>
                  <a:pt x="63498" y="1180042"/>
                </a:lnTo>
                <a:cubicBezTo>
                  <a:pt x="28429" y="1180042"/>
                  <a:pt x="0" y="1151613"/>
                  <a:pt x="0" y="1116544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542" y="2709335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SKILL自动化模式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542" y="2963335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交互方式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01167" y="2963335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自然语言指令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8542" y="3153835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学习成本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5154" y="3153835"/>
            <a:ext cx="67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低(描述需求)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8542" y="3344335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出错概率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6279" y="3344335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低(标准化)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542" y="3534835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执行速度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34542" y="3534835"/>
            <a:ext cx="388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分钟级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2146" y="1018646"/>
            <a:ext cx="5712354" cy="2997729"/>
          </a:xfrm>
          <a:custGeom>
            <a:avLst/>
            <a:gdLst/>
            <a:ahLst/>
            <a:cxnLst/>
            <a:rect l="l" t="t" r="r" b="b"/>
            <a:pathLst>
              <a:path w="5712354" h="2997729">
                <a:moveTo>
                  <a:pt x="95238" y="0"/>
                </a:moveTo>
                <a:lnTo>
                  <a:pt x="5617116" y="0"/>
                </a:lnTo>
                <a:cubicBezTo>
                  <a:pt x="5669715" y="0"/>
                  <a:pt x="5712354" y="42639"/>
                  <a:pt x="5712354" y="95238"/>
                </a:cubicBezTo>
                <a:lnTo>
                  <a:pt x="5712354" y="2902491"/>
                </a:lnTo>
                <a:cubicBezTo>
                  <a:pt x="5712354" y="2955090"/>
                  <a:pt x="5669715" y="2997729"/>
                  <a:pt x="5617116" y="2997729"/>
                </a:cubicBezTo>
                <a:lnTo>
                  <a:pt x="95238" y="2997729"/>
                </a:lnTo>
                <a:cubicBezTo>
                  <a:pt x="42639" y="2997729"/>
                  <a:pt x="0" y="2955090"/>
                  <a:pt x="0" y="2902491"/>
                </a:cubicBezTo>
                <a:lnTo>
                  <a:pt x="0" y="95238"/>
                </a:lnTo>
                <a:cubicBezTo>
                  <a:pt x="0" y="42675"/>
                  <a:pt x="42675" y="0"/>
                  <a:pt x="95238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3542" y="121179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6521979" y="1180044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SKILL自动化集成流程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3542" y="157691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57322" y="1640419"/>
            <a:ext cx="11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36292" y="1529294"/>
            <a:ext cx="4976813" cy="412750"/>
          </a:xfrm>
          <a:custGeom>
            <a:avLst/>
            <a:gdLst/>
            <a:ahLst/>
            <a:cxnLst/>
            <a:rect l="l" t="t" r="r" b="b"/>
            <a:pathLst>
              <a:path w="4976813" h="412750">
                <a:moveTo>
                  <a:pt x="63502" y="0"/>
                </a:moveTo>
                <a:lnTo>
                  <a:pt x="4913311" y="0"/>
                </a:lnTo>
                <a:cubicBezTo>
                  <a:pt x="4948382" y="0"/>
                  <a:pt x="4976813" y="28431"/>
                  <a:pt x="4976813" y="63502"/>
                </a:cubicBezTo>
                <a:lnTo>
                  <a:pt x="4976813" y="349248"/>
                </a:lnTo>
                <a:cubicBezTo>
                  <a:pt x="4976813" y="384319"/>
                  <a:pt x="4948382" y="412750"/>
                  <a:pt x="4913311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799792" y="1592794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用户输入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99792" y="1751544"/>
            <a:ext cx="4897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"帮我集成数据库密码加密"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3542" y="205316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46573" y="2116669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36292" y="2005544"/>
            <a:ext cx="4976813" cy="412750"/>
          </a:xfrm>
          <a:custGeom>
            <a:avLst/>
            <a:gdLst/>
            <a:ahLst/>
            <a:cxnLst/>
            <a:rect l="l" t="t" r="r" b="b"/>
            <a:pathLst>
              <a:path w="4976813" h="412750">
                <a:moveTo>
                  <a:pt x="63502" y="0"/>
                </a:moveTo>
                <a:lnTo>
                  <a:pt x="4913311" y="0"/>
                </a:lnTo>
                <a:cubicBezTo>
                  <a:pt x="4948382" y="0"/>
                  <a:pt x="4976813" y="28431"/>
                  <a:pt x="4976813" y="63502"/>
                </a:cubicBezTo>
                <a:lnTo>
                  <a:pt x="4976813" y="349248"/>
                </a:lnTo>
                <a:cubicBezTo>
                  <a:pt x="4976813" y="384319"/>
                  <a:pt x="4948382" y="412750"/>
                  <a:pt x="4913311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799792" y="2069044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AI扫描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99792" y="2227794"/>
            <a:ext cx="4897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检测项目类型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3542" y="252941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44920" y="2592919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36292" y="2481794"/>
            <a:ext cx="4976813" cy="412750"/>
          </a:xfrm>
          <a:custGeom>
            <a:avLst/>
            <a:gdLst/>
            <a:ahLst/>
            <a:cxnLst/>
            <a:rect l="l" t="t" r="r" b="b"/>
            <a:pathLst>
              <a:path w="4976813" h="412750">
                <a:moveTo>
                  <a:pt x="63502" y="0"/>
                </a:moveTo>
                <a:lnTo>
                  <a:pt x="4913311" y="0"/>
                </a:lnTo>
                <a:cubicBezTo>
                  <a:pt x="4948382" y="0"/>
                  <a:pt x="4976813" y="28431"/>
                  <a:pt x="4976813" y="63502"/>
                </a:cubicBezTo>
                <a:lnTo>
                  <a:pt x="4976813" y="349248"/>
                </a:lnTo>
                <a:cubicBezTo>
                  <a:pt x="4976813" y="384319"/>
                  <a:pt x="4948382" y="412750"/>
                  <a:pt x="4913311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799792" y="2545294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AI推荐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99792" y="2704044"/>
            <a:ext cx="4897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匹配最佳方案(7选1)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23542" y="300566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45002" y="3069169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36292" y="2958044"/>
            <a:ext cx="4976813" cy="412750"/>
          </a:xfrm>
          <a:custGeom>
            <a:avLst/>
            <a:gdLst/>
            <a:ahLst/>
            <a:cxnLst/>
            <a:rect l="l" t="t" r="r" b="b"/>
            <a:pathLst>
              <a:path w="4976813" h="412750">
                <a:moveTo>
                  <a:pt x="63502" y="0"/>
                </a:moveTo>
                <a:lnTo>
                  <a:pt x="4913311" y="0"/>
                </a:lnTo>
                <a:cubicBezTo>
                  <a:pt x="4948382" y="0"/>
                  <a:pt x="4976813" y="28431"/>
                  <a:pt x="4976813" y="63502"/>
                </a:cubicBezTo>
                <a:lnTo>
                  <a:pt x="4976813" y="349248"/>
                </a:lnTo>
                <a:cubicBezTo>
                  <a:pt x="4976813" y="384319"/>
                  <a:pt x="4948382" y="412750"/>
                  <a:pt x="4913311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799792" y="3021544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AI执行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99792" y="3180294"/>
            <a:ext cx="4897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添加依赖、修改配置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6188" y="3489855"/>
            <a:ext cx="314854" cy="314854"/>
          </a:xfrm>
          <a:custGeom>
            <a:avLst/>
            <a:gdLst/>
            <a:ahLst/>
            <a:cxnLst/>
            <a:rect l="l" t="t" r="r" b="b"/>
            <a:pathLst>
              <a:path w="314854" h="314854">
                <a:moveTo>
                  <a:pt x="157427" y="0"/>
                </a:moveTo>
                <a:lnTo>
                  <a:pt x="157427" y="0"/>
                </a:lnTo>
                <a:cubicBezTo>
                  <a:pt x="244313" y="0"/>
                  <a:pt x="314854" y="70541"/>
                  <a:pt x="314854" y="157427"/>
                </a:cubicBezTo>
                <a:lnTo>
                  <a:pt x="314854" y="157427"/>
                </a:lnTo>
                <a:cubicBezTo>
                  <a:pt x="314854" y="244313"/>
                  <a:pt x="244313" y="314854"/>
                  <a:pt x="157427" y="314854"/>
                </a:cubicBezTo>
                <a:lnTo>
                  <a:pt x="157427" y="314854"/>
                </a:lnTo>
                <a:cubicBezTo>
                  <a:pt x="70541" y="314854"/>
                  <a:pt x="0" y="244313"/>
                  <a:pt x="0" y="157427"/>
                </a:cubicBezTo>
                <a:lnTo>
                  <a:pt x="0" y="157427"/>
                </a:lnTo>
                <a:cubicBezTo>
                  <a:pt x="0" y="70541"/>
                  <a:pt x="70541" y="0"/>
                  <a:pt x="157427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8467">
            <a:solidFill>
              <a:srgbClr val="5E8B7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4341" y="355071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738938" y="3436940"/>
            <a:ext cx="4966229" cy="418042"/>
          </a:xfrm>
          <a:custGeom>
            <a:avLst/>
            <a:gdLst/>
            <a:ahLst/>
            <a:cxnLst/>
            <a:rect l="l" t="t" r="r" b="b"/>
            <a:pathLst>
              <a:path w="4966229" h="418042">
                <a:moveTo>
                  <a:pt x="63501" y="0"/>
                </a:moveTo>
                <a:lnTo>
                  <a:pt x="4902729" y="0"/>
                </a:lnTo>
                <a:cubicBezTo>
                  <a:pt x="4937799" y="0"/>
                  <a:pt x="4966229" y="28430"/>
                  <a:pt x="4966229" y="63501"/>
                </a:cubicBezTo>
                <a:lnTo>
                  <a:pt x="4966229" y="354541"/>
                </a:lnTo>
                <a:cubicBezTo>
                  <a:pt x="4966229" y="389612"/>
                  <a:pt x="4937799" y="418042"/>
                  <a:pt x="4902729" y="418042"/>
                </a:cubicBezTo>
                <a:lnTo>
                  <a:pt x="63501" y="418042"/>
                </a:lnTo>
                <a:cubicBezTo>
                  <a:pt x="28430" y="418042"/>
                  <a:pt x="0" y="389612"/>
                  <a:pt x="0" y="354541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05084" y="3503085"/>
            <a:ext cx="488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AI验证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05084" y="3661835"/>
            <a:ext cx="4881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编译检查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0146" y="4151315"/>
            <a:ext cx="5712354" cy="2823104"/>
          </a:xfrm>
          <a:custGeom>
            <a:avLst/>
            <a:gdLst/>
            <a:ahLst/>
            <a:cxnLst/>
            <a:rect l="l" t="t" r="r" b="b"/>
            <a:pathLst>
              <a:path w="5712354" h="2823104">
                <a:moveTo>
                  <a:pt x="95252" y="0"/>
                </a:moveTo>
                <a:lnTo>
                  <a:pt x="5617103" y="0"/>
                </a:lnTo>
                <a:cubicBezTo>
                  <a:pt x="5669709" y="0"/>
                  <a:pt x="5712354" y="42646"/>
                  <a:pt x="5712354" y="95252"/>
                </a:cubicBezTo>
                <a:lnTo>
                  <a:pt x="5712354" y="2727853"/>
                </a:lnTo>
                <a:cubicBezTo>
                  <a:pt x="5712354" y="2780459"/>
                  <a:pt x="5669709" y="2823104"/>
                  <a:pt x="5617103" y="2823104"/>
                </a:cubicBezTo>
                <a:lnTo>
                  <a:pt x="95252" y="2823104"/>
                </a:lnTo>
                <a:cubicBezTo>
                  <a:pt x="42646" y="2823104"/>
                  <a:pt x="0" y="2780459"/>
                  <a:pt x="0" y="2727853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1229" y="434446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77484" y="20712"/>
                </a:moveTo>
                <a:cubicBezTo>
                  <a:pt x="80708" y="16278"/>
                  <a:pt x="79716" y="10077"/>
                  <a:pt x="75282" y="6852"/>
                </a:cubicBezTo>
                <a:cubicBezTo>
                  <a:pt x="70848" y="3628"/>
                  <a:pt x="64647" y="4620"/>
                  <a:pt x="61423" y="9054"/>
                </a:cubicBezTo>
                <a:lnTo>
                  <a:pt x="28556" y="54229"/>
                </a:lnTo>
                <a:lnTo>
                  <a:pt x="16929" y="42602"/>
                </a:lnTo>
                <a:cubicBezTo>
                  <a:pt x="13053" y="38726"/>
                  <a:pt x="6759" y="38726"/>
                  <a:pt x="2884" y="42602"/>
                </a:cubicBezTo>
                <a:cubicBezTo>
                  <a:pt x="-992" y="46478"/>
                  <a:pt x="-992" y="52772"/>
                  <a:pt x="2884" y="56648"/>
                </a:cubicBezTo>
                <a:lnTo>
                  <a:pt x="22727" y="76491"/>
                </a:lnTo>
                <a:cubicBezTo>
                  <a:pt x="24774" y="78538"/>
                  <a:pt x="27626" y="79592"/>
                  <a:pt x="30510" y="79375"/>
                </a:cubicBezTo>
                <a:cubicBezTo>
                  <a:pt x="33393" y="79158"/>
                  <a:pt x="36060" y="77670"/>
                  <a:pt x="37765" y="75313"/>
                </a:cubicBezTo>
                <a:lnTo>
                  <a:pt x="77453" y="20743"/>
                </a:lnTo>
                <a:close/>
                <a:moveTo>
                  <a:pt x="117171" y="62880"/>
                </a:moveTo>
                <a:cubicBezTo>
                  <a:pt x="120396" y="58446"/>
                  <a:pt x="119404" y="52245"/>
                  <a:pt x="114970" y="49020"/>
                </a:cubicBezTo>
                <a:cubicBezTo>
                  <a:pt x="110536" y="45796"/>
                  <a:pt x="104335" y="46788"/>
                  <a:pt x="101110" y="51222"/>
                </a:cubicBezTo>
                <a:lnTo>
                  <a:pt x="48400" y="123682"/>
                </a:lnTo>
                <a:lnTo>
                  <a:pt x="26851" y="102133"/>
                </a:lnTo>
                <a:cubicBezTo>
                  <a:pt x="22975" y="98258"/>
                  <a:pt x="16681" y="98258"/>
                  <a:pt x="12805" y="102133"/>
                </a:cubicBezTo>
                <a:cubicBezTo>
                  <a:pt x="8930" y="106009"/>
                  <a:pt x="8930" y="112303"/>
                  <a:pt x="12805" y="116179"/>
                </a:cubicBezTo>
                <a:lnTo>
                  <a:pt x="42571" y="145945"/>
                </a:lnTo>
                <a:cubicBezTo>
                  <a:pt x="44617" y="147991"/>
                  <a:pt x="47470" y="149045"/>
                  <a:pt x="50354" y="148828"/>
                </a:cubicBezTo>
                <a:cubicBezTo>
                  <a:pt x="53237" y="148611"/>
                  <a:pt x="55904" y="147123"/>
                  <a:pt x="57609" y="144766"/>
                </a:cubicBezTo>
                <a:lnTo>
                  <a:pt x="117140" y="6291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7" name="Text 55"/>
          <p:cNvSpPr/>
          <p:nvPr/>
        </p:nvSpPr>
        <p:spPr>
          <a:xfrm>
            <a:off x="679979" y="431271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适用场景分析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81542" y="4661960"/>
            <a:ext cx="5389563" cy="285750"/>
          </a:xfrm>
          <a:custGeom>
            <a:avLst/>
            <a:gdLst/>
            <a:ahLst/>
            <a:cxnLst/>
            <a:rect l="l" t="t" r="r" b="b"/>
            <a:pathLst>
              <a:path w="5389563" h="285750">
                <a:moveTo>
                  <a:pt x="63499" y="0"/>
                </a:moveTo>
                <a:lnTo>
                  <a:pt x="5326063" y="0"/>
                </a:lnTo>
                <a:cubicBezTo>
                  <a:pt x="5361133" y="0"/>
                  <a:pt x="5389563" y="28430"/>
                  <a:pt x="5389563" y="63499"/>
                </a:cubicBezTo>
                <a:lnTo>
                  <a:pt x="5389563" y="222251"/>
                </a:lnTo>
                <a:cubicBezTo>
                  <a:pt x="5389563" y="257320"/>
                  <a:pt x="5361133" y="285750"/>
                  <a:pt x="53260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45042" y="4725460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全新项目开发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088599" y="4757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1" name="Shape 59"/>
          <p:cNvSpPr/>
          <p:nvPr/>
        </p:nvSpPr>
        <p:spPr>
          <a:xfrm>
            <a:off x="5239412" y="4757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2" name="Shape 60"/>
          <p:cNvSpPr/>
          <p:nvPr/>
        </p:nvSpPr>
        <p:spPr>
          <a:xfrm>
            <a:off x="5390224" y="4757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3" name="Shape 61"/>
          <p:cNvSpPr/>
          <p:nvPr/>
        </p:nvSpPr>
        <p:spPr>
          <a:xfrm>
            <a:off x="5541037" y="4757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4" name="Shape 62"/>
          <p:cNvSpPr/>
          <p:nvPr/>
        </p:nvSpPr>
        <p:spPr>
          <a:xfrm>
            <a:off x="5691849" y="4757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5" name="Shape 63"/>
          <p:cNvSpPr/>
          <p:nvPr/>
        </p:nvSpPr>
        <p:spPr>
          <a:xfrm>
            <a:off x="481542" y="5011210"/>
            <a:ext cx="5389563" cy="285750"/>
          </a:xfrm>
          <a:custGeom>
            <a:avLst/>
            <a:gdLst/>
            <a:ahLst/>
            <a:cxnLst/>
            <a:rect l="l" t="t" r="r" b="b"/>
            <a:pathLst>
              <a:path w="5389563" h="285750">
                <a:moveTo>
                  <a:pt x="63499" y="0"/>
                </a:moveTo>
                <a:lnTo>
                  <a:pt x="5326063" y="0"/>
                </a:lnTo>
                <a:cubicBezTo>
                  <a:pt x="5361133" y="0"/>
                  <a:pt x="5389563" y="28430"/>
                  <a:pt x="5389563" y="63499"/>
                </a:cubicBezTo>
                <a:lnTo>
                  <a:pt x="5389563" y="222251"/>
                </a:lnTo>
                <a:cubicBezTo>
                  <a:pt x="5389563" y="257320"/>
                  <a:pt x="5361133" y="285750"/>
                  <a:pt x="53260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545042" y="5074710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原型/MVP快速验证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088599" y="51064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8" name="Shape 66"/>
          <p:cNvSpPr/>
          <p:nvPr/>
        </p:nvSpPr>
        <p:spPr>
          <a:xfrm>
            <a:off x="5239412" y="51064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9" name="Shape 67"/>
          <p:cNvSpPr/>
          <p:nvPr/>
        </p:nvSpPr>
        <p:spPr>
          <a:xfrm>
            <a:off x="5390224" y="51064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0" name="Shape 68"/>
          <p:cNvSpPr/>
          <p:nvPr/>
        </p:nvSpPr>
        <p:spPr>
          <a:xfrm>
            <a:off x="5541037" y="51064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1" name="Shape 69"/>
          <p:cNvSpPr/>
          <p:nvPr/>
        </p:nvSpPr>
        <p:spPr>
          <a:xfrm>
            <a:off x="5691849" y="51064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2" name="Shape 70"/>
          <p:cNvSpPr/>
          <p:nvPr/>
        </p:nvSpPr>
        <p:spPr>
          <a:xfrm>
            <a:off x="481542" y="5360460"/>
            <a:ext cx="5389563" cy="285750"/>
          </a:xfrm>
          <a:custGeom>
            <a:avLst/>
            <a:gdLst/>
            <a:ahLst/>
            <a:cxnLst/>
            <a:rect l="l" t="t" r="r" b="b"/>
            <a:pathLst>
              <a:path w="5389563" h="285750">
                <a:moveTo>
                  <a:pt x="63499" y="0"/>
                </a:moveTo>
                <a:lnTo>
                  <a:pt x="5326063" y="0"/>
                </a:lnTo>
                <a:cubicBezTo>
                  <a:pt x="5361133" y="0"/>
                  <a:pt x="5389563" y="28430"/>
                  <a:pt x="5389563" y="63499"/>
                </a:cubicBezTo>
                <a:lnTo>
                  <a:pt x="5389563" y="222251"/>
                </a:lnTo>
                <a:cubicBezTo>
                  <a:pt x="5389563" y="257320"/>
                  <a:pt x="5361133" y="285750"/>
                  <a:pt x="53260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545042" y="5423960"/>
            <a:ext cx="61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技术改造类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088599" y="54557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5" name="Shape 73"/>
          <p:cNvSpPr/>
          <p:nvPr/>
        </p:nvSpPr>
        <p:spPr>
          <a:xfrm>
            <a:off x="5239412" y="54557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6" name="Shape 74"/>
          <p:cNvSpPr/>
          <p:nvPr/>
        </p:nvSpPr>
        <p:spPr>
          <a:xfrm>
            <a:off x="5390224" y="54557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7" name="Shape 75"/>
          <p:cNvSpPr/>
          <p:nvPr/>
        </p:nvSpPr>
        <p:spPr>
          <a:xfrm>
            <a:off x="5541037" y="54557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8" name="Shape 76"/>
          <p:cNvSpPr/>
          <p:nvPr/>
        </p:nvSpPr>
        <p:spPr>
          <a:xfrm>
            <a:off x="5691849" y="54557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3597" y="-5953"/>
                </a:moveTo>
                <a:cubicBezTo>
                  <a:pt x="55271" y="-5953"/>
                  <a:pt x="56815" y="-5004"/>
                  <a:pt x="57578" y="-3516"/>
                </a:cubicBezTo>
                <a:lnTo>
                  <a:pt x="71251" y="23310"/>
                </a:lnTo>
                <a:lnTo>
                  <a:pt x="100998" y="28035"/>
                </a:lnTo>
                <a:cubicBezTo>
                  <a:pt x="102654" y="28296"/>
                  <a:pt x="104031" y="29468"/>
                  <a:pt x="104552" y="31068"/>
                </a:cubicBezTo>
                <a:cubicBezTo>
                  <a:pt x="105073" y="32668"/>
                  <a:pt x="104645" y="34417"/>
                  <a:pt x="103473" y="35607"/>
                </a:cubicBezTo>
                <a:lnTo>
                  <a:pt x="82172" y="56908"/>
                </a:lnTo>
                <a:lnTo>
                  <a:pt x="86878" y="86655"/>
                </a:lnTo>
                <a:cubicBezTo>
                  <a:pt x="87139" y="88311"/>
                  <a:pt x="86451" y="89985"/>
                  <a:pt x="85092" y="90971"/>
                </a:cubicBezTo>
                <a:cubicBezTo>
                  <a:pt x="83734" y="91957"/>
                  <a:pt x="81930" y="92106"/>
                  <a:pt x="80442" y="91343"/>
                </a:cubicBezTo>
                <a:lnTo>
                  <a:pt x="53597" y="77688"/>
                </a:lnTo>
                <a:lnTo>
                  <a:pt x="26752" y="91343"/>
                </a:lnTo>
                <a:cubicBezTo>
                  <a:pt x="25264" y="92106"/>
                  <a:pt x="23459" y="91957"/>
                  <a:pt x="22101" y="90971"/>
                </a:cubicBezTo>
                <a:cubicBezTo>
                  <a:pt x="20743" y="89985"/>
                  <a:pt x="20055" y="88329"/>
                  <a:pt x="20315" y="86655"/>
                </a:cubicBezTo>
                <a:lnTo>
                  <a:pt x="25003" y="56908"/>
                </a:lnTo>
                <a:lnTo>
                  <a:pt x="3721" y="35607"/>
                </a:lnTo>
                <a:cubicBezTo>
                  <a:pt x="2530" y="34417"/>
                  <a:pt x="2121" y="32668"/>
                  <a:pt x="2642" y="31068"/>
                </a:cubicBezTo>
                <a:cubicBezTo>
                  <a:pt x="3163" y="29468"/>
                  <a:pt x="4521" y="28296"/>
                  <a:pt x="6195" y="28035"/>
                </a:cubicBezTo>
                <a:lnTo>
                  <a:pt x="35942" y="23310"/>
                </a:lnTo>
                <a:lnTo>
                  <a:pt x="49634" y="-3516"/>
                </a:lnTo>
                <a:cubicBezTo>
                  <a:pt x="50397" y="-5004"/>
                  <a:pt x="51941" y="-5953"/>
                  <a:pt x="53615" y="-5953"/>
                </a:cubicBezTo>
                <a:close/>
                <a:moveTo>
                  <a:pt x="53597" y="8334"/>
                </a:moveTo>
                <a:lnTo>
                  <a:pt x="42844" y="29394"/>
                </a:lnTo>
                <a:cubicBezTo>
                  <a:pt x="42193" y="30659"/>
                  <a:pt x="40984" y="31552"/>
                  <a:pt x="39570" y="31775"/>
                </a:cubicBezTo>
                <a:lnTo>
                  <a:pt x="16222" y="35496"/>
                </a:lnTo>
                <a:lnTo>
                  <a:pt x="32928" y="52220"/>
                </a:lnTo>
                <a:cubicBezTo>
                  <a:pt x="33933" y="53225"/>
                  <a:pt x="34398" y="54657"/>
                  <a:pt x="34175" y="56071"/>
                </a:cubicBezTo>
                <a:lnTo>
                  <a:pt x="30491" y="79418"/>
                </a:lnTo>
                <a:lnTo>
                  <a:pt x="51569" y="68703"/>
                </a:lnTo>
                <a:cubicBezTo>
                  <a:pt x="52834" y="68052"/>
                  <a:pt x="54341" y="68052"/>
                  <a:pt x="55625" y="68703"/>
                </a:cubicBezTo>
                <a:lnTo>
                  <a:pt x="76702" y="79418"/>
                </a:lnTo>
                <a:lnTo>
                  <a:pt x="73019" y="56071"/>
                </a:lnTo>
                <a:cubicBezTo>
                  <a:pt x="72796" y="54657"/>
                  <a:pt x="73261" y="53225"/>
                  <a:pt x="74265" y="52220"/>
                </a:cubicBezTo>
                <a:lnTo>
                  <a:pt x="90971" y="35496"/>
                </a:lnTo>
                <a:lnTo>
                  <a:pt x="67624" y="31775"/>
                </a:lnTo>
                <a:cubicBezTo>
                  <a:pt x="66210" y="31552"/>
                  <a:pt x="65001" y="30659"/>
                  <a:pt x="64350" y="29394"/>
                </a:cubicBezTo>
                <a:lnTo>
                  <a:pt x="53597" y="833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9" name="Shape 77"/>
          <p:cNvSpPr/>
          <p:nvPr/>
        </p:nvSpPr>
        <p:spPr>
          <a:xfrm>
            <a:off x="481542" y="5709710"/>
            <a:ext cx="5389563" cy="285750"/>
          </a:xfrm>
          <a:custGeom>
            <a:avLst/>
            <a:gdLst/>
            <a:ahLst/>
            <a:cxnLst/>
            <a:rect l="l" t="t" r="r" b="b"/>
            <a:pathLst>
              <a:path w="5389563" h="285750">
                <a:moveTo>
                  <a:pt x="63499" y="0"/>
                </a:moveTo>
                <a:lnTo>
                  <a:pt x="5326063" y="0"/>
                </a:lnTo>
                <a:cubicBezTo>
                  <a:pt x="5361133" y="0"/>
                  <a:pt x="5389563" y="28430"/>
                  <a:pt x="5389563" y="63499"/>
                </a:cubicBezTo>
                <a:lnTo>
                  <a:pt x="5389563" y="222251"/>
                </a:lnTo>
                <a:cubicBezTo>
                  <a:pt x="5389563" y="257320"/>
                  <a:pt x="5361133" y="285750"/>
                  <a:pt x="53260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545042" y="5773210"/>
            <a:ext cx="80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标准CRUD开发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5088599" y="58049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2" name="Shape 80"/>
          <p:cNvSpPr/>
          <p:nvPr/>
        </p:nvSpPr>
        <p:spPr>
          <a:xfrm>
            <a:off x="5239412" y="58049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3" name="Shape 81"/>
          <p:cNvSpPr/>
          <p:nvPr/>
        </p:nvSpPr>
        <p:spPr>
          <a:xfrm>
            <a:off x="5390224" y="58049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4" name="Shape 82"/>
          <p:cNvSpPr/>
          <p:nvPr/>
        </p:nvSpPr>
        <p:spPr>
          <a:xfrm>
            <a:off x="5541037" y="58049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5" name="Shape 83"/>
          <p:cNvSpPr/>
          <p:nvPr/>
        </p:nvSpPr>
        <p:spPr>
          <a:xfrm>
            <a:off x="5691849" y="580496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3597" y="-5953"/>
                </a:moveTo>
                <a:cubicBezTo>
                  <a:pt x="55271" y="-5953"/>
                  <a:pt x="56815" y="-5004"/>
                  <a:pt x="57578" y="-3516"/>
                </a:cubicBezTo>
                <a:lnTo>
                  <a:pt x="71251" y="23310"/>
                </a:lnTo>
                <a:lnTo>
                  <a:pt x="100998" y="28035"/>
                </a:lnTo>
                <a:cubicBezTo>
                  <a:pt x="102654" y="28296"/>
                  <a:pt x="104031" y="29468"/>
                  <a:pt x="104552" y="31068"/>
                </a:cubicBezTo>
                <a:cubicBezTo>
                  <a:pt x="105073" y="32668"/>
                  <a:pt x="104645" y="34417"/>
                  <a:pt x="103473" y="35607"/>
                </a:cubicBezTo>
                <a:lnTo>
                  <a:pt x="82172" y="56908"/>
                </a:lnTo>
                <a:lnTo>
                  <a:pt x="86878" y="86655"/>
                </a:lnTo>
                <a:cubicBezTo>
                  <a:pt x="87139" y="88311"/>
                  <a:pt x="86451" y="89985"/>
                  <a:pt x="85092" y="90971"/>
                </a:cubicBezTo>
                <a:cubicBezTo>
                  <a:pt x="83734" y="91957"/>
                  <a:pt x="81930" y="92106"/>
                  <a:pt x="80442" y="91343"/>
                </a:cubicBezTo>
                <a:lnTo>
                  <a:pt x="53597" y="77688"/>
                </a:lnTo>
                <a:lnTo>
                  <a:pt x="26752" y="91343"/>
                </a:lnTo>
                <a:cubicBezTo>
                  <a:pt x="25264" y="92106"/>
                  <a:pt x="23459" y="91957"/>
                  <a:pt x="22101" y="90971"/>
                </a:cubicBezTo>
                <a:cubicBezTo>
                  <a:pt x="20743" y="89985"/>
                  <a:pt x="20055" y="88329"/>
                  <a:pt x="20315" y="86655"/>
                </a:cubicBezTo>
                <a:lnTo>
                  <a:pt x="25003" y="56908"/>
                </a:lnTo>
                <a:lnTo>
                  <a:pt x="3721" y="35607"/>
                </a:lnTo>
                <a:cubicBezTo>
                  <a:pt x="2530" y="34417"/>
                  <a:pt x="2121" y="32668"/>
                  <a:pt x="2642" y="31068"/>
                </a:cubicBezTo>
                <a:cubicBezTo>
                  <a:pt x="3163" y="29468"/>
                  <a:pt x="4521" y="28296"/>
                  <a:pt x="6195" y="28035"/>
                </a:cubicBezTo>
                <a:lnTo>
                  <a:pt x="35942" y="23310"/>
                </a:lnTo>
                <a:lnTo>
                  <a:pt x="49634" y="-3516"/>
                </a:lnTo>
                <a:cubicBezTo>
                  <a:pt x="50397" y="-5004"/>
                  <a:pt x="51941" y="-5953"/>
                  <a:pt x="53615" y="-5953"/>
                </a:cubicBezTo>
                <a:close/>
                <a:moveTo>
                  <a:pt x="53597" y="8334"/>
                </a:moveTo>
                <a:lnTo>
                  <a:pt x="42844" y="29394"/>
                </a:lnTo>
                <a:cubicBezTo>
                  <a:pt x="42193" y="30659"/>
                  <a:pt x="40984" y="31552"/>
                  <a:pt x="39570" y="31775"/>
                </a:cubicBezTo>
                <a:lnTo>
                  <a:pt x="16222" y="35496"/>
                </a:lnTo>
                <a:lnTo>
                  <a:pt x="32928" y="52220"/>
                </a:lnTo>
                <a:cubicBezTo>
                  <a:pt x="33933" y="53225"/>
                  <a:pt x="34398" y="54657"/>
                  <a:pt x="34175" y="56071"/>
                </a:cubicBezTo>
                <a:lnTo>
                  <a:pt x="30491" y="79418"/>
                </a:lnTo>
                <a:lnTo>
                  <a:pt x="51569" y="68703"/>
                </a:lnTo>
                <a:cubicBezTo>
                  <a:pt x="52834" y="68052"/>
                  <a:pt x="54341" y="68052"/>
                  <a:pt x="55625" y="68703"/>
                </a:cubicBezTo>
                <a:lnTo>
                  <a:pt x="76702" y="79418"/>
                </a:lnTo>
                <a:lnTo>
                  <a:pt x="73019" y="56071"/>
                </a:lnTo>
                <a:cubicBezTo>
                  <a:pt x="72796" y="54657"/>
                  <a:pt x="73261" y="53225"/>
                  <a:pt x="74265" y="52220"/>
                </a:cubicBezTo>
                <a:lnTo>
                  <a:pt x="90971" y="35496"/>
                </a:lnTo>
                <a:lnTo>
                  <a:pt x="67624" y="31775"/>
                </a:lnTo>
                <a:cubicBezTo>
                  <a:pt x="66210" y="31552"/>
                  <a:pt x="65001" y="30659"/>
                  <a:pt x="64350" y="29394"/>
                </a:cubicBezTo>
                <a:lnTo>
                  <a:pt x="53597" y="833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86" name="Shape 84"/>
          <p:cNvSpPr/>
          <p:nvPr/>
        </p:nvSpPr>
        <p:spPr>
          <a:xfrm>
            <a:off x="481542" y="6058960"/>
            <a:ext cx="5389563" cy="285750"/>
          </a:xfrm>
          <a:custGeom>
            <a:avLst/>
            <a:gdLst/>
            <a:ahLst/>
            <a:cxnLst/>
            <a:rect l="l" t="t" r="r" b="b"/>
            <a:pathLst>
              <a:path w="5389563" h="285750">
                <a:moveTo>
                  <a:pt x="63499" y="0"/>
                </a:moveTo>
                <a:lnTo>
                  <a:pt x="5326063" y="0"/>
                </a:lnTo>
                <a:cubicBezTo>
                  <a:pt x="5361133" y="0"/>
                  <a:pt x="5389563" y="28430"/>
                  <a:pt x="5389563" y="63499"/>
                </a:cubicBezTo>
                <a:lnTo>
                  <a:pt x="5389563" y="222251"/>
                </a:lnTo>
                <a:cubicBezTo>
                  <a:pt x="5389563" y="257320"/>
                  <a:pt x="5361133" y="285750"/>
                  <a:pt x="53260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545042" y="6122460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遗留系统维护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5088599" y="6154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9" name="Shape 87"/>
          <p:cNvSpPr/>
          <p:nvPr/>
        </p:nvSpPr>
        <p:spPr>
          <a:xfrm>
            <a:off x="5239412" y="6154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7578" y="-3516"/>
                </a:moveTo>
                <a:cubicBezTo>
                  <a:pt x="56815" y="-5004"/>
                  <a:pt x="55271" y="-5953"/>
                  <a:pt x="53597" y="-5953"/>
                </a:cubicBezTo>
                <a:cubicBezTo>
                  <a:pt x="51922" y="-5953"/>
                  <a:pt x="50378" y="-5004"/>
                  <a:pt x="49616" y="-3516"/>
                </a:cubicBezTo>
                <a:lnTo>
                  <a:pt x="35923" y="23310"/>
                </a:lnTo>
                <a:lnTo>
                  <a:pt x="6176" y="28035"/>
                </a:lnTo>
                <a:cubicBezTo>
                  <a:pt x="4521" y="28296"/>
                  <a:pt x="3144" y="29468"/>
                  <a:pt x="2623" y="31068"/>
                </a:cubicBezTo>
                <a:cubicBezTo>
                  <a:pt x="2102" y="32668"/>
                  <a:pt x="2530" y="34417"/>
                  <a:pt x="3702" y="35607"/>
                </a:cubicBezTo>
                <a:lnTo>
                  <a:pt x="24985" y="56908"/>
                </a:lnTo>
                <a:lnTo>
                  <a:pt x="20296" y="86655"/>
                </a:lnTo>
                <a:cubicBezTo>
                  <a:pt x="20036" y="88311"/>
                  <a:pt x="20724" y="89985"/>
                  <a:pt x="22082" y="90971"/>
                </a:cubicBezTo>
                <a:cubicBezTo>
                  <a:pt x="23440" y="91957"/>
                  <a:pt x="25226" y="92106"/>
                  <a:pt x="26733" y="91343"/>
                </a:cubicBezTo>
                <a:lnTo>
                  <a:pt x="53597" y="77688"/>
                </a:lnTo>
                <a:lnTo>
                  <a:pt x="80442" y="91343"/>
                </a:lnTo>
                <a:cubicBezTo>
                  <a:pt x="81930" y="92106"/>
                  <a:pt x="83734" y="91957"/>
                  <a:pt x="85092" y="90971"/>
                </a:cubicBezTo>
                <a:cubicBezTo>
                  <a:pt x="86451" y="89985"/>
                  <a:pt x="87139" y="88329"/>
                  <a:pt x="86878" y="86655"/>
                </a:cubicBezTo>
                <a:lnTo>
                  <a:pt x="82172" y="56908"/>
                </a:lnTo>
                <a:lnTo>
                  <a:pt x="103454" y="35607"/>
                </a:lnTo>
                <a:cubicBezTo>
                  <a:pt x="104645" y="34417"/>
                  <a:pt x="105054" y="32668"/>
                  <a:pt x="104533" y="31068"/>
                </a:cubicBezTo>
                <a:cubicBezTo>
                  <a:pt x="104012" y="29468"/>
                  <a:pt x="102654" y="28296"/>
                  <a:pt x="100980" y="28035"/>
                </a:cubicBezTo>
                <a:lnTo>
                  <a:pt x="71251" y="23310"/>
                </a:lnTo>
                <a:lnTo>
                  <a:pt x="57578" y="-35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0" name="Shape 88"/>
          <p:cNvSpPr/>
          <p:nvPr/>
        </p:nvSpPr>
        <p:spPr>
          <a:xfrm>
            <a:off x="5390224" y="6154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3597" y="-5953"/>
                </a:moveTo>
                <a:cubicBezTo>
                  <a:pt x="55271" y="-5953"/>
                  <a:pt x="56815" y="-5004"/>
                  <a:pt x="57578" y="-3516"/>
                </a:cubicBezTo>
                <a:lnTo>
                  <a:pt x="71251" y="23310"/>
                </a:lnTo>
                <a:lnTo>
                  <a:pt x="100998" y="28035"/>
                </a:lnTo>
                <a:cubicBezTo>
                  <a:pt x="102654" y="28296"/>
                  <a:pt x="104031" y="29468"/>
                  <a:pt x="104552" y="31068"/>
                </a:cubicBezTo>
                <a:cubicBezTo>
                  <a:pt x="105073" y="32668"/>
                  <a:pt x="104645" y="34417"/>
                  <a:pt x="103473" y="35607"/>
                </a:cubicBezTo>
                <a:lnTo>
                  <a:pt x="82172" y="56908"/>
                </a:lnTo>
                <a:lnTo>
                  <a:pt x="86878" y="86655"/>
                </a:lnTo>
                <a:cubicBezTo>
                  <a:pt x="87139" y="88311"/>
                  <a:pt x="86451" y="89985"/>
                  <a:pt x="85092" y="90971"/>
                </a:cubicBezTo>
                <a:cubicBezTo>
                  <a:pt x="83734" y="91957"/>
                  <a:pt x="81930" y="92106"/>
                  <a:pt x="80442" y="91343"/>
                </a:cubicBezTo>
                <a:lnTo>
                  <a:pt x="53597" y="77688"/>
                </a:lnTo>
                <a:lnTo>
                  <a:pt x="26752" y="91343"/>
                </a:lnTo>
                <a:cubicBezTo>
                  <a:pt x="25264" y="92106"/>
                  <a:pt x="23459" y="91957"/>
                  <a:pt x="22101" y="90971"/>
                </a:cubicBezTo>
                <a:cubicBezTo>
                  <a:pt x="20743" y="89985"/>
                  <a:pt x="20055" y="88329"/>
                  <a:pt x="20315" y="86655"/>
                </a:cubicBezTo>
                <a:lnTo>
                  <a:pt x="25003" y="56908"/>
                </a:lnTo>
                <a:lnTo>
                  <a:pt x="3721" y="35607"/>
                </a:lnTo>
                <a:cubicBezTo>
                  <a:pt x="2530" y="34417"/>
                  <a:pt x="2121" y="32668"/>
                  <a:pt x="2642" y="31068"/>
                </a:cubicBezTo>
                <a:cubicBezTo>
                  <a:pt x="3163" y="29468"/>
                  <a:pt x="4521" y="28296"/>
                  <a:pt x="6195" y="28035"/>
                </a:cubicBezTo>
                <a:lnTo>
                  <a:pt x="35942" y="23310"/>
                </a:lnTo>
                <a:lnTo>
                  <a:pt x="49634" y="-3516"/>
                </a:lnTo>
                <a:cubicBezTo>
                  <a:pt x="50397" y="-5004"/>
                  <a:pt x="51941" y="-5953"/>
                  <a:pt x="53615" y="-5953"/>
                </a:cubicBezTo>
                <a:close/>
                <a:moveTo>
                  <a:pt x="53597" y="8334"/>
                </a:moveTo>
                <a:lnTo>
                  <a:pt x="42844" y="29394"/>
                </a:lnTo>
                <a:cubicBezTo>
                  <a:pt x="42193" y="30659"/>
                  <a:pt x="40984" y="31552"/>
                  <a:pt x="39570" y="31775"/>
                </a:cubicBezTo>
                <a:lnTo>
                  <a:pt x="16222" y="35496"/>
                </a:lnTo>
                <a:lnTo>
                  <a:pt x="32928" y="52220"/>
                </a:lnTo>
                <a:cubicBezTo>
                  <a:pt x="33933" y="53225"/>
                  <a:pt x="34398" y="54657"/>
                  <a:pt x="34175" y="56071"/>
                </a:cubicBezTo>
                <a:lnTo>
                  <a:pt x="30491" y="79418"/>
                </a:lnTo>
                <a:lnTo>
                  <a:pt x="51569" y="68703"/>
                </a:lnTo>
                <a:cubicBezTo>
                  <a:pt x="52834" y="68052"/>
                  <a:pt x="54341" y="68052"/>
                  <a:pt x="55625" y="68703"/>
                </a:cubicBezTo>
                <a:lnTo>
                  <a:pt x="76702" y="79418"/>
                </a:lnTo>
                <a:lnTo>
                  <a:pt x="73019" y="56071"/>
                </a:lnTo>
                <a:cubicBezTo>
                  <a:pt x="72796" y="54657"/>
                  <a:pt x="73261" y="53225"/>
                  <a:pt x="74265" y="52220"/>
                </a:cubicBezTo>
                <a:lnTo>
                  <a:pt x="90971" y="35496"/>
                </a:lnTo>
                <a:lnTo>
                  <a:pt x="67624" y="31775"/>
                </a:lnTo>
                <a:cubicBezTo>
                  <a:pt x="66210" y="31552"/>
                  <a:pt x="65001" y="30659"/>
                  <a:pt x="64350" y="29394"/>
                </a:cubicBezTo>
                <a:lnTo>
                  <a:pt x="53597" y="833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1" name="Shape 89"/>
          <p:cNvSpPr/>
          <p:nvPr/>
        </p:nvSpPr>
        <p:spPr>
          <a:xfrm>
            <a:off x="5541037" y="6154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3597" y="-5953"/>
                </a:moveTo>
                <a:cubicBezTo>
                  <a:pt x="55271" y="-5953"/>
                  <a:pt x="56815" y="-5004"/>
                  <a:pt x="57578" y="-3516"/>
                </a:cubicBezTo>
                <a:lnTo>
                  <a:pt x="71251" y="23310"/>
                </a:lnTo>
                <a:lnTo>
                  <a:pt x="100998" y="28035"/>
                </a:lnTo>
                <a:cubicBezTo>
                  <a:pt x="102654" y="28296"/>
                  <a:pt x="104031" y="29468"/>
                  <a:pt x="104552" y="31068"/>
                </a:cubicBezTo>
                <a:cubicBezTo>
                  <a:pt x="105073" y="32668"/>
                  <a:pt x="104645" y="34417"/>
                  <a:pt x="103473" y="35607"/>
                </a:cubicBezTo>
                <a:lnTo>
                  <a:pt x="82172" y="56908"/>
                </a:lnTo>
                <a:lnTo>
                  <a:pt x="86878" y="86655"/>
                </a:lnTo>
                <a:cubicBezTo>
                  <a:pt x="87139" y="88311"/>
                  <a:pt x="86451" y="89985"/>
                  <a:pt x="85092" y="90971"/>
                </a:cubicBezTo>
                <a:cubicBezTo>
                  <a:pt x="83734" y="91957"/>
                  <a:pt x="81930" y="92106"/>
                  <a:pt x="80442" y="91343"/>
                </a:cubicBezTo>
                <a:lnTo>
                  <a:pt x="53597" y="77688"/>
                </a:lnTo>
                <a:lnTo>
                  <a:pt x="26752" y="91343"/>
                </a:lnTo>
                <a:cubicBezTo>
                  <a:pt x="25264" y="92106"/>
                  <a:pt x="23459" y="91957"/>
                  <a:pt x="22101" y="90971"/>
                </a:cubicBezTo>
                <a:cubicBezTo>
                  <a:pt x="20743" y="89985"/>
                  <a:pt x="20055" y="88329"/>
                  <a:pt x="20315" y="86655"/>
                </a:cubicBezTo>
                <a:lnTo>
                  <a:pt x="25003" y="56908"/>
                </a:lnTo>
                <a:lnTo>
                  <a:pt x="3721" y="35607"/>
                </a:lnTo>
                <a:cubicBezTo>
                  <a:pt x="2530" y="34417"/>
                  <a:pt x="2121" y="32668"/>
                  <a:pt x="2642" y="31068"/>
                </a:cubicBezTo>
                <a:cubicBezTo>
                  <a:pt x="3163" y="29468"/>
                  <a:pt x="4521" y="28296"/>
                  <a:pt x="6195" y="28035"/>
                </a:cubicBezTo>
                <a:lnTo>
                  <a:pt x="35942" y="23310"/>
                </a:lnTo>
                <a:lnTo>
                  <a:pt x="49634" y="-3516"/>
                </a:lnTo>
                <a:cubicBezTo>
                  <a:pt x="50397" y="-5004"/>
                  <a:pt x="51941" y="-5953"/>
                  <a:pt x="53615" y="-5953"/>
                </a:cubicBezTo>
                <a:close/>
                <a:moveTo>
                  <a:pt x="53597" y="8334"/>
                </a:moveTo>
                <a:lnTo>
                  <a:pt x="42844" y="29394"/>
                </a:lnTo>
                <a:cubicBezTo>
                  <a:pt x="42193" y="30659"/>
                  <a:pt x="40984" y="31552"/>
                  <a:pt x="39570" y="31775"/>
                </a:cubicBezTo>
                <a:lnTo>
                  <a:pt x="16222" y="35496"/>
                </a:lnTo>
                <a:lnTo>
                  <a:pt x="32928" y="52220"/>
                </a:lnTo>
                <a:cubicBezTo>
                  <a:pt x="33933" y="53225"/>
                  <a:pt x="34398" y="54657"/>
                  <a:pt x="34175" y="56071"/>
                </a:cubicBezTo>
                <a:lnTo>
                  <a:pt x="30491" y="79418"/>
                </a:lnTo>
                <a:lnTo>
                  <a:pt x="51569" y="68703"/>
                </a:lnTo>
                <a:cubicBezTo>
                  <a:pt x="52834" y="68052"/>
                  <a:pt x="54341" y="68052"/>
                  <a:pt x="55625" y="68703"/>
                </a:cubicBezTo>
                <a:lnTo>
                  <a:pt x="76702" y="79418"/>
                </a:lnTo>
                <a:lnTo>
                  <a:pt x="73019" y="56071"/>
                </a:lnTo>
                <a:cubicBezTo>
                  <a:pt x="72796" y="54657"/>
                  <a:pt x="73261" y="53225"/>
                  <a:pt x="74265" y="52220"/>
                </a:cubicBezTo>
                <a:lnTo>
                  <a:pt x="90971" y="35496"/>
                </a:lnTo>
                <a:lnTo>
                  <a:pt x="67624" y="31775"/>
                </a:lnTo>
                <a:cubicBezTo>
                  <a:pt x="66210" y="31552"/>
                  <a:pt x="65001" y="30659"/>
                  <a:pt x="64350" y="29394"/>
                </a:cubicBezTo>
                <a:lnTo>
                  <a:pt x="53597" y="833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2" name="Shape 90"/>
          <p:cNvSpPr/>
          <p:nvPr/>
        </p:nvSpPr>
        <p:spPr>
          <a:xfrm>
            <a:off x="5691849" y="6154210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53597" y="-5953"/>
                </a:moveTo>
                <a:cubicBezTo>
                  <a:pt x="55271" y="-5953"/>
                  <a:pt x="56815" y="-5004"/>
                  <a:pt x="57578" y="-3516"/>
                </a:cubicBezTo>
                <a:lnTo>
                  <a:pt x="71251" y="23310"/>
                </a:lnTo>
                <a:lnTo>
                  <a:pt x="100998" y="28035"/>
                </a:lnTo>
                <a:cubicBezTo>
                  <a:pt x="102654" y="28296"/>
                  <a:pt x="104031" y="29468"/>
                  <a:pt x="104552" y="31068"/>
                </a:cubicBezTo>
                <a:cubicBezTo>
                  <a:pt x="105073" y="32668"/>
                  <a:pt x="104645" y="34417"/>
                  <a:pt x="103473" y="35607"/>
                </a:cubicBezTo>
                <a:lnTo>
                  <a:pt x="82172" y="56908"/>
                </a:lnTo>
                <a:lnTo>
                  <a:pt x="86878" y="86655"/>
                </a:lnTo>
                <a:cubicBezTo>
                  <a:pt x="87139" y="88311"/>
                  <a:pt x="86451" y="89985"/>
                  <a:pt x="85092" y="90971"/>
                </a:cubicBezTo>
                <a:cubicBezTo>
                  <a:pt x="83734" y="91957"/>
                  <a:pt x="81930" y="92106"/>
                  <a:pt x="80442" y="91343"/>
                </a:cubicBezTo>
                <a:lnTo>
                  <a:pt x="53597" y="77688"/>
                </a:lnTo>
                <a:lnTo>
                  <a:pt x="26752" y="91343"/>
                </a:lnTo>
                <a:cubicBezTo>
                  <a:pt x="25264" y="92106"/>
                  <a:pt x="23459" y="91957"/>
                  <a:pt x="22101" y="90971"/>
                </a:cubicBezTo>
                <a:cubicBezTo>
                  <a:pt x="20743" y="89985"/>
                  <a:pt x="20055" y="88329"/>
                  <a:pt x="20315" y="86655"/>
                </a:cubicBezTo>
                <a:lnTo>
                  <a:pt x="25003" y="56908"/>
                </a:lnTo>
                <a:lnTo>
                  <a:pt x="3721" y="35607"/>
                </a:lnTo>
                <a:cubicBezTo>
                  <a:pt x="2530" y="34417"/>
                  <a:pt x="2121" y="32668"/>
                  <a:pt x="2642" y="31068"/>
                </a:cubicBezTo>
                <a:cubicBezTo>
                  <a:pt x="3163" y="29468"/>
                  <a:pt x="4521" y="28296"/>
                  <a:pt x="6195" y="28035"/>
                </a:cubicBezTo>
                <a:lnTo>
                  <a:pt x="35942" y="23310"/>
                </a:lnTo>
                <a:lnTo>
                  <a:pt x="49634" y="-3516"/>
                </a:lnTo>
                <a:cubicBezTo>
                  <a:pt x="50397" y="-5004"/>
                  <a:pt x="51941" y="-5953"/>
                  <a:pt x="53615" y="-5953"/>
                </a:cubicBezTo>
                <a:close/>
                <a:moveTo>
                  <a:pt x="53597" y="8334"/>
                </a:moveTo>
                <a:lnTo>
                  <a:pt x="42844" y="29394"/>
                </a:lnTo>
                <a:cubicBezTo>
                  <a:pt x="42193" y="30659"/>
                  <a:pt x="40984" y="31552"/>
                  <a:pt x="39570" y="31775"/>
                </a:cubicBezTo>
                <a:lnTo>
                  <a:pt x="16222" y="35496"/>
                </a:lnTo>
                <a:lnTo>
                  <a:pt x="32928" y="52220"/>
                </a:lnTo>
                <a:cubicBezTo>
                  <a:pt x="33933" y="53225"/>
                  <a:pt x="34398" y="54657"/>
                  <a:pt x="34175" y="56071"/>
                </a:cubicBezTo>
                <a:lnTo>
                  <a:pt x="30491" y="79418"/>
                </a:lnTo>
                <a:lnTo>
                  <a:pt x="51569" y="68703"/>
                </a:lnTo>
                <a:cubicBezTo>
                  <a:pt x="52834" y="68052"/>
                  <a:pt x="54341" y="68052"/>
                  <a:pt x="55625" y="68703"/>
                </a:cubicBezTo>
                <a:lnTo>
                  <a:pt x="76702" y="79418"/>
                </a:lnTo>
                <a:lnTo>
                  <a:pt x="73019" y="56071"/>
                </a:lnTo>
                <a:cubicBezTo>
                  <a:pt x="72796" y="54657"/>
                  <a:pt x="73261" y="53225"/>
                  <a:pt x="74265" y="52220"/>
                </a:cubicBezTo>
                <a:lnTo>
                  <a:pt x="90971" y="35496"/>
                </a:lnTo>
                <a:lnTo>
                  <a:pt x="67624" y="31775"/>
                </a:lnTo>
                <a:cubicBezTo>
                  <a:pt x="66210" y="31552"/>
                  <a:pt x="65001" y="30659"/>
                  <a:pt x="64350" y="29394"/>
                </a:cubicBezTo>
                <a:lnTo>
                  <a:pt x="53597" y="833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3" name="Shape 91"/>
          <p:cNvSpPr/>
          <p:nvPr/>
        </p:nvSpPr>
        <p:spPr>
          <a:xfrm>
            <a:off x="6162146" y="4151315"/>
            <a:ext cx="5712354" cy="2823104"/>
          </a:xfrm>
          <a:custGeom>
            <a:avLst/>
            <a:gdLst/>
            <a:ahLst/>
            <a:cxnLst/>
            <a:rect l="l" t="t" r="r" b="b"/>
            <a:pathLst>
              <a:path w="5712354" h="2823104">
                <a:moveTo>
                  <a:pt x="95252" y="0"/>
                </a:moveTo>
                <a:lnTo>
                  <a:pt x="5617103" y="0"/>
                </a:lnTo>
                <a:cubicBezTo>
                  <a:pt x="5669709" y="0"/>
                  <a:pt x="5712354" y="42646"/>
                  <a:pt x="5712354" y="95252"/>
                </a:cubicBezTo>
                <a:lnTo>
                  <a:pt x="5712354" y="2727853"/>
                </a:lnTo>
                <a:cubicBezTo>
                  <a:pt x="5712354" y="2780459"/>
                  <a:pt x="5669709" y="2823104"/>
                  <a:pt x="5617103" y="2823104"/>
                </a:cubicBezTo>
                <a:lnTo>
                  <a:pt x="95252" y="2823104"/>
                </a:lnTo>
                <a:cubicBezTo>
                  <a:pt x="42646" y="2823104"/>
                  <a:pt x="0" y="2780459"/>
                  <a:pt x="0" y="2727853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43386" y="434446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8859" y="59531"/>
                </a:moveTo>
                <a:lnTo>
                  <a:pt x="151309" y="59531"/>
                </a:lnTo>
                <a:cubicBezTo>
                  <a:pt x="155432" y="59531"/>
                  <a:pt x="158750" y="56214"/>
                  <a:pt x="158750" y="52090"/>
                </a:cubicBezTo>
                <a:lnTo>
                  <a:pt x="158750" y="7441"/>
                </a:lnTo>
                <a:cubicBezTo>
                  <a:pt x="158750" y="4434"/>
                  <a:pt x="156952" y="1705"/>
                  <a:pt x="154161" y="558"/>
                </a:cubicBezTo>
                <a:cubicBezTo>
                  <a:pt x="151371" y="-589"/>
                  <a:pt x="148177" y="62"/>
                  <a:pt x="146038" y="2170"/>
                </a:cubicBezTo>
                <a:lnTo>
                  <a:pt x="130008" y="18231"/>
                </a:lnTo>
                <a:cubicBezTo>
                  <a:pt x="116272" y="6852"/>
                  <a:pt x="98599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ubicBezTo>
                  <a:pt x="24557" y="42013"/>
                  <a:pt x="49392" y="19844"/>
                  <a:pt x="79375" y="19844"/>
                </a:cubicBezTo>
                <a:cubicBezTo>
                  <a:pt x="93142" y="19844"/>
                  <a:pt x="105792" y="24495"/>
                  <a:pt x="115869" y="32339"/>
                </a:cubicBezTo>
                <a:lnTo>
                  <a:pt x="101389" y="46819"/>
                </a:lnTo>
                <a:cubicBezTo>
                  <a:pt x="99250" y="48958"/>
                  <a:pt x="98630" y="52152"/>
                  <a:pt x="99777" y="54942"/>
                </a:cubicBezTo>
                <a:cubicBezTo>
                  <a:pt x="100924" y="57733"/>
                  <a:pt x="103653" y="59531"/>
                  <a:pt x="106660" y="59531"/>
                </a:cubicBezTo>
                <a:lnTo>
                  <a:pt x="148859" y="59531"/>
                </a:lnTo>
                <a:close/>
                <a:moveTo>
                  <a:pt x="157975" y="90692"/>
                </a:moveTo>
                <a:cubicBezTo>
                  <a:pt x="158750" y="85266"/>
                  <a:pt x="154967" y="80243"/>
                  <a:pt x="149572" y="79468"/>
                </a:cubicBezTo>
                <a:cubicBezTo>
                  <a:pt x="144177" y="78693"/>
                  <a:pt x="139123" y="82476"/>
                  <a:pt x="138348" y="87871"/>
                </a:cubicBezTo>
                <a:cubicBezTo>
                  <a:pt x="134224" y="116706"/>
                  <a:pt x="109389" y="138875"/>
                  <a:pt x="79406" y="138875"/>
                </a:cubicBezTo>
                <a:cubicBezTo>
                  <a:pt x="65639" y="138875"/>
                  <a:pt x="52989" y="134224"/>
                  <a:pt x="42912" y="126380"/>
                </a:cubicBezTo>
                <a:lnTo>
                  <a:pt x="57361" y="111931"/>
                </a:lnTo>
                <a:cubicBezTo>
                  <a:pt x="59500" y="109792"/>
                  <a:pt x="60120" y="106598"/>
                  <a:pt x="58973" y="103808"/>
                </a:cubicBezTo>
                <a:cubicBezTo>
                  <a:pt x="57826" y="101017"/>
                  <a:pt x="55097" y="99219"/>
                  <a:pt x="52090" y="99219"/>
                </a:cubicBezTo>
                <a:lnTo>
                  <a:pt x="7441" y="99219"/>
                </a:lnTo>
                <a:cubicBezTo>
                  <a:pt x="3318" y="99219"/>
                  <a:pt x="0" y="102536"/>
                  <a:pt x="0" y="106660"/>
                </a:cubicBezTo>
                <a:lnTo>
                  <a:pt x="0" y="151309"/>
                </a:lnTo>
                <a:cubicBezTo>
                  <a:pt x="0" y="154316"/>
                  <a:pt x="1798" y="157045"/>
                  <a:pt x="4589" y="158192"/>
                </a:cubicBezTo>
                <a:cubicBezTo>
                  <a:pt x="7379" y="159339"/>
                  <a:pt x="10573" y="158688"/>
                  <a:pt x="12712" y="156580"/>
                </a:cubicBezTo>
                <a:lnTo>
                  <a:pt x="28773" y="140519"/>
                </a:lnTo>
                <a:cubicBezTo>
                  <a:pt x="42478" y="151898"/>
                  <a:pt x="60151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5" name="Text 93"/>
          <p:cNvSpPr/>
          <p:nvPr/>
        </p:nvSpPr>
        <p:spPr>
          <a:xfrm>
            <a:off x="6521979" y="431271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SKILL增量更新机制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6323542" y="46778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6403909" y="474927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55563" y="13891"/>
                </a:moveTo>
                <a:cubicBezTo>
                  <a:pt x="55563" y="10049"/>
                  <a:pt x="52459" y="6945"/>
                  <a:pt x="48617" y="6945"/>
                </a:cubicBezTo>
                <a:cubicBezTo>
                  <a:pt x="44776" y="6945"/>
                  <a:pt x="41672" y="10049"/>
                  <a:pt x="41672" y="13891"/>
                </a:cubicBezTo>
                <a:lnTo>
                  <a:pt x="4167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41672" y="62508"/>
                </a:lnTo>
                <a:lnTo>
                  <a:pt x="41672" y="97234"/>
                </a:lnTo>
                <a:cubicBezTo>
                  <a:pt x="41672" y="101076"/>
                  <a:pt x="44776" y="104180"/>
                  <a:pt x="48617" y="104180"/>
                </a:cubicBezTo>
                <a:cubicBezTo>
                  <a:pt x="52459" y="104180"/>
                  <a:pt x="55563" y="101076"/>
                  <a:pt x="55563" y="97234"/>
                </a:cubicBezTo>
                <a:lnTo>
                  <a:pt x="55563" y="62508"/>
                </a:lnTo>
                <a:lnTo>
                  <a:pt x="90289" y="62508"/>
                </a:lnTo>
                <a:cubicBezTo>
                  <a:pt x="94131" y="62508"/>
                  <a:pt x="97234" y="59404"/>
                  <a:pt x="97234" y="55563"/>
                </a:cubicBezTo>
                <a:cubicBezTo>
                  <a:pt x="97234" y="51721"/>
                  <a:pt x="94131" y="48617"/>
                  <a:pt x="90289" y="48617"/>
                </a:cubicBezTo>
                <a:lnTo>
                  <a:pt x="55563" y="48617"/>
                </a:lnTo>
                <a:lnTo>
                  <a:pt x="55563" y="1389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8" name="Shape 96"/>
          <p:cNvSpPr/>
          <p:nvPr/>
        </p:nvSpPr>
        <p:spPr>
          <a:xfrm>
            <a:off x="6641042" y="4661960"/>
            <a:ext cx="5072063" cy="285750"/>
          </a:xfrm>
          <a:custGeom>
            <a:avLst/>
            <a:gdLst/>
            <a:ahLst/>
            <a:cxnLst/>
            <a:rect l="l" t="t" r="r" b="b"/>
            <a:pathLst>
              <a:path w="5072063" h="285750">
                <a:moveTo>
                  <a:pt x="63499" y="0"/>
                </a:moveTo>
                <a:lnTo>
                  <a:pt x="5008563" y="0"/>
                </a:lnTo>
                <a:cubicBezTo>
                  <a:pt x="5043633" y="0"/>
                  <a:pt x="5072063" y="28430"/>
                  <a:pt x="5072063" y="63499"/>
                </a:cubicBezTo>
                <a:lnTo>
                  <a:pt x="5072063" y="222251"/>
                </a:lnTo>
                <a:cubicBezTo>
                  <a:pt x="5072063" y="257320"/>
                  <a:pt x="5043633" y="285750"/>
                  <a:pt x="50085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6704542" y="4725460"/>
            <a:ext cx="500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新场景 → 人工介入分析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6323542" y="502708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6390018" y="5098522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78308" y="260"/>
                </a:moveTo>
                <a:cubicBezTo>
                  <a:pt x="74619" y="-803"/>
                  <a:pt x="70777" y="1346"/>
                  <a:pt x="69714" y="5035"/>
                </a:cubicBezTo>
                <a:lnTo>
                  <a:pt x="41932" y="102270"/>
                </a:lnTo>
                <a:cubicBezTo>
                  <a:pt x="40869" y="105959"/>
                  <a:pt x="43018" y="109801"/>
                  <a:pt x="46707" y="110865"/>
                </a:cubicBezTo>
                <a:cubicBezTo>
                  <a:pt x="50397" y="111928"/>
                  <a:pt x="54239" y="109779"/>
                  <a:pt x="55302" y="106090"/>
                </a:cubicBezTo>
                <a:lnTo>
                  <a:pt x="83083" y="8855"/>
                </a:lnTo>
                <a:cubicBezTo>
                  <a:pt x="84147" y="5166"/>
                  <a:pt x="81998" y="1324"/>
                  <a:pt x="78308" y="260"/>
                </a:cubicBezTo>
                <a:close/>
                <a:moveTo>
                  <a:pt x="92329" y="29800"/>
                </a:moveTo>
                <a:cubicBezTo>
                  <a:pt x="89616" y="32513"/>
                  <a:pt x="89616" y="36919"/>
                  <a:pt x="92329" y="39632"/>
                </a:cubicBezTo>
                <a:lnTo>
                  <a:pt x="108260" y="55563"/>
                </a:lnTo>
                <a:lnTo>
                  <a:pt x="92329" y="71493"/>
                </a:lnTo>
                <a:cubicBezTo>
                  <a:pt x="89616" y="74206"/>
                  <a:pt x="89616" y="78612"/>
                  <a:pt x="92329" y="81325"/>
                </a:cubicBezTo>
                <a:cubicBezTo>
                  <a:pt x="95042" y="84038"/>
                  <a:pt x="99448" y="84038"/>
                  <a:pt x="102161" y="81325"/>
                </a:cubicBezTo>
                <a:lnTo>
                  <a:pt x="122997" y="60489"/>
                </a:lnTo>
                <a:cubicBezTo>
                  <a:pt x="125710" y="57776"/>
                  <a:pt x="125710" y="53370"/>
                  <a:pt x="122997" y="50657"/>
                </a:cubicBezTo>
                <a:lnTo>
                  <a:pt x="102161" y="29821"/>
                </a:lnTo>
                <a:cubicBezTo>
                  <a:pt x="99448" y="27108"/>
                  <a:pt x="95042" y="27108"/>
                  <a:pt x="92329" y="29821"/>
                </a:cubicBezTo>
                <a:close/>
                <a:moveTo>
                  <a:pt x="32708" y="29800"/>
                </a:moveTo>
                <a:cubicBezTo>
                  <a:pt x="29995" y="27087"/>
                  <a:pt x="25589" y="27087"/>
                  <a:pt x="22876" y="29800"/>
                </a:cubicBezTo>
                <a:lnTo>
                  <a:pt x="2040" y="50636"/>
                </a:lnTo>
                <a:cubicBezTo>
                  <a:pt x="-673" y="53349"/>
                  <a:pt x="-673" y="57755"/>
                  <a:pt x="2040" y="60468"/>
                </a:cubicBezTo>
                <a:lnTo>
                  <a:pt x="22876" y="81304"/>
                </a:lnTo>
                <a:cubicBezTo>
                  <a:pt x="25589" y="84017"/>
                  <a:pt x="29995" y="84017"/>
                  <a:pt x="32708" y="81304"/>
                </a:cubicBezTo>
                <a:cubicBezTo>
                  <a:pt x="35421" y="78591"/>
                  <a:pt x="35421" y="74185"/>
                  <a:pt x="32708" y="71472"/>
                </a:cubicBezTo>
                <a:lnTo>
                  <a:pt x="16777" y="55563"/>
                </a:lnTo>
                <a:lnTo>
                  <a:pt x="32686" y="39632"/>
                </a:lnTo>
                <a:cubicBezTo>
                  <a:pt x="35399" y="36919"/>
                  <a:pt x="35399" y="32513"/>
                  <a:pt x="32686" y="2980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641042" y="5011210"/>
            <a:ext cx="5072063" cy="285750"/>
          </a:xfrm>
          <a:custGeom>
            <a:avLst/>
            <a:gdLst/>
            <a:ahLst/>
            <a:cxnLst/>
            <a:rect l="l" t="t" r="r" b="b"/>
            <a:pathLst>
              <a:path w="5072063" h="285750">
                <a:moveTo>
                  <a:pt x="63499" y="0"/>
                </a:moveTo>
                <a:lnTo>
                  <a:pt x="5008563" y="0"/>
                </a:lnTo>
                <a:cubicBezTo>
                  <a:pt x="5043633" y="0"/>
                  <a:pt x="5072063" y="28430"/>
                  <a:pt x="5072063" y="63499"/>
                </a:cubicBezTo>
                <a:lnTo>
                  <a:pt x="5072063" y="222251"/>
                </a:lnTo>
                <a:cubicBezTo>
                  <a:pt x="5072063" y="257320"/>
                  <a:pt x="5043633" y="285750"/>
                  <a:pt x="50085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6704542" y="5074710"/>
            <a:ext cx="500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生成新改造类 + 新场景改造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6323542" y="53763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6396964" y="544777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0462" y="1129"/>
                </a:moveTo>
                <a:cubicBezTo>
                  <a:pt x="53696" y="-369"/>
                  <a:pt x="57429" y="-369"/>
                  <a:pt x="60663" y="1129"/>
                </a:cubicBezTo>
                <a:lnTo>
                  <a:pt x="108108" y="23050"/>
                </a:lnTo>
                <a:cubicBezTo>
                  <a:pt x="109953" y="23896"/>
                  <a:pt x="111125" y="25741"/>
                  <a:pt x="111125" y="27781"/>
                </a:cubicBezTo>
                <a:cubicBezTo>
                  <a:pt x="111125" y="29821"/>
                  <a:pt x="109953" y="31666"/>
                  <a:pt x="108108" y="32513"/>
                </a:cubicBezTo>
                <a:lnTo>
                  <a:pt x="60663" y="54434"/>
                </a:lnTo>
                <a:cubicBezTo>
                  <a:pt x="57429" y="55931"/>
                  <a:pt x="53696" y="55931"/>
                  <a:pt x="50462" y="54434"/>
                </a:cubicBezTo>
                <a:lnTo>
                  <a:pt x="3017" y="32513"/>
                </a:lnTo>
                <a:cubicBezTo>
                  <a:pt x="1172" y="31645"/>
                  <a:pt x="0" y="29800"/>
                  <a:pt x="0" y="27781"/>
                </a:cubicBezTo>
                <a:cubicBezTo>
                  <a:pt x="0" y="25763"/>
                  <a:pt x="1172" y="23896"/>
                  <a:pt x="3017" y="23050"/>
                </a:cubicBezTo>
                <a:lnTo>
                  <a:pt x="50462" y="1129"/>
                </a:lnTo>
                <a:close/>
                <a:moveTo>
                  <a:pt x="10440" y="47402"/>
                </a:moveTo>
                <a:lnTo>
                  <a:pt x="46100" y="63875"/>
                </a:lnTo>
                <a:cubicBezTo>
                  <a:pt x="52112" y="66653"/>
                  <a:pt x="59035" y="66653"/>
                  <a:pt x="65047" y="63875"/>
                </a:cubicBezTo>
                <a:lnTo>
                  <a:pt x="100707" y="47402"/>
                </a:lnTo>
                <a:lnTo>
                  <a:pt x="108108" y="50831"/>
                </a:lnTo>
                <a:cubicBezTo>
                  <a:pt x="109953" y="51677"/>
                  <a:pt x="111125" y="53522"/>
                  <a:pt x="111125" y="55563"/>
                </a:cubicBezTo>
                <a:cubicBezTo>
                  <a:pt x="111125" y="57603"/>
                  <a:pt x="109953" y="59448"/>
                  <a:pt x="108108" y="60294"/>
                </a:cubicBezTo>
                <a:lnTo>
                  <a:pt x="60663" y="82215"/>
                </a:lnTo>
                <a:cubicBezTo>
                  <a:pt x="57429" y="83713"/>
                  <a:pt x="53696" y="83713"/>
                  <a:pt x="50462" y="82215"/>
                </a:cubicBezTo>
                <a:lnTo>
                  <a:pt x="3017" y="60294"/>
                </a:lnTo>
                <a:cubicBezTo>
                  <a:pt x="1172" y="59426"/>
                  <a:pt x="0" y="57581"/>
                  <a:pt x="0" y="55563"/>
                </a:cubicBezTo>
                <a:cubicBezTo>
                  <a:pt x="0" y="53544"/>
                  <a:pt x="1172" y="51677"/>
                  <a:pt x="3017" y="50831"/>
                </a:cubicBezTo>
                <a:lnTo>
                  <a:pt x="10418" y="47402"/>
                </a:lnTo>
                <a:close/>
                <a:moveTo>
                  <a:pt x="3017" y="78612"/>
                </a:moveTo>
                <a:lnTo>
                  <a:pt x="10418" y="75183"/>
                </a:lnTo>
                <a:lnTo>
                  <a:pt x="46078" y="91656"/>
                </a:lnTo>
                <a:cubicBezTo>
                  <a:pt x="52090" y="94435"/>
                  <a:pt x="59013" y="94435"/>
                  <a:pt x="65025" y="91656"/>
                </a:cubicBezTo>
                <a:lnTo>
                  <a:pt x="100685" y="75183"/>
                </a:lnTo>
                <a:lnTo>
                  <a:pt x="108086" y="78612"/>
                </a:lnTo>
                <a:cubicBezTo>
                  <a:pt x="109931" y="79459"/>
                  <a:pt x="111103" y="81304"/>
                  <a:pt x="111103" y="83344"/>
                </a:cubicBezTo>
                <a:cubicBezTo>
                  <a:pt x="111103" y="85384"/>
                  <a:pt x="109931" y="87229"/>
                  <a:pt x="108086" y="88075"/>
                </a:cubicBezTo>
                <a:lnTo>
                  <a:pt x="60641" y="109996"/>
                </a:lnTo>
                <a:cubicBezTo>
                  <a:pt x="57407" y="111494"/>
                  <a:pt x="53674" y="111494"/>
                  <a:pt x="50440" y="109996"/>
                </a:cubicBezTo>
                <a:lnTo>
                  <a:pt x="3017" y="88075"/>
                </a:lnTo>
                <a:cubicBezTo>
                  <a:pt x="1172" y="87207"/>
                  <a:pt x="0" y="85362"/>
                  <a:pt x="0" y="83344"/>
                </a:cubicBezTo>
                <a:cubicBezTo>
                  <a:pt x="0" y="81325"/>
                  <a:pt x="1172" y="79459"/>
                  <a:pt x="3017" y="78612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641042" y="5360460"/>
            <a:ext cx="5072063" cy="285750"/>
          </a:xfrm>
          <a:custGeom>
            <a:avLst/>
            <a:gdLst/>
            <a:ahLst/>
            <a:cxnLst/>
            <a:rect l="l" t="t" r="r" b="b"/>
            <a:pathLst>
              <a:path w="5072063" h="285750">
                <a:moveTo>
                  <a:pt x="63499" y="0"/>
                </a:moveTo>
                <a:lnTo>
                  <a:pt x="5008563" y="0"/>
                </a:lnTo>
                <a:cubicBezTo>
                  <a:pt x="5043633" y="0"/>
                  <a:pt x="5072063" y="28430"/>
                  <a:pt x="5072063" y="63499"/>
                </a:cubicBezTo>
                <a:lnTo>
                  <a:pt x="5072063" y="222251"/>
                </a:lnTo>
                <a:cubicBezTo>
                  <a:pt x="5072063" y="257320"/>
                  <a:pt x="5043633" y="285750"/>
                  <a:pt x="50085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7" name="Text 105"/>
          <p:cNvSpPr/>
          <p:nvPr/>
        </p:nvSpPr>
        <p:spPr>
          <a:xfrm>
            <a:off x="6704542" y="5423960"/>
            <a:ext cx="500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增量更新SKILL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6323542" y="572558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6403909" y="579702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36463" y="6945"/>
                </a:moveTo>
                <a:lnTo>
                  <a:pt x="5209" y="6945"/>
                </a:lnTo>
                <a:cubicBezTo>
                  <a:pt x="2322" y="6945"/>
                  <a:pt x="0" y="9268"/>
                  <a:pt x="0" y="12154"/>
                </a:cubicBezTo>
                <a:lnTo>
                  <a:pt x="0" y="43408"/>
                </a:lnTo>
                <a:cubicBezTo>
                  <a:pt x="0" y="45514"/>
                  <a:pt x="1259" y="47423"/>
                  <a:pt x="3212" y="48227"/>
                </a:cubicBezTo>
                <a:cubicBezTo>
                  <a:pt x="5166" y="49030"/>
                  <a:pt x="7401" y="48574"/>
                  <a:pt x="8899" y="47098"/>
                </a:cubicBezTo>
                <a:lnTo>
                  <a:pt x="17580" y="38416"/>
                </a:lnTo>
                <a:lnTo>
                  <a:pt x="34727" y="55563"/>
                </a:lnTo>
                <a:lnTo>
                  <a:pt x="17580" y="72709"/>
                </a:lnTo>
                <a:lnTo>
                  <a:pt x="8899" y="64027"/>
                </a:lnTo>
                <a:cubicBezTo>
                  <a:pt x="7401" y="62530"/>
                  <a:pt x="5166" y="62095"/>
                  <a:pt x="3212" y="62898"/>
                </a:cubicBezTo>
                <a:cubicBezTo>
                  <a:pt x="1259" y="63702"/>
                  <a:pt x="0" y="65611"/>
                  <a:pt x="0" y="67717"/>
                </a:cubicBezTo>
                <a:lnTo>
                  <a:pt x="0" y="98971"/>
                </a:lnTo>
                <a:cubicBezTo>
                  <a:pt x="0" y="101857"/>
                  <a:pt x="2322" y="104180"/>
                  <a:pt x="5209" y="104180"/>
                </a:cubicBezTo>
                <a:lnTo>
                  <a:pt x="36463" y="104180"/>
                </a:lnTo>
                <a:cubicBezTo>
                  <a:pt x="38568" y="104180"/>
                  <a:pt x="40478" y="102921"/>
                  <a:pt x="41281" y="100967"/>
                </a:cubicBezTo>
                <a:cubicBezTo>
                  <a:pt x="42084" y="99014"/>
                  <a:pt x="41650" y="96779"/>
                  <a:pt x="40153" y="95281"/>
                </a:cubicBezTo>
                <a:lnTo>
                  <a:pt x="31471" y="86599"/>
                </a:lnTo>
                <a:lnTo>
                  <a:pt x="48617" y="69453"/>
                </a:lnTo>
                <a:lnTo>
                  <a:pt x="65763" y="86599"/>
                </a:lnTo>
                <a:lnTo>
                  <a:pt x="57082" y="95281"/>
                </a:lnTo>
                <a:cubicBezTo>
                  <a:pt x="55584" y="96779"/>
                  <a:pt x="55150" y="99014"/>
                  <a:pt x="55953" y="100967"/>
                </a:cubicBezTo>
                <a:cubicBezTo>
                  <a:pt x="56756" y="102921"/>
                  <a:pt x="58666" y="104180"/>
                  <a:pt x="60771" y="104180"/>
                </a:cubicBezTo>
                <a:lnTo>
                  <a:pt x="92025" y="104180"/>
                </a:lnTo>
                <a:cubicBezTo>
                  <a:pt x="94912" y="104180"/>
                  <a:pt x="97234" y="101857"/>
                  <a:pt x="97234" y="98971"/>
                </a:cubicBezTo>
                <a:lnTo>
                  <a:pt x="97234" y="67717"/>
                </a:lnTo>
                <a:cubicBezTo>
                  <a:pt x="97234" y="65611"/>
                  <a:pt x="95976" y="63702"/>
                  <a:pt x="94022" y="62898"/>
                </a:cubicBezTo>
                <a:cubicBezTo>
                  <a:pt x="92069" y="62095"/>
                  <a:pt x="89833" y="62530"/>
                  <a:pt x="88336" y="64027"/>
                </a:cubicBezTo>
                <a:lnTo>
                  <a:pt x="79654" y="72709"/>
                </a:lnTo>
                <a:lnTo>
                  <a:pt x="62508" y="55563"/>
                </a:lnTo>
                <a:lnTo>
                  <a:pt x="79654" y="38416"/>
                </a:lnTo>
                <a:lnTo>
                  <a:pt x="88336" y="47098"/>
                </a:lnTo>
                <a:cubicBezTo>
                  <a:pt x="89833" y="48595"/>
                  <a:pt x="92069" y="49030"/>
                  <a:pt x="94022" y="48227"/>
                </a:cubicBezTo>
                <a:cubicBezTo>
                  <a:pt x="95976" y="47423"/>
                  <a:pt x="97234" y="45514"/>
                  <a:pt x="97234" y="43408"/>
                </a:cubicBezTo>
                <a:lnTo>
                  <a:pt x="97234" y="12154"/>
                </a:lnTo>
                <a:cubicBezTo>
                  <a:pt x="97234" y="9268"/>
                  <a:pt x="94912" y="6945"/>
                  <a:pt x="92025" y="6945"/>
                </a:cubicBezTo>
                <a:lnTo>
                  <a:pt x="60771" y="6945"/>
                </a:lnTo>
                <a:cubicBezTo>
                  <a:pt x="58666" y="6945"/>
                  <a:pt x="56756" y="8204"/>
                  <a:pt x="55953" y="10158"/>
                </a:cubicBezTo>
                <a:cubicBezTo>
                  <a:pt x="55150" y="12111"/>
                  <a:pt x="55606" y="14346"/>
                  <a:pt x="57082" y="15844"/>
                </a:cubicBezTo>
                <a:lnTo>
                  <a:pt x="65763" y="24526"/>
                </a:lnTo>
                <a:lnTo>
                  <a:pt x="48617" y="41672"/>
                </a:lnTo>
                <a:lnTo>
                  <a:pt x="31471" y="24526"/>
                </a:lnTo>
                <a:lnTo>
                  <a:pt x="40153" y="15844"/>
                </a:lnTo>
                <a:cubicBezTo>
                  <a:pt x="41650" y="14346"/>
                  <a:pt x="42084" y="12111"/>
                  <a:pt x="41281" y="10158"/>
                </a:cubicBezTo>
                <a:cubicBezTo>
                  <a:pt x="40478" y="8204"/>
                  <a:pt x="38568" y="6945"/>
                  <a:pt x="36463" y="694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641042" y="5709710"/>
            <a:ext cx="5072063" cy="285750"/>
          </a:xfrm>
          <a:custGeom>
            <a:avLst/>
            <a:gdLst/>
            <a:ahLst/>
            <a:cxnLst/>
            <a:rect l="l" t="t" r="r" b="b"/>
            <a:pathLst>
              <a:path w="5072063" h="285750">
                <a:moveTo>
                  <a:pt x="63499" y="0"/>
                </a:moveTo>
                <a:lnTo>
                  <a:pt x="5008563" y="0"/>
                </a:lnTo>
                <a:cubicBezTo>
                  <a:pt x="5043633" y="0"/>
                  <a:pt x="5072063" y="28430"/>
                  <a:pt x="5072063" y="63499"/>
                </a:cubicBezTo>
                <a:lnTo>
                  <a:pt x="5072063" y="222251"/>
                </a:lnTo>
                <a:cubicBezTo>
                  <a:pt x="5072063" y="257320"/>
                  <a:pt x="5043633" y="285750"/>
                  <a:pt x="5008563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1" name="Text 109"/>
          <p:cNvSpPr/>
          <p:nvPr/>
        </p:nvSpPr>
        <p:spPr>
          <a:xfrm>
            <a:off x="6704542" y="5773210"/>
            <a:ext cx="500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覆盖范围扩大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6326188" y="6082771"/>
            <a:ext cx="251354" cy="251354"/>
          </a:xfrm>
          <a:custGeom>
            <a:avLst/>
            <a:gdLst/>
            <a:ahLst/>
            <a:cxnLst/>
            <a:rect l="l" t="t" r="r" b="b"/>
            <a:pathLst>
              <a:path w="251354" h="251354">
                <a:moveTo>
                  <a:pt x="31751" y="0"/>
                </a:moveTo>
                <a:lnTo>
                  <a:pt x="219603" y="0"/>
                </a:lnTo>
                <a:cubicBezTo>
                  <a:pt x="237139" y="0"/>
                  <a:pt x="251354" y="14215"/>
                  <a:pt x="251354" y="31751"/>
                </a:cubicBezTo>
                <a:lnTo>
                  <a:pt x="251354" y="219603"/>
                </a:lnTo>
                <a:cubicBezTo>
                  <a:pt x="251354" y="237139"/>
                  <a:pt x="237139" y="251354"/>
                  <a:pt x="219603" y="251354"/>
                </a:cubicBezTo>
                <a:lnTo>
                  <a:pt x="31751" y="251354"/>
                </a:lnTo>
                <a:cubicBezTo>
                  <a:pt x="14215" y="251354"/>
                  <a:pt x="0" y="237139"/>
                  <a:pt x="0" y="219603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8467">
            <a:solidFill>
              <a:srgbClr val="5E8B7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396964" y="61515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4782" y="16213"/>
                </a:moveTo>
                <a:lnTo>
                  <a:pt x="97234" y="18535"/>
                </a:lnTo>
                <a:lnTo>
                  <a:pt x="97234" y="6945"/>
                </a:lnTo>
                <a:cubicBezTo>
                  <a:pt x="97234" y="3104"/>
                  <a:pt x="100338" y="0"/>
                  <a:pt x="104180" y="0"/>
                </a:cubicBezTo>
                <a:cubicBezTo>
                  <a:pt x="108021" y="0"/>
                  <a:pt x="111125" y="3104"/>
                  <a:pt x="111125" y="6945"/>
                </a:cubicBezTo>
                <a:lnTo>
                  <a:pt x="111125" y="34727"/>
                </a:lnTo>
                <a:cubicBezTo>
                  <a:pt x="111125" y="38568"/>
                  <a:pt x="108021" y="41672"/>
                  <a:pt x="104180" y="41672"/>
                </a:cubicBezTo>
                <a:lnTo>
                  <a:pt x="76398" y="41672"/>
                </a:lnTo>
                <a:cubicBezTo>
                  <a:pt x="72557" y="41672"/>
                  <a:pt x="69453" y="38568"/>
                  <a:pt x="69453" y="34727"/>
                </a:cubicBezTo>
                <a:cubicBezTo>
                  <a:pt x="69453" y="30885"/>
                  <a:pt x="72557" y="27781"/>
                  <a:pt x="76398" y="27781"/>
                </a:cubicBezTo>
                <a:lnTo>
                  <a:pt x="86795" y="27781"/>
                </a:lnTo>
                <a:lnTo>
                  <a:pt x="85145" y="26219"/>
                </a:lnTo>
                <a:cubicBezTo>
                  <a:pt x="85102" y="26175"/>
                  <a:pt x="85058" y="26132"/>
                  <a:pt x="85015" y="26088"/>
                </a:cubicBezTo>
                <a:cubicBezTo>
                  <a:pt x="68737" y="9810"/>
                  <a:pt x="42366" y="9810"/>
                  <a:pt x="26088" y="26088"/>
                </a:cubicBezTo>
                <a:cubicBezTo>
                  <a:pt x="9810" y="42366"/>
                  <a:pt x="9810" y="68737"/>
                  <a:pt x="26088" y="85015"/>
                </a:cubicBezTo>
                <a:cubicBezTo>
                  <a:pt x="42366" y="101293"/>
                  <a:pt x="68737" y="101293"/>
                  <a:pt x="85015" y="85015"/>
                </a:cubicBezTo>
                <a:cubicBezTo>
                  <a:pt x="86795" y="83235"/>
                  <a:pt x="88379" y="81347"/>
                  <a:pt x="89768" y="79350"/>
                </a:cubicBezTo>
                <a:cubicBezTo>
                  <a:pt x="91960" y="76203"/>
                  <a:pt x="96301" y="75443"/>
                  <a:pt x="99448" y="77636"/>
                </a:cubicBezTo>
                <a:cubicBezTo>
                  <a:pt x="102595" y="79828"/>
                  <a:pt x="103355" y="84169"/>
                  <a:pt x="101163" y="87316"/>
                </a:cubicBezTo>
                <a:cubicBezTo>
                  <a:pt x="99318" y="89964"/>
                  <a:pt x="97213" y="92481"/>
                  <a:pt x="94847" y="94847"/>
                </a:cubicBezTo>
                <a:cubicBezTo>
                  <a:pt x="73143" y="116551"/>
                  <a:pt x="37960" y="116551"/>
                  <a:pt x="16278" y="94847"/>
                </a:cubicBezTo>
                <a:cubicBezTo>
                  <a:pt x="-5404" y="73143"/>
                  <a:pt x="-5426" y="37982"/>
                  <a:pt x="16278" y="16278"/>
                </a:cubicBezTo>
                <a:cubicBezTo>
                  <a:pt x="37960" y="-5404"/>
                  <a:pt x="73078" y="-5426"/>
                  <a:pt x="94782" y="1621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643688" y="6061605"/>
            <a:ext cx="5061479" cy="291042"/>
          </a:xfrm>
          <a:custGeom>
            <a:avLst/>
            <a:gdLst/>
            <a:ahLst/>
            <a:cxnLst/>
            <a:rect l="l" t="t" r="r" b="b"/>
            <a:pathLst>
              <a:path w="5061479" h="291042">
                <a:moveTo>
                  <a:pt x="63499" y="0"/>
                </a:moveTo>
                <a:lnTo>
                  <a:pt x="4997980" y="0"/>
                </a:lnTo>
                <a:cubicBezTo>
                  <a:pt x="5033049" y="0"/>
                  <a:pt x="5061479" y="28430"/>
                  <a:pt x="5061479" y="63499"/>
                </a:cubicBezTo>
                <a:lnTo>
                  <a:pt x="5061479" y="227542"/>
                </a:lnTo>
                <a:cubicBezTo>
                  <a:pt x="5061479" y="262612"/>
                  <a:pt x="5033049" y="291042"/>
                  <a:pt x="4997980" y="291042"/>
                </a:cubicBezTo>
                <a:lnTo>
                  <a:pt x="63499" y="291042"/>
                </a:lnTo>
                <a:cubicBezTo>
                  <a:pt x="28430" y="291042"/>
                  <a:pt x="0" y="262612"/>
                  <a:pt x="0" y="227542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709834" y="6127750"/>
            <a:ext cx="498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下一轮更智能</a:t>
            </a:r>
            <a:endParaRPr lang="en-US" sz="1600" dirty="0"/>
          </a:p>
        </p:txBody>
      </p:sp>
      <p:sp>
        <p:nvSpPr>
          <p:cNvPr id="116" name="Shape 114"/>
          <p:cNvSpPr/>
          <p:nvPr/>
        </p:nvSpPr>
        <p:spPr>
          <a:xfrm>
            <a:off x="6326188" y="6453190"/>
            <a:ext cx="5378979" cy="354542"/>
          </a:xfrm>
          <a:custGeom>
            <a:avLst/>
            <a:gdLst/>
            <a:ahLst/>
            <a:cxnLst/>
            <a:rect l="l" t="t" r="r" b="b"/>
            <a:pathLst>
              <a:path w="5378979" h="354542">
                <a:moveTo>
                  <a:pt x="63498" y="0"/>
                </a:moveTo>
                <a:lnTo>
                  <a:pt x="5315481" y="0"/>
                </a:lnTo>
                <a:cubicBezTo>
                  <a:pt x="5350550" y="0"/>
                  <a:pt x="5378979" y="28429"/>
                  <a:pt x="5378979" y="63498"/>
                </a:cubicBezTo>
                <a:lnTo>
                  <a:pt x="5378979" y="291043"/>
                </a:lnTo>
                <a:cubicBezTo>
                  <a:pt x="5378979" y="326112"/>
                  <a:pt x="5350550" y="354542"/>
                  <a:pt x="5315481" y="354542"/>
                </a:cubicBezTo>
                <a:lnTo>
                  <a:pt x="63498" y="354542"/>
                </a:lnTo>
                <a:cubicBezTo>
                  <a:pt x="28429" y="354542"/>
                  <a:pt x="0" y="326112"/>
                  <a:pt x="0" y="291043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53849" y="6572250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8" name="Text 116"/>
          <p:cNvSpPr/>
          <p:nvPr/>
        </p:nvSpPr>
        <p:spPr>
          <a:xfrm>
            <a:off x="6606646" y="6551085"/>
            <a:ext cx="505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核心本质：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 = 直接业务逻辑实现 + 经验通过SKILL凝聚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6372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算力需求：1000人团队的Token消耗预估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 RESOURCE PLANNING - TOKEN CONSUMPTION FORECAST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222375"/>
            <a:ext cx="5635625" cy="4130675"/>
          </a:xfrm>
          <a:custGeom>
            <a:avLst/>
            <a:gdLst/>
            <a:ahLst/>
            <a:cxnLst/>
            <a:rect l="l" t="t" r="r" b="b"/>
            <a:pathLst>
              <a:path w="5635625" h="4130675">
                <a:moveTo>
                  <a:pt x="114296" y="0"/>
                </a:moveTo>
                <a:lnTo>
                  <a:pt x="5521329" y="0"/>
                </a:lnTo>
                <a:cubicBezTo>
                  <a:pt x="5584453" y="0"/>
                  <a:pt x="5635625" y="51172"/>
                  <a:pt x="5635625" y="114296"/>
                </a:cubicBezTo>
                <a:lnTo>
                  <a:pt x="5635625" y="4016379"/>
                </a:lnTo>
                <a:cubicBezTo>
                  <a:pt x="5635625" y="4079503"/>
                  <a:pt x="5584453" y="4130675"/>
                  <a:pt x="5521329" y="4130675"/>
                </a:cubicBezTo>
                <a:lnTo>
                  <a:pt x="114296" y="4130675"/>
                </a:lnTo>
                <a:cubicBezTo>
                  <a:pt x="51172" y="4130675"/>
                  <a:pt x="0" y="4079503"/>
                  <a:pt x="0" y="401637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3569" y="14541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5975" y="1416053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OpenCode实际使用数据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1838328"/>
            <a:ext cx="5235575" cy="958850"/>
          </a:xfrm>
          <a:custGeom>
            <a:avLst/>
            <a:gdLst/>
            <a:ahLst/>
            <a:cxnLst/>
            <a:rect l="l" t="t" r="r" b="b"/>
            <a:pathLst>
              <a:path w="5235575" h="958850">
                <a:moveTo>
                  <a:pt x="76200" y="0"/>
                </a:moveTo>
                <a:lnTo>
                  <a:pt x="5159375" y="0"/>
                </a:lnTo>
                <a:cubicBezTo>
                  <a:pt x="5201459" y="0"/>
                  <a:pt x="5235575" y="34116"/>
                  <a:pt x="5235575" y="76200"/>
                </a:cubicBezTo>
                <a:lnTo>
                  <a:pt x="5235575" y="882650"/>
                </a:lnTo>
                <a:cubicBezTo>
                  <a:pt x="5235575" y="924734"/>
                  <a:pt x="5201459" y="958850"/>
                  <a:pt x="5159375" y="958850"/>
                </a:cubicBezTo>
                <a:lnTo>
                  <a:pt x="76200" y="958850"/>
                </a:lnTo>
                <a:cubicBezTo>
                  <a:pt x="34116" y="958850"/>
                  <a:pt x="0" y="924734"/>
                  <a:pt x="0" y="882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500" y="1955802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参考项目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8500" y="2184402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dbpwd项目（1人12天）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8500" y="2489202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2026年2月统计周期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" y="2952750"/>
            <a:ext cx="2562225" cy="952500"/>
          </a:xfrm>
          <a:custGeom>
            <a:avLst/>
            <a:gdLst/>
            <a:ahLst/>
            <a:cxnLst/>
            <a:rect l="l" t="t" r="r" b="b"/>
            <a:pathLst>
              <a:path w="2562225" h="9525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876300"/>
                </a:lnTo>
                <a:cubicBezTo>
                  <a:pt x="2562225" y="918356"/>
                  <a:pt x="2528081" y="952500"/>
                  <a:pt x="24860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0713" y="30670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722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813" y="344805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会话数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3575" y="3638550"/>
            <a:ext cx="2390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日均60个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57550" y="2952750"/>
            <a:ext cx="2562225" cy="952500"/>
          </a:xfrm>
          <a:custGeom>
            <a:avLst/>
            <a:gdLst/>
            <a:ahLst/>
            <a:cxnLst/>
            <a:rect l="l" t="t" r="r" b="b"/>
            <a:pathLst>
              <a:path w="2562225" h="9525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876300"/>
                </a:lnTo>
                <a:cubicBezTo>
                  <a:pt x="2562225" y="918356"/>
                  <a:pt x="2528081" y="952500"/>
                  <a:pt x="24860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00413" y="30670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1.82亿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8513" y="344805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总Input Tokens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43275" y="3638550"/>
            <a:ext cx="2390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日均1516万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" y="4019550"/>
            <a:ext cx="2562225" cy="952500"/>
          </a:xfrm>
          <a:custGeom>
            <a:avLst/>
            <a:gdLst/>
            <a:ahLst/>
            <a:cxnLst/>
            <a:rect l="l" t="t" r="r" b="b"/>
            <a:pathLst>
              <a:path w="2562225" h="9525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876300"/>
                </a:lnTo>
                <a:cubicBezTo>
                  <a:pt x="2562225" y="918356"/>
                  <a:pt x="2528081" y="952500"/>
                  <a:pt x="24860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0713" y="41338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68万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813" y="451485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平均每会话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3575" y="4705350"/>
            <a:ext cx="2390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中位数2.6万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57550" y="4019550"/>
            <a:ext cx="2562225" cy="952500"/>
          </a:xfrm>
          <a:custGeom>
            <a:avLst/>
            <a:gdLst/>
            <a:ahLst/>
            <a:cxnLst/>
            <a:rect l="l" t="t" r="r" b="b"/>
            <a:pathLst>
              <a:path w="2562225" h="9525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876300"/>
                </a:lnTo>
                <a:cubicBezTo>
                  <a:pt x="2562225" y="918356"/>
                  <a:pt x="2528081" y="952500"/>
                  <a:pt x="24860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00413" y="41338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38513" y="451485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用户规模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43275" y="4705350"/>
            <a:ext cx="2390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dbpwd项目开发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5375" y="1222375"/>
            <a:ext cx="5635625" cy="4130675"/>
          </a:xfrm>
          <a:custGeom>
            <a:avLst/>
            <a:gdLst/>
            <a:ahLst/>
            <a:cxnLst/>
            <a:rect l="l" t="t" r="r" b="b"/>
            <a:pathLst>
              <a:path w="5635625" h="4130675">
                <a:moveTo>
                  <a:pt x="114296" y="0"/>
                </a:moveTo>
                <a:lnTo>
                  <a:pt x="5521329" y="0"/>
                </a:lnTo>
                <a:cubicBezTo>
                  <a:pt x="5584453" y="0"/>
                  <a:pt x="5635625" y="51172"/>
                  <a:pt x="5635625" y="114296"/>
                </a:cubicBezTo>
                <a:lnTo>
                  <a:pt x="5635625" y="4016379"/>
                </a:lnTo>
                <a:cubicBezTo>
                  <a:pt x="5635625" y="4079503"/>
                  <a:pt x="5584453" y="4130675"/>
                  <a:pt x="5521329" y="4130675"/>
                </a:cubicBezTo>
                <a:lnTo>
                  <a:pt x="114296" y="4130675"/>
                </a:lnTo>
                <a:cubicBezTo>
                  <a:pt x="51172" y="4130675"/>
                  <a:pt x="0" y="4079503"/>
                  <a:pt x="0" y="401637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6675" y="145415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6607175" y="1416053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1000人团队Token需求估算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9050" y="1835153"/>
            <a:ext cx="5248275" cy="990600"/>
          </a:xfrm>
          <a:custGeom>
            <a:avLst/>
            <a:gdLst/>
            <a:ahLst/>
            <a:cxnLst/>
            <a:rect l="l" t="t" r="r" b="b"/>
            <a:pathLst>
              <a:path w="5248275" h="990600">
                <a:moveTo>
                  <a:pt x="76197" y="0"/>
                </a:moveTo>
                <a:lnTo>
                  <a:pt x="5172078" y="0"/>
                </a:lnTo>
                <a:cubicBezTo>
                  <a:pt x="5214160" y="0"/>
                  <a:pt x="5248275" y="34115"/>
                  <a:pt x="5248275" y="76197"/>
                </a:cubicBezTo>
                <a:lnTo>
                  <a:pt x="5248275" y="914403"/>
                </a:lnTo>
                <a:cubicBezTo>
                  <a:pt x="5248275" y="956485"/>
                  <a:pt x="5214160" y="990600"/>
                  <a:pt x="51720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83350" y="1949453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估算依据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83350" y="2216153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人均日均Token: </a:t>
            </a:r>
            <a:pPr>
              <a:lnSpc>
                <a:spcPct val="130000"/>
              </a:lnSpc>
            </a:pPr>
            <a:r>
              <a:rPr lang="en-US" sz="15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1516万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（基于dbpwd项目实际数据）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83350" y="2520953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计算公式: 1516万 × 1000人 × 强度系数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8100" y="2940053"/>
            <a:ext cx="5229225" cy="685800"/>
          </a:xfrm>
          <a:custGeom>
            <a:avLst/>
            <a:gdLst/>
            <a:ahLst/>
            <a:cxnLst/>
            <a:rect l="l" t="t" r="r" b="b"/>
            <a:pathLst>
              <a:path w="5229225" h="685800">
                <a:moveTo>
                  <a:pt x="38100" y="0"/>
                </a:moveTo>
                <a:lnTo>
                  <a:pt x="5153026" y="0"/>
                </a:lnTo>
                <a:cubicBezTo>
                  <a:pt x="5195109" y="0"/>
                  <a:pt x="5229225" y="34116"/>
                  <a:pt x="5229225" y="76199"/>
                </a:cubicBezTo>
                <a:lnTo>
                  <a:pt x="5229225" y="609601"/>
                </a:lnTo>
                <a:cubicBezTo>
                  <a:pt x="5229225" y="651684"/>
                  <a:pt x="5195109" y="685800"/>
                  <a:pt x="51530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388100" y="294005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6521450" y="3073403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轻度使用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21450" y="3302003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系数 0.3x | 人均455万/天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461824" y="3054353"/>
            <a:ext cx="103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45.5亿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518974" y="3359153"/>
            <a:ext cx="981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1000人日均Token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8100" y="3702053"/>
            <a:ext cx="5229225" cy="685800"/>
          </a:xfrm>
          <a:custGeom>
            <a:avLst/>
            <a:gdLst/>
            <a:ahLst/>
            <a:cxnLst/>
            <a:rect l="l" t="t" r="r" b="b"/>
            <a:pathLst>
              <a:path w="5229225" h="685800">
                <a:moveTo>
                  <a:pt x="38100" y="0"/>
                </a:moveTo>
                <a:lnTo>
                  <a:pt x="5153026" y="0"/>
                </a:lnTo>
                <a:cubicBezTo>
                  <a:pt x="5195109" y="0"/>
                  <a:pt x="5229225" y="34116"/>
                  <a:pt x="5229225" y="76199"/>
                </a:cubicBezTo>
                <a:lnTo>
                  <a:pt x="5229225" y="609601"/>
                </a:lnTo>
                <a:cubicBezTo>
                  <a:pt x="5229225" y="651684"/>
                  <a:pt x="5195109" y="685800"/>
                  <a:pt x="51530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88100" y="370205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3" name="Text 41"/>
          <p:cNvSpPr/>
          <p:nvPr/>
        </p:nvSpPr>
        <p:spPr>
          <a:xfrm>
            <a:off x="6521450" y="3835403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中度使用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1450" y="406400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系数 1x | 人均1516万/天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61824" y="3816353"/>
            <a:ext cx="103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152亿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518974" y="4121153"/>
            <a:ext cx="981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1000人日均Token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8100" y="4467228"/>
            <a:ext cx="5222875" cy="692150"/>
          </a:xfrm>
          <a:custGeom>
            <a:avLst/>
            <a:gdLst/>
            <a:ahLst/>
            <a:cxnLst/>
            <a:rect l="l" t="t" r="r" b="b"/>
            <a:pathLst>
              <a:path w="5222875" h="692150">
                <a:moveTo>
                  <a:pt x="76199" y="0"/>
                </a:moveTo>
                <a:lnTo>
                  <a:pt x="5146676" y="0"/>
                </a:lnTo>
                <a:cubicBezTo>
                  <a:pt x="5188760" y="0"/>
                  <a:pt x="5222875" y="34115"/>
                  <a:pt x="5222875" y="76199"/>
                </a:cubicBezTo>
                <a:lnTo>
                  <a:pt x="5222875" y="615951"/>
                </a:lnTo>
                <a:cubicBezTo>
                  <a:pt x="5222875" y="658035"/>
                  <a:pt x="5188760" y="692150"/>
                  <a:pt x="5146676" y="692150"/>
                </a:cubicBezTo>
                <a:lnTo>
                  <a:pt x="76199" y="692150"/>
                </a:lnTo>
                <a:cubicBezTo>
                  <a:pt x="34115" y="692150"/>
                  <a:pt x="0" y="658035"/>
                  <a:pt x="0" y="615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21450" y="46037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重度使用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21450" y="4832352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系数 1.5x | 人均2274万/天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455473" y="4584702"/>
            <a:ext cx="103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227亿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512623" y="4889502"/>
            <a:ext cx="981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1000人日均Token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4175" y="5514978"/>
            <a:ext cx="11426825" cy="901700"/>
          </a:xfrm>
          <a:custGeom>
            <a:avLst/>
            <a:gdLst/>
            <a:ahLst/>
            <a:cxnLst/>
            <a:rect l="l" t="t" r="r" b="b"/>
            <a:pathLst>
              <a:path w="11426825" h="901700">
                <a:moveTo>
                  <a:pt x="114299" y="0"/>
                </a:moveTo>
                <a:lnTo>
                  <a:pt x="11312526" y="0"/>
                </a:lnTo>
                <a:cubicBezTo>
                  <a:pt x="11375651" y="0"/>
                  <a:pt x="11426825" y="51174"/>
                  <a:pt x="11426825" y="114299"/>
                </a:cubicBezTo>
                <a:lnTo>
                  <a:pt x="11426825" y="787401"/>
                </a:lnTo>
                <a:cubicBezTo>
                  <a:pt x="11426825" y="850526"/>
                  <a:pt x="11375651" y="901700"/>
                  <a:pt x="11312526" y="901700"/>
                </a:cubicBezTo>
                <a:lnTo>
                  <a:pt x="114299" y="901700"/>
                </a:lnTo>
                <a:cubicBezTo>
                  <a:pt x="51174" y="901700"/>
                  <a:pt x="0" y="850526"/>
                  <a:pt x="0" y="787401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750" y="56705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73100" y="58039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5" name="Text 53"/>
          <p:cNvSpPr/>
          <p:nvPr/>
        </p:nvSpPr>
        <p:spPr>
          <a:xfrm>
            <a:off x="1149350" y="5670552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关键警示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49350" y="6013452"/>
            <a:ext cx="10582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Coding模式算力消耗巨大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，必须提前规划充足算力。建议先期限制使用用户（如核心团队），但必须确保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算力储备充足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，避免体验中断。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落地挑战与应对策略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 &amp; STRATEGIES - RISK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222375"/>
            <a:ext cx="5635625" cy="2197100"/>
          </a:xfrm>
          <a:custGeom>
            <a:avLst/>
            <a:gdLst/>
            <a:ahLst/>
            <a:cxnLst/>
            <a:rect l="l" t="t" r="r" b="b"/>
            <a:pathLst>
              <a:path w="5635625" h="2197100">
                <a:moveTo>
                  <a:pt x="114293" y="0"/>
                </a:moveTo>
                <a:lnTo>
                  <a:pt x="5521332" y="0"/>
                </a:lnTo>
                <a:cubicBezTo>
                  <a:pt x="5584454" y="0"/>
                  <a:pt x="5635625" y="51171"/>
                  <a:pt x="5635625" y="114293"/>
                </a:cubicBezTo>
                <a:lnTo>
                  <a:pt x="5635625" y="2082807"/>
                </a:lnTo>
                <a:cubicBezTo>
                  <a:pt x="5635625" y="2145929"/>
                  <a:pt x="5584454" y="2197100"/>
                  <a:pt x="5521332" y="2197100"/>
                </a:cubicBezTo>
                <a:lnTo>
                  <a:pt x="114293" y="2197100"/>
                </a:lnTo>
                <a:cubicBezTo>
                  <a:pt x="51171" y="2197100"/>
                  <a:pt x="0" y="2145929"/>
                  <a:pt x="0" y="20828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850" y="14160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15494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35719"/>
                </a:moveTo>
                <a:lnTo>
                  <a:pt x="47625" y="29766"/>
                </a:lnTo>
                <a:cubicBezTo>
                  <a:pt x="47625" y="13320"/>
                  <a:pt x="79623" y="0"/>
                  <a:pt x="119063" y="0"/>
                </a:cubicBezTo>
                <a:cubicBezTo>
                  <a:pt x="158502" y="0"/>
                  <a:pt x="190500" y="13320"/>
                  <a:pt x="190500" y="29766"/>
                </a:cubicBezTo>
                <a:lnTo>
                  <a:pt x="190500" y="35719"/>
                </a:lnTo>
                <a:cubicBezTo>
                  <a:pt x="190500" y="47104"/>
                  <a:pt x="175133" y="57001"/>
                  <a:pt x="152549" y="62024"/>
                </a:cubicBezTo>
                <a:cubicBezTo>
                  <a:pt x="151656" y="60982"/>
                  <a:pt x="150726" y="59978"/>
                  <a:pt x="149796" y="59048"/>
                </a:cubicBezTo>
                <a:cubicBezTo>
                  <a:pt x="144028" y="53355"/>
                  <a:pt x="136587" y="49039"/>
                  <a:pt x="128811" y="45839"/>
                </a:cubicBezTo>
                <a:cubicBezTo>
                  <a:pt x="113221" y="39328"/>
                  <a:pt x="92906" y="35756"/>
                  <a:pt x="71438" y="35756"/>
                </a:cubicBezTo>
                <a:cubicBezTo>
                  <a:pt x="63289" y="35756"/>
                  <a:pt x="55327" y="36277"/>
                  <a:pt x="47699" y="37281"/>
                </a:cubicBezTo>
                <a:cubicBezTo>
                  <a:pt x="47625" y="36798"/>
                  <a:pt x="47625" y="36277"/>
                  <a:pt x="47625" y="35756"/>
                </a:cubicBezTo>
                <a:close/>
                <a:moveTo>
                  <a:pt x="160734" y="131341"/>
                </a:moveTo>
                <a:lnTo>
                  <a:pt x="160734" y="114151"/>
                </a:lnTo>
                <a:cubicBezTo>
                  <a:pt x="166353" y="112700"/>
                  <a:pt x="171636" y="110989"/>
                  <a:pt x="176436" y="108979"/>
                </a:cubicBezTo>
                <a:cubicBezTo>
                  <a:pt x="181347" y="106933"/>
                  <a:pt x="186147" y="104440"/>
                  <a:pt x="190500" y="101426"/>
                </a:cubicBezTo>
                <a:lnTo>
                  <a:pt x="190500" y="107156"/>
                </a:lnTo>
                <a:cubicBezTo>
                  <a:pt x="190500" y="117128"/>
                  <a:pt x="178780" y="125946"/>
                  <a:pt x="160734" y="131341"/>
                </a:cubicBezTo>
                <a:close/>
                <a:moveTo>
                  <a:pt x="160734" y="95622"/>
                </a:moveTo>
                <a:lnTo>
                  <a:pt x="160734" y="83344"/>
                </a:lnTo>
                <a:cubicBezTo>
                  <a:pt x="160734" y="81669"/>
                  <a:pt x="160586" y="80070"/>
                  <a:pt x="160362" y="78507"/>
                </a:cubicBezTo>
                <a:cubicBezTo>
                  <a:pt x="166129" y="77056"/>
                  <a:pt x="171524" y="75307"/>
                  <a:pt x="176436" y="73223"/>
                </a:cubicBezTo>
                <a:cubicBezTo>
                  <a:pt x="181347" y="71140"/>
                  <a:pt x="186147" y="68684"/>
                  <a:pt x="190500" y="65670"/>
                </a:cubicBezTo>
                <a:lnTo>
                  <a:pt x="190500" y="71400"/>
                </a:lnTo>
                <a:cubicBezTo>
                  <a:pt x="190500" y="81372"/>
                  <a:pt x="178780" y="90190"/>
                  <a:pt x="160734" y="95585"/>
                </a:cubicBezTo>
                <a:close/>
                <a:moveTo>
                  <a:pt x="0" y="89297"/>
                </a:moveTo>
                <a:lnTo>
                  <a:pt x="0" y="83344"/>
                </a:lnTo>
                <a:cubicBezTo>
                  <a:pt x="0" y="66898"/>
                  <a:pt x="31998" y="53578"/>
                  <a:pt x="71438" y="53578"/>
                </a:cubicBezTo>
                <a:cubicBezTo>
                  <a:pt x="110877" y="53578"/>
                  <a:pt x="142875" y="66898"/>
                  <a:pt x="142875" y="83344"/>
                </a:cubicBezTo>
                <a:lnTo>
                  <a:pt x="142875" y="89297"/>
                </a:lnTo>
                <a:cubicBezTo>
                  <a:pt x="142875" y="105742"/>
                  <a:pt x="110877" y="119063"/>
                  <a:pt x="71438" y="119063"/>
                </a:cubicBezTo>
                <a:cubicBezTo>
                  <a:pt x="31998" y="119063"/>
                  <a:pt x="0" y="105742"/>
                  <a:pt x="0" y="89297"/>
                </a:cubicBezTo>
                <a:close/>
                <a:moveTo>
                  <a:pt x="142875" y="125016"/>
                </a:moveTo>
                <a:cubicBezTo>
                  <a:pt x="142875" y="141461"/>
                  <a:pt x="110877" y="154781"/>
                  <a:pt x="71438" y="154781"/>
                </a:cubicBezTo>
                <a:cubicBezTo>
                  <a:pt x="31998" y="154781"/>
                  <a:pt x="0" y="141461"/>
                  <a:pt x="0" y="125016"/>
                </a:cubicBezTo>
                <a:lnTo>
                  <a:pt x="0" y="119286"/>
                </a:lnTo>
                <a:cubicBezTo>
                  <a:pt x="4316" y="122300"/>
                  <a:pt x="9116" y="124755"/>
                  <a:pt x="14064" y="126839"/>
                </a:cubicBezTo>
                <a:cubicBezTo>
                  <a:pt x="29654" y="133350"/>
                  <a:pt x="49969" y="136922"/>
                  <a:pt x="71438" y="136922"/>
                </a:cubicBezTo>
                <a:cubicBezTo>
                  <a:pt x="92906" y="136922"/>
                  <a:pt x="113221" y="133313"/>
                  <a:pt x="128811" y="126839"/>
                </a:cubicBezTo>
                <a:cubicBezTo>
                  <a:pt x="133722" y="124792"/>
                  <a:pt x="138522" y="122300"/>
                  <a:pt x="142875" y="119286"/>
                </a:cubicBezTo>
                <a:lnTo>
                  <a:pt x="142875" y="125016"/>
                </a:lnTo>
                <a:close/>
                <a:moveTo>
                  <a:pt x="142875" y="155004"/>
                </a:moveTo>
                <a:lnTo>
                  <a:pt x="142875" y="160734"/>
                </a:lnTo>
                <a:cubicBezTo>
                  <a:pt x="142875" y="177180"/>
                  <a:pt x="110877" y="190500"/>
                  <a:pt x="71438" y="190500"/>
                </a:cubicBezTo>
                <a:cubicBezTo>
                  <a:pt x="31998" y="190500"/>
                  <a:pt x="0" y="177180"/>
                  <a:pt x="0" y="160734"/>
                </a:cubicBezTo>
                <a:lnTo>
                  <a:pt x="0" y="155004"/>
                </a:lnTo>
                <a:cubicBezTo>
                  <a:pt x="4316" y="158018"/>
                  <a:pt x="9116" y="160474"/>
                  <a:pt x="14064" y="162558"/>
                </a:cubicBezTo>
                <a:cubicBezTo>
                  <a:pt x="29654" y="169069"/>
                  <a:pt x="49969" y="172641"/>
                  <a:pt x="71438" y="172641"/>
                </a:cubicBezTo>
                <a:cubicBezTo>
                  <a:pt x="92906" y="172641"/>
                  <a:pt x="113221" y="169032"/>
                  <a:pt x="128811" y="162558"/>
                </a:cubicBezTo>
                <a:cubicBezTo>
                  <a:pt x="133722" y="160511"/>
                  <a:pt x="138522" y="158018"/>
                  <a:pt x="142875" y="15500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1149350" y="1416053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算力成本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9350" y="1682753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Token消耗指数级增加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2028828"/>
            <a:ext cx="5235575" cy="1187450"/>
          </a:xfrm>
          <a:custGeom>
            <a:avLst/>
            <a:gdLst/>
            <a:ahLst/>
            <a:cxnLst/>
            <a:rect l="l" t="t" r="r" b="b"/>
            <a:pathLst>
              <a:path w="5235575" h="1187450">
                <a:moveTo>
                  <a:pt x="76199" y="0"/>
                </a:moveTo>
                <a:lnTo>
                  <a:pt x="5159376" y="0"/>
                </a:lnTo>
                <a:cubicBezTo>
                  <a:pt x="5201460" y="0"/>
                  <a:pt x="5235575" y="34115"/>
                  <a:pt x="5235575" y="76199"/>
                </a:cubicBezTo>
                <a:lnTo>
                  <a:pt x="5235575" y="1111251"/>
                </a:lnTo>
                <a:cubicBezTo>
                  <a:pt x="5235575" y="1153335"/>
                  <a:pt x="5201460" y="1187450"/>
                  <a:pt x="5159376" y="1187450"/>
                </a:cubicBezTo>
                <a:lnTo>
                  <a:pt x="76199" y="1187450"/>
                </a:lnTo>
                <a:cubicBezTo>
                  <a:pt x="34115" y="1187450"/>
                  <a:pt x="0" y="1153335"/>
                  <a:pt x="0" y="11112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550" y="2178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" y="2146302"/>
            <a:ext cx="482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5884" y="248920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941388" y="2451102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按需选择模型，平衡成本与效果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5884" y="271780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941388" y="2679702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预留算力冗余，避免体验中断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5884" y="294640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941388" y="2908302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先期限制使用用户，逐步扩大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175" y="3578227"/>
            <a:ext cx="5635625" cy="2197100"/>
          </a:xfrm>
          <a:custGeom>
            <a:avLst/>
            <a:gdLst/>
            <a:ahLst/>
            <a:cxnLst/>
            <a:rect l="l" t="t" r="r" b="b"/>
            <a:pathLst>
              <a:path w="5635625" h="2197100">
                <a:moveTo>
                  <a:pt x="114293" y="0"/>
                </a:moveTo>
                <a:lnTo>
                  <a:pt x="5521332" y="0"/>
                </a:lnTo>
                <a:cubicBezTo>
                  <a:pt x="5584454" y="0"/>
                  <a:pt x="5635625" y="51171"/>
                  <a:pt x="5635625" y="114293"/>
                </a:cubicBezTo>
                <a:lnTo>
                  <a:pt x="5635625" y="2082807"/>
                </a:lnTo>
                <a:cubicBezTo>
                  <a:pt x="5635625" y="2145929"/>
                  <a:pt x="5584454" y="2197100"/>
                  <a:pt x="5521332" y="2197100"/>
                </a:cubicBezTo>
                <a:lnTo>
                  <a:pt x="114293" y="2197100"/>
                </a:lnTo>
                <a:cubicBezTo>
                  <a:pt x="51171" y="2197100"/>
                  <a:pt x="0" y="2145929"/>
                  <a:pt x="0" y="20828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850" y="3771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1200" y="3905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Text 20"/>
          <p:cNvSpPr/>
          <p:nvPr/>
        </p:nvSpPr>
        <p:spPr>
          <a:xfrm>
            <a:off x="1149350" y="37719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模型能力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9350" y="40386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上下文限制 / 幻觉问题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1025" y="4384675"/>
            <a:ext cx="5235575" cy="1187450"/>
          </a:xfrm>
          <a:custGeom>
            <a:avLst/>
            <a:gdLst/>
            <a:ahLst/>
            <a:cxnLst/>
            <a:rect l="l" t="t" r="r" b="b"/>
            <a:pathLst>
              <a:path w="5235575" h="1187450">
                <a:moveTo>
                  <a:pt x="76199" y="0"/>
                </a:moveTo>
                <a:lnTo>
                  <a:pt x="5159376" y="0"/>
                </a:lnTo>
                <a:cubicBezTo>
                  <a:pt x="5201460" y="0"/>
                  <a:pt x="5235575" y="34115"/>
                  <a:pt x="5235575" y="76199"/>
                </a:cubicBezTo>
                <a:lnTo>
                  <a:pt x="5235575" y="1111251"/>
                </a:lnTo>
                <a:cubicBezTo>
                  <a:pt x="5235575" y="1153335"/>
                  <a:pt x="5201460" y="1187450"/>
                  <a:pt x="5159376" y="1187450"/>
                </a:cubicBezTo>
                <a:lnTo>
                  <a:pt x="76199" y="1187450"/>
                </a:lnTo>
                <a:cubicBezTo>
                  <a:pt x="34115" y="1187450"/>
                  <a:pt x="0" y="1153335"/>
                  <a:pt x="0" y="11112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550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946150" y="4502153"/>
            <a:ext cx="482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5884" y="48450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941388" y="4806953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选用最新满血模型，版本差异巨大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5884" y="50736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Text 28"/>
          <p:cNvSpPr/>
          <p:nvPr/>
        </p:nvSpPr>
        <p:spPr>
          <a:xfrm>
            <a:off x="941388" y="5035553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人工控制方向，防止幻觉偏离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5884" y="53022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941388" y="5264153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推荐：Qwen3.5 / GLM-5 / Minimax-M2.5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5375" y="1222375"/>
            <a:ext cx="5635625" cy="2197100"/>
          </a:xfrm>
          <a:custGeom>
            <a:avLst/>
            <a:gdLst/>
            <a:ahLst/>
            <a:cxnLst/>
            <a:rect l="l" t="t" r="r" b="b"/>
            <a:pathLst>
              <a:path w="5635625" h="2197100">
                <a:moveTo>
                  <a:pt x="114293" y="0"/>
                </a:moveTo>
                <a:lnTo>
                  <a:pt x="5521332" y="0"/>
                </a:lnTo>
                <a:cubicBezTo>
                  <a:pt x="5584454" y="0"/>
                  <a:pt x="5635625" y="51171"/>
                  <a:pt x="5635625" y="114293"/>
                </a:cubicBezTo>
                <a:lnTo>
                  <a:pt x="5635625" y="2082807"/>
                </a:lnTo>
                <a:cubicBezTo>
                  <a:pt x="5635625" y="2145929"/>
                  <a:pt x="5584454" y="2197100"/>
                  <a:pt x="5521332" y="2197100"/>
                </a:cubicBezTo>
                <a:lnTo>
                  <a:pt x="114293" y="2197100"/>
                </a:lnTo>
                <a:cubicBezTo>
                  <a:pt x="51171" y="2197100"/>
                  <a:pt x="0" y="2145929"/>
                  <a:pt x="0" y="20828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9050" y="14160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90494" y="154940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0550" y="1416053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质量控制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0550" y="1682753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代码质量参差不齐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2225" y="2028828"/>
            <a:ext cx="5235575" cy="1187450"/>
          </a:xfrm>
          <a:custGeom>
            <a:avLst/>
            <a:gdLst/>
            <a:ahLst/>
            <a:cxnLst/>
            <a:rect l="l" t="t" r="r" b="b"/>
            <a:pathLst>
              <a:path w="5235575" h="1187450">
                <a:moveTo>
                  <a:pt x="76199" y="0"/>
                </a:moveTo>
                <a:lnTo>
                  <a:pt x="5159376" y="0"/>
                </a:lnTo>
                <a:cubicBezTo>
                  <a:pt x="5201460" y="0"/>
                  <a:pt x="5235575" y="34115"/>
                  <a:pt x="5235575" y="76199"/>
                </a:cubicBezTo>
                <a:lnTo>
                  <a:pt x="5235575" y="1111251"/>
                </a:lnTo>
                <a:cubicBezTo>
                  <a:pt x="5235575" y="1153335"/>
                  <a:pt x="5201460" y="1187450"/>
                  <a:pt x="5159376" y="1187450"/>
                </a:cubicBezTo>
                <a:lnTo>
                  <a:pt x="76199" y="1187450"/>
                </a:lnTo>
                <a:cubicBezTo>
                  <a:pt x="34115" y="1187450"/>
                  <a:pt x="0" y="1153335"/>
                  <a:pt x="0" y="11112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08750" y="2178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6737350" y="2146302"/>
            <a:ext cx="482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17085" y="248920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6732588" y="2451102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强制Code Review，确保代码质量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17085" y="271780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732588" y="2679702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SKILL标准化，沉淀最佳实践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17085" y="294640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4"/>
          <p:cNvSpPr/>
          <p:nvPr/>
        </p:nvSpPr>
        <p:spPr>
          <a:xfrm>
            <a:off x="6732588" y="2908302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单元测试覆盖，自动化验证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5375" y="3578227"/>
            <a:ext cx="5635625" cy="2197100"/>
          </a:xfrm>
          <a:custGeom>
            <a:avLst/>
            <a:gdLst/>
            <a:ahLst/>
            <a:cxnLst/>
            <a:rect l="l" t="t" r="r" b="b"/>
            <a:pathLst>
              <a:path w="5635625" h="2197100">
                <a:moveTo>
                  <a:pt x="114293" y="0"/>
                </a:moveTo>
                <a:lnTo>
                  <a:pt x="5521332" y="0"/>
                </a:lnTo>
                <a:cubicBezTo>
                  <a:pt x="5584454" y="0"/>
                  <a:pt x="5635625" y="51171"/>
                  <a:pt x="5635625" y="114293"/>
                </a:cubicBezTo>
                <a:lnTo>
                  <a:pt x="5635625" y="2082807"/>
                </a:lnTo>
                <a:cubicBezTo>
                  <a:pt x="5635625" y="2145929"/>
                  <a:pt x="5584454" y="2197100"/>
                  <a:pt x="5521332" y="2197100"/>
                </a:cubicBezTo>
                <a:lnTo>
                  <a:pt x="114293" y="2197100"/>
                </a:lnTo>
                <a:cubicBezTo>
                  <a:pt x="51171" y="2197100"/>
                  <a:pt x="0" y="2145929"/>
                  <a:pt x="0" y="20828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8467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69050" y="3771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8588" y="3905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0" name="Text 48"/>
          <p:cNvSpPr/>
          <p:nvPr/>
        </p:nvSpPr>
        <p:spPr>
          <a:xfrm>
            <a:off x="6940550" y="37719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研发流程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40550" y="40386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遗留兼容 / 习惯阻力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72225" y="4384675"/>
            <a:ext cx="5235575" cy="1187450"/>
          </a:xfrm>
          <a:custGeom>
            <a:avLst/>
            <a:gdLst/>
            <a:ahLst/>
            <a:cxnLst/>
            <a:rect l="l" t="t" r="r" b="b"/>
            <a:pathLst>
              <a:path w="5235575" h="1187450">
                <a:moveTo>
                  <a:pt x="76199" y="0"/>
                </a:moveTo>
                <a:lnTo>
                  <a:pt x="5159376" y="0"/>
                </a:lnTo>
                <a:cubicBezTo>
                  <a:pt x="5201460" y="0"/>
                  <a:pt x="5235575" y="34115"/>
                  <a:pt x="5235575" y="76199"/>
                </a:cubicBezTo>
                <a:lnTo>
                  <a:pt x="5235575" y="1111251"/>
                </a:lnTo>
                <a:cubicBezTo>
                  <a:pt x="5235575" y="1153335"/>
                  <a:pt x="5201460" y="1187450"/>
                  <a:pt x="5159376" y="1187450"/>
                </a:cubicBezTo>
                <a:lnTo>
                  <a:pt x="76199" y="1187450"/>
                </a:lnTo>
                <a:cubicBezTo>
                  <a:pt x="34115" y="1187450"/>
                  <a:pt x="0" y="1153335"/>
                  <a:pt x="0" y="11112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8467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8750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4" name="Text 52"/>
          <p:cNvSpPr/>
          <p:nvPr/>
        </p:nvSpPr>
        <p:spPr>
          <a:xfrm>
            <a:off x="6737350" y="4502153"/>
            <a:ext cx="482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517085" y="48450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6" name="Text 54"/>
          <p:cNvSpPr/>
          <p:nvPr/>
        </p:nvSpPr>
        <p:spPr>
          <a:xfrm>
            <a:off x="6732588" y="4806953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从上往下推广，管理者先用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17085" y="50736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8" name="Text 56"/>
          <p:cNvSpPr/>
          <p:nvPr/>
        </p:nvSpPr>
        <p:spPr>
          <a:xfrm>
            <a:off x="6732588" y="5035553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典型场景突破，建立信心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517085" y="530225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0" name="Text 58"/>
          <p:cNvSpPr/>
          <p:nvPr/>
        </p:nvSpPr>
        <p:spPr>
          <a:xfrm>
            <a:off x="6732588" y="5264153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渐进式迁移，降低阻力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84175" y="5934078"/>
            <a:ext cx="11426825" cy="539750"/>
          </a:xfrm>
          <a:custGeom>
            <a:avLst/>
            <a:gdLst/>
            <a:ahLst/>
            <a:cxnLst/>
            <a:rect l="l" t="t" r="r" b="b"/>
            <a:pathLst>
              <a:path w="11426825" h="539750">
                <a:moveTo>
                  <a:pt x="114297" y="0"/>
                </a:moveTo>
                <a:lnTo>
                  <a:pt x="11312528" y="0"/>
                </a:lnTo>
                <a:cubicBezTo>
                  <a:pt x="11375652" y="0"/>
                  <a:pt x="11426825" y="51173"/>
                  <a:pt x="11426825" y="114297"/>
                </a:cubicBezTo>
                <a:lnTo>
                  <a:pt x="11426825" y="425453"/>
                </a:lnTo>
                <a:cubicBezTo>
                  <a:pt x="11426825" y="488577"/>
                  <a:pt x="11375652" y="539750"/>
                  <a:pt x="11312528" y="539750"/>
                </a:cubicBezTo>
                <a:lnTo>
                  <a:pt x="114297" y="539750"/>
                </a:lnTo>
                <a:cubicBezTo>
                  <a:pt x="51173" y="539750"/>
                  <a:pt x="0" y="488577"/>
                  <a:pt x="0" y="4254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1823" y="61214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3" name="Text 61"/>
          <p:cNvSpPr/>
          <p:nvPr/>
        </p:nvSpPr>
        <p:spPr>
          <a:xfrm>
            <a:off x="749300" y="6089652"/>
            <a:ext cx="1094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核心原则：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效率提升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质量保障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之间找到最佳平衡点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公司级落地建议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ENTERPRISE-LEVEL IMPLEMENTATION 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222375"/>
            <a:ext cx="3702050" cy="2635250"/>
          </a:xfrm>
          <a:custGeom>
            <a:avLst/>
            <a:gdLst/>
            <a:ahLst/>
            <a:cxnLst/>
            <a:rect l="l" t="t" r="r" b="b"/>
            <a:pathLst>
              <a:path w="3702050" h="2635250">
                <a:moveTo>
                  <a:pt x="114291" y="0"/>
                </a:moveTo>
                <a:lnTo>
                  <a:pt x="3587759" y="0"/>
                </a:lnTo>
                <a:cubicBezTo>
                  <a:pt x="3650880" y="0"/>
                  <a:pt x="3702050" y="51170"/>
                  <a:pt x="3702050" y="114291"/>
                </a:cubicBezTo>
                <a:lnTo>
                  <a:pt x="3702050" y="2520959"/>
                </a:lnTo>
                <a:cubicBezTo>
                  <a:pt x="3702050" y="2584080"/>
                  <a:pt x="3650880" y="2635250"/>
                  <a:pt x="3587759" y="2635250"/>
                </a:cubicBezTo>
                <a:lnTo>
                  <a:pt x="114291" y="2635250"/>
                </a:lnTo>
                <a:cubicBezTo>
                  <a:pt x="51170" y="2635250"/>
                  <a:pt x="0" y="2584080"/>
                  <a:pt x="0" y="2520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850" y="141605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99604" y="1530353"/>
            <a:ext cx="20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5550" y="1549403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战略定调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850" y="2101853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必须试点，全面推广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" y="2444753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73100" y="254635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854075" y="2520953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成熟度判断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4050" y="274955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Coding已足够成熟，是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"必选项"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" y="3092453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3100" y="319405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75" y="3168653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行动方针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4050" y="339725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立即启动试点，犹豫将导致研发效率代差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4975" y="1222375"/>
            <a:ext cx="3702050" cy="2635250"/>
          </a:xfrm>
          <a:custGeom>
            <a:avLst/>
            <a:gdLst/>
            <a:ahLst/>
            <a:cxnLst/>
            <a:rect l="l" t="t" r="r" b="b"/>
            <a:pathLst>
              <a:path w="3702050" h="2635250">
                <a:moveTo>
                  <a:pt x="114291" y="0"/>
                </a:moveTo>
                <a:lnTo>
                  <a:pt x="3587759" y="0"/>
                </a:lnTo>
                <a:cubicBezTo>
                  <a:pt x="3650880" y="0"/>
                  <a:pt x="3702050" y="51170"/>
                  <a:pt x="3702050" y="114291"/>
                </a:cubicBezTo>
                <a:lnTo>
                  <a:pt x="3702050" y="2520959"/>
                </a:lnTo>
                <a:cubicBezTo>
                  <a:pt x="3702050" y="2584080"/>
                  <a:pt x="3650880" y="2635250"/>
                  <a:pt x="3587759" y="2635250"/>
                </a:cubicBezTo>
                <a:lnTo>
                  <a:pt x="114291" y="2635250"/>
                </a:lnTo>
                <a:cubicBezTo>
                  <a:pt x="51170" y="2635250"/>
                  <a:pt x="0" y="2584080"/>
                  <a:pt x="0" y="2520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8650" y="141605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41056" y="1530353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86350" y="1549403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资源规划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38650" y="2101853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算力即生产力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8650" y="2444753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33900" y="254635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4714875" y="2520953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算力先行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14850" y="274955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Coding高频交互导致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算力消耗巨大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38650" y="3092453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33900" y="319405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4714875" y="3168653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14850" y="339725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限制用户但必须确保算力储备充足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5775" y="1222375"/>
            <a:ext cx="3702050" cy="2635250"/>
          </a:xfrm>
          <a:custGeom>
            <a:avLst/>
            <a:gdLst/>
            <a:ahLst/>
            <a:cxnLst/>
            <a:rect l="l" t="t" r="r" b="b"/>
            <a:pathLst>
              <a:path w="3702050" h="2635250">
                <a:moveTo>
                  <a:pt x="114291" y="0"/>
                </a:moveTo>
                <a:lnTo>
                  <a:pt x="3587759" y="0"/>
                </a:lnTo>
                <a:cubicBezTo>
                  <a:pt x="3650880" y="0"/>
                  <a:pt x="3702050" y="51170"/>
                  <a:pt x="3702050" y="114291"/>
                </a:cubicBezTo>
                <a:lnTo>
                  <a:pt x="3702050" y="2520959"/>
                </a:lnTo>
                <a:cubicBezTo>
                  <a:pt x="3702050" y="2584080"/>
                  <a:pt x="3650880" y="2635250"/>
                  <a:pt x="3587759" y="2635250"/>
                </a:cubicBezTo>
                <a:lnTo>
                  <a:pt x="114291" y="2635250"/>
                </a:lnTo>
                <a:cubicBezTo>
                  <a:pt x="51170" y="2635250"/>
                  <a:pt x="0" y="2584080"/>
                  <a:pt x="0" y="2520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9450" y="141605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98880" y="1530353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47150" y="1549403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模型选型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99450" y="2101853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唯新唯强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99450" y="2444753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94700" y="254635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6"/>
          <p:cNvSpPr/>
          <p:nvPr/>
        </p:nvSpPr>
        <p:spPr>
          <a:xfrm>
            <a:off x="8575675" y="2520953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原则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75650" y="274955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必须使用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最新满血非量化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99450" y="3092453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94700" y="319405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8575675" y="3168653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推荐梯队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75650" y="339725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Qwen3.5 / GLM-5 / Minimax-M2.5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4175" y="4016377"/>
            <a:ext cx="3702050" cy="2635250"/>
          </a:xfrm>
          <a:custGeom>
            <a:avLst/>
            <a:gdLst/>
            <a:ahLst/>
            <a:cxnLst/>
            <a:rect l="l" t="t" r="r" b="b"/>
            <a:pathLst>
              <a:path w="3702050" h="2635250">
                <a:moveTo>
                  <a:pt x="114291" y="0"/>
                </a:moveTo>
                <a:lnTo>
                  <a:pt x="3587759" y="0"/>
                </a:lnTo>
                <a:cubicBezTo>
                  <a:pt x="3650880" y="0"/>
                  <a:pt x="3702050" y="51170"/>
                  <a:pt x="3702050" y="114291"/>
                </a:cubicBezTo>
                <a:lnTo>
                  <a:pt x="3702050" y="2520959"/>
                </a:lnTo>
                <a:cubicBezTo>
                  <a:pt x="3702050" y="2584080"/>
                  <a:pt x="3650880" y="2635250"/>
                  <a:pt x="3587759" y="2635250"/>
                </a:cubicBezTo>
                <a:lnTo>
                  <a:pt x="114291" y="2635250"/>
                </a:lnTo>
                <a:cubicBezTo>
                  <a:pt x="51170" y="2635250"/>
                  <a:pt x="0" y="2584080"/>
                  <a:pt x="0" y="2520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7850" y="4210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77478" y="43243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25550" y="43434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推广策略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7850" y="489585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自上而下，典型突破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77850" y="5238750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3100" y="53403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1" name="Text 49"/>
          <p:cNvSpPr/>
          <p:nvPr/>
        </p:nvSpPr>
        <p:spPr>
          <a:xfrm>
            <a:off x="854075" y="531495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领导先行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4050" y="554355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从上往下推广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，管理者先用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77850" y="5886450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73100" y="59880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5" name="Text 53"/>
          <p:cNvSpPr/>
          <p:nvPr/>
        </p:nvSpPr>
        <p:spPr>
          <a:xfrm>
            <a:off x="854075" y="596265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场景切入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4050" y="619125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挑选典型应用作为第一批突破口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44975" y="4016377"/>
            <a:ext cx="3702050" cy="2635250"/>
          </a:xfrm>
          <a:custGeom>
            <a:avLst/>
            <a:gdLst/>
            <a:ahLst/>
            <a:cxnLst/>
            <a:rect l="l" t="t" r="r" b="b"/>
            <a:pathLst>
              <a:path w="3702050" h="2635250">
                <a:moveTo>
                  <a:pt x="114291" y="0"/>
                </a:moveTo>
                <a:lnTo>
                  <a:pt x="3587759" y="0"/>
                </a:lnTo>
                <a:cubicBezTo>
                  <a:pt x="3650880" y="0"/>
                  <a:pt x="3702050" y="51170"/>
                  <a:pt x="3702050" y="114291"/>
                </a:cubicBezTo>
                <a:lnTo>
                  <a:pt x="3702050" y="2520959"/>
                </a:lnTo>
                <a:cubicBezTo>
                  <a:pt x="3702050" y="2584080"/>
                  <a:pt x="3650880" y="2635250"/>
                  <a:pt x="3587759" y="2635250"/>
                </a:cubicBezTo>
                <a:lnTo>
                  <a:pt x="114291" y="2635250"/>
                </a:lnTo>
                <a:cubicBezTo>
                  <a:pt x="51170" y="2635250"/>
                  <a:pt x="0" y="2584080"/>
                  <a:pt x="0" y="2520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38650" y="4210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637088" y="43243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86350" y="43434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平台赋能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38650" y="489585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OpenCode定位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438650" y="5238750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533900" y="53403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4" name="Text 62"/>
          <p:cNvSpPr/>
          <p:nvPr/>
        </p:nvSpPr>
        <p:spPr>
          <a:xfrm>
            <a:off x="4714875" y="531495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定位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514850" y="554355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开箱即用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的开放开发运行平台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38650" y="5886450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533900" y="59880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8" name="Text 66"/>
          <p:cNvSpPr/>
          <p:nvPr/>
        </p:nvSpPr>
        <p:spPr>
          <a:xfrm>
            <a:off x="4714875" y="596265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514850" y="619125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实现"啥事都能干"的全能覆盖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05775" y="4016377"/>
            <a:ext cx="3702050" cy="2635250"/>
          </a:xfrm>
          <a:custGeom>
            <a:avLst/>
            <a:gdLst/>
            <a:ahLst/>
            <a:cxnLst/>
            <a:rect l="l" t="t" r="r" b="b"/>
            <a:pathLst>
              <a:path w="3702050" h="2635250">
                <a:moveTo>
                  <a:pt x="114291" y="0"/>
                </a:moveTo>
                <a:lnTo>
                  <a:pt x="3587759" y="0"/>
                </a:lnTo>
                <a:cubicBezTo>
                  <a:pt x="3650880" y="0"/>
                  <a:pt x="3702050" y="51170"/>
                  <a:pt x="3702050" y="114291"/>
                </a:cubicBezTo>
                <a:lnTo>
                  <a:pt x="3702050" y="2520959"/>
                </a:lnTo>
                <a:cubicBezTo>
                  <a:pt x="3702050" y="2584080"/>
                  <a:pt x="3650880" y="2635250"/>
                  <a:pt x="3587759" y="2635250"/>
                </a:cubicBezTo>
                <a:lnTo>
                  <a:pt x="114291" y="2635250"/>
                </a:lnTo>
                <a:cubicBezTo>
                  <a:pt x="51170" y="2635250"/>
                  <a:pt x="0" y="2584080"/>
                  <a:pt x="0" y="2520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99450" y="4210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8497392" y="43243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947150" y="43434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核心方法论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299450" y="489585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人机协同新范式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99450" y="5238750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394700" y="53403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7" name="Text 75"/>
          <p:cNvSpPr/>
          <p:nvPr/>
        </p:nvSpPr>
        <p:spPr>
          <a:xfrm>
            <a:off x="8575675" y="531495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开发本质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375650" y="554355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a. 直接业务逻辑实现 + b. 经验资产化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99450" y="5886450"/>
            <a:ext cx="3314700" cy="571500"/>
          </a:xfrm>
          <a:custGeom>
            <a:avLst/>
            <a:gdLst/>
            <a:ahLst/>
            <a:cxnLst/>
            <a:rect l="l" t="t" r="r" b="b"/>
            <a:pathLst>
              <a:path w="3314700" h="571500">
                <a:moveTo>
                  <a:pt x="76198" y="0"/>
                </a:moveTo>
                <a:lnTo>
                  <a:pt x="3238502" y="0"/>
                </a:lnTo>
                <a:cubicBezTo>
                  <a:pt x="3280585" y="0"/>
                  <a:pt x="3314700" y="34115"/>
                  <a:pt x="3314700" y="76198"/>
                </a:cubicBezTo>
                <a:lnTo>
                  <a:pt x="3314700" y="495302"/>
                </a:lnTo>
                <a:cubicBezTo>
                  <a:pt x="3314700" y="537385"/>
                  <a:pt x="3280585" y="571500"/>
                  <a:pt x="3238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394700" y="59880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1" name="Text 79"/>
          <p:cNvSpPr/>
          <p:nvPr/>
        </p:nvSpPr>
        <p:spPr>
          <a:xfrm>
            <a:off x="8575675" y="596265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人的作用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375650" y="619125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控制方向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，防止幻觉偏离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181" y="323181"/>
            <a:ext cx="32318" cy="323181"/>
          </a:xfrm>
          <a:custGeom>
            <a:avLst/>
            <a:gdLst/>
            <a:ahLst/>
            <a:cxnLst/>
            <a:rect l="l" t="t" r="r" b="b"/>
            <a:pathLst>
              <a:path w="32318" h="323181">
                <a:moveTo>
                  <a:pt x="0" y="0"/>
                </a:moveTo>
                <a:lnTo>
                  <a:pt x="32318" y="0"/>
                </a:lnTo>
                <a:lnTo>
                  <a:pt x="32318" y="323181"/>
                </a:lnTo>
                <a:lnTo>
                  <a:pt x="0" y="323181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452453" y="323181"/>
            <a:ext cx="2141074" cy="323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FTC实施路线图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2453" y="710998"/>
            <a:ext cx="11481002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FOUR-STAGE IMPLEMENTATION ROADMAP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874" y="1036872"/>
            <a:ext cx="5701450" cy="2429243"/>
          </a:xfrm>
          <a:custGeom>
            <a:avLst/>
            <a:gdLst/>
            <a:ahLst/>
            <a:cxnLst/>
            <a:rect l="l" t="t" r="r" b="b"/>
            <a:pathLst>
              <a:path w="5701450" h="2429243">
                <a:moveTo>
                  <a:pt x="96951" y="0"/>
                </a:moveTo>
                <a:lnTo>
                  <a:pt x="5604499" y="0"/>
                </a:lnTo>
                <a:cubicBezTo>
                  <a:pt x="5658043" y="0"/>
                  <a:pt x="5701450" y="43406"/>
                  <a:pt x="5701450" y="96951"/>
                </a:cubicBezTo>
                <a:lnTo>
                  <a:pt x="5701450" y="2332292"/>
                </a:lnTo>
                <a:cubicBezTo>
                  <a:pt x="5701450" y="2385837"/>
                  <a:pt x="5658043" y="2429243"/>
                  <a:pt x="5604499" y="2429243"/>
                </a:cubicBezTo>
                <a:lnTo>
                  <a:pt x="96951" y="2429243"/>
                </a:lnTo>
                <a:cubicBezTo>
                  <a:pt x="43406" y="2429243"/>
                  <a:pt x="0" y="2385837"/>
                  <a:pt x="0" y="2332292"/>
                </a:cubicBezTo>
                <a:lnTo>
                  <a:pt x="0" y="96951"/>
                </a:lnTo>
                <a:cubicBezTo>
                  <a:pt x="0" y="43442"/>
                  <a:pt x="43442" y="0"/>
                  <a:pt x="9695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237" y="1209238"/>
            <a:ext cx="436294" cy="436294"/>
          </a:xfrm>
          <a:custGeom>
            <a:avLst/>
            <a:gdLst/>
            <a:ahLst/>
            <a:cxnLst/>
            <a:rect l="l" t="t" r="r" b="b"/>
            <a:pathLst>
              <a:path w="436294" h="436294">
                <a:moveTo>
                  <a:pt x="96953" y="0"/>
                </a:moveTo>
                <a:lnTo>
                  <a:pt x="339341" y="0"/>
                </a:lnTo>
                <a:cubicBezTo>
                  <a:pt x="392887" y="0"/>
                  <a:pt x="436294" y="43407"/>
                  <a:pt x="436294" y="96953"/>
                </a:cubicBezTo>
                <a:lnTo>
                  <a:pt x="436294" y="339341"/>
                </a:lnTo>
                <a:cubicBezTo>
                  <a:pt x="436294" y="392887"/>
                  <a:pt x="392887" y="436294"/>
                  <a:pt x="339341" y="436294"/>
                </a:cubicBezTo>
                <a:lnTo>
                  <a:pt x="96953" y="436294"/>
                </a:lnTo>
                <a:cubicBezTo>
                  <a:pt x="43407" y="436294"/>
                  <a:pt x="0" y="392887"/>
                  <a:pt x="0" y="339341"/>
                </a:cubicBezTo>
                <a:lnTo>
                  <a:pt x="0" y="96953"/>
                </a:lnTo>
                <a:cubicBezTo>
                  <a:pt x="0" y="43443"/>
                  <a:pt x="43443" y="0"/>
                  <a:pt x="96953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25400">
            <a:solidFill>
              <a:srgbClr val="5E8B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8259" y="1298113"/>
            <a:ext cx="169670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7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9565" y="1233476"/>
            <a:ext cx="727157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2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试点启动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9565" y="1459703"/>
            <a:ext cx="70291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精准选点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0158" y="1782884"/>
            <a:ext cx="5372883" cy="614044"/>
          </a:xfrm>
          <a:custGeom>
            <a:avLst/>
            <a:gdLst/>
            <a:ahLst/>
            <a:cxnLst/>
            <a:rect l="l" t="t" r="r" b="b"/>
            <a:pathLst>
              <a:path w="5372883" h="614044">
                <a:moveTo>
                  <a:pt x="64634" y="0"/>
                </a:moveTo>
                <a:lnTo>
                  <a:pt x="5308248" y="0"/>
                </a:lnTo>
                <a:cubicBezTo>
                  <a:pt x="5343945" y="0"/>
                  <a:pt x="5372883" y="28938"/>
                  <a:pt x="5372883" y="64634"/>
                </a:cubicBezTo>
                <a:lnTo>
                  <a:pt x="5372883" y="549409"/>
                </a:lnTo>
                <a:cubicBezTo>
                  <a:pt x="5372883" y="585106"/>
                  <a:pt x="5343945" y="614044"/>
                  <a:pt x="5308248" y="614044"/>
                </a:cubicBezTo>
                <a:lnTo>
                  <a:pt x="64634" y="614044"/>
                </a:lnTo>
                <a:cubicBezTo>
                  <a:pt x="28938" y="614044"/>
                  <a:pt x="0" y="585106"/>
                  <a:pt x="0" y="549409"/>
                </a:cubicBezTo>
                <a:lnTo>
                  <a:pt x="0" y="64634"/>
                </a:lnTo>
                <a:cubicBezTo>
                  <a:pt x="0" y="28938"/>
                  <a:pt x="28938" y="0"/>
                  <a:pt x="6463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271" y="1906767"/>
            <a:ext cx="129272" cy="129272"/>
          </a:xfrm>
          <a:custGeom>
            <a:avLst/>
            <a:gdLst/>
            <a:ahLst/>
            <a:cxnLst/>
            <a:rect l="l" t="t" r="r" b="b"/>
            <a:pathLst>
              <a:path w="129272" h="129272">
                <a:moveTo>
                  <a:pt x="113113" y="64636"/>
                </a:moveTo>
                <a:cubicBezTo>
                  <a:pt x="113113" y="37881"/>
                  <a:pt x="91391" y="16159"/>
                  <a:pt x="64636" y="16159"/>
                </a:cubicBezTo>
                <a:cubicBezTo>
                  <a:pt x="37881" y="16159"/>
                  <a:pt x="16159" y="37881"/>
                  <a:pt x="16159" y="64636"/>
                </a:cubicBezTo>
                <a:cubicBezTo>
                  <a:pt x="16159" y="91391"/>
                  <a:pt x="37881" y="113113"/>
                  <a:pt x="64636" y="113113"/>
                </a:cubicBezTo>
                <a:cubicBezTo>
                  <a:pt x="91391" y="113113"/>
                  <a:pt x="113113" y="91391"/>
                  <a:pt x="113113" y="64636"/>
                </a:cubicBezTo>
                <a:close/>
                <a:moveTo>
                  <a:pt x="0" y="64636"/>
                </a:moveTo>
                <a:cubicBezTo>
                  <a:pt x="0" y="28963"/>
                  <a:pt x="28963" y="0"/>
                  <a:pt x="64636" y="0"/>
                </a:cubicBezTo>
                <a:cubicBezTo>
                  <a:pt x="100310" y="0"/>
                  <a:pt x="129272" y="28963"/>
                  <a:pt x="129272" y="64636"/>
                </a:cubicBezTo>
                <a:cubicBezTo>
                  <a:pt x="129272" y="100310"/>
                  <a:pt x="100310" y="129272"/>
                  <a:pt x="64636" y="129272"/>
                </a:cubicBezTo>
                <a:cubicBezTo>
                  <a:pt x="28963" y="129272"/>
                  <a:pt x="0" y="100310"/>
                  <a:pt x="0" y="64636"/>
                </a:cubicBezTo>
                <a:close/>
                <a:moveTo>
                  <a:pt x="64636" y="84835"/>
                </a:moveTo>
                <a:cubicBezTo>
                  <a:pt x="75784" y="84835"/>
                  <a:pt x="84835" y="75784"/>
                  <a:pt x="84835" y="64636"/>
                </a:cubicBezTo>
                <a:cubicBezTo>
                  <a:pt x="84835" y="53488"/>
                  <a:pt x="75784" y="44437"/>
                  <a:pt x="64636" y="44437"/>
                </a:cubicBezTo>
                <a:cubicBezTo>
                  <a:pt x="53488" y="44437"/>
                  <a:pt x="44437" y="53488"/>
                  <a:pt x="44437" y="64636"/>
                </a:cubicBezTo>
                <a:cubicBezTo>
                  <a:pt x="44437" y="75784"/>
                  <a:pt x="53488" y="84835"/>
                  <a:pt x="64636" y="84835"/>
                </a:cubicBezTo>
                <a:close/>
                <a:moveTo>
                  <a:pt x="64636" y="28278"/>
                </a:moveTo>
                <a:cubicBezTo>
                  <a:pt x="84703" y="28278"/>
                  <a:pt x="100994" y="44570"/>
                  <a:pt x="100994" y="64636"/>
                </a:cubicBezTo>
                <a:cubicBezTo>
                  <a:pt x="100994" y="84703"/>
                  <a:pt x="84703" y="100994"/>
                  <a:pt x="64636" y="100994"/>
                </a:cubicBezTo>
                <a:cubicBezTo>
                  <a:pt x="44570" y="100994"/>
                  <a:pt x="28278" y="84703"/>
                  <a:pt x="28278" y="64636"/>
                </a:cubicBezTo>
                <a:cubicBezTo>
                  <a:pt x="28278" y="44570"/>
                  <a:pt x="44570" y="28278"/>
                  <a:pt x="64636" y="28278"/>
                </a:cubicBezTo>
                <a:close/>
                <a:moveTo>
                  <a:pt x="56557" y="64636"/>
                </a:moveTo>
                <a:cubicBezTo>
                  <a:pt x="56557" y="60177"/>
                  <a:pt x="60177" y="56557"/>
                  <a:pt x="64636" y="56557"/>
                </a:cubicBezTo>
                <a:cubicBezTo>
                  <a:pt x="69095" y="56557"/>
                  <a:pt x="72716" y="60177"/>
                  <a:pt x="72716" y="64636"/>
                </a:cubicBezTo>
                <a:cubicBezTo>
                  <a:pt x="72716" y="69095"/>
                  <a:pt x="69095" y="72716"/>
                  <a:pt x="64636" y="72716"/>
                </a:cubicBezTo>
                <a:cubicBezTo>
                  <a:pt x="60177" y="72716"/>
                  <a:pt x="56557" y="69095"/>
                  <a:pt x="56557" y="646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789823" y="1879838"/>
            <a:ext cx="5040899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112" y="2138383"/>
            <a:ext cx="5235531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各团队立即挑选 </a:t>
            </a:r>
            <a:pPr>
              <a:lnSpc>
                <a:spcPct val="120000"/>
              </a:lnSpc>
            </a:pPr>
            <a:r>
              <a:rPr lang="en-US" sz="891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1-2个项目</a:t>
            </a:r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试点用起来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0158" y="2493882"/>
            <a:ext cx="5372883" cy="807952"/>
          </a:xfrm>
          <a:custGeom>
            <a:avLst/>
            <a:gdLst/>
            <a:ahLst/>
            <a:cxnLst/>
            <a:rect l="l" t="t" r="r" b="b"/>
            <a:pathLst>
              <a:path w="5372883" h="807952">
                <a:moveTo>
                  <a:pt x="64636" y="0"/>
                </a:moveTo>
                <a:lnTo>
                  <a:pt x="5308247" y="0"/>
                </a:lnTo>
                <a:cubicBezTo>
                  <a:pt x="5343944" y="0"/>
                  <a:pt x="5372883" y="28939"/>
                  <a:pt x="5372883" y="64636"/>
                </a:cubicBezTo>
                <a:lnTo>
                  <a:pt x="5372883" y="743316"/>
                </a:lnTo>
                <a:cubicBezTo>
                  <a:pt x="5372883" y="779014"/>
                  <a:pt x="5343944" y="807952"/>
                  <a:pt x="5308247" y="807952"/>
                </a:cubicBezTo>
                <a:lnTo>
                  <a:pt x="64636" y="807952"/>
                </a:lnTo>
                <a:cubicBezTo>
                  <a:pt x="28939" y="807952"/>
                  <a:pt x="0" y="779014"/>
                  <a:pt x="0" y="743316"/>
                </a:cubicBezTo>
                <a:lnTo>
                  <a:pt x="0" y="64636"/>
                </a:lnTo>
                <a:cubicBezTo>
                  <a:pt x="0" y="28963"/>
                  <a:pt x="28963" y="0"/>
                  <a:pt x="646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5192" y="2617765"/>
            <a:ext cx="145431" cy="129272"/>
          </a:xfrm>
          <a:custGeom>
            <a:avLst/>
            <a:gdLst/>
            <a:ahLst/>
            <a:cxnLst/>
            <a:rect l="l" t="t" r="r" b="b"/>
            <a:pathLst>
              <a:path w="145431" h="129272">
                <a:moveTo>
                  <a:pt x="78144" y="-4772"/>
                </a:moveTo>
                <a:cubicBezTo>
                  <a:pt x="77109" y="-6792"/>
                  <a:pt x="75013" y="-8080"/>
                  <a:pt x="72741" y="-8080"/>
                </a:cubicBezTo>
                <a:cubicBezTo>
                  <a:pt x="70469" y="-8080"/>
                  <a:pt x="68373" y="-6792"/>
                  <a:pt x="67338" y="-4772"/>
                </a:cubicBezTo>
                <a:lnTo>
                  <a:pt x="48755" y="31636"/>
                </a:lnTo>
                <a:lnTo>
                  <a:pt x="8383" y="38050"/>
                </a:lnTo>
                <a:cubicBezTo>
                  <a:pt x="6135" y="38403"/>
                  <a:pt x="4267" y="39994"/>
                  <a:pt x="3560" y="42165"/>
                </a:cubicBezTo>
                <a:cubicBezTo>
                  <a:pt x="2853" y="44336"/>
                  <a:pt x="3434" y="46710"/>
                  <a:pt x="5024" y="48326"/>
                </a:cubicBezTo>
                <a:lnTo>
                  <a:pt x="33909" y="77235"/>
                </a:lnTo>
                <a:lnTo>
                  <a:pt x="27546" y="117608"/>
                </a:lnTo>
                <a:cubicBezTo>
                  <a:pt x="27193" y="119855"/>
                  <a:pt x="28127" y="122127"/>
                  <a:pt x="29970" y="123465"/>
                </a:cubicBezTo>
                <a:cubicBezTo>
                  <a:pt x="31813" y="124803"/>
                  <a:pt x="34237" y="125005"/>
                  <a:pt x="36282" y="123970"/>
                </a:cubicBezTo>
                <a:lnTo>
                  <a:pt x="72741" y="105438"/>
                </a:lnTo>
                <a:lnTo>
                  <a:pt x="109175" y="123970"/>
                </a:lnTo>
                <a:cubicBezTo>
                  <a:pt x="111194" y="125005"/>
                  <a:pt x="113644" y="124803"/>
                  <a:pt x="115487" y="123465"/>
                </a:cubicBezTo>
                <a:cubicBezTo>
                  <a:pt x="117330" y="122127"/>
                  <a:pt x="118264" y="119880"/>
                  <a:pt x="117911" y="117608"/>
                </a:cubicBezTo>
                <a:lnTo>
                  <a:pt x="111523" y="77235"/>
                </a:lnTo>
                <a:lnTo>
                  <a:pt x="140407" y="48326"/>
                </a:lnTo>
                <a:cubicBezTo>
                  <a:pt x="142023" y="46710"/>
                  <a:pt x="142578" y="44336"/>
                  <a:pt x="141871" y="42165"/>
                </a:cubicBezTo>
                <a:cubicBezTo>
                  <a:pt x="141164" y="39994"/>
                  <a:pt x="139321" y="38403"/>
                  <a:pt x="137049" y="38050"/>
                </a:cubicBezTo>
                <a:lnTo>
                  <a:pt x="96702" y="31636"/>
                </a:lnTo>
                <a:lnTo>
                  <a:pt x="78144" y="-477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789823" y="2590836"/>
            <a:ext cx="5040899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推荐场景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1549" y="2881699"/>
            <a:ext cx="56557" cy="113113"/>
          </a:xfrm>
          <a:custGeom>
            <a:avLst/>
            <a:gdLst/>
            <a:ahLst/>
            <a:cxnLst/>
            <a:rect l="l" t="t" r="r" b="b"/>
            <a:pathLst>
              <a:path w="56557" h="113113">
                <a:moveTo>
                  <a:pt x="54590" y="51564"/>
                </a:moveTo>
                <a:cubicBezTo>
                  <a:pt x="57352" y="54325"/>
                  <a:pt x="57352" y="58810"/>
                  <a:pt x="54590" y="61572"/>
                </a:cubicBezTo>
                <a:lnTo>
                  <a:pt x="19243" y="96920"/>
                </a:lnTo>
                <a:cubicBezTo>
                  <a:pt x="16481" y="99681"/>
                  <a:pt x="11996" y="99681"/>
                  <a:pt x="9235" y="96920"/>
                </a:cubicBezTo>
                <a:cubicBezTo>
                  <a:pt x="6473" y="94158"/>
                  <a:pt x="6473" y="89673"/>
                  <a:pt x="9235" y="86912"/>
                </a:cubicBezTo>
                <a:lnTo>
                  <a:pt x="39590" y="56557"/>
                </a:lnTo>
                <a:lnTo>
                  <a:pt x="9257" y="26202"/>
                </a:lnTo>
                <a:cubicBezTo>
                  <a:pt x="6495" y="23440"/>
                  <a:pt x="6495" y="18955"/>
                  <a:pt x="9257" y="16194"/>
                </a:cubicBezTo>
                <a:cubicBezTo>
                  <a:pt x="12018" y="13432"/>
                  <a:pt x="16503" y="13432"/>
                  <a:pt x="19265" y="16194"/>
                </a:cubicBezTo>
                <a:lnTo>
                  <a:pt x="54613" y="5154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793140" y="2849381"/>
            <a:ext cx="2431936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数据库密码管理项目（安全规范与多模式适配）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1549" y="3075608"/>
            <a:ext cx="56557" cy="113113"/>
          </a:xfrm>
          <a:custGeom>
            <a:avLst/>
            <a:gdLst/>
            <a:ahLst/>
            <a:cxnLst/>
            <a:rect l="l" t="t" r="r" b="b"/>
            <a:pathLst>
              <a:path w="56557" h="113113">
                <a:moveTo>
                  <a:pt x="54590" y="51564"/>
                </a:moveTo>
                <a:cubicBezTo>
                  <a:pt x="57352" y="54325"/>
                  <a:pt x="57352" y="58810"/>
                  <a:pt x="54590" y="61572"/>
                </a:cubicBezTo>
                <a:lnTo>
                  <a:pt x="19243" y="96920"/>
                </a:lnTo>
                <a:cubicBezTo>
                  <a:pt x="16481" y="99681"/>
                  <a:pt x="11996" y="99681"/>
                  <a:pt x="9235" y="96920"/>
                </a:cubicBezTo>
                <a:cubicBezTo>
                  <a:pt x="6473" y="94158"/>
                  <a:pt x="6473" y="89673"/>
                  <a:pt x="9235" y="86912"/>
                </a:cubicBezTo>
                <a:lnTo>
                  <a:pt x="39590" y="56557"/>
                </a:lnTo>
                <a:lnTo>
                  <a:pt x="9257" y="26202"/>
                </a:lnTo>
                <a:cubicBezTo>
                  <a:pt x="6495" y="23440"/>
                  <a:pt x="6495" y="18955"/>
                  <a:pt x="9257" y="16194"/>
                </a:cubicBezTo>
                <a:cubicBezTo>
                  <a:pt x="12018" y="13432"/>
                  <a:pt x="16503" y="13432"/>
                  <a:pt x="19265" y="16194"/>
                </a:cubicBezTo>
                <a:lnTo>
                  <a:pt x="54613" y="5154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793140" y="3043290"/>
            <a:ext cx="2197630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RPA信创改造项目（代码迁移与异构适配）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4676" y="1036872"/>
            <a:ext cx="5701450" cy="2429243"/>
          </a:xfrm>
          <a:custGeom>
            <a:avLst/>
            <a:gdLst/>
            <a:ahLst/>
            <a:cxnLst/>
            <a:rect l="l" t="t" r="r" b="b"/>
            <a:pathLst>
              <a:path w="5701450" h="2429243">
                <a:moveTo>
                  <a:pt x="96951" y="0"/>
                </a:moveTo>
                <a:lnTo>
                  <a:pt x="5604499" y="0"/>
                </a:lnTo>
                <a:cubicBezTo>
                  <a:pt x="5658043" y="0"/>
                  <a:pt x="5701450" y="43406"/>
                  <a:pt x="5701450" y="96951"/>
                </a:cubicBezTo>
                <a:lnTo>
                  <a:pt x="5701450" y="2332292"/>
                </a:lnTo>
                <a:cubicBezTo>
                  <a:pt x="5701450" y="2385837"/>
                  <a:pt x="5658043" y="2429243"/>
                  <a:pt x="5604499" y="2429243"/>
                </a:cubicBezTo>
                <a:lnTo>
                  <a:pt x="96951" y="2429243"/>
                </a:lnTo>
                <a:cubicBezTo>
                  <a:pt x="43406" y="2429243"/>
                  <a:pt x="0" y="2385837"/>
                  <a:pt x="0" y="2332292"/>
                </a:cubicBezTo>
                <a:lnTo>
                  <a:pt x="0" y="96951"/>
                </a:lnTo>
                <a:cubicBezTo>
                  <a:pt x="0" y="43442"/>
                  <a:pt x="43442" y="0"/>
                  <a:pt x="9695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7039" y="1209238"/>
            <a:ext cx="436294" cy="436294"/>
          </a:xfrm>
          <a:custGeom>
            <a:avLst/>
            <a:gdLst/>
            <a:ahLst/>
            <a:cxnLst/>
            <a:rect l="l" t="t" r="r" b="b"/>
            <a:pathLst>
              <a:path w="436294" h="436294">
                <a:moveTo>
                  <a:pt x="96953" y="0"/>
                </a:moveTo>
                <a:lnTo>
                  <a:pt x="339341" y="0"/>
                </a:lnTo>
                <a:cubicBezTo>
                  <a:pt x="392887" y="0"/>
                  <a:pt x="436294" y="43407"/>
                  <a:pt x="436294" y="96953"/>
                </a:cubicBezTo>
                <a:lnTo>
                  <a:pt x="436294" y="339341"/>
                </a:lnTo>
                <a:cubicBezTo>
                  <a:pt x="436294" y="392887"/>
                  <a:pt x="392887" y="436294"/>
                  <a:pt x="339341" y="436294"/>
                </a:cubicBezTo>
                <a:lnTo>
                  <a:pt x="96953" y="436294"/>
                </a:lnTo>
                <a:cubicBezTo>
                  <a:pt x="43407" y="436294"/>
                  <a:pt x="0" y="392887"/>
                  <a:pt x="0" y="339341"/>
                </a:cubicBezTo>
                <a:lnTo>
                  <a:pt x="0" y="96953"/>
                </a:lnTo>
                <a:cubicBezTo>
                  <a:pt x="0" y="43443"/>
                  <a:pt x="43443" y="0"/>
                  <a:pt x="9695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5400">
            <a:solidFill>
              <a:srgbClr val="4A6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0650" y="1298113"/>
            <a:ext cx="201988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7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78367" y="1233476"/>
            <a:ext cx="1187690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2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双管齐下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78367" y="1459703"/>
            <a:ext cx="1163451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工具加工 + SKILL沉淀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45119" y="1782884"/>
            <a:ext cx="5356724" cy="614044"/>
          </a:xfrm>
          <a:custGeom>
            <a:avLst/>
            <a:gdLst/>
            <a:ahLst/>
            <a:cxnLst/>
            <a:rect l="l" t="t" r="r" b="b"/>
            <a:pathLst>
              <a:path w="5356724" h="614044">
                <a:moveTo>
                  <a:pt x="32318" y="0"/>
                </a:moveTo>
                <a:lnTo>
                  <a:pt x="5292089" y="0"/>
                </a:lnTo>
                <a:cubicBezTo>
                  <a:pt x="5327786" y="0"/>
                  <a:pt x="5356724" y="28938"/>
                  <a:pt x="5356724" y="64634"/>
                </a:cubicBezTo>
                <a:lnTo>
                  <a:pt x="5356724" y="549409"/>
                </a:lnTo>
                <a:cubicBezTo>
                  <a:pt x="5356724" y="585106"/>
                  <a:pt x="5327786" y="614044"/>
                  <a:pt x="5292089" y="614044"/>
                </a:cubicBezTo>
                <a:lnTo>
                  <a:pt x="32318" y="614044"/>
                </a:lnTo>
                <a:cubicBezTo>
                  <a:pt x="14469" y="614044"/>
                  <a:pt x="0" y="599574"/>
                  <a:pt x="0" y="581726"/>
                </a:cubicBezTo>
                <a:lnTo>
                  <a:pt x="0" y="32318"/>
                </a:lnTo>
                <a:cubicBezTo>
                  <a:pt x="0" y="14481"/>
                  <a:pt x="14481" y="0"/>
                  <a:pt x="323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45119" y="1782884"/>
            <a:ext cx="32318" cy="614044"/>
          </a:xfrm>
          <a:custGeom>
            <a:avLst/>
            <a:gdLst/>
            <a:ahLst/>
            <a:cxnLst/>
            <a:rect l="l" t="t" r="r" b="b"/>
            <a:pathLst>
              <a:path w="32318" h="614044">
                <a:moveTo>
                  <a:pt x="32318" y="0"/>
                </a:moveTo>
                <a:lnTo>
                  <a:pt x="32318" y="0"/>
                </a:lnTo>
                <a:lnTo>
                  <a:pt x="32318" y="614044"/>
                </a:lnTo>
                <a:lnTo>
                  <a:pt x="32318" y="614044"/>
                </a:lnTo>
                <a:cubicBezTo>
                  <a:pt x="14469" y="614044"/>
                  <a:pt x="0" y="599574"/>
                  <a:pt x="0" y="581726"/>
                </a:cubicBezTo>
                <a:lnTo>
                  <a:pt x="0" y="32318"/>
                </a:lnTo>
                <a:cubicBezTo>
                  <a:pt x="0" y="14481"/>
                  <a:pt x="14481" y="0"/>
                  <a:pt x="3231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6312" y="1906767"/>
            <a:ext cx="145431" cy="129272"/>
          </a:xfrm>
          <a:custGeom>
            <a:avLst/>
            <a:gdLst/>
            <a:ahLst/>
            <a:cxnLst/>
            <a:rect l="l" t="t" r="r" b="b"/>
            <a:pathLst>
              <a:path w="145431" h="129272">
                <a:moveTo>
                  <a:pt x="56582" y="24516"/>
                </a:moveTo>
                <a:lnTo>
                  <a:pt x="56582" y="37040"/>
                </a:lnTo>
                <a:lnTo>
                  <a:pt x="56708" y="37166"/>
                </a:lnTo>
                <a:cubicBezTo>
                  <a:pt x="58349" y="16361"/>
                  <a:pt x="75746" y="0"/>
                  <a:pt x="96980" y="0"/>
                </a:cubicBezTo>
                <a:cubicBezTo>
                  <a:pt x="102054" y="0"/>
                  <a:pt x="106927" y="934"/>
                  <a:pt x="111396" y="2651"/>
                </a:cubicBezTo>
                <a:cubicBezTo>
                  <a:pt x="113921" y="3611"/>
                  <a:pt x="114376" y="6817"/>
                  <a:pt x="112482" y="8736"/>
                </a:cubicBezTo>
                <a:lnTo>
                  <a:pt x="90087" y="31131"/>
                </a:lnTo>
                <a:cubicBezTo>
                  <a:pt x="89329" y="31889"/>
                  <a:pt x="88900" y="32924"/>
                  <a:pt x="88900" y="33984"/>
                </a:cubicBezTo>
                <a:lnTo>
                  <a:pt x="88900" y="44437"/>
                </a:lnTo>
                <a:cubicBezTo>
                  <a:pt x="88900" y="46659"/>
                  <a:pt x="90718" y="48477"/>
                  <a:pt x="92940" y="48477"/>
                </a:cubicBezTo>
                <a:lnTo>
                  <a:pt x="103393" y="48477"/>
                </a:lnTo>
                <a:cubicBezTo>
                  <a:pt x="104453" y="48477"/>
                  <a:pt x="105488" y="48048"/>
                  <a:pt x="106246" y="47290"/>
                </a:cubicBezTo>
                <a:lnTo>
                  <a:pt x="128641" y="24895"/>
                </a:lnTo>
                <a:cubicBezTo>
                  <a:pt x="130560" y="22976"/>
                  <a:pt x="133767" y="23456"/>
                  <a:pt x="134726" y="25981"/>
                </a:cubicBezTo>
                <a:cubicBezTo>
                  <a:pt x="136443" y="30450"/>
                  <a:pt x="137377" y="35323"/>
                  <a:pt x="137377" y="40398"/>
                </a:cubicBezTo>
                <a:cubicBezTo>
                  <a:pt x="137377" y="55698"/>
                  <a:pt x="128868" y="69029"/>
                  <a:pt x="116295" y="75872"/>
                </a:cubicBezTo>
                <a:lnTo>
                  <a:pt x="136872" y="96449"/>
                </a:lnTo>
                <a:cubicBezTo>
                  <a:pt x="141594" y="101171"/>
                  <a:pt x="141594" y="108846"/>
                  <a:pt x="136872" y="113593"/>
                </a:cubicBezTo>
                <a:lnTo>
                  <a:pt x="121698" y="128767"/>
                </a:lnTo>
                <a:cubicBezTo>
                  <a:pt x="116976" y="133489"/>
                  <a:pt x="109301" y="133489"/>
                  <a:pt x="104554" y="128767"/>
                </a:cubicBezTo>
                <a:lnTo>
                  <a:pt x="72741" y="96954"/>
                </a:lnTo>
                <a:cubicBezTo>
                  <a:pt x="65823" y="90036"/>
                  <a:pt x="64257" y="79811"/>
                  <a:pt x="68070" y="71378"/>
                </a:cubicBezTo>
                <a:lnTo>
                  <a:pt x="45170" y="48477"/>
                </a:lnTo>
                <a:lnTo>
                  <a:pt x="32646" y="48477"/>
                </a:lnTo>
                <a:cubicBezTo>
                  <a:pt x="29945" y="48477"/>
                  <a:pt x="27420" y="47139"/>
                  <a:pt x="25930" y="44892"/>
                </a:cubicBezTo>
                <a:lnTo>
                  <a:pt x="5908" y="14871"/>
                </a:lnTo>
                <a:cubicBezTo>
                  <a:pt x="4848" y="13281"/>
                  <a:pt x="5050" y="11135"/>
                  <a:pt x="6413" y="9771"/>
                </a:cubicBezTo>
                <a:lnTo>
                  <a:pt x="17876" y="-1692"/>
                </a:lnTo>
                <a:cubicBezTo>
                  <a:pt x="19239" y="-3055"/>
                  <a:pt x="21360" y="-3257"/>
                  <a:pt x="22976" y="-2197"/>
                </a:cubicBezTo>
                <a:lnTo>
                  <a:pt x="52997" y="17800"/>
                </a:lnTo>
                <a:cubicBezTo>
                  <a:pt x="55244" y="19290"/>
                  <a:pt x="56582" y="21815"/>
                  <a:pt x="56582" y="24516"/>
                </a:cubicBezTo>
                <a:close/>
                <a:moveTo>
                  <a:pt x="54436" y="74887"/>
                </a:moveTo>
                <a:cubicBezTo>
                  <a:pt x="52845" y="84229"/>
                  <a:pt x="55042" y="94101"/>
                  <a:pt x="61101" y="102004"/>
                </a:cubicBezTo>
                <a:lnTo>
                  <a:pt x="37115" y="125965"/>
                </a:lnTo>
                <a:cubicBezTo>
                  <a:pt x="30020" y="133060"/>
                  <a:pt x="18507" y="133060"/>
                  <a:pt x="11412" y="125965"/>
                </a:cubicBezTo>
                <a:cubicBezTo>
                  <a:pt x="4317" y="118870"/>
                  <a:pt x="4317" y="107357"/>
                  <a:pt x="11412" y="100262"/>
                </a:cubicBezTo>
                <a:lnTo>
                  <a:pt x="45599" y="66075"/>
                </a:lnTo>
                <a:lnTo>
                  <a:pt x="54436" y="7491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6660943" y="1879838"/>
            <a:ext cx="5008581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任务A：基础工具智能化加工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8232" y="2138383"/>
            <a:ext cx="5203213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利用大模型加工基础工具，形成</a:t>
            </a:r>
            <a:pPr>
              <a:lnSpc>
                <a:spcPct val="120000"/>
              </a:lnSpc>
            </a:pPr>
            <a:r>
              <a:rPr lang="en-US" sz="891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JAR包/SDK</a:t>
            </a:r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，标准化、开箱即用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5119" y="2493882"/>
            <a:ext cx="5356724" cy="614044"/>
          </a:xfrm>
          <a:custGeom>
            <a:avLst/>
            <a:gdLst/>
            <a:ahLst/>
            <a:cxnLst/>
            <a:rect l="l" t="t" r="r" b="b"/>
            <a:pathLst>
              <a:path w="5356724" h="614044">
                <a:moveTo>
                  <a:pt x="32318" y="0"/>
                </a:moveTo>
                <a:lnTo>
                  <a:pt x="5292089" y="0"/>
                </a:lnTo>
                <a:cubicBezTo>
                  <a:pt x="5327786" y="0"/>
                  <a:pt x="5356724" y="28938"/>
                  <a:pt x="5356724" y="64634"/>
                </a:cubicBezTo>
                <a:lnTo>
                  <a:pt x="5356724" y="549409"/>
                </a:lnTo>
                <a:cubicBezTo>
                  <a:pt x="5356724" y="585106"/>
                  <a:pt x="5327786" y="614044"/>
                  <a:pt x="5292089" y="614044"/>
                </a:cubicBezTo>
                <a:lnTo>
                  <a:pt x="32318" y="614044"/>
                </a:lnTo>
                <a:cubicBezTo>
                  <a:pt x="14469" y="614044"/>
                  <a:pt x="0" y="599574"/>
                  <a:pt x="0" y="581726"/>
                </a:cubicBezTo>
                <a:lnTo>
                  <a:pt x="0" y="32318"/>
                </a:lnTo>
                <a:cubicBezTo>
                  <a:pt x="0" y="14481"/>
                  <a:pt x="14481" y="0"/>
                  <a:pt x="323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45119" y="2493882"/>
            <a:ext cx="32318" cy="614044"/>
          </a:xfrm>
          <a:custGeom>
            <a:avLst/>
            <a:gdLst/>
            <a:ahLst/>
            <a:cxnLst/>
            <a:rect l="l" t="t" r="r" b="b"/>
            <a:pathLst>
              <a:path w="32318" h="614044">
                <a:moveTo>
                  <a:pt x="32318" y="0"/>
                </a:moveTo>
                <a:lnTo>
                  <a:pt x="32318" y="0"/>
                </a:lnTo>
                <a:lnTo>
                  <a:pt x="32318" y="614044"/>
                </a:lnTo>
                <a:lnTo>
                  <a:pt x="32318" y="614044"/>
                </a:lnTo>
                <a:cubicBezTo>
                  <a:pt x="14469" y="614044"/>
                  <a:pt x="0" y="599574"/>
                  <a:pt x="0" y="581726"/>
                </a:cubicBezTo>
                <a:lnTo>
                  <a:pt x="0" y="32318"/>
                </a:lnTo>
                <a:cubicBezTo>
                  <a:pt x="0" y="14481"/>
                  <a:pt x="14481" y="0"/>
                  <a:pt x="3231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Shape 31"/>
          <p:cNvSpPr/>
          <p:nvPr/>
        </p:nvSpPr>
        <p:spPr>
          <a:xfrm>
            <a:off x="6474391" y="2617765"/>
            <a:ext cx="129272" cy="129272"/>
          </a:xfrm>
          <a:custGeom>
            <a:avLst/>
            <a:gdLst/>
            <a:ahLst/>
            <a:cxnLst/>
            <a:rect l="l" t="t" r="r" b="b"/>
            <a:pathLst>
              <a:path w="129272" h="129272">
                <a:moveTo>
                  <a:pt x="58703" y="1313"/>
                </a:moveTo>
                <a:cubicBezTo>
                  <a:pt x="62465" y="-429"/>
                  <a:pt x="66808" y="-429"/>
                  <a:pt x="70570" y="1313"/>
                </a:cubicBezTo>
                <a:lnTo>
                  <a:pt x="125763" y="26814"/>
                </a:lnTo>
                <a:cubicBezTo>
                  <a:pt x="127909" y="27799"/>
                  <a:pt x="129272" y="29945"/>
                  <a:pt x="129272" y="32318"/>
                </a:cubicBezTo>
                <a:cubicBezTo>
                  <a:pt x="129272" y="34691"/>
                  <a:pt x="127909" y="36838"/>
                  <a:pt x="125763" y="37822"/>
                </a:cubicBezTo>
                <a:lnTo>
                  <a:pt x="70570" y="63323"/>
                </a:lnTo>
                <a:cubicBezTo>
                  <a:pt x="66808" y="65065"/>
                  <a:pt x="62465" y="65065"/>
                  <a:pt x="58703" y="63323"/>
                </a:cubicBezTo>
                <a:lnTo>
                  <a:pt x="3510" y="37822"/>
                </a:lnTo>
                <a:cubicBezTo>
                  <a:pt x="1363" y="36812"/>
                  <a:pt x="0" y="34666"/>
                  <a:pt x="0" y="32318"/>
                </a:cubicBezTo>
                <a:cubicBezTo>
                  <a:pt x="0" y="29970"/>
                  <a:pt x="1363" y="27799"/>
                  <a:pt x="3510" y="26814"/>
                </a:cubicBezTo>
                <a:lnTo>
                  <a:pt x="58703" y="1313"/>
                </a:lnTo>
                <a:close/>
                <a:moveTo>
                  <a:pt x="12145" y="55143"/>
                </a:moveTo>
                <a:lnTo>
                  <a:pt x="53628" y="74306"/>
                </a:lnTo>
                <a:cubicBezTo>
                  <a:pt x="60622" y="77538"/>
                  <a:pt x="68676" y="77538"/>
                  <a:pt x="75670" y="74306"/>
                </a:cubicBezTo>
                <a:lnTo>
                  <a:pt x="117153" y="55143"/>
                </a:lnTo>
                <a:lnTo>
                  <a:pt x="125763" y="59132"/>
                </a:lnTo>
                <a:cubicBezTo>
                  <a:pt x="127909" y="60117"/>
                  <a:pt x="129272" y="62263"/>
                  <a:pt x="129272" y="64636"/>
                </a:cubicBezTo>
                <a:cubicBezTo>
                  <a:pt x="129272" y="67010"/>
                  <a:pt x="127909" y="69156"/>
                  <a:pt x="125763" y="70140"/>
                </a:cubicBezTo>
                <a:lnTo>
                  <a:pt x="70570" y="95641"/>
                </a:lnTo>
                <a:cubicBezTo>
                  <a:pt x="66808" y="97383"/>
                  <a:pt x="62465" y="97383"/>
                  <a:pt x="58703" y="95641"/>
                </a:cubicBezTo>
                <a:lnTo>
                  <a:pt x="3510" y="70140"/>
                </a:lnTo>
                <a:cubicBezTo>
                  <a:pt x="1363" y="69130"/>
                  <a:pt x="0" y="66984"/>
                  <a:pt x="0" y="64636"/>
                </a:cubicBezTo>
                <a:cubicBezTo>
                  <a:pt x="0" y="62288"/>
                  <a:pt x="1363" y="60117"/>
                  <a:pt x="3510" y="59132"/>
                </a:cubicBezTo>
                <a:lnTo>
                  <a:pt x="12119" y="55143"/>
                </a:lnTo>
                <a:close/>
                <a:moveTo>
                  <a:pt x="3510" y="91450"/>
                </a:moveTo>
                <a:lnTo>
                  <a:pt x="12119" y="87461"/>
                </a:lnTo>
                <a:lnTo>
                  <a:pt x="53603" y="106624"/>
                </a:lnTo>
                <a:cubicBezTo>
                  <a:pt x="60596" y="109856"/>
                  <a:pt x="68651" y="109856"/>
                  <a:pt x="75645" y="106624"/>
                </a:cubicBezTo>
                <a:lnTo>
                  <a:pt x="117128" y="87461"/>
                </a:lnTo>
                <a:lnTo>
                  <a:pt x="125738" y="91450"/>
                </a:lnTo>
                <a:cubicBezTo>
                  <a:pt x="127884" y="92435"/>
                  <a:pt x="129247" y="94581"/>
                  <a:pt x="129247" y="96954"/>
                </a:cubicBezTo>
                <a:cubicBezTo>
                  <a:pt x="129247" y="99328"/>
                  <a:pt x="127884" y="101474"/>
                  <a:pt x="125738" y="102458"/>
                </a:cubicBezTo>
                <a:lnTo>
                  <a:pt x="70544" y="127959"/>
                </a:lnTo>
                <a:cubicBezTo>
                  <a:pt x="66782" y="129702"/>
                  <a:pt x="62440" y="129702"/>
                  <a:pt x="58678" y="127959"/>
                </a:cubicBezTo>
                <a:lnTo>
                  <a:pt x="3510" y="102458"/>
                </a:lnTo>
                <a:cubicBezTo>
                  <a:pt x="1363" y="101449"/>
                  <a:pt x="0" y="99302"/>
                  <a:pt x="0" y="96954"/>
                </a:cubicBezTo>
                <a:cubicBezTo>
                  <a:pt x="0" y="94606"/>
                  <a:pt x="1363" y="92435"/>
                  <a:pt x="3510" y="914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2"/>
          <p:cNvSpPr/>
          <p:nvPr/>
        </p:nvSpPr>
        <p:spPr>
          <a:xfrm>
            <a:off x="6660943" y="2590836"/>
            <a:ext cx="5008581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任务B：SKILL沉淀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58232" y="2849381"/>
            <a:ext cx="5203213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基于试点应用形成</a:t>
            </a:r>
            <a:pPr>
              <a:lnSpc>
                <a:spcPct val="120000"/>
              </a:lnSpc>
            </a:pPr>
            <a:r>
              <a:rPr lang="en-US" sz="891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SKILL库</a:t>
            </a:r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，实现"一次成功，全员复用"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5874" y="3600779"/>
            <a:ext cx="5701450" cy="2243414"/>
          </a:xfrm>
          <a:custGeom>
            <a:avLst/>
            <a:gdLst/>
            <a:ahLst/>
            <a:cxnLst/>
            <a:rect l="l" t="t" r="r" b="b"/>
            <a:pathLst>
              <a:path w="5701450" h="2243414">
                <a:moveTo>
                  <a:pt x="96960" y="0"/>
                </a:moveTo>
                <a:lnTo>
                  <a:pt x="5604490" y="0"/>
                </a:lnTo>
                <a:cubicBezTo>
                  <a:pt x="5658039" y="0"/>
                  <a:pt x="5701450" y="43411"/>
                  <a:pt x="5701450" y="96960"/>
                </a:cubicBezTo>
                <a:lnTo>
                  <a:pt x="5701450" y="2146454"/>
                </a:lnTo>
                <a:cubicBezTo>
                  <a:pt x="5701450" y="2200004"/>
                  <a:pt x="5658039" y="2243414"/>
                  <a:pt x="5604490" y="2243414"/>
                </a:cubicBezTo>
                <a:lnTo>
                  <a:pt x="96960" y="2243414"/>
                </a:lnTo>
                <a:cubicBezTo>
                  <a:pt x="43411" y="2243414"/>
                  <a:pt x="0" y="2200004"/>
                  <a:pt x="0" y="2146454"/>
                </a:cubicBezTo>
                <a:lnTo>
                  <a:pt x="0" y="96960"/>
                </a:lnTo>
                <a:cubicBezTo>
                  <a:pt x="0" y="43446"/>
                  <a:pt x="43446" y="0"/>
                  <a:pt x="9696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237" y="3773137"/>
            <a:ext cx="436294" cy="436294"/>
          </a:xfrm>
          <a:custGeom>
            <a:avLst/>
            <a:gdLst/>
            <a:ahLst/>
            <a:cxnLst/>
            <a:rect l="l" t="t" r="r" b="b"/>
            <a:pathLst>
              <a:path w="436294" h="436294">
                <a:moveTo>
                  <a:pt x="96953" y="0"/>
                </a:moveTo>
                <a:lnTo>
                  <a:pt x="339341" y="0"/>
                </a:lnTo>
                <a:cubicBezTo>
                  <a:pt x="392887" y="0"/>
                  <a:pt x="436294" y="43407"/>
                  <a:pt x="436294" y="96953"/>
                </a:cubicBezTo>
                <a:lnTo>
                  <a:pt x="436294" y="339341"/>
                </a:lnTo>
                <a:cubicBezTo>
                  <a:pt x="436294" y="392887"/>
                  <a:pt x="392887" y="436294"/>
                  <a:pt x="339341" y="436294"/>
                </a:cubicBezTo>
                <a:lnTo>
                  <a:pt x="96953" y="436294"/>
                </a:lnTo>
                <a:cubicBezTo>
                  <a:pt x="43407" y="436294"/>
                  <a:pt x="0" y="392887"/>
                  <a:pt x="0" y="339341"/>
                </a:cubicBezTo>
                <a:lnTo>
                  <a:pt x="0" y="96953"/>
                </a:lnTo>
                <a:cubicBezTo>
                  <a:pt x="0" y="43443"/>
                  <a:pt x="43443" y="0"/>
                  <a:pt x="96953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25400">
            <a:solidFill>
              <a:srgbClr val="5E8B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9323" y="3862012"/>
            <a:ext cx="210068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7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9565" y="3797376"/>
            <a:ext cx="1316962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2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新系统设计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9565" y="4023602"/>
            <a:ext cx="1292724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原生AI化（通用平台等）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6317" y="4346783"/>
            <a:ext cx="5356724" cy="614044"/>
          </a:xfrm>
          <a:custGeom>
            <a:avLst/>
            <a:gdLst/>
            <a:ahLst/>
            <a:cxnLst/>
            <a:rect l="l" t="t" r="r" b="b"/>
            <a:pathLst>
              <a:path w="5356724" h="614044">
                <a:moveTo>
                  <a:pt x="32318" y="0"/>
                </a:moveTo>
                <a:lnTo>
                  <a:pt x="5292089" y="0"/>
                </a:lnTo>
                <a:cubicBezTo>
                  <a:pt x="5327786" y="0"/>
                  <a:pt x="5356724" y="28938"/>
                  <a:pt x="5356724" y="64634"/>
                </a:cubicBezTo>
                <a:lnTo>
                  <a:pt x="5356724" y="549409"/>
                </a:lnTo>
                <a:cubicBezTo>
                  <a:pt x="5356724" y="585106"/>
                  <a:pt x="5327786" y="614044"/>
                  <a:pt x="5292089" y="614044"/>
                </a:cubicBezTo>
                <a:lnTo>
                  <a:pt x="32318" y="614044"/>
                </a:lnTo>
                <a:cubicBezTo>
                  <a:pt x="14469" y="614044"/>
                  <a:pt x="0" y="599574"/>
                  <a:pt x="0" y="581726"/>
                </a:cubicBezTo>
                <a:lnTo>
                  <a:pt x="0" y="32318"/>
                </a:lnTo>
                <a:cubicBezTo>
                  <a:pt x="0" y="14481"/>
                  <a:pt x="14481" y="0"/>
                  <a:pt x="323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6317" y="4346783"/>
            <a:ext cx="32318" cy="614044"/>
          </a:xfrm>
          <a:custGeom>
            <a:avLst/>
            <a:gdLst/>
            <a:ahLst/>
            <a:cxnLst/>
            <a:rect l="l" t="t" r="r" b="b"/>
            <a:pathLst>
              <a:path w="32318" h="614044">
                <a:moveTo>
                  <a:pt x="32318" y="0"/>
                </a:moveTo>
                <a:lnTo>
                  <a:pt x="32318" y="0"/>
                </a:lnTo>
                <a:lnTo>
                  <a:pt x="32318" y="614044"/>
                </a:lnTo>
                <a:lnTo>
                  <a:pt x="32318" y="614044"/>
                </a:lnTo>
                <a:cubicBezTo>
                  <a:pt x="14469" y="614044"/>
                  <a:pt x="0" y="599574"/>
                  <a:pt x="0" y="581726"/>
                </a:cubicBezTo>
                <a:lnTo>
                  <a:pt x="0" y="32318"/>
                </a:lnTo>
                <a:cubicBezTo>
                  <a:pt x="0" y="14481"/>
                  <a:pt x="14481" y="0"/>
                  <a:pt x="3231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Shape 41"/>
          <p:cNvSpPr/>
          <p:nvPr/>
        </p:nvSpPr>
        <p:spPr>
          <a:xfrm>
            <a:off x="627510" y="4470675"/>
            <a:ext cx="145431" cy="129272"/>
          </a:xfrm>
          <a:custGeom>
            <a:avLst/>
            <a:gdLst/>
            <a:ahLst/>
            <a:cxnLst/>
            <a:rect l="l" t="t" r="r" b="b"/>
            <a:pathLst>
              <a:path w="145431" h="129272">
                <a:moveTo>
                  <a:pt x="91097" y="303"/>
                </a:moveTo>
                <a:cubicBezTo>
                  <a:pt x="86804" y="-934"/>
                  <a:pt x="82335" y="1565"/>
                  <a:pt x="81098" y="5858"/>
                </a:cubicBezTo>
                <a:lnTo>
                  <a:pt x="48780" y="118971"/>
                </a:lnTo>
                <a:cubicBezTo>
                  <a:pt x="47543" y="123263"/>
                  <a:pt x="50043" y="127732"/>
                  <a:pt x="54335" y="128969"/>
                </a:cubicBezTo>
                <a:cubicBezTo>
                  <a:pt x="58627" y="130207"/>
                  <a:pt x="63096" y="127707"/>
                  <a:pt x="64333" y="123415"/>
                </a:cubicBezTo>
                <a:lnTo>
                  <a:pt x="96651" y="10301"/>
                </a:lnTo>
                <a:cubicBezTo>
                  <a:pt x="97888" y="6009"/>
                  <a:pt x="95389" y="1540"/>
                  <a:pt x="91097" y="303"/>
                </a:cubicBezTo>
                <a:close/>
                <a:moveTo>
                  <a:pt x="107407" y="34666"/>
                </a:moveTo>
                <a:cubicBezTo>
                  <a:pt x="104251" y="37822"/>
                  <a:pt x="104251" y="42948"/>
                  <a:pt x="107407" y="46104"/>
                </a:cubicBezTo>
                <a:lnTo>
                  <a:pt x="125940" y="64636"/>
                </a:lnTo>
                <a:lnTo>
                  <a:pt x="107407" y="83169"/>
                </a:lnTo>
                <a:cubicBezTo>
                  <a:pt x="104251" y="86325"/>
                  <a:pt x="104251" y="91450"/>
                  <a:pt x="107407" y="94606"/>
                </a:cubicBezTo>
                <a:cubicBezTo>
                  <a:pt x="110563" y="97762"/>
                  <a:pt x="115689" y="97762"/>
                  <a:pt x="118845" y="94606"/>
                </a:cubicBezTo>
                <a:lnTo>
                  <a:pt x="143083" y="70368"/>
                </a:lnTo>
                <a:cubicBezTo>
                  <a:pt x="146239" y="67212"/>
                  <a:pt x="146239" y="62086"/>
                  <a:pt x="143083" y="58930"/>
                </a:cubicBezTo>
                <a:lnTo>
                  <a:pt x="118845" y="34691"/>
                </a:lnTo>
                <a:cubicBezTo>
                  <a:pt x="115689" y="31535"/>
                  <a:pt x="110563" y="31535"/>
                  <a:pt x="107407" y="34691"/>
                </a:cubicBezTo>
                <a:close/>
                <a:moveTo>
                  <a:pt x="38050" y="34666"/>
                </a:moveTo>
                <a:cubicBezTo>
                  <a:pt x="34893" y="31510"/>
                  <a:pt x="29768" y="31510"/>
                  <a:pt x="26612" y="34666"/>
                </a:cubicBezTo>
                <a:lnTo>
                  <a:pt x="2373" y="58905"/>
                </a:lnTo>
                <a:cubicBezTo>
                  <a:pt x="-783" y="62061"/>
                  <a:pt x="-783" y="67186"/>
                  <a:pt x="2373" y="70342"/>
                </a:cubicBezTo>
                <a:lnTo>
                  <a:pt x="26612" y="94581"/>
                </a:lnTo>
                <a:cubicBezTo>
                  <a:pt x="29768" y="97737"/>
                  <a:pt x="34893" y="97737"/>
                  <a:pt x="38050" y="94581"/>
                </a:cubicBezTo>
                <a:cubicBezTo>
                  <a:pt x="41206" y="91425"/>
                  <a:pt x="41206" y="86299"/>
                  <a:pt x="38050" y="83143"/>
                </a:cubicBezTo>
                <a:lnTo>
                  <a:pt x="19517" y="64636"/>
                </a:lnTo>
                <a:lnTo>
                  <a:pt x="38024" y="46104"/>
                </a:lnTo>
                <a:cubicBezTo>
                  <a:pt x="41180" y="42948"/>
                  <a:pt x="41180" y="37822"/>
                  <a:pt x="38024" y="3466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822141" y="4443738"/>
            <a:ext cx="5008581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开发态转型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9430" y="4702282"/>
            <a:ext cx="5203213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全面采用 </a:t>
            </a:r>
            <a:pPr>
              <a:lnSpc>
                <a:spcPct val="120000"/>
              </a:lnSpc>
            </a:pPr>
            <a:r>
              <a:rPr lang="en-US" sz="891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</a:t>
            </a:r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模式，利用AI快速生成骨架、业务逻辑及测试用例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6317" y="5057781"/>
            <a:ext cx="5356724" cy="614044"/>
          </a:xfrm>
          <a:custGeom>
            <a:avLst/>
            <a:gdLst/>
            <a:ahLst/>
            <a:cxnLst/>
            <a:rect l="l" t="t" r="r" b="b"/>
            <a:pathLst>
              <a:path w="5356724" h="614044">
                <a:moveTo>
                  <a:pt x="32318" y="0"/>
                </a:moveTo>
                <a:lnTo>
                  <a:pt x="5292089" y="0"/>
                </a:lnTo>
                <a:cubicBezTo>
                  <a:pt x="5327786" y="0"/>
                  <a:pt x="5356724" y="28938"/>
                  <a:pt x="5356724" y="64634"/>
                </a:cubicBezTo>
                <a:lnTo>
                  <a:pt x="5356724" y="549409"/>
                </a:lnTo>
                <a:cubicBezTo>
                  <a:pt x="5356724" y="585106"/>
                  <a:pt x="5327786" y="614044"/>
                  <a:pt x="5292089" y="614044"/>
                </a:cubicBezTo>
                <a:lnTo>
                  <a:pt x="32318" y="614044"/>
                </a:lnTo>
                <a:cubicBezTo>
                  <a:pt x="14469" y="614044"/>
                  <a:pt x="0" y="599574"/>
                  <a:pt x="0" y="581726"/>
                </a:cubicBezTo>
                <a:lnTo>
                  <a:pt x="0" y="32318"/>
                </a:lnTo>
                <a:cubicBezTo>
                  <a:pt x="0" y="14481"/>
                  <a:pt x="14481" y="0"/>
                  <a:pt x="323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06317" y="5057781"/>
            <a:ext cx="32318" cy="614044"/>
          </a:xfrm>
          <a:custGeom>
            <a:avLst/>
            <a:gdLst/>
            <a:ahLst/>
            <a:cxnLst/>
            <a:rect l="l" t="t" r="r" b="b"/>
            <a:pathLst>
              <a:path w="32318" h="614044">
                <a:moveTo>
                  <a:pt x="32318" y="0"/>
                </a:moveTo>
                <a:lnTo>
                  <a:pt x="32318" y="0"/>
                </a:lnTo>
                <a:lnTo>
                  <a:pt x="32318" y="614044"/>
                </a:lnTo>
                <a:lnTo>
                  <a:pt x="32318" y="614044"/>
                </a:lnTo>
                <a:cubicBezTo>
                  <a:pt x="14469" y="614044"/>
                  <a:pt x="0" y="599574"/>
                  <a:pt x="0" y="581726"/>
                </a:cubicBezTo>
                <a:lnTo>
                  <a:pt x="0" y="32318"/>
                </a:lnTo>
                <a:cubicBezTo>
                  <a:pt x="0" y="14481"/>
                  <a:pt x="14481" y="0"/>
                  <a:pt x="3231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430" y="5181673"/>
            <a:ext cx="161590" cy="129272"/>
          </a:xfrm>
          <a:custGeom>
            <a:avLst/>
            <a:gdLst/>
            <a:ahLst/>
            <a:cxnLst/>
            <a:rect l="l" t="t" r="r" b="b"/>
            <a:pathLst>
              <a:path w="161590" h="129272">
                <a:moveTo>
                  <a:pt x="88875" y="0"/>
                </a:moveTo>
                <a:cubicBezTo>
                  <a:pt x="88875" y="-4469"/>
                  <a:pt x="85264" y="-8080"/>
                  <a:pt x="80795" y="-8080"/>
                </a:cubicBezTo>
                <a:cubicBezTo>
                  <a:pt x="76326" y="-8080"/>
                  <a:pt x="72716" y="-4469"/>
                  <a:pt x="72716" y="0"/>
                </a:cubicBezTo>
                <a:lnTo>
                  <a:pt x="72716" y="16159"/>
                </a:lnTo>
                <a:lnTo>
                  <a:pt x="48477" y="16159"/>
                </a:lnTo>
                <a:cubicBezTo>
                  <a:pt x="35095" y="16159"/>
                  <a:pt x="24239" y="27016"/>
                  <a:pt x="24239" y="40398"/>
                </a:cubicBezTo>
                <a:lnTo>
                  <a:pt x="24239" y="96954"/>
                </a:lnTo>
                <a:cubicBezTo>
                  <a:pt x="24239" y="110336"/>
                  <a:pt x="35095" y="121193"/>
                  <a:pt x="48477" y="121193"/>
                </a:cubicBezTo>
                <a:lnTo>
                  <a:pt x="113113" y="121193"/>
                </a:lnTo>
                <a:cubicBezTo>
                  <a:pt x="126495" y="121193"/>
                  <a:pt x="137352" y="110336"/>
                  <a:pt x="137352" y="96954"/>
                </a:cubicBezTo>
                <a:lnTo>
                  <a:pt x="137352" y="40398"/>
                </a:lnTo>
                <a:cubicBezTo>
                  <a:pt x="137352" y="27016"/>
                  <a:pt x="126495" y="16159"/>
                  <a:pt x="113113" y="16159"/>
                </a:cubicBezTo>
                <a:lnTo>
                  <a:pt x="88875" y="16159"/>
                </a:lnTo>
                <a:lnTo>
                  <a:pt x="88875" y="0"/>
                </a:lnTo>
                <a:close/>
                <a:moveTo>
                  <a:pt x="40398" y="92915"/>
                </a:moveTo>
                <a:cubicBezTo>
                  <a:pt x="40398" y="89556"/>
                  <a:pt x="43099" y="86855"/>
                  <a:pt x="46457" y="86855"/>
                </a:cubicBezTo>
                <a:lnTo>
                  <a:pt x="54537" y="86855"/>
                </a:lnTo>
                <a:cubicBezTo>
                  <a:pt x="57895" y="86855"/>
                  <a:pt x="60596" y="89556"/>
                  <a:pt x="60596" y="92915"/>
                </a:cubicBezTo>
                <a:cubicBezTo>
                  <a:pt x="60596" y="96273"/>
                  <a:pt x="57895" y="98974"/>
                  <a:pt x="54537" y="98974"/>
                </a:cubicBezTo>
                <a:lnTo>
                  <a:pt x="46457" y="98974"/>
                </a:lnTo>
                <a:cubicBezTo>
                  <a:pt x="43099" y="98974"/>
                  <a:pt x="40398" y="96273"/>
                  <a:pt x="40398" y="92915"/>
                </a:cubicBezTo>
                <a:close/>
                <a:moveTo>
                  <a:pt x="70696" y="92915"/>
                </a:moveTo>
                <a:cubicBezTo>
                  <a:pt x="70696" y="89556"/>
                  <a:pt x="73397" y="86855"/>
                  <a:pt x="76755" y="86855"/>
                </a:cubicBezTo>
                <a:lnTo>
                  <a:pt x="84835" y="86855"/>
                </a:lnTo>
                <a:cubicBezTo>
                  <a:pt x="88193" y="86855"/>
                  <a:pt x="90895" y="89556"/>
                  <a:pt x="90895" y="92915"/>
                </a:cubicBezTo>
                <a:cubicBezTo>
                  <a:pt x="90895" y="96273"/>
                  <a:pt x="88193" y="98974"/>
                  <a:pt x="84835" y="98974"/>
                </a:cubicBezTo>
                <a:lnTo>
                  <a:pt x="76755" y="98974"/>
                </a:lnTo>
                <a:cubicBezTo>
                  <a:pt x="73397" y="98974"/>
                  <a:pt x="70696" y="96273"/>
                  <a:pt x="70696" y="92915"/>
                </a:cubicBezTo>
                <a:close/>
                <a:moveTo>
                  <a:pt x="100994" y="92915"/>
                </a:moveTo>
                <a:cubicBezTo>
                  <a:pt x="100994" y="89556"/>
                  <a:pt x="103696" y="86855"/>
                  <a:pt x="107054" y="86855"/>
                </a:cubicBezTo>
                <a:lnTo>
                  <a:pt x="115133" y="86855"/>
                </a:lnTo>
                <a:cubicBezTo>
                  <a:pt x="118491" y="86855"/>
                  <a:pt x="121193" y="89556"/>
                  <a:pt x="121193" y="92915"/>
                </a:cubicBezTo>
                <a:cubicBezTo>
                  <a:pt x="121193" y="96273"/>
                  <a:pt x="118491" y="98974"/>
                  <a:pt x="115133" y="98974"/>
                </a:cubicBezTo>
                <a:lnTo>
                  <a:pt x="107054" y="98974"/>
                </a:lnTo>
                <a:cubicBezTo>
                  <a:pt x="103696" y="98974"/>
                  <a:pt x="100994" y="96273"/>
                  <a:pt x="100994" y="92915"/>
                </a:cubicBezTo>
                <a:close/>
                <a:moveTo>
                  <a:pt x="56557" y="44437"/>
                </a:moveTo>
                <a:cubicBezTo>
                  <a:pt x="63245" y="44437"/>
                  <a:pt x="68676" y="49868"/>
                  <a:pt x="68676" y="56557"/>
                </a:cubicBezTo>
                <a:cubicBezTo>
                  <a:pt x="68676" y="63245"/>
                  <a:pt x="63245" y="68676"/>
                  <a:pt x="56557" y="68676"/>
                </a:cubicBezTo>
                <a:cubicBezTo>
                  <a:pt x="49868" y="68676"/>
                  <a:pt x="44437" y="63245"/>
                  <a:pt x="44437" y="56557"/>
                </a:cubicBezTo>
                <a:cubicBezTo>
                  <a:pt x="44437" y="49868"/>
                  <a:pt x="49868" y="44437"/>
                  <a:pt x="56557" y="44437"/>
                </a:cubicBezTo>
                <a:close/>
                <a:moveTo>
                  <a:pt x="92915" y="56557"/>
                </a:moveTo>
                <a:cubicBezTo>
                  <a:pt x="92915" y="49868"/>
                  <a:pt x="98345" y="44437"/>
                  <a:pt x="105034" y="44437"/>
                </a:cubicBezTo>
                <a:cubicBezTo>
                  <a:pt x="111723" y="44437"/>
                  <a:pt x="117153" y="49868"/>
                  <a:pt x="117153" y="56557"/>
                </a:cubicBezTo>
                <a:cubicBezTo>
                  <a:pt x="117153" y="63245"/>
                  <a:pt x="111723" y="68676"/>
                  <a:pt x="105034" y="68676"/>
                </a:cubicBezTo>
                <a:cubicBezTo>
                  <a:pt x="98345" y="68676"/>
                  <a:pt x="92915" y="63245"/>
                  <a:pt x="92915" y="56557"/>
                </a:cubicBezTo>
                <a:close/>
                <a:moveTo>
                  <a:pt x="16159" y="56557"/>
                </a:moveTo>
                <a:cubicBezTo>
                  <a:pt x="16159" y="52088"/>
                  <a:pt x="12549" y="48477"/>
                  <a:pt x="8080" y="48477"/>
                </a:cubicBezTo>
                <a:cubicBezTo>
                  <a:pt x="3611" y="48477"/>
                  <a:pt x="0" y="52088"/>
                  <a:pt x="0" y="56557"/>
                </a:cubicBezTo>
                <a:lnTo>
                  <a:pt x="0" y="80795"/>
                </a:lnTo>
                <a:cubicBezTo>
                  <a:pt x="0" y="85264"/>
                  <a:pt x="3611" y="88875"/>
                  <a:pt x="8080" y="88875"/>
                </a:cubicBezTo>
                <a:cubicBezTo>
                  <a:pt x="12549" y="88875"/>
                  <a:pt x="16159" y="85264"/>
                  <a:pt x="16159" y="80795"/>
                </a:cubicBezTo>
                <a:lnTo>
                  <a:pt x="16159" y="56557"/>
                </a:lnTo>
                <a:close/>
                <a:moveTo>
                  <a:pt x="153511" y="48477"/>
                </a:moveTo>
                <a:cubicBezTo>
                  <a:pt x="149042" y="48477"/>
                  <a:pt x="145431" y="52088"/>
                  <a:pt x="145431" y="56557"/>
                </a:cubicBezTo>
                <a:lnTo>
                  <a:pt x="145431" y="80795"/>
                </a:lnTo>
                <a:cubicBezTo>
                  <a:pt x="145431" y="85264"/>
                  <a:pt x="149042" y="88875"/>
                  <a:pt x="153511" y="88875"/>
                </a:cubicBezTo>
                <a:cubicBezTo>
                  <a:pt x="157980" y="88875"/>
                  <a:pt x="161590" y="85264"/>
                  <a:pt x="161590" y="80795"/>
                </a:cubicBezTo>
                <a:lnTo>
                  <a:pt x="161590" y="56557"/>
                </a:lnTo>
                <a:cubicBezTo>
                  <a:pt x="161590" y="52088"/>
                  <a:pt x="157980" y="48477"/>
                  <a:pt x="153511" y="48477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9" name="Text 47"/>
          <p:cNvSpPr/>
          <p:nvPr/>
        </p:nvSpPr>
        <p:spPr>
          <a:xfrm>
            <a:off x="822141" y="5154736"/>
            <a:ext cx="5008581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运行态转型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19430" y="5413280"/>
            <a:ext cx="5203213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架构转向</a:t>
            </a:r>
            <a:pPr>
              <a:lnSpc>
                <a:spcPct val="120000"/>
              </a:lnSpc>
            </a:pPr>
            <a:r>
              <a:rPr lang="en-US" sz="891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大模型驱动的开放框架</a:t>
            </a:r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，参考Claude Cowork、OpenClaw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4676" y="3600779"/>
            <a:ext cx="5701450" cy="2243414"/>
          </a:xfrm>
          <a:custGeom>
            <a:avLst/>
            <a:gdLst/>
            <a:ahLst/>
            <a:cxnLst/>
            <a:rect l="l" t="t" r="r" b="b"/>
            <a:pathLst>
              <a:path w="5701450" h="2243414">
                <a:moveTo>
                  <a:pt x="96960" y="0"/>
                </a:moveTo>
                <a:lnTo>
                  <a:pt x="5604490" y="0"/>
                </a:lnTo>
                <a:cubicBezTo>
                  <a:pt x="5658039" y="0"/>
                  <a:pt x="5701450" y="43411"/>
                  <a:pt x="5701450" y="96960"/>
                </a:cubicBezTo>
                <a:lnTo>
                  <a:pt x="5701450" y="2146454"/>
                </a:lnTo>
                <a:cubicBezTo>
                  <a:pt x="5701450" y="2200004"/>
                  <a:pt x="5658039" y="2243414"/>
                  <a:pt x="5604490" y="2243414"/>
                </a:cubicBezTo>
                <a:lnTo>
                  <a:pt x="96960" y="2243414"/>
                </a:lnTo>
                <a:cubicBezTo>
                  <a:pt x="43411" y="2243414"/>
                  <a:pt x="0" y="2200004"/>
                  <a:pt x="0" y="2146454"/>
                </a:cubicBezTo>
                <a:lnTo>
                  <a:pt x="0" y="96960"/>
                </a:lnTo>
                <a:cubicBezTo>
                  <a:pt x="0" y="43446"/>
                  <a:pt x="43446" y="0"/>
                  <a:pt x="9696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7039" y="3773137"/>
            <a:ext cx="436294" cy="436294"/>
          </a:xfrm>
          <a:custGeom>
            <a:avLst/>
            <a:gdLst/>
            <a:ahLst/>
            <a:cxnLst/>
            <a:rect l="l" t="t" r="r" b="b"/>
            <a:pathLst>
              <a:path w="436294" h="436294">
                <a:moveTo>
                  <a:pt x="96953" y="0"/>
                </a:moveTo>
                <a:lnTo>
                  <a:pt x="339341" y="0"/>
                </a:lnTo>
                <a:cubicBezTo>
                  <a:pt x="392887" y="0"/>
                  <a:pt x="436294" y="43407"/>
                  <a:pt x="436294" y="96953"/>
                </a:cubicBezTo>
                <a:lnTo>
                  <a:pt x="436294" y="339341"/>
                </a:lnTo>
                <a:cubicBezTo>
                  <a:pt x="436294" y="392887"/>
                  <a:pt x="392887" y="436294"/>
                  <a:pt x="339341" y="436294"/>
                </a:cubicBezTo>
                <a:lnTo>
                  <a:pt x="96953" y="436294"/>
                </a:lnTo>
                <a:cubicBezTo>
                  <a:pt x="43407" y="436294"/>
                  <a:pt x="0" y="392887"/>
                  <a:pt x="0" y="339341"/>
                </a:cubicBezTo>
                <a:lnTo>
                  <a:pt x="0" y="96953"/>
                </a:lnTo>
                <a:cubicBezTo>
                  <a:pt x="0" y="43443"/>
                  <a:pt x="43443" y="0"/>
                  <a:pt x="9695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5400">
            <a:solidFill>
              <a:srgbClr val="4A6C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8293" y="3862012"/>
            <a:ext cx="210068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7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78367" y="3797376"/>
            <a:ext cx="985702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2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演进目标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78367" y="4023602"/>
            <a:ext cx="961463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从辅助到全量承接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28960" y="4346783"/>
            <a:ext cx="5372883" cy="614044"/>
          </a:xfrm>
          <a:custGeom>
            <a:avLst/>
            <a:gdLst/>
            <a:ahLst/>
            <a:cxnLst/>
            <a:rect l="l" t="t" r="r" b="b"/>
            <a:pathLst>
              <a:path w="5372883" h="614044">
                <a:moveTo>
                  <a:pt x="64634" y="0"/>
                </a:moveTo>
                <a:lnTo>
                  <a:pt x="5308248" y="0"/>
                </a:lnTo>
                <a:cubicBezTo>
                  <a:pt x="5343945" y="0"/>
                  <a:pt x="5372883" y="28938"/>
                  <a:pt x="5372883" y="64634"/>
                </a:cubicBezTo>
                <a:lnTo>
                  <a:pt x="5372883" y="549409"/>
                </a:lnTo>
                <a:cubicBezTo>
                  <a:pt x="5372883" y="585106"/>
                  <a:pt x="5343945" y="614044"/>
                  <a:pt x="5308248" y="614044"/>
                </a:cubicBezTo>
                <a:lnTo>
                  <a:pt x="64634" y="614044"/>
                </a:lnTo>
                <a:cubicBezTo>
                  <a:pt x="28938" y="614044"/>
                  <a:pt x="0" y="585106"/>
                  <a:pt x="0" y="549409"/>
                </a:cubicBezTo>
                <a:lnTo>
                  <a:pt x="0" y="64634"/>
                </a:lnTo>
                <a:cubicBezTo>
                  <a:pt x="0" y="28938"/>
                  <a:pt x="28938" y="0"/>
                  <a:pt x="6463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50153" y="4470675"/>
            <a:ext cx="113113" cy="129272"/>
          </a:xfrm>
          <a:custGeom>
            <a:avLst/>
            <a:gdLst/>
            <a:ahLst/>
            <a:cxnLst/>
            <a:rect l="l" t="t" r="r" b="b"/>
            <a:pathLst>
              <a:path w="113113" h="129272">
                <a:moveTo>
                  <a:pt x="16159" y="8080"/>
                </a:moveTo>
                <a:cubicBezTo>
                  <a:pt x="16159" y="3611"/>
                  <a:pt x="12549" y="0"/>
                  <a:pt x="8080" y="0"/>
                </a:cubicBezTo>
                <a:cubicBezTo>
                  <a:pt x="3611" y="0"/>
                  <a:pt x="0" y="3611"/>
                  <a:pt x="0" y="8080"/>
                </a:cubicBezTo>
                <a:lnTo>
                  <a:pt x="0" y="121193"/>
                </a:lnTo>
                <a:cubicBezTo>
                  <a:pt x="0" y="125662"/>
                  <a:pt x="3611" y="129272"/>
                  <a:pt x="8080" y="129272"/>
                </a:cubicBezTo>
                <a:cubicBezTo>
                  <a:pt x="12549" y="129272"/>
                  <a:pt x="16159" y="125662"/>
                  <a:pt x="16159" y="121193"/>
                </a:cubicBezTo>
                <a:lnTo>
                  <a:pt x="16159" y="90491"/>
                </a:lnTo>
                <a:lnTo>
                  <a:pt x="31990" y="85744"/>
                </a:lnTo>
                <a:cubicBezTo>
                  <a:pt x="42569" y="82563"/>
                  <a:pt x="53981" y="83547"/>
                  <a:pt x="63853" y="88496"/>
                </a:cubicBezTo>
                <a:cubicBezTo>
                  <a:pt x="74635" y="93899"/>
                  <a:pt x="87208" y="94556"/>
                  <a:pt x="98494" y="90314"/>
                </a:cubicBezTo>
                <a:lnTo>
                  <a:pt x="107862" y="86804"/>
                </a:lnTo>
                <a:cubicBezTo>
                  <a:pt x="111018" y="85618"/>
                  <a:pt x="113113" y="82613"/>
                  <a:pt x="113113" y="79230"/>
                </a:cubicBezTo>
                <a:lnTo>
                  <a:pt x="113113" y="16689"/>
                </a:lnTo>
                <a:cubicBezTo>
                  <a:pt x="113113" y="10882"/>
                  <a:pt x="107003" y="7095"/>
                  <a:pt x="101802" y="9695"/>
                </a:cubicBezTo>
                <a:lnTo>
                  <a:pt x="98823" y="11185"/>
                </a:lnTo>
                <a:cubicBezTo>
                  <a:pt x="87486" y="16866"/>
                  <a:pt x="74130" y="16866"/>
                  <a:pt x="62768" y="11185"/>
                </a:cubicBezTo>
                <a:cubicBezTo>
                  <a:pt x="53577" y="6590"/>
                  <a:pt x="42998" y="5681"/>
                  <a:pt x="33177" y="8635"/>
                </a:cubicBezTo>
                <a:lnTo>
                  <a:pt x="16159" y="13735"/>
                </a:lnTo>
                <a:lnTo>
                  <a:pt x="16159" y="808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6"/>
          <p:cNvSpPr/>
          <p:nvPr/>
        </p:nvSpPr>
        <p:spPr>
          <a:xfrm>
            <a:off x="6628625" y="4443738"/>
            <a:ext cx="5040899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短期目标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25914" y="4702282"/>
            <a:ext cx="5235531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验证"人控方向+模型执行"模式，产出高质量组件与SKILL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31653" y="5060474"/>
            <a:ext cx="5370190" cy="619430"/>
          </a:xfrm>
          <a:custGeom>
            <a:avLst/>
            <a:gdLst/>
            <a:ahLst/>
            <a:cxnLst/>
            <a:rect l="l" t="t" r="r" b="b"/>
            <a:pathLst>
              <a:path w="5370190" h="619430">
                <a:moveTo>
                  <a:pt x="64638" y="0"/>
                </a:moveTo>
                <a:lnTo>
                  <a:pt x="5305552" y="0"/>
                </a:lnTo>
                <a:cubicBezTo>
                  <a:pt x="5341250" y="0"/>
                  <a:pt x="5370190" y="28939"/>
                  <a:pt x="5370190" y="64638"/>
                </a:cubicBezTo>
                <a:lnTo>
                  <a:pt x="5370190" y="554793"/>
                </a:lnTo>
                <a:cubicBezTo>
                  <a:pt x="5370190" y="590491"/>
                  <a:pt x="5341250" y="619430"/>
                  <a:pt x="5305552" y="619430"/>
                </a:cubicBezTo>
                <a:lnTo>
                  <a:pt x="64638" y="619430"/>
                </a:lnTo>
                <a:cubicBezTo>
                  <a:pt x="28939" y="619430"/>
                  <a:pt x="0" y="590491"/>
                  <a:pt x="0" y="554793"/>
                </a:cubicBezTo>
                <a:lnTo>
                  <a:pt x="0" y="64638"/>
                </a:lnTo>
                <a:cubicBezTo>
                  <a:pt x="0" y="28963"/>
                  <a:pt x="28963" y="0"/>
                  <a:pt x="6463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8467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47459" y="5187054"/>
            <a:ext cx="129272" cy="129272"/>
          </a:xfrm>
          <a:custGeom>
            <a:avLst/>
            <a:gdLst/>
            <a:ahLst/>
            <a:cxnLst/>
            <a:rect l="l" t="t" r="r" b="b"/>
            <a:pathLst>
              <a:path w="129272" h="129272">
                <a:moveTo>
                  <a:pt x="32318" y="80795"/>
                </a:moveTo>
                <a:lnTo>
                  <a:pt x="6186" y="80795"/>
                </a:lnTo>
                <a:cubicBezTo>
                  <a:pt x="-101" y="80795"/>
                  <a:pt x="-3964" y="73953"/>
                  <a:pt x="-732" y="68550"/>
                </a:cubicBezTo>
                <a:lnTo>
                  <a:pt x="12624" y="46281"/>
                </a:lnTo>
                <a:cubicBezTo>
                  <a:pt x="14821" y="42619"/>
                  <a:pt x="18760" y="40398"/>
                  <a:pt x="23027" y="40398"/>
                </a:cubicBezTo>
                <a:lnTo>
                  <a:pt x="47013" y="40398"/>
                </a:lnTo>
                <a:cubicBezTo>
                  <a:pt x="66227" y="7852"/>
                  <a:pt x="94884" y="6211"/>
                  <a:pt x="114048" y="9014"/>
                </a:cubicBezTo>
                <a:cubicBezTo>
                  <a:pt x="117279" y="9493"/>
                  <a:pt x="119804" y="12018"/>
                  <a:pt x="120259" y="15225"/>
                </a:cubicBezTo>
                <a:cubicBezTo>
                  <a:pt x="123061" y="34388"/>
                  <a:pt x="121420" y="63046"/>
                  <a:pt x="88875" y="82260"/>
                </a:cubicBezTo>
                <a:lnTo>
                  <a:pt x="88875" y="106246"/>
                </a:lnTo>
                <a:cubicBezTo>
                  <a:pt x="88875" y="110513"/>
                  <a:pt x="86653" y="114451"/>
                  <a:pt x="82992" y="116648"/>
                </a:cubicBezTo>
                <a:lnTo>
                  <a:pt x="60723" y="130005"/>
                </a:lnTo>
                <a:cubicBezTo>
                  <a:pt x="55345" y="133236"/>
                  <a:pt x="48477" y="129348"/>
                  <a:pt x="48477" y="123086"/>
                </a:cubicBezTo>
                <a:lnTo>
                  <a:pt x="48477" y="96954"/>
                </a:lnTo>
                <a:cubicBezTo>
                  <a:pt x="48477" y="88042"/>
                  <a:pt x="41231" y="80795"/>
                  <a:pt x="32318" y="80795"/>
                </a:cubicBezTo>
                <a:lnTo>
                  <a:pt x="32293" y="80795"/>
                </a:lnTo>
                <a:close/>
                <a:moveTo>
                  <a:pt x="100994" y="40398"/>
                </a:moveTo>
                <a:cubicBezTo>
                  <a:pt x="100994" y="33709"/>
                  <a:pt x="95564" y="28278"/>
                  <a:pt x="88875" y="28278"/>
                </a:cubicBezTo>
                <a:cubicBezTo>
                  <a:pt x="82186" y="28278"/>
                  <a:pt x="76755" y="33709"/>
                  <a:pt x="76755" y="40398"/>
                </a:cubicBezTo>
                <a:cubicBezTo>
                  <a:pt x="76755" y="47086"/>
                  <a:pt x="82186" y="52517"/>
                  <a:pt x="88875" y="52517"/>
                </a:cubicBezTo>
                <a:cubicBezTo>
                  <a:pt x="95564" y="52517"/>
                  <a:pt x="100994" y="47086"/>
                  <a:pt x="100994" y="4039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2" name="Text 60"/>
          <p:cNvSpPr/>
          <p:nvPr/>
        </p:nvSpPr>
        <p:spPr>
          <a:xfrm>
            <a:off x="6634011" y="5160125"/>
            <a:ext cx="5032820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中长期目标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31300" y="5418669"/>
            <a:ext cx="5227451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承接应用集成的全生命周期</a:t>
            </a:r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，实现端到端(End-to-End)的全量基础组件开发、使用、集成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25874" y="5981540"/>
            <a:ext cx="11542945" cy="716384"/>
          </a:xfrm>
          <a:custGeom>
            <a:avLst/>
            <a:gdLst/>
            <a:ahLst/>
            <a:cxnLst/>
            <a:rect l="l" t="t" r="r" b="b"/>
            <a:pathLst>
              <a:path w="11542945" h="716384">
                <a:moveTo>
                  <a:pt x="96955" y="0"/>
                </a:moveTo>
                <a:lnTo>
                  <a:pt x="11445990" y="0"/>
                </a:lnTo>
                <a:cubicBezTo>
                  <a:pt x="11499537" y="0"/>
                  <a:pt x="11542945" y="43408"/>
                  <a:pt x="11542945" y="96955"/>
                </a:cubicBezTo>
                <a:lnTo>
                  <a:pt x="11542945" y="619429"/>
                </a:lnTo>
                <a:cubicBezTo>
                  <a:pt x="11542945" y="672976"/>
                  <a:pt x="11499537" y="716384"/>
                  <a:pt x="11445990" y="716384"/>
                </a:cubicBezTo>
                <a:lnTo>
                  <a:pt x="96955" y="716384"/>
                </a:lnTo>
                <a:cubicBezTo>
                  <a:pt x="43408" y="716384"/>
                  <a:pt x="0" y="672976"/>
                  <a:pt x="0" y="619429"/>
                </a:cubicBezTo>
                <a:lnTo>
                  <a:pt x="0" y="96955"/>
                </a:lnTo>
                <a:cubicBezTo>
                  <a:pt x="0" y="43408"/>
                  <a:pt x="43408" y="0"/>
                  <a:pt x="9695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0" scaled="1"/>
          </a:gra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840" y="6145826"/>
            <a:ext cx="387817" cy="387817"/>
          </a:xfrm>
          <a:custGeom>
            <a:avLst/>
            <a:gdLst/>
            <a:ahLst/>
            <a:cxnLst/>
            <a:rect l="l" t="t" r="r" b="b"/>
            <a:pathLst>
              <a:path w="387817" h="387817">
                <a:moveTo>
                  <a:pt x="96954" y="0"/>
                </a:moveTo>
                <a:lnTo>
                  <a:pt x="290863" y="0"/>
                </a:lnTo>
                <a:cubicBezTo>
                  <a:pt x="344409" y="0"/>
                  <a:pt x="387817" y="43408"/>
                  <a:pt x="387817" y="96954"/>
                </a:cubicBezTo>
                <a:lnTo>
                  <a:pt x="387817" y="290863"/>
                </a:lnTo>
                <a:cubicBezTo>
                  <a:pt x="387817" y="344409"/>
                  <a:pt x="344409" y="387817"/>
                  <a:pt x="290863" y="387817"/>
                </a:cubicBezTo>
                <a:lnTo>
                  <a:pt x="96954" y="387817"/>
                </a:lnTo>
                <a:cubicBezTo>
                  <a:pt x="43408" y="387817"/>
                  <a:pt x="0" y="344409"/>
                  <a:pt x="0" y="290863"/>
                </a:cubicBezTo>
                <a:lnTo>
                  <a:pt x="0" y="96954"/>
                </a:lnTo>
                <a:cubicBezTo>
                  <a:pt x="0" y="43444"/>
                  <a:pt x="43444" y="0"/>
                  <a:pt x="96954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91152" y="6258940"/>
            <a:ext cx="121193" cy="161590"/>
          </a:xfrm>
          <a:custGeom>
            <a:avLst/>
            <a:gdLst/>
            <a:ahLst/>
            <a:cxnLst/>
            <a:rect l="l" t="t" r="r" b="b"/>
            <a:pathLst>
              <a:path w="121193" h="161590">
                <a:moveTo>
                  <a:pt x="92441" y="121193"/>
                </a:moveTo>
                <a:cubicBezTo>
                  <a:pt x="94745" y="114155"/>
                  <a:pt x="99353" y="107780"/>
                  <a:pt x="104560" y="102288"/>
                </a:cubicBezTo>
                <a:cubicBezTo>
                  <a:pt x="114881" y="91431"/>
                  <a:pt x="121193" y="76755"/>
                  <a:pt x="121193" y="60596"/>
                </a:cubicBezTo>
                <a:cubicBezTo>
                  <a:pt x="121193" y="27142"/>
                  <a:pt x="94051" y="0"/>
                  <a:pt x="60596" y="0"/>
                </a:cubicBezTo>
                <a:cubicBezTo>
                  <a:pt x="27142" y="0"/>
                  <a:pt x="0" y="27142"/>
                  <a:pt x="0" y="60596"/>
                </a:cubicBezTo>
                <a:cubicBezTo>
                  <a:pt x="0" y="76755"/>
                  <a:pt x="6312" y="91431"/>
                  <a:pt x="16632" y="102288"/>
                </a:cubicBezTo>
                <a:cubicBezTo>
                  <a:pt x="21840" y="107780"/>
                  <a:pt x="26479" y="114155"/>
                  <a:pt x="28752" y="121193"/>
                </a:cubicBezTo>
                <a:lnTo>
                  <a:pt x="92410" y="121193"/>
                </a:lnTo>
                <a:close/>
                <a:moveTo>
                  <a:pt x="90895" y="136342"/>
                </a:moveTo>
                <a:lnTo>
                  <a:pt x="30298" y="136342"/>
                </a:lnTo>
                <a:lnTo>
                  <a:pt x="30298" y="141392"/>
                </a:lnTo>
                <a:cubicBezTo>
                  <a:pt x="30298" y="155341"/>
                  <a:pt x="41597" y="166640"/>
                  <a:pt x="55547" y="166640"/>
                </a:cubicBezTo>
                <a:lnTo>
                  <a:pt x="65646" y="166640"/>
                </a:lnTo>
                <a:cubicBezTo>
                  <a:pt x="79596" y="166640"/>
                  <a:pt x="90895" y="155341"/>
                  <a:pt x="90895" y="141392"/>
                </a:cubicBezTo>
                <a:lnTo>
                  <a:pt x="90895" y="136342"/>
                </a:lnTo>
                <a:close/>
                <a:moveTo>
                  <a:pt x="58072" y="35348"/>
                </a:moveTo>
                <a:cubicBezTo>
                  <a:pt x="45510" y="35348"/>
                  <a:pt x="35348" y="45510"/>
                  <a:pt x="35348" y="58072"/>
                </a:cubicBezTo>
                <a:cubicBezTo>
                  <a:pt x="35348" y="62269"/>
                  <a:pt x="31971" y="65646"/>
                  <a:pt x="27773" y="65646"/>
                </a:cubicBezTo>
                <a:cubicBezTo>
                  <a:pt x="23576" y="65646"/>
                  <a:pt x="20199" y="62269"/>
                  <a:pt x="20199" y="58072"/>
                </a:cubicBezTo>
                <a:cubicBezTo>
                  <a:pt x="20199" y="37147"/>
                  <a:pt x="37147" y="20199"/>
                  <a:pt x="58072" y="20199"/>
                </a:cubicBezTo>
                <a:cubicBezTo>
                  <a:pt x="62269" y="20199"/>
                  <a:pt x="65646" y="23576"/>
                  <a:pt x="65646" y="27773"/>
                </a:cubicBezTo>
                <a:cubicBezTo>
                  <a:pt x="65646" y="31971"/>
                  <a:pt x="62269" y="35348"/>
                  <a:pt x="58072" y="3534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7" name="Text 65"/>
          <p:cNvSpPr/>
          <p:nvPr/>
        </p:nvSpPr>
        <p:spPr>
          <a:xfrm>
            <a:off x="974929" y="6113508"/>
            <a:ext cx="10834640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愿景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74929" y="6372053"/>
            <a:ext cx="10826561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通过Vibe Coding与SKILL体系，实现</a:t>
            </a:r>
            <a:pPr>
              <a:lnSpc>
                <a:spcPct val="130000"/>
              </a:lnSpc>
            </a:pPr>
            <a:r>
              <a:rPr lang="en-US" sz="1018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研发效能的指数级跃升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059bbfa5d1e729da7671e22ecb5e978ccd2ee63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4A6C8C">
                  <a:alpha val="50000"/>
                </a:srgbClr>
              </a:gs>
              <a:gs pos="100000">
                <a:srgbClr val="5E8B7E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86836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Text 2"/>
          <p:cNvSpPr/>
          <p:nvPr/>
        </p:nvSpPr>
        <p:spPr>
          <a:xfrm>
            <a:off x="3381375" y="1211266"/>
            <a:ext cx="542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拥抱Vibe Coding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构建智能研发新引擎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38800" y="294481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4"/>
          <p:cNvSpPr/>
          <p:nvPr/>
        </p:nvSpPr>
        <p:spPr>
          <a:xfrm>
            <a:off x="3040856" y="3287716"/>
            <a:ext cx="6115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通过Vibe Coding与SKILL体系，实现研发效能的指数级跃升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01181" y="3967166"/>
            <a:ext cx="1844675" cy="1130300"/>
          </a:xfrm>
          <a:custGeom>
            <a:avLst/>
            <a:gdLst/>
            <a:ahLst/>
            <a:cxnLst/>
            <a:rect l="l" t="t" r="r" b="b"/>
            <a:pathLst>
              <a:path w="1844675" h="1130300">
                <a:moveTo>
                  <a:pt x="114296" y="0"/>
                </a:moveTo>
                <a:lnTo>
                  <a:pt x="1730379" y="0"/>
                </a:lnTo>
                <a:cubicBezTo>
                  <a:pt x="1793503" y="0"/>
                  <a:pt x="1844675" y="51172"/>
                  <a:pt x="1844675" y="114296"/>
                </a:cubicBezTo>
                <a:lnTo>
                  <a:pt x="1844675" y="1016004"/>
                </a:lnTo>
                <a:cubicBezTo>
                  <a:pt x="1844675" y="1079128"/>
                  <a:pt x="1793503" y="1130300"/>
                  <a:pt x="1730379" y="1130300"/>
                </a:cubicBezTo>
                <a:lnTo>
                  <a:pt x="114296" y="1130300"/>
                </a:lnTo>
                <a:cubicBezTo>
                  <a:pt x="51214" y="1130300"/>
                  <a:pt x="0" y="1079086"/>
                  <a:pt x="0" y="101600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80644" y="412274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7"/>
          <p:cNvSpPr/>
          <p:nvPr/>
        </p:nvSpPr>
        <p:spPr>
          <a:xfrm>
            <a:off x="3213894" y="4484694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23419" y="4751394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5倍+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76044" y="3967166"/>
            <a:ext cx="1844675" cy="1130300"/>
          </a:xfrm>
          <a:custGeom>
            <a:avLst/>
            <a:gdLst/>
            <a:ahLst/>
            <a:cxnLst/>
            <a:rect l="l" t="t" r="r" b="b"/>
            <a:pathLst>
              <a:path w="1844675" h="1130300">
                <a:moveTo>
                  <a:pt x="114296" y="0"/>
                </a:moveTo>
                <a:lnTo>
                  <a:pt x="1730379" y="0"/>
                </a:lnTo>
                <a:cubicBezTo>
                  <a:pt x="1793503" y="0"/>
                  <a:pt x="1844675" y="51172"/>
                  <a:pt x="1844675" y="114296"/>
                </a:cubicBezTo>
                <a:lnTo>
                  <a:pt x="1844675" y="1016004"/>
                </a:lnTo>
                <a:cubicBezTo>
                  <a:pt x="1844675" y="1079128"/>
                  <a:pt x="1793503" y="1130300"/>
                  <a:pt x="1730379" y="1130300"/>
                </a:cubicBezTo>
                <a:lnTo>
                  <a:pt x="114296" y="1130300"/>
                </a:lnTo>
                <a:cubicBezTo>
                  <a:pt x="51214" y="1130300"/>
                  <a:pt x="0" y="1079086"/>
                  <a:pt x="0" y="101600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19788" y="4122744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1"/>
          <p:cNvSpPr/>
          <p:nvPr/>
        </p:nvSpPr>
        <p:spPr>
          <a:xfrm>
            <a:off x="5288756" y="4484694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采用率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98281" y="4751394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50906" y="3967166"/>
            <a:ext cx="1844675" cy="1130300"/>
          </a:xfrm>
          <a:custGeom>
            <a:avLst/>
            <a:gdLst/>
            <a:ahLst/>
            <a:cxnLst/>
            <a:rect l="l" t="t" r="r" b="b"/>
            <a:pathLst>
              <a:path w="1844675" h="1130300">
                <a:moveTo>
                  <a:pt x="114296" y="0"/>
                </a:moveTo>
                <a:lnTo>
                  <a:pt x="1730379" y="0"/>
                </a:lnTo>
                <a:cubicBezTo>
                  <a:pt x="1793503" y="0"/>
                  <a:pt x="1844675" y="51172"/>
                  <a:pt x="1844675" y="114296"/>
                </a:cubicBezTo>
                <a:lnTo>
                  <a:pt x="1844675" y="1016004"/>
                </a:lnTo>
                <a:cubicBezTo>
                  <a:pt x="1844675" y="1079128"/>
                  <a:pt x="1793503" y="1130300"/>
                  <a:pt x="1730379" y="1130300"/>
                </a:cubicBezTo>
                <a:lnTo>
                  <a:pt x="114296" y="1130300"/>
                </a:lnTo>
                <a:cubicBezTo>
                  <a:pt x="51214" y="1130300"/>
                  <a:pt x="0" y="1079086"/>
                  <a:pt x="0" y="101600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30369" y="412274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5"/>
          <p:cNvSpPr/>
          <p:nvPr/>
        </p:nvSpPr>
        <p:spPr>
          <a:xfrm>
            <a:off x="7363619" y="4484694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1D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企业部署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73144" y="4751394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95404" y="5484813"/>
            <a:ext cx="1597025" cy="501650"/>
          </a:xfrm>
          <a:custGeom>
            <a:avLst/>
            <a:gdLst/>
            <a:ahLst/>
            <a:cxnLst/>
            <a:rect l="l" t="t" r="r" b="b"/>
            <a:pathLst>
              <a:path w="1597025" h="501650">
                <a:moveTo>
                  <a:pt x="250825" y="0"/>
                </a:moveTo>
                <a:lnTo>
                  <a:pt x="1346200" y="0"/>
                </a:lnTo>
                <a:cubicBezTo>
                  <a:pt x="1484727" y="0"/>
                  <a:pt x="1597025" y="112298"/>
                  <a:pt x="1597025" y="250825"/>
                </a:cubicBezTo>
                <a:lnTo>
                  <a:pt x="1597025" y="250825"/>
                </a:lnTo>
                <a:cubicBezTo>
                  <a:pt x="1597025" y="389352"/>
                  <a:pt x="1484727" y="501650"/>
                  <a:pt x="1346200" y="501650"/>
                </a:cubicBezTo>
                <a:lnTo>
                  <a:pt x="250825" y="501650"/>
                </a:lnTo>
                <a:cubicBezTo>
                  <a:pt x="112391" y="501650"/>
                  <a:pt x="0" y="389259"/>
                  <a:pt x="0" y="250825"/>
                </a:cubicBezTo>
                <a:lnTo>
                  <a:pt x="0" y="250825"/>
                </a:lnTo>
                <a:cubicBezTo>
                  <a:pt x="0" y="112391"/>
                  <a:pt x="112391" y="0"/>
                  <a:pt x="25082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8467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61707" y="5640391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0184" y="0"/>
                </a:moveTo>
                <a:cubicBezTo>
                  <a:pt x="44637" y="0"/>
                  <a:pt x="48220" y="3583"/>
                  <a:pt x="48220" y="8037"/>
                </a:cubicBezTo>
                <a:lnTo>
                  <a:pt x="48220" y="21431"/>
                </a:lnTo>
                <a:lnTo>
                  <a:pt x="101798" y="21431"/>
                </a:lnTo>
                <a:lnTo>
                  <a:pt x="101798" y="8037"/>
                </a:lnTo>
                <a:cubicBezTo>
                  <a:pt x="101798" y="3583"/>
                  <a:pt x="105381" y="0"/>
                  <a:pt x="109835" y="0"/>
                </a:cubicBezTo>
                <a:cubicBezTo>
                  <a:pt x="114289" y="0"/>
                  <a:pt x="117872" y="3583"/>
                  <a:pt x="117872" y="8037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8037"/>
                </a:lnTo>
                <a:cubicBezTo>
                  <a:pt x="32147" y="3583"/>
                  <a:pt x="35730" y="0"/>
                  <a:pt x="40184" y="0"/>
                </a:cubicBezTo>
                <a:close/>
                <a:moveTo>
                  <a:pt x="128588" y="144661"/>
                </a:moveTo>
                <a:cubicBezTo>
                  <a:pt x="131534" y="144661"/>
                  <a:pt x="133945" y="142250"/>
                  <a:pt x="133945" y="139303"/>
                </a:cubicBezTo>
                <a:lnTo>
                  <a:pt x="133945" y="117872"/>
                </a:lnTo>
                <a:lnTo>
                  <a:pt x="104477" y="117872"/>
                </a:lnTo>
                <a:lnTo>
                  <a:pt x="104477" y="144661"/>
                </a:lnTo>
                <a:lnTo>
                  <a:pt x="128588" y="144661"/>
                </a:lnTo>
                <a:close/>
                <a:moveTo>
                  <a:pt x="133945" y="101798"/>
                </a:moveTo>
                <a:lnTo>
                  <a:pt x="133945" y="75009"/>
                </a:lnTo>
                <a:lnTo>
                  <a:pt x="104477" y="75009"/>
                </a:lnTo>
                <a:lnTo>
                  <a:pt x="104477" y="101798"/>
                </a:lnTo>
                <a:lnTo>
                  <a:pt x="133945" y="101798"/>
                </a:lnTo>
                <a:close/>
                <a:moveTo>
                  <a:pt x="88404" y="101798"/>
                </a:moveTo>
                <a:lnTo>
                  <a:pt x="88404" y="75009"/>
                </a:lnTo>
                <a:lnTo>
                  <a:pt x="61615" y="75009"/>
                </a:lnTo>
                <a:lnTo>
                  <a:pt x="61615" y="101798"/>
                </a:lnTo>
                <a:lnTo>
                  <a:pt x="88404" y="101798"/>
                </a:lnTo>
                <a:close/>
                <a:moveTo>
                  <a:pt x="45541" y="101798"/>
                </a:moveTo>
                <a:lnTo>
                  <a:pt x="45541" y="75009"/>
                </a:lnTo>
                <a:lnTo>
                  <a:pt x="16073" y="75009"/>
                </a:lnTo>
                <a:lnTo>
                  <a:pt x="16073" y="101798"/>
                </a:lnTo>
                <a:lnTo>
                  <a:pt x="45541" y="101798"/>
                </a:lnTo>
                <a:close/>
                <a:moveTo>
                  <a:pt x="16073" y="117872"/>
                </a:moveTo>
                <a:lnTo>
                  <a:pt x="16073" y="139303"/>
                </a:lnTo>
                <a:cubicBezTo>
                  <a:pt x="16073" y="142250"/>
                  <a:pt x="18484" y="144661"/>
                  <a:pt x="21431" y="144661"/>
                </a:cubicBezTo>
                <a:lnTo>
                  <a:pt x="45541" y="144661"/>
                </a:lnTo>
                <a:lnTo>
                  <a:pt x="45541" y="117872"/>
                </a:lnTo>
                <a:lnTo>
                  <a:pt x="16073" y="117872"/>
                </a:lnTo>
                <a:close/>
                <a:moveTo>
                  <a:pt x="61615" y="117872"/>
                </a:moveTo>
                <a:lnTo>
                  <a:pt x="61615" y="144661"/>
                </a:lnTo>
                <a:lnTo>
                  <a:pt x="88404" y="144661"/>
                </a:lnTo>
                <a:lnTo>
                  <a:pt x="88404" y="117872"/>
                </a:lnTo>
                <a:lnTo>
                  <a:pt x="61615" y="117872"/>
                </a:lnTo>
                <a:close/>
                <a:moveTo>
                  <a:pt x="40184" y="37505"/>
                </a:moveTo>
                <a:lnTo>
                  <a:pt x="21431" y="37505"/>
                </a:lnTo>
                <a:cubicBezTo>
                  <a:pt x="18484" y="37505"/>
                  <a:pt x="16073" y="39916"/>
                  <a:pt x="16073" y="42863"/>
                </a:cubicBezTo>
                <a:lnTo>
                  <a:pt x="16073" y="58936"/>
                </a:lnTo>
                <a:lnTo>
                  <a:pt x="133945" y="58936"/>
                </a:lnTo>
                <a:lnTo>
                  <a:pt x="133945" y="42863"/>
                </a:lnTo>
                <a:cubicBezTo>
                  <a:pt x="133945" y="39916"/>
                  <a:pt x="131534" y="37505"/>
                  <a:pt x="128588" y="37505"/>
                </a:cubicBezTo>
                <a:lnTo>
                  <a:pt x="40184" y="3750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19"/>
          <p:cNvSpPr/>
          <p:nvPr/>
        </p:nvSpPr>
        <p:spPr>
          <a:xfrm>
            <a:off x="5525592" y="5481638"/>
            <a:ext cx="1400175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2026年3月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Agent编程模式落地实施探讨</dc:title>
  <dc:subject>Code Agent编程模式落地实施探讨</dc:subject>
  <dc:creator>Kimi</dc:creator>
  <cp:lastModifiedBy>Kimi</cp:lastModifiedBy>
  <cp:revision>1</cp:revision>
  <dcterms:created xsi:type="dcterms:W3CDTF">2026-03-01T05:17:05Z</dcterms:created>
  <dcterms:modified xsi:type="dcterms:W3CDTF">2026-03-01T05:17:05Z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{"Label":"Code Agent编程模式落地实施探讨","ContentProducer":"001191110108MACG2KBH8F10000","ProduceID":"19ca7bff-08a2-8d33-8000-0000de7ce3ab","ReservedCode1":"","ContentPropagator":"001191110108MACG2KBH8F20000","PropagateID":"19ca7bff-08a2-8d33-8000-0000de7ce3ab","ReservedCode2":""}</vt:lpwstr>
  </property>
</Properties>
</file>