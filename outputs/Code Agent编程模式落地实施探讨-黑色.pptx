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embeddedFontLst>
    <p:embeddedFont>
      <p:font typeface="MiSans" panose="02010600030101010101" charset="-122"/>
      <p:regular r:id="rId15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7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359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28ec42ff464e8bdc21b64da39661932627fa1c37.jpeg"/>
          <p:cNvPicPr>
            <a:picLocks noChangeAspect="1"/>
          </p:cNvPicPr>
          <p:nvPr/>
        </p:nvPicPr>
        <p:blipFill>
          <a:blip r:embed="rId3">
            <a:alphaModFix amt="30000"/>
          </a:blip>
          <a:srcRect l="20127" r="2012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80000"/>
                </a:srgbClr>
              </a:gs>
              <a:gs pos="50000">
                <a:srgbClr val="4A6C8C">
                  <a:alpha val="40000"/>
                </a:srgbClr>
              </a:gs>
              <a:gs pos="100000">
                <a:srgbClr val="5E8B7E">
                  <a:alpha val="3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381000" y="685800"/>
            <a:ext cx="57150" cy="609600"/>
          </a:xfrm>
          <a:custGeom>
            <a:avLst/>
            <a:gdLst/>
            <a:ahLst/>
            <a:cxnLst/>
            <a:rect l="l" t="t" r="r" b="b"/>
            <a:pathLst>
              <a:path w="57150" h="609600">
                <a:moveTo>
                  <a:pt x="0" y="0"/>
                </a:moveTo>
                <a:lnTo>
                  <a:pt x="57150" y="0"/>
                </a:lnTo>
                <a:lnTo>
                  <a:pt x="5715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552450" y="857250"/>
            <a:ext cx="4619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40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CODE AGENT PROGRAMMING MODEL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043509"/>
            <a:ext cx="11849100" cy="1847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66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Code Agent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66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编程模式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416028"/>
            <a:ext cx="4552950" cy="9525"/>
          </a:xfrm>
          <a:custGeom>
            <a:avLst/>
            <a:gdLst/>
            <a:ahLst/>
            <a:cxnLst/>
            <a:rect l="l" t="t" r="r" b="b"/>
            <a:pathLst>
              <a:path w="4552950" h="9525">
                <a:moveTo>
                  <a:pt x="0" y="0"/>
                </a:moveTo>
                <a:lnTo>
                  <a:pt x="4552950" y="0"/>
                </a:lnTo>
                <a:lnTo>
                  <a:pt x="455295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5E8B7E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158680" y="4192191"/>
            <a:ext cx="2028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400" kern="0" spc="6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落地实施探讨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261821" y="4416028"/>
            <a:ext cx="4552950" cy="9525"/>
          </a:xfrm>
          <a:custGeom>
            <a:avLst/>
            <a:gdLst/>
            <a:ahLst/>
            <a:cxnLst/>
            <a:rect l="l" t="t" r="r" b="b"/>
            <a:pathLst>
              <a:path w="4552950" h="9525">
                <a:moveTo>
                  <a:pt x="0" y="0"/>
                </a:moveTo>
                <a:lnTo>
                  <a:pt x="4552950" y="0"/>
                </a:lnTo>
                <a:lnTo>
                  <a:pt x="455295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5E8B7E"/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384175" y="5033566"/>
            <a:ext cx="1406525" cy="387350"/>
          </a:xfrm>
          <a:custGeom>
            <a:avLst/>
            <a:gdLst/>
            <a:ahLst/>
            <a:cxnLst/>
            <a:rect l="l" t="t" r="r" b="b"/>
            <a:pathLst>
              <a:path w="1406525" h="387350">
                <a:moveTo>
                  <a:pt x="193675" y="0"/>
                </a:moveTo>
                <a:lnTo>
                  <a:pt x="1212850" y="0"/>
                </a:lnTo>
                <a:cubicBezTo>
                  <a:pt x="1319814" y="0"/>
                  <a:pt x="1406525" y="86711"/>
                  <a:pt x="1406525" y="193675"/>
                </a:cubicBezTo>
                <a:lnTo>
                  <a:pt x="1406525" y="193675"/>
                </a:lnTo>
                <a:cubicBezTo>
                  <a:pt x="1406525" y="300639"/>
                  <a:pt x="1319814" y="387350"/>
                  <a:pt x="1212850" y="387350"/>
                </a:cubicBezTo>
                <a:lnTo>
                  <a:pt x="193675" y="387350"/>
                </a:lnTo>
                <a:cubicBezTo>
                  <a:pt x="86711" y="387350"/>
                  <a:pt x="0" y="300639"/>
                  <a:pt x="0" y="193675"/>
                </a:cubicBezTo>
                <a:lnTo>
                  <a:pt x="0" y="193675"/>
                </a:lnTo>
                <a:cubicBezTo>
                  <a:pt x="0" y="86711"/>
                  <a:pt x="86711" y="0"/>
                  <a:pt x="193675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8"/>
          <p:cNvSpPr/>
          <p:nvPr/>
        </p:nvSpPr>
        <p:spPr>
          <a:xfrm>
            <a:off x="606425" y="514469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5719" y="0"/>
                </a:moveTo>
                <a:cubicBezTo>
                  <a:pt x="39678" y="0"/>
                  <a:pt x="42863" y="3185"/>
                  <a:pt x="42863" y="7144"/>
                </a:cubicBezTo>
                <a:lnTo>
                  <a:pt x="42863" y="19050"/>
                </a:lnTo>
                <a:lnTo>
                  <a:pt x="90488" y="19050"/>
                </a:lnTo>
                <a:lnTo>
                  <a:pt x="90488" y="7144"/>
                </a:lnTo>
                <a:cubicBezTo>
                  <a:pt x="90488" y="3185"/>
                  <a:pt x="93672" y="0"/>
                  <a:pt x="97631" y="0"/>
                </a:cubicBezTo>
                <a:cubicBezTo>
                  <a:pt x="101590" y="0"/>
                  <a:pt x="104775" y="3185"/>
                  <a:pt x="104775" y="7144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7144"/>
                </a:lnTo>
                <a:cubicBezTo>
                  <a:pt x="28575" y="3185"/>
                  <a:pt x="31760" y="0"/>
                  <a:pt x="35719" y="0"/>
                </a:cubicBezTo>
                <a:close/>
                <a:moveTo>
                  <a:pt x="114300" y="128588"/>
                </a:moveTo>
                <a:cubicBezTo>
                  <a:pt x="116919" y="128588"/>
                  <a:pt x="119062" y="126444"/>
                  <a:pt x="119062" y="123825"/>
                </a:cubicBezTo>
                <a:lnTo>
                  <a:pt x="119062" y="104775"/>
                </a:lnTo>
                <a:lnTo>
                  <a:pt x="92869" y="104775"/>
                </a:lnTo>
                <a:lnTo>
                  <a:pt x="92869" y="128588"/>
                </a:lnTo>
                <a:lnTo>
                  <a:pt x="114300" y="128588"/>
                </a:lnTo>
                <a:close/>
                <a:moveTo>
                  <a:pt x="119062" y="90488"/>
                </a:moveTo>
                <a:lnTo>
                  <a:pt x="119062" y="66675"/>
                </a:lnTo>
                <a:lnTo>
                  <a:pt x="92869" y="66675"/>
                </a:lnTo>
                <a:lnTo>
                  <a:pt x="92869" y="90488"/>
                </a:lnTo>
                <a:lnTo>
                  <a:pt x="119062" y="90488"/>
                </a:lnTo>
                <a:close/>
                <a:moveTo>
                  <a:pt x="78581" y="90488"/>
                </a:moveTo>
                <a:lnTo>
                  <a:pt x="78581" y="66675"/>
                </a:lnTo>
                <a:lnTo>
                  <a:pt x="54769" y="66675"/>
                </a:lnTo>
                <a:lnTo>
                  <a:pt x="54769" y="90488"/>
                </a:lnTo>
                <a:lnTo>
                  <a:pt x="78581" y="90488"/>
                </a:lnTo>
                <a:close/>
                <a:moveTo>
                  <a:pt x="40481" y="90488"/>
                </a:moveTo>
                <a:lnTo>
                  <a:pt x="40481" y="66675"/>
                </a:lnTo>
                <a:lnTo>
                  <a:pt x="14288" y="66675"/>
                </a:lnTo>
                <a:lnTo>
                  <a:pt x="14288" y="90488"/>
                </a:lnTo>
                <a:lnTo>
                  <a:pt x="40481" y="90488"/>
                </a:lnTo>
                <a:close/>
                <a:moveTo>
                  <a:pt x="14288" y="104775"/>
                </a:moveTo>
                <a:lnTo>
                  <a:pt x="14288" y="123825"/>
                </a:lnTo>
                <a:cubicBezTo>
                  <a:pt x="14288" y="126444"/>
                  <a:pt x="16431" y="128588"/>
                  <a:pt x="19050" y="128588"/>
                </a:cubicBezTo>
                <a:lnTo>
                  <a:pt x="40481" y="128588"/>
                </a:lnTo>
                <a:lnTo>
                  <a:pt x="40481" y="104775"/>
                </a:lnTo>
                <a:lnTo>
                  <a:pt x="14288" y="104775"/>
                </a:lnTo>
                <a:close/>
                <a:moveTo>
                  <a:pt x="54769" y="104775"/>
                </a:moveTo>
                <a:lnTo>
                  <a:pt x="54769" y="128588"/>
                </a:lnTo>
                <a:lnTo>
                  <a:pt x="78581" y="128588"/>
                </a:lnTo>
                <a:lnTo>
                  <a:pt x="78581" y="104775"/>
                </a:lnTo>
                <a:lnTo>
                  <a:pt x="54769" y="104775"/>
                </a:lnTo>
                <a:close/>
                <a:moveTo>
                  <a:pt x="35719" y="33338"/>
                </a:moveTo>
                <a:lnTo>
                  <a:pt x="19050" y="33338"/>
                </a:lnTo>
                <a:cubicBezTo>
                  <a:pt x="16431" y="33338"/>
                  <a:pt x="14288" y="35481"/>
                  <a:pt x="14288" y="38100"/>
                </a:cubicBezTo>
                <a:lnTo>
                  <a:pt x="14288" y="52388"/>
                </a:lnTo>
                <a:lnTo>
                  <a:pt x="119062" y="52388"/>
                </a:lnTo>
                <a:lnTo>
                  <a:pt x="119062" y="38100"/>
                </a:lnTo>
                <a:cubicBezTo>
                  <a:pt x="119062" y="35481"/>
                  <a:pt x="116919" y="33338"/>
                  <a:pt x="114300" y="33338"/>
                </a:cubicBezTo>
                <a:lnTo>
                  <a:pt x="35719" y="33338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628650" y="5030391"/>
            <a:ext cx="1228725" cy="38100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2026年3月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85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目录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6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CONTENTS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985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77850" y="1492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9769" y="1568450"/>
            <a:ext cx="34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9350" y="1587500"/>
            <a:ext cx="155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Coding定义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7850" y="2063750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AI主导的研发新范式，自然语言驱动开发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6900" y="25368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820738" y="2508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核心特征与演进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57675" y="12985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451350" y="1492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544020" y="1568450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2850" y="15875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市场成熟度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51350" y="2063750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92%开发者日均使用，AI编程已成事实标准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70400" y="25368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694238" y="2508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关键数据与趋势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1175" y="12985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324850" y="1492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414544" y="1568450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96350" y="1587500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工具全景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24850" y="2063750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Code、OpenCode等主流工具对比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3900" y="25368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567738" y="2508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国内外产品分析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4175" y="30892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77850" y="32829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67742" y="3359151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9350" y="3378201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典型案例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77850" y="38544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数据库密码管理系统，1人12天完成2人月工作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6900" y="43275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820738" y="429895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AI驱动开发实践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57675" y="30892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4451350" y="32829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4539953" y="3359151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022850" y="3378201"/>
            <a:ext cx="116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SKILL方法论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451350" y="38544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从手册到自动化，经验资产化的新范式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470400" y="43275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4694238" y="4298950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技术改造体系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31175" y="30892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324850" y="32829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8413056" y="3359151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896350" y="3378201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算力需求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24850" y="38544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1000人团队Token消耗预估与成本分析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343900" y="43275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8567738" y="4298950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资源规划参考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84175" y="48799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577850" y="50736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675481" y="5149851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149350" y="5168901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落地挑战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77850" y="56451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四大挑战与应对策略，质量与效率平衡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96900" y="61182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/>
          <p:nvPr/>
        </p:nvSpPr>
        <p:spPr>
          <a:xfrm>
            <a:off x="820738" y="6089650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风险管控方案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4257675" y="48799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4451350" y="50736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4537075" y="5149851"/>
            <a:ext cx="400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022850" y="5168901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公司级建议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51350" y="56451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六大战略建议，从上往下推广落地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470400" y="61182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/>
          <p:nvPr/>
        </p:nvSpPr>
        <p:spPr>
          <a:xfrm>
            <a:off x="4694238" y="6089650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组织变革指南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131175" y="4879975"/>
            <a:ext cx="3673475" cy="1597025"/>
          </a:xfrm>
          <a:custGeom>
            <a:avLst/>
            <a:gdLst/>
            <a:ahLst/>
            <a:cxnLst/>
            <a:rect l="l" t="t" r="r" b="b"/>
            <a:pathLst>
              <a:path w="3673475" h="1597025">
                <a:moveTo>
                  <a:pt x="114299" y="0"/>
                </a:moveTo>
                <a:lnTo>
                  <a:pt x="3559176" y="0"/>
                </a:lnTo>
                <a:cubicBezTo>
                  <a:pt x="3622302" y="0"/>
                  <a:pt x="3673475" y="51173"/>
                  <a:pt x="3673475" y="114299"/>
                </a:cubicBezTo>
                <a:lnTo>
                  <a:pt x="3673475" y="1482726"/>
                </a:lnTo>
                <a:cubicBezTo>
                  <a:pt x="3673475" y="1545852"/>
                  <a:pt x="3622302" y="1597025"/>
                  <a:pt x="3559176" y="1597025"/>
                </a:cubicBezTo>
                <a:lnTo>
                  <a:pt x="114299" y="1597025"/>
                </a:lnTo>
                <a:cubicBezTo>
                  <a:pt x="51173" y="1597025"/>
                  <a:pt x="0" y="1545852"/>
                  <a:pt x="0" y="14827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30000"/>
                </a:srgbClr>
              </a:gs>
              <a:gs pos="100000">
                <a:srgbClr val="5E8B7E">
                  <a:alpha val="10000"/>
                </a:srgbClr>
              </a:gs>
            </a:gsLst>
            <a:lin ang="2700000" scaled="1"/>
          </a:gradFill>
          <a:ln w="8467">
            <a:solidFill>
              <a:srgbClr val="5E8B7E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8324850" y="50736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Text 61"/>
          <p:cNvSpPr/>
          <p:nvPr/>
        </p:nvSpPr>
        <p:spPr>
          <a:xfrm>
            <a:off x="8413750" y="5149851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896350" y="5168901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实施路线图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8324850" y="5645151"/>
            <a:ext cx="3362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FTC四阶段实施，从试点到全量承接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8343900" y="61182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Text 65"/>
          <p:cNvSpPr/>
          <p:nvPr/>
        </p:nvSpPr>
        <p:spPr>
          <a:xfrm>
            <a:off x="8567738" y="60896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端到端交付路径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5495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Coding：AI主导的研发新范式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DEFINITION &amp; CORE CHARACTERISTICS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60475"/>
            <a:ext cx="5616575" cy="1444625"/>
          </a:xfrm>
          <a:custGeom>
            <a:avLst/>
            <a:gdLst/>
            <a:ahLst/>
            <a:cxnLst/>
            <a:rect l="l" t="t" r="r" b="b"/>
            <a:pathLst>
              <a:path w="5616575" h="1444625">
                <a:moveTo>
                  <a:pt x="114299" y="0"/>
                </a:moveTo>
                <a:lnTo>
                  <a:pt x="5502276" y="0"/>
                </a:lnTo>
                <a:cubicBezTo>
                  <a:pt x="5565402" y="0"/>
                  <a:pt x="5616575" y="51173"/>
                  <a:pt x="5616575" y="114299"/>
                </a:cubicBezTo>
                <a:lnTo>
                  <a:pt x="5616575" y="1330326"/>
                </a:lnTo>
                <a:cubicBezTo>
                  <a:pt x="5616575" y="1393452"/>
                  <a:pt x="5565402" y="1444625"/>
                  <a:pt x="5502276" y="1444625"/>
                </a:cubicBezTo>
                <a:lnTo>
                  <a:pt x="114299" y="1444625"/>
                </a:lnTo>
                <a:cubicBezTo>
                  <a:pt x="51216" y="1444625"/>
                  <a:pt x="0" y="1393409"/>
                  <a:pt x="0" y="133032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77850" y="1454151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44538" y="160655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0" y="96441"/>
                </a:moveTo>
                <a:cubicBezTo>
                  <a:pt x="0" y="66839"/>
                  <a:pt x="23976" y="42863"/>
                  <a:pt x="53578" y="42863"/>
                </a:cubicBezTo>
                <a:lnTo>
                  <a:pt x="57150" y="42863"/>
                </a:lnTo>
                <a:cubicBezTo>
                  <a:pt x="65053" y="42863"/>
                  <a:pt x="71438" y="49247"/>
                  <a:pt x="71438" y="57150"/>
                </a:cubicBezTo>
                <a:cubicBezTo>
                  <a:pt x="71438" y="65053"/>
                  <a:pt x="65053" y="71438"/>
                  <a:pt x="57150" y="71438"/>
                </a:cubicBezTo>
                <a:lnTo>
                  <a:pt x="53578" y="71438"/>
                </a:lnTo>
                <a:cubicBezTo>
                  <a:pt x="39782" y="71438"/>
                  <a:pt x="28575" y="82644"/>
                  <a:pt x="28575" y="96441"/>
                </a:cubicBezTo>
                <a:lnTo>
                  <a:pt x="28575" y="100013"/>
                </a:lnTo>
                <a:lnTo>
                  <a:pt x="57150" y="100013"/>
                </a:lnTo>
                <a:cubicBezTo>
                  <a:pt x="72911" y="100013"/>
                  <a:pt x="85725" y="112827"/>
                  <a:pt x="85725" y="128588"/>
                </a:cubicBezTo>
                <a:lnTo>
                  <a:pt x="85725" y="157163"/>
                </a:lnTo>
                <a:cubicBezTo>
                  <a:pt x="85725" y="172923"/>
                  <a:pt x="72911" y="185738"/>
                  <a:pt x="57150" y="185738"/>
                </a:cubicBezTo>
                <a:lnTo>
                  <a:pt x="28575" y="185738"/>
                </a:lnTo>
                <a:cubicBezTo>
                  <a:pt x="12814" y="185738"/>
                  <a:pt x="0" y="172923"/>
                  <a:pt x="0" y="157163"/>
                </a:cubicBezTo>
                <a:lnTo>
                  <a:pt x="0" y="96441"/>
                </a:lnTo>
                <a:close/>
                <a:moveTo>
                  <a:pt x="114300" y="96441"/>
                </a:moveTo>
                <a:cubicBezTo>
                  <a:pt x="114300" y="66839"/>
                  <a:pt x="138276" y="42863"/>
                  <a:pt x="167878" y="42863"/>
                </a:cubicBezTo>
                <a:lnTo>
                  <a:pt x="171450" y="42863"/>
                </a:lnTo>
                <a:cubicBezTo>
                  <a:pt x="179353" y="42863"/>
                  <a:pt x="185738" y="49247"/>
                  <a:pt x="185738" y="57150"/>
                </a:cubicBezTo>
                <a:cubicBezTo>
                  <a:pt x="185738" y="65053"/>
                  <a:pt x="179353" y="71438"/>
                  <a:pt x="171450" y="71438"/>
                </a:cubicBezTo>
                <a:lnTo>
                  <a:pt x="167878" y="71438"/>
                </a:lnTo>
                <a:cubicBezTo>
                  <a:pt x="154082" y="71438"/>
                  <a:pt x="142875" y="82644"/>
                  <a:pt x="142875" y="96441"/>
                </a:cubicBezTo>
                <a:lnTo>
                  <a:pt x="142875" y="100013"/>
                </a:lnTo>
                <a:lnTo>
                  <a:pt x="171450" y="100013"/>
                </a:lnTo>
                <a:cubicBezTo>
                  <a:pt x="187211" y="100013"/>
                  <a:pt x="200025" y="112827"/>
                  <a:pt x="200025" y="128588"/>
                </a:cubicBezTo>
                <a:lnTo>
                  <a:pt x="200025" y="157163"/>
                </a:lnTo>
                <a:cubicBezTo>
                  <a:pt x="200025" y="172923"/>
                  <a:pt x="187211" y="185738"/>
                  <a:pt x="171450" y="185738"/>
                </a:cubicBezTo>
                <a:lnTo>
                  <a:pt x="142875" y="185738"/>
                </a:lnTo>
                <a:cubicBezTo>
                  <a:pt x="127114" y="185738"/>
                  <a:pt x="114300" y="172923"/>
                  <a:pt x="114300" y="157163"/>
                </a:cubicBezTo>
                <a:lnTo>
                  <a:pt x="114300" y="96441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263650" y="1454151"/>
            <a:ext cx="46291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"用自然语言描述你想要什么，让AI生成代码。你'顺从于感觉(surrender to the vibes)'，忘记了代码的存在。"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3650" y="2125663"/>
            <a:ext cx="4619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— Andrej Karpathy, 2025年2月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4175" y="2859088"/>
            <a:ext cx="5616575" cy="3616325"/>
          </a:xfrm>
          <a:custGeom>
            <a:avLst/>
            <a:gdLst/>
            <a:ahLst/>
            <a:cxnLst/>
            <a:rect l="l" t="t" r="r" b="b"/>
            <a:pathLst>
              <a:path w="5616575" h="3616325">
                <a:moveTo>
                  <a:pt x="114312" y="0"/>
                </a:moveTo>
                <a:lnTo>
                  <a:pt x="5502263" y="0"/>
                </a:lnTo>
                <a:cubicBezTo>
                  <a:pt x="5565396" y="0"/>
                  <a:pt x="5616575" y="51179"/>
                  <a:pt x="5616575" y="114312"/>
                </a:cubicBezTo>
                <a:lnTo>
                  <a:pt x="5616575" y="3502013"/>
                </a:lnTo>
                <a:cubicBezTo>
                  <a:pt x="5616575" y="3565146"/>
                  <a:pt x="5565396" y="3616325"/>
                  <a:pt x="5502263" y="3616325"/>
                </a:cubicBezTo>
                <a:lnTo>
                  <a:pt x="114312" y="3616325"/>
                </a:lnTo>
                <a:cubicBezTo>
                  <a:pt x="51179" y="3616325"/>
                  <a:pt x="0" y="3565146"/>
                  <a:pt x="0" y="3502013"/>
                </a:cubicBezTo>
                <a:lnTo>
                  <a:pt x="0" y="114312"/>
                </a:lnTo>
                <a:cubicBezTo>
                  <a:pt x="0" y="51179"/>
                  <a:pt x="51179" y="0"/>
                  <a:pt x="114312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589756" y="309086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15975" y="3052763"/>
            <a:ext cx="5086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核心特征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7850" y="350996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700286" y="3548063"/>
            <a:ext cx="133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96950" y="3471863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自然语言驱动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6950" y="3738563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用描述性语言表达需求，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降低技术门槛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7850" y="415766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87388" y="4195763"/>
            <a:ext cx="161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950" y="4119562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AI主导开发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6950" y="4386263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AI负责大部分编码工作，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人类聚焦设计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7850" y="480536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85403" y="4843463"/>
            <a:ext cx="161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6950" y="4767263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快速迭代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6950" y="5033963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通过对话式提示不断调整，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实现分钟级交付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94425" y="1260475"/>
            <a:ext cx="5616575" cy="5216525"/>
          </a:xfrm>
          <a:custGeom>
            <a:avLst/>
            <a:gdLst/>
            <a:ahLst/>
            <a:cxnLst/>
            <a:rect l="l" t="t" r="r" b="b"/>
            <a:pathLst>
              <a:path w="5616575" h="5216525">
                <a:moveTo>
                  <a:pt x="114294" y="0"/>
                </a:moveTo>
                <a:lnTo>
                  <a:pt x="5502281" y="0"/>
                </a:lnTo>
                <a:cubicBezTo>
                  <a:pt x="5565404" y="0"/>
                  <a:pt x="5616575" y="51171"/>
                  <a:pt x="5616575" y="114294"/>
                </a:cubicBezTo>
                <a:lnTo>
                  <a:pt x="5616575" y="5102231"/>
                </a:lnTo>
                <a:cubicBezTo>
                  <a:pt x="5616575" y="5165354"/>
                  <a:pt x="5565404" y="5216525"/>
                  <a:pt x="5502281" y="5216525"/>
                </a:cubicBezTo>
                <a:lnTo>
                  <a:pt x="114294" y="5216525"/>
                </a:lnTo>
                <a:cubicBezTo>
                  <a:pt x="51171" y="5216525"/>
                  <a:pt x="0" y="5165354"/>
                  <a:pt x="0" y="5102231"/>
                </a:cubicBezTo>
                <a:lnTo>
                  <a:pt x="0" y="114294"/>
                </a:lnTo>
                <a:cubicBezTo>
                  <a:pt x="0" y="51171"/>
                  <a:pt x="51171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6400006" y="1492251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07156" y="23812"/>
                </a:moveTo>
                <a:cubicBezTo>
                  <a:pt x="146596" y="23812"/>
                  <a:pt x="178594" y="55811"/>
                  <a:pt x="178594" y="95250"/>
                </a:cubicBezTo>
                <a:cubicBezTo>
                  <a:pt x="178594" y="134689"/>
                  <a:pt x="146596" y="166688"/>
                  <a:pt x="107156" y="166688"/>
                </a:cubicBezTo>
                <a:cubicBezTo>
                  <a:pt x="82897" y="166688"/>
                  <a:pt x="61429" y="154595"/>
                  <a:pt x="48518" y="136066"/>
                </a:cubicBezTo>
                <a:cubicBezTo>
                  <a:pt x="44760" y="130671"/>
                  <a:pt x="37319" y="129369"/>
                  <a:pt x="31924" y="133127"/>
                </a:cubicBezTo>
                <a:cubicBezTo>
                  <a:pt x="26529" y="136885"/>
                  <a:pt x="25226" y="144326"/>
                  <a:pt x="28984" y="149721"/>
                </a:cubicBezTo>
                <a:cubicBezTo>
                  <a:pt x="46174" y="174352"/>
                  <a:pt x="74786" y="190500"/>
                  <a:pt x="107156" y="190500"/>
                </a:cubicBezTo>
                <a:cubicBezTo>
                  <a:pt x="159767" y="190500"/>
                  <a:pt x="202406" y="147861"/>
                  <a:pt x="202406" y="95250"/>
                </a:cubicBezTo>
                <a:cubicBezTo>
                  <a:pt x="202406" y="42639"/>
                  <a:pt x="159767" y="0"/>
                  <a:pt x="107156" y="0"/>
                </a:cubicBezTo>
                <a:cubicBezTo>
                  <a:pt x="75270" y="0"/>
                  <a:pt x="47067" y="15664"/>
                  <a:pt x="29766" y="39700"/>
                </a:cubicBezTo>
                <a:lnTo>
                  <a:pt x="29766" y="29766"/>
                </a:lnTo>
                <a:cubicBezTo>
                  <a:pt x="29766" y="23180"/>
                  <a:pt x="24445" y="17859"/>
                  <a:pt x="17859" y="17859"/>
                </a:cubicBezTo>
                <a:cubicBezTo>
                  <a:pt x="11274" y="17859"/>
                  <a:pt x="5953" y="23180"/>
                  <a:pt x="5953" y="29766"/>
                </a:cubicBezTo>
                <a:lnTo>
                  <a:pt x="5953" y="71438"/>
                </a:lnTo>
                <a:cubicBezTo>
                  <a:pt x="5953" y="78023"/>
                  <a:pt x="11274" y="83344"/>
                  <a:pt x="17859" y="83344"/>
                </a:cubicBezTo>
                <a:lnTo>
                  <a:pt x="27012" y="83344"/>
                </a:lnTo>
                <a:cubicBezTo>
                  <a:pt x="27198" y="83344"/>
                  <a:pt x="27384" y="83344"/>
                  <a:pt x="27570" y="83344"/>
                </a:cubicBezTo>
                <a:lnTo>
                  <a:pt x="59568" y="83344"/>
                </a:lnTo>
                <a:cubicBezTo>
                  <a:pt x="66154" y="83344"/>
                  <a:pt x="71475" y="78023"/>
                  <a:pt x="71475" y="71438"/>
                </a:cubicBezTo>
                <a:cubicBezTo>
                  <a:pt x="71475" y="64852"/>
                  <a:pt x="66154" y="59531"/>
                  <a:pt x="59568" y="59531"/>
                </a:cubicBezTo>
                <a:lnTo>
                  <a:pt x="45318" y="59531"/>
                </a:lnTo>
                <a:cubicBezTo>
                  <a:pt x="57634" y="38174"/>
                  <a:pt x="80739" y="23812"/>
                  <a:pt x="107156" y="23812"/>
                </a:cubicBezTo>
                <a:close/>
                <a:moveTo>
                  <a:pt x="116086" y="56555"/>
                </a:moveTo>
                <a:cubicBezTo>
                  <a:pt x="116086" y="51606"/>
                  <a:pt x="112105" y="47625"/>
                  <a:pt x="107156" y="47625"/>
                </a:cubicBezTo>
                <a:cubicBezTo>
                  <a:pt x="102208" y="47625"/>
                  <a:pt x="98227" y="51606"/>
                  <a:pt x="98227" y="56555"/>
                </a:cubicBezTo>
                <a:lnTo>
                  <a:pt x="98227" y="95250"/>
                </a:lnTo>
                <a:cubicBezTo>
                  <a:pt x="98227" y="97631"/>
                  <a:pt x="99157" y="99901"/>
                  <a:pt x="100831" y="101575"/>
                </a:cubicBezTo>
                <a:lnTo>
                  <a:pt x="127620" y="128364"/>
                </a:lnTo>
                <a:cubicBezTo>
                  <a:pt x="131118" y="131862"/>
                  <a:pt x="136773" y="131862"/>
                  <a:pt x="140233" y="128364"/>
                </a:cubicBezTo>
                <a:cubicBezTo>
                  <a:pt x="143694" y="124867"/>
                  <a:pt x="143731" y="119211"/>
                  <a:pt x="140233" y="115751"/>
                </a:cubicBezTo>
                <a:lnTo>
                  <a:pt x="116049" y="91567"/>
                </a:lnTo>
                <a:lnTo>
                  <a:pt x="116049" y="56555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626225" y="1454151"/>
            <a:ext cx="5086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演进历程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88100" y="1866900"/>
            <a:ext cx="735409" cy="254000"/>
          </a:xfrm>
          <a:custGeom>
            <a:avLst/>
            <a:gdLst/>
            <a:ahLst/>
            <a:cxnLst/>
            <a:rect l="l" t="t" r="r" b="b"/>
            <a:pathLst>
              <a:path w="735409" h="254000">
                <a:moveTo>
                  <a:pt x="127000" y="0"/>
                </a:moveTo>
                <a:lnTo>
                  <a:pt x="608409" y="0"/>
                </a:lnTo>
                <a:cubicBezTo>
                  <a:pt x="678550" y="0"/>
                  <a:pt x="735409" y="56860"/>
                  <a:pt x="735409" y="127000"/>
                </a:cubicBezTo>
                <a:lnTo>
                  <a:pt x="735409" y="127000"/>
                </a:lnTo>
                <a:cubicBezTo>
                  <a:pt x="735409" y="197140"/>
                  <a:pt x="678550" y="254000"/>
                  <a:pt x="608409" y="254000"/>
                </a:cubicBezTo>
                <a:lnTo>
                  <a:pt x="127000" y="254000"/>
                </a:lnTo>
                <a:cubicBezTo>
                  <a:pt x="56860" y="254000"/>
                  <a:pt x="0" y="197140"/>
                  <a:pt x="0" y="127000"/>
                </a:cubicBezTo>
                <a:lnTo>
                  <a:pt x="0" y="127000"/>
                </a:lnTo>
                <a:cubicBezTo>
                  <a:pt x="0" y="56860"/>
                  <a:pt x="56860" y="0"/>
                  <a:pt x="1270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388100" y="1866900"/>
            <a:ext cx="802084" cy="2540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2025.02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454900" y="2486026"/>
            <a:ext cx="4162425" cy="6350"/>
          </a:xfrm>
          <a:custGeom>
            <a:avLst/>
            <a:gdLst/>
            <a:ahLst/>
            <a:cxnLst/>
            <a:rect l="l" t="t" r="r" b="b"/>
            <a:pathLst>
              <a:path w="4162425" h="6350">
                <a:moveTo>
                  <a:pt x="0" y="0"/>
                </a:moveTo>
                <a:lnTo>
                  <a:pt x="4162425" y="0"/>
                </a:lnTo>
                <a:lnTo>
                  <a:pt x="4162425" y="6350"/>
                </a:lnTo>
                <a:lnTo>
                  <a:pt x="0" y="63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454900" y="1873251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概念提出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454900" y="2139951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Andrej Karpathy首次提出Vibe Coding概念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88100" y="2597151"/>
            <a:ext cx="712887" cy="254000"/>
          </a:xfrm>
          <a:custGeom>
            <a:avLst/>
            <a:gdLst/>
            <a:ahLst/>
            <a:cxnLst/>
            <a:rect l="l" t="t" r="r" b="b"/>
            <a:pathLst>
              <a:path w="712887" h="254000">
                <a:moveTo>
                  <a:pt x="127000" y="0"/>
                </a:moveTo>
                <a:lnTo>
                  <a:pt x="585887" y="0"/>
                </a:lnTo>
                <a:cubicBezTo>
                  <a:pt x="656027" y="0"/>
                  <a:pt x="712887" y="56860"/>
                  <a:pt x="712887" y="127000"/>
                </a:cubicBezTo>
                <a:lnTo>
                  <a:pt x="712887" y="127000"/>
                </a:lnTo>
                <a:cubicBezTo>
                  <a:pt x="712887" y="197140"/>
                  <a:pt x="656027" y="254000"/>
                  <a:pt x="585887" y="254000"/>
                </a:cubicBezTo>
                <a:lnTo>
                  <a:pt x="127000" y="254000"/>
                </a:lnTo>
                <a:cubicBezTo>
                  <a:pt x="56860" y="254000"/>
                  <a:pt x="0" y="197140"/>
                  <a:pt x="0" y="127000"/>
                </a:cubicBezTo>
                <a:lnTo>
                  <a:pt x="0" y="127000"/>
                </a:lnTo>
                <a:cubicBezTo>
                  <a:pt x="0" y="56860"/>
                  <a:pt x="56860" y="0"/>
                  <a:pt x="1270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388100" y="2597151"/>
            <a:ext cx="779562" cy="2540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2025.10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454900" y="3216275"/>
            <a:ext cx="4162425" cy="6350"/>
          </a:xfrm>
          <a:custGeom>
            <a:avLst/>
            <a:gdLst/>
            <a:ahLst/>
            <a:cxnLst/>
            <a:rect l="l" t="t" r="r" b="b"/>
            <a:pathLst>
              <a:path w="4162425" h="6350">
                <a:moveTo>
                  <a:pt x="0" y="0"/>
                </a:moveTo>
                <a:lnTo>
                  <a:pt x="4162425" y="0"/>
                </a:lnTo>
                <a:lnTo>
                  <a:pt x="4162425" y="6350"/>
                </a:lnTo>
                <a:lnTo>
                  <a:pt x="0" y="63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7454900" y="2603500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企业跟进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54900" y="2870200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Salesforce发布Agentforce Vibes，Cognizant发布企业蓝图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3324226"/>
            <a:ext cx="561380" cy="273050"/>
          </a:xfrm>
          <a:custGeom>
            <a:avLst/>
            <a:gdLst/>
            <a:ahLst/>
            <a:cxnLst/>
            <a:rect l="l" t="t" r="r" b="b"/>
            <a:pathLst>
              <a:path w="561380" h="273050">
                <a:moveTo>
                  <a:pt x="136525" y="0"/>
                </a:moveTo>
                <a:lnTo>
                  <a:pt x="424855" y="0"/>
                </a:lnTo>
                <a:cubicBezTo>
                  <a:pt x="500255" y="0"/>
                  <a:pt x="561380" y="61124"/>
                  <a:pt x="561380" y="136525"/>
                </a:cubicBezTo>
                <a:lnTo>
                  <a:pt x="561380" y="136525"/>
                </a:lnTo>
                <a:cubicBezTo>
                  <a:pt x="561380" y="211926"/>
                  <a:pt x="500255" y="273050"/>
                  <a:pt x="424855" y="273050"/>
                </a:cubicBezTo>
                <a:lnTo>
                  <a:pt x="136525" y="273050"/>
                </a:lnTo>
                <a:cubicBezTo>
                  <a:pt x="61175" y="273050"/>
                  <a:pt x="0" y="211875"/>
                  <a:pt x="0" y="136525"/>
                </a:cubicBezTo>
                <a:lnTo>
                  <a:pt x="0" y="136525"/>
                </a:lnTo>
                <a:cubicBezTo>
                  <a:pt x="0" y="61175"/>
                  <a:pt x="61175" y="0"/>
                  <a:pt x="136525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 w="8467">
            <a:solidFill>
              <a:srgbClr val="5E8B7E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6388100" y="3321051"/>
            <a:ext cx="62170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454900" y="3333750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主流范式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54900" y="3600450"/>
            <a:ext cx="423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已成为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主流研发范式</a:t>
            </a: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，从辅助走向核心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91275" y="3984625"/>
            <a:ext cx="5216525" cy="539750"/>
          </a:xfrm>
          <a:custGeom>
            <a:avLst/>
            <a:gdLst/>
            <a:ahLst/>
            <a:cxnLst/>
            <a:rect l="l" t="t" r="r" b="b"/>
            <a:pathLst>
              <a:path w="5216525" h="539750">
                <a:moveTo>
                  <a:pt x="76202" y="0"/>
                </a:moveTo>
                <a:lnTo>
                  <a:pt x="5140323" y="0"/>
                </a:lnTo>
                <a:cubicBezTo>
                  <a:pt x="5182408" y="0"/>
                  <a:pt x="5216525" y="34117"/>
                  <a:pt x="5216525" y="76202"/>
                </a:cubicBezTo>
                <a:lnTo>
                  <a:pt x="5216525" y="463548"/>
                </a:lnTo>
                <a:cubicBezTo>
                  <a:pt x="5216525" y="505633"/>
                  <a:pt x="5182408" y="539750"/>
                  <a:pt x="5140323" y="539750"/>
                </a:cubicBezTo>
                <a:lnTo>
                  <a:pt x="76202" y="539750"/>
                </a:lnTo>
                <a:cubicBezTo>
                  <a:pt x="34145" y="539750"/>
                  <a:pt x="0" y="505605"/>
                  <a:pt x="0" y="46354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584950" y="41719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794500" y="4140201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核心洞察：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AI编程已从"工具升级"演变为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"范式革命"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5276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市场成熟度：AI编程已成事实标准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KEY MARKET DATA &amp; GROWTH 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22375"/>
            <a:ext cx="2740025" cy="1301750"/>
          </a:xfrm>
          <a:custGeom>
            <a:avLst/>
            <a:gdLst/>
            <a:ahLst/>
            <a:cxnLst/>
            <a:rect l="l" t="t" r="r" b="b"/>
            <a:pathLst>
              <a:path w="2740025" h="1301750">
                <a:moveTo>
                  <a:pt x="114294" y="0"/>
                </a:moveTo>
                <a:lnTo>
                  <a:pt x="2625731" y="0"/>
                </a:lnTo>
                <a:cubicBezTo>
                  <a:pt x="2688854" y="0"/>
                  <a:pt x="2740025" y="51171"/>
                  <a:pt x="2740025" y="114294"/>
                </a:cubicBezTo>
                <a:lnTo>
                  <a:pt x="2740025" y="1187456"/>
                </a:lnTo>
                <a:cubicBezTo>
                  <a:pt x="2740025" y="1250579"/>
                  <a:pt x="2688854" y="1301750"/>
                  <a:pt x="2625731" y="1301750"/>
                </a:cubicBezTo>
                <a:lnTo>
                  <a:pt x="114294" y="1301750"/>
                </a:lnTo>
                <a:cubicBezTo>
                  <a:pt x="51171" y="1301750"/>
                  <a:pt x="0" y="1250579"/>
                  <a:pt x="0" y="1187456"/>
                </a:cubicBezTo>
                <a:lnTo>
                  <a:pt x="0" y="114294"/>
                </a:lnTo>
                <a:cubicBezTo>
                  <a:pt x="0" y="51213"/>
                  <a:pt x="51213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25450" y="1377951"/>
            <a:ext cx="265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92%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1650" y="1911351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开发者日均使用率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6413" y="2178051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美国开发者每日必用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79775" y="1222375"/>
            <a:ext cx="2740025" cy="1301750"/>
          </a:xfrm>
          <a:custGeom>
            <a:avLst/>
            <a:gdLst/>
            <a:ahLst/>
            <a:cxnLst/>
            <a:rect l="l" t="t" r="r" b="b"/>
            <a:pathLst>
              <a:path w="2740025" h="1301750">
                <a:moveTo>
                  <a:pt x="114294" y="0"/>
                </a:moveTo>
                <a:lnTo>
                  <a:pt x="2625731" y="0"/>
                </a:lnTo>
                <a:cubicBezTo>
                  <a:pt x="2688854" y="0"/>
                  <a:pt x="2740025" y="51171"/>
                  <a:pt x="2740025" y="114294"/>
                </a:cubicBezTo>
                <a:lnTo>
                  <a:pt x="2740025" y="1187456"/>
                </a:lnTo>
                <a:cubicBezTo>
                  <a:pt x="2740025" y="1250579"/>
                  <a:pt x="2688854" y="1301750"/>
                  <a:pt x="2625731" y="1301750"/>
                </a:cubicBezTo>
                <a:lnTo>
                  <a:pt x="114294" y="1301750"/>
                </a:lnTo>
                <a:cubicBezTo>
                  <a:pt x="51171" y="1301750"/>
                  <a:pt x="0" y="1250579"/>
                  <a:pt x="0" y="1187456"/>
                </a:cubicBezTo>
                <a:lnTo>
                  <a:pt x="0" y="114294"/>
                </a:lnTo>
                <a:cubicBezTo>
                  <a:pt x="0" y="51213"/>
                  <a:pt x="51213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3321050" y="1377951"/>
            <a:ext cx="265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41%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97250" y="1911351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AI生成代码占比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02013" y="2178051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全年2560亿行代码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5375" y="1222375"/>
            <a:ext cx="2740025" cy="1301750"/>
          </a:xfrm>
          <a:custGeom>
            <a:avLst/>
            <a:gdLst/>
            <a:ahLst/>
            <a:cxnLst/>
            <a:rect l="l" t="t" r="r" b="b"/>
            <a:pathLst>
              <a:path w="2740025" h="1301750">
                <a:moveTo>
                  <a:pt x="114294" y="0"/>
                </a:moveTo>
                <a:lnTo>
                  <a:pt x="2625731" y="0"/>
                </a:lnTo>
                <a:cubicBezTo>
                  <a:pt x="2688854" y="0"/>
                  <a:pt x="2740025" y="51171"/>
                  <a:pt x="2740025" y="114294"/>
                </a:cubicBezTo>
                <a:lnTo>
                  <a:pt x="2740025" y="1187456"/>
                </a:lnTo>
                <a:cubicBezTo>
                  <a:pt x="2740025" y="1250579"/>
                  <a:pt x="2688854" y="1301750"/>
                  <a:pt x="2625731" y="1301750"/>
                </a:cubicBezTo>
                <a:lnTo>
                  <a:pt x="114294" y="1301750"/>
                </a:lnTo>
                <a:cubicBezTo>
                  <a:pt x="51171" y="1301750"/>
                  <a:pt x="0" y="1250579"/>
                  <a:pt x="0" y="1187456"/>
                </a:cubicBezTo>
                <a:lnTo>
                  <a:pt x="0" y="114294"/>
                </a:lnTo>
                <a:cubicBezTo>
                  <a:pt x="0" y="51213"/>
                  <a:pt x="51213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216650" y="1377951"/>
            <a:ext cx="265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75%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92850" y="1911351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企业渗透率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97613" y="2178051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财富500强已部署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70975" y="1222375"/>
            <a:ext cx="2740025" cy="1301750"/>
          </a:xfrm>
          <a:custGeom>
            <a:avLst/>
            <a:gdLst/>
            <a:ahLst/>
            <a:cxnLst/>
            <a:rect l="l" t="t" r="r" b="b"/>
            <a:pathLst>
              <a:path w="2740025" h="1301750">
                <a:moveTo>
                  <a:pt x="114294" y="0"/>
                </a:moveTo>
                <a:lnTo>
                  <a:pt x="2625731" y="0"/>
                </a:lnTo>
                <a:cubicBezTo>
                  <a:pt x="2688854" y="0"/>
                  <a:pt x="2740025" y="51171"/>
                  <a:pt x="2740025" y="114294"/>
                </a:cubicBezTo>
                <a:lnTo>
                  <a:pt x="2740025" y="1187456"/>
                </a:lnTo>
                <a:cubicBezTo>
                  <a:pt x="2740025" y="1250579"/>
                  <a:pt x="2688854" y="1301750"/>
                  <a:pt x="2625731" y="1301750"/>
                </a:cubicBezTo>
                <a:lnTo>
                  <a:pt x="114294" y="1301750"/>
                </a:lnTo>
                <a:cubicBezTo>
                  <a:pt x="51171" y="1301750"/>
                  <a:pt x="0" y="1250579"/>
                  <a:pt x="0" y="1187456"/>
                </a:cubicBezTo>
                <a:lnTo>
                  <a:pt x="0" y="114294"/>
                </a:lnTo>
                <a:cubicBezTo>
                  <a:pt x="0" y="51213"/>
                  <a:pt x="51213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30000"/>
                </a:srgbClr>
              </a:gs>
              <a:gs pos="100000">
                <a:srgbClr val="5E8B7E">
                  <a:alpha val="10000"/>
                </a:srgbClr>
              </a:gs>
            </a:gsLst>
            <a:lin ang="2700000" scaled="1"/>
          </a:gradFill>
          <a:ln w="8467">
            <a:solidFill>
              <a:srgbClr val="5E8B7E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9112250" y="1377951"/>
            <a:ext cx="265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8450" y="1911351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Code占比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93213" y="2178051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GitHub总提交量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84175" y="2682877"/>
            <a:ext cx="5635625" cy="3787775"/>
          </a:xfrm>
          <a:custGeom>
            <a:avLst/>
            <a:gdLst/>
            <a:ahLst/>
            <a:cxnLst/>
            <a:rect l="l" t="t" r="r" b="b"/>
            <a:pathLst>
              <a:path w="5635625" h="3787775">
                <a:moveTo>
                  <a:pt x="114315" y="0"/>
                </a:moveTo>
                <a:lnTo>
                  <a:pt x="5521310" y="0"/>
                </a:lnTo>
                <a:cubicBezTo>
                  <a:pt x="5584444" y="0"/>
                  <a:pt x="5635625" y="51181"/>
                  <a:pt x="5635625" y="114315"/>
                </a:cubicBezTo>
                <a:lnTo>
                  <a:pt x="5635625" y="3673460"/>
                </a:lnTo>
                <a:cubicBezTo>
                  <a:pt x="5635625" y="3736594"/>
                  <a:pt x="5584444" y="3787775"/>
                  <a:pt x="5521310" y="3787775"/>
                </a:cubicBezTo>
                <a:lnTo>
                  <a:pt x="114315" y="3787775"/>
                </a:lnTo>
                <a:cubicBezTo>
                  <a:pt x="51181" y="3787775"/>
                  <a:pt x="0" y="3736594"/>
                  <a:pt x="0" y="3673460"/>
                </a:cubicBezTo>
                <a:lnTo>
                  <a:pt x="0" y="114315"/>
                </a:lnTo>
                <a:cubicBezTo>
                  <a:pt x="0" y="51223"/>
                  <a:pt x="51223" y="0"/>
                  <a:pt x="11431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01663" y="29146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15975" y="2876550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 爆发式增长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7850" y="3295650"/>
            <a:ext cx="5248275" cy="495300"/>
          </a:xfrm>
          <a:custGeom>
            <a:avLst/>
            <a:gdLst/>
            <a:ahLst/>
            <a:cxnLst/>
            <a:rect l="l" t="t" r="r" b="b"/>
            <a:pathLst>
              <a:path w="5248275" h="495300">
                <a:moveTo>
                  <a:pt x="76202" y="0"/>
                </a:moveTo>
                <a:lnTo>
                  <a:pt x="5172073" y="0"/>
                </a:lnTo>
                <a:cubicBezTo>
                  <a:pt x="5214158" y="0"/>
                  <a:pt x="5248275" y="34117"/>
                  <a:pt x="5248275" y="76202"/>
                </a:cubicBezTo>
                <a:lnTo>
                  <a:pt x="5248275" y="419098"/>
                </a:lnTo>
                <a:cubicBezTo>
                  <a:pt x="5248275" y="461183"/>
                  <a:pt x="5214158" y="495300"/>
                  <a:pt x="517207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92150" y="346710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996950" y="3429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用户增速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160441" y="3409950"/>
            <a:ext cx="1638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6个月 → 500万周活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7850" y="3905250"/>
            <a:ext cx="5248275" cy="495300"/>
          </a:xfrm>
          <a:custGeom>
            <a:avLst/>
            <a:gdLst/>
            <a:ahLst/>
            <a:cxnLst/>
            <a:rect l="l" t="t" r="r" b="b"/>
            <a:pathLst>
              <a:path w="5248275" h="495300">
                <a:moveTo>
                  <a:pt x="76202" y="0"/>
                </a:moveTo>
                <a:lnTo>
                  <a:pt x="5172073" y="0"/>
                </a:lnTo>
                <a:cubicBezTo>
                  <a:pt x="5214158" y="0"/>
                  <a:pt x="5248275" y="34117"/>
                  <a:pt x="5248275" y="76202"/>
                </a:cubicBezTo>
                <a:lnTo>
                  <a:pt x="5248275" y="419098"/>
                </a:lnTo>
                <a:cubicBezTo>
                  <a:pt x="5248275" y="461183"/>
                  <a:pt x="5214158" y="495300"/>
                  <a:pt x="517207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711200" y="40767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28575"/>
                </a:moveTo>
                <a:lnTo>
                  <a:pt x="38100" y="23813"/>
                </a:lnTo>
                <a:cubicBezTo>
                  <a:pt x="38100" y="10656"/>
                  <a:pt x="63698" y="0"/>
                  <a:pt x="95250" y="0"/>
                </a:cubicBezTo>
                <a:cubicBezTo>
                  <a:pt x="126802" y="0"/>
                  <a:pt x="152400" y="10656"/>
                  <a:pt x="152400" y="23813"/>
                </a:cubicBezTo>
                <a:lnTo>
                  <a:pt x="152400" y="28575"/>
                </a:lnTo>
                <a:cubicBezTo>
                  <a:pt x="152400" y="37683"/>
                  <a:pt x="140107" y="45601"/>
                  <a:pt x="122039" y="49619"/>
                </a:cubicBezTo>
                <a:cubicBezTo>
                  <a:pt x="121325" y="48786"/>
                  <a:pt x="120581" y="47982"/>
                  <a:pt x="119836" y="47238"/>
                </a:cubicBezTo>
                <a:cubicBezTo>
                  <a:pt x="115223" y="42684"/>
                  <a:pt x="109270" y="39231"/>
                  <a:pt x="103049" y="36671"/>
                </a:cubicBezTo>
                <a:cubicBezTo>
                  <a:pt x="90577" y="31462"/>
                  <a:pt x="74325" y="28605"/>
                  <a:pt x="57150" y="28605"/>
                </a:cubicBezTo>
                <a:cubicBezTo>
                  <a:pt x="50631" y="28605"/>
                  <a:pt x="44261" y="29021"/>
                  <a:pt x="38160" y="29825"/>
                </a:cubicBezTo>
                <a:cubicBezTo>
                  <a:pt x="38100" y="29438"/>
                  <a:pt x="38100" y="29021"/>
                  <a:pt x="38100" y="28605"/>
                </a:cubicBezTo>
                <a:close/>
                <a:moveTo>
                  <a:pt x="128588" y="105073"/>
                </a:moveTo>
                <a:lnTo>
                  <a:pt x="128588" y="91321"/>
                </a:lnTo>
                <a:cubicBezTo>
                  <a:pt x="133082" y="90160"/>
                  <a:pt x="137309" y="88791"/>
                  <a:pt x="141149" y="87184"/>
                </a:cubicBezTo>
                <a:cubicBezTo>
                  <a:pt x="145078" y="85546"/>
                  <a:pt x="148917" y="83552"/>
                  <a:pt x="152400" y="81141"/>
                </a:cubicBezTo>
                <a:lnTo>
                  <a:pt x="152400" y="85725"/>
                </a:lnTo>
                <a:cubicBezTo>
                  <a:pt x="152400" y="93702"/>
                  <a:pt x="143024" y="100757"/>
                  <a:pt x="128588" y="105073"/>
                </a:cubicBezTo>
                <a:close/>
                <a:moveTo>
                  <a:pt x="128588" y="76498"/>
                </a:moveTo>
                <a:lnTo>
                  <a:pt x="128588" y="66675"/>
                </a:lnTo>
                <a:cubicBezTo>
                  <a:pt x="128588" y="65336"/>
                  <a:pt x="128468" y="64056"/>
                  <a:pt x="128290" y="62805"/>
                </a:cubicBezTo>
                <a:cubicBezTo>
                  <a:pt x="132904" y="61645"/>
                  <a:pt x="137220" y="60246"/>
                  <a:pt x="141149" y="58579"/>
                </a:cubicBezTo>
                <a:cubicBezTo>
                  <a:pt x="145078" y="56912"/>
                  <a:pt x="148917" y="54947"/>
                  <a:pt x="152400" y="52536"/>
                </a:cubicBezTo>
                <a:lnTo>
                  <a:pt x="152400" y="57120"/>
                </a:lnTo>
                <a:cubicBezTo>
                  <a:pt x="152400" y="65097"/>
                  <a:pt x="143024" y="72152"/>
                  <a:pt x="128588" y="76468"/>
                </a:cubicBezTo>
                <a:close/>
                <a:moveTo>
                  <a:pt x="0" y="71438"/>
                </a:moveTo>
                <a:lnTo>
                  <a:pt x="0" y="66675"/>
                </a:lnTo>
                <a:cubicBezTo>
                  <a:pt x="0" y="53519"/>
                  <a:pt x="25598" y="42863"/>
                  <a:pt x="57150" y="42863"/>
                </a:cubicBezTo>
                <a:cubicBezTo>
                  <a:pt x="88702" y="42863"/>
                  <a:pt x="114300" y="53519"/>
                  <a:pt x="114300" y="66675"/>
                </a:cubicBezTo>
                <a:lnTo>
                  <a:pt x="114300" y="71438"/>
                </a:lnTo>
                <a:cubicBezTo>
                  <a:pt x="114300" y="84594"/>
                  <a:pt x="88702" y="95250"/>
                  <a:pt x="57150" y="95250"/>
                </a:cubicBezTo>
                <a:cubicBezTo>
                  <a:pt x="25598" y="95250"/>
                  <a:pt x="0" y="84594"/>
                  <a:pt x="0" y="71438"/>
                </a:cubicBezTo>
                <a:close/>
                <a:moveTo>
                  <a:pt x="114300" y="100013"/>
                </a:moveTo>
                <a:cubicBezTo>
                  <a:pt x="114300" y="113169"/>
                  <a:pt x="88702" y="123825"/>
                  <a:pt x="57150" y="123825"/>
                </a:cubicBezTo>
                <a:cubicBezTo>
                  <a:pt x="25598" y="123825"/>
                  <a:pt x="0" y="113169"/>
                  <a:pt x="0" y="100013"/>
                </a:cubicBezTo>
                <a:lnTo>
                  <a:pt x="0" y="95429"/>
                </a:lnTo>
                <a:cubicBezTo>
                  <a:pt x="3453" y="97840"/>
                  <a:pt x="7293" y="99804"/>
                  <a:pt x="11251" y="101471"/>
                </a:cubicBezTo>
                <a:cubicBezTo>
                  <a:pt x="23723" y="106680"/>
                  <a:pt x="39975" y="109538"/>
                  <a:pt x="57150" y="109538"/>
                </a:cubicBezTo>
                <a:cubicBezTo>
                  <a:pt x="74325" y="109538"/>
                  <a:pt x="90577" y="106650"/>
                  <a:pt x="103049" y="101471"/>
                </a:cubicBezTo>
                <a:cubicBezTo>
                  <a:pt x="106978" y="99834"/>
                  <a:pt x="110817" y="97840"/>
                  <a:pt x="114300" y="95429"/>
                </a:cubicBezTo>
                <a:lnTo>
                  <a:pt x="114300" y="100013"/>
                </a:lnTo>
                <a:close/>
                <a:moveTo>
                  <a:pt x="114300" y="124004"/>
                </a:moveTo>
                <a:lnTo>
                  <a:pt x="114300" y="128588"/>
                </a:lnTo>
                <a:cubicBezTo>
                  <a:pt x="114300" y="141744"/>
                  <a:pt x="88702" y="152400"/>
                  <a:pt x="57150" y="152400"/>
                </a:cubicBezTo>
                <a:cubicBezTo>
                  <a:pt x="25598" y="152400"/>
                  <a:pt x="0" y="141744"/>
                  <a:pt x="0" y="128588"/>
                </a:cubicBezTo>
                <a:lnTo>
                  <a:pt x="0" y="124004"/>
                </a:lnTo>
                <a:cubicBezTo>
                  <a:pt x="3453" y="126415"/>
                  <a:pt x="7293" y="128379"/>
                  <a:pt x="11251" y="130046"/>
                </a:cubicBezTo>
                <a:cubicBezTo>
                  <a:pt x="23723" y="135255"/>
                  <a:pt x="39975" y="138113"/>
                  <a:pt x="57150" y="138113"/>
                </a:cubicBezTo>
                <a:cubicBezTo>
                  <a:pt x="74325" y="138113"/>
                  <a:pt x="90577" y="135225"/>
                  <a:pt x="103049" y="130046"/>
                </a:cubicBezTo>
                <a:cubicBezTo>
                  <a:pt x="106978" y="128409"/>
                  <a:pt x="110817" y="126415"/>
                  <a:pt x="114300" y="12400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996950" y="4038600"/>
            <a:ext cx="809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Token消耗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73402" y="4019550"/>
            <a:ext cx="1123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15% → 60%+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7850" y="4514850"/>
            <a:ext cx="5248275" cy="495300"/>
          </a:xfrm>
          <a:custGeom>
            <a:avLst/>
            <a:gdLst/>
            <a:ahLst/>
            <a:cxnLst/>
            <a:rect l="l" t="t" r="r" b="b"/>
            <a:pathLst>
              <a:path w="5248275" h="495300">
                <a:moveTo>
                  <a:pt x="76202" y="0"/>
                </a:moveTo>
                <a:lnTo>
                  <a:pt x="5172073" y="0"/>
                </a:lnTo>
                <a:cubicBezTo>
                  <a:pt x="5214158" y="0"/>
                  <a:pt x="5248275" y="34117"/>
                  <a:pt x="5248275" y="76202"/>
                </a:cubicBezTo>
                <a:lnTo>
                  <a:pt x="5248275" y="419098"/>
                </a:lnTo>
                <a:cubicBezTo>
                  <a:pt x="5248275" y="461183"/>
                  <a:pt x="5214158" y="495300"/>
                  <a:pt x="517207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730250" y="46863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19050" y="0"/>
                </a:moveTo>
                <a:cubicBezTo>
                  <a:pt x="8543" y="0"/>
                  <a:pt x="0" y="8543"/>
                  <a:pt x="0" y="19050"/>
                </a:cubicBezTo>
                <a:lnTo>
                  <a:pt x="0" y="133350"/>
                </a:lnTo>
                <a:cubicBezTo>
                  <a:pt x="0" y="143857"/>
                  <a:pt x="8543" y="152400"/>
                  <a:pt x="19050" y="152400"/>
                </a:cubicBezTo>
                <a:lnTo>
                  <a:pt x="95250" y="152400"/>
                </a:lnTo>
                <a:cubicBezTo>
                  <a:pt x="105757" y="152400"/>
                  <a:pt x="114300" y="143857"/>
                  <a:pt x="114300" y="133350"/>
                </a:cubicBezTo>
                <a:lnTo>
                  <a:pt x="114300" y="19050"/>
                </a:lnTo>
                <a:cubicBezTo>
                  <a:pt x="114300" y="8543"/>
                  <a:pt x="105757" y="0"/>
                  <a:pt x="95250" y="0"/>
                </a:cubicBezTo>
                <a:lnTo>
                  <a:pt x="19050" y="0"/>
                </a:lnTo>
                <a:close/>
                <a:moveTo>
                  <a:pt x="52388" y="104775"/>
                </a:moveTo>
                <a:lnTo>
                  <a:pt x="61912" y="104775"/>
                </a:lnTo>
                <a:cubicBezTo>
                  <a:pt x="67181" y="104775"/>
                  <a:pt x="71438" y="109031"/>
                  <a:pt x="71438" y="114300"/>
                </a:cubicBezTo>
                <a:lnTo>
                  <a:pt x="71438" y="138113"/>
                </a:lnTo>
                <a:lnTo>
                  <a:pt x="42863" y="138113"/>
                </a:lnTo>
                <a:lnTo>
                  <a:pt x="42863" y="114300"/>
                </a:lnTo>
                <a:cubicBezTo>
                  <a:pt x="42863" y="109031"/>
                  <a:pt x="47119" y="104775"/>
                  <a:pt x="52388" y="104775"/>
                </a:cubicBezTo>
                <a:close/>
                <a:moveTo>
                  <a:pt x="28575" y="33338"/>
                </a:moveTo>
                <a:cubicBezTo>
                  <a:pt x="28575" y="30718"/>
                  <a:pt x="30718" y="28575"/>
                  <a:pt x="33338" y="28575"/>
                </a:cubicBezTo>
                <a:lnTo>
                  <a:pt x="42863" y="28575"/>
                </a:lnTo>
                <a:cubicBezTo>
                  <a:pt x="45482" y="28575"/>
                  <a:pt x="47625" y="30718"/>
                  <a:pt x="47625" y="33338"/>
                </a:cubicBezTo>
                <a:lnTo>
                  <a:pt x="47625" y="42863"/>
                </a:lnTo>
                <a:cubicBezTo>
                  <a:pt x="47625" y="45482"/>
                  <a:pt x="45482" y="47625"/>
                  <a:pt x="42863" y="47625"/>
                </a:cubicBezTo>
                <a:lnTo>
                  <a:pt x="33338" y="47625"/>
                </a:lnTo>
                <a:cubicBezTo>
                  <a:pt x="30718" y="47625"/>
                  <a:pt x="28575" y="45482"/>
                  <a:pt x="28575" y="42863"/>
                </a:cubicBezTo>
                <a:lnTo>
                  <a:pt x="28575" y="33338"/>
                </a:lnTo>
                <a:close/>
                <a:moveTo>
                  <a:pt x="71438" y="28575"/>
                </a:moveTo>
                <a:lnTo>
                  <a:pt x="80962" y="28575"/>
                </a:lnTo>
                <a:cubicBezTo>
                  <a:pt x="83582" y="28575"/>
                  <a:pt x="85725" y="30718"/>
                  <a:pt x="85725" y="33338"/>
                </a:cubicBezTo>
                <a:lnTo>
                  <a:pt x="85725" y="42863"/>
                </a:lnTo>
                <a:cubicBezTo>
                  <a:pt x="85725" y="45482"/>
                  <a:pt x="83582" y="47625"/>
                  <a:pt x="80962" y="47625"/>
                </a:cubicBezTo>
                <a:lnTo>
                  <a:pt x="71438" y="47625"/>
                </a:lnTo>
                <a:cubicBezTo>
                  <a:pt x="68818" y="47625"/>
                  <a:pt x="66675" y="45482"/>
                  <a:pt x="66675" y="42863"/>
                </a:cubicBezTo>
                <a:lnTo>
                  <a:pt x="66675" y="33338"/>
                </a:lnTo>
                <a:cubicBezTo>
                  <a:pt x="66675" y="30718"/>
                  <a:pt x="68818" y="28575"/>
                  <a:pt x="71438" y="28575"/>
                </a:cubicBezTo>
                <a:close/>
                <a:moveTo>
                  <a:pt x="28575" y="71438"/>
                </a:moveTo>
                <a:cubicBezTo>
                  <a:pt x="28575" y="68818"/>
                  <a:pt x="30718" y="66675"/>
                  <a:pt x="33338" y="66675"/>
                </a:cubicBezTo>
                <a:lnTo>
                  <a:pt x="42863" y="66675"/>
                </a:lnTo>
                <a:cubicBezTo>
                  <a:pt x="45482" y="66675"/>
                  <a:pt x="47625" y="68818"/>
                  <a:pt x="47625" y="71438"/>
                </a:cubicBezTo>
                <a:lnTo>
                  <a:pt x="47625" y="80962"/>
                </a:lnTo>
                <a:cubicBezTo>
                  <a:pt x="47625" y="83582"/>
                  <a:pt x="45482" y="85725"/>
                  <a:pt x="42863" y="85725"/>
                </a:cubicBezTo>
                <a:lnTo>
                  <a:pt x="33338" y="85725"/>
                </a:lnTo>
                <a:cubicBezTo>
                  <a:pt x="30718" y="85725"/>
                  <a:pt x="28575" y="83582"/>
                  <a:pt x="28575" y="80962"/>
                </a:cubicBezTo>
                <a:lnTo>
                  <a:pt x="28575" y="71438"/>
                </a:lnTo>
                <a:close/>
                <a:moveTo>
                  <a:pt x="71438" y="66675"/>
                </a:moveTo>
                <a:lnTo>
                  <a:pt x="80962" y="66675"/>
                </a:lnTo>
                <a:cubicBezTo>
                  <a:pt x="83582" y="66675"/>
                  <a:pt x="85725" y="68818"/>
                  <a:pt x="85725" y="71438"/>
                </a:cubicBezTo>
                <a:lnTo>
                  <a:pt x="85725" y="80962"/>
                </a:lnTo>
                <a:cubicBezTo>
                  <a:pt x="85725" y="83582"/>
                  <a:pt x="83582" y="85725"/>
                  <a:pt x="80962" y="85725"/>
                </a:cubicBezTo>
                <a:lnTo>
                  <a:pt x="71438" y="85725"/>
                </a:lnTo>
                <a:cubicBezTo>
                  <a:pt x="68818" y="85725"/>
                  <a:pt x="66675" y="83582"/>
                  <a:pt x="66675" y="80962"/>
                </a:cubicBezTo>
                <a:lnTo>
                  <a:pt x="66675" y="71438"/>
                </a:lnTo>
                <a:cubicBezTo>
                  <a:pt x="66675" y="68818"/>
                  <a:pt x="68818" y="66675"/>
                  <a:pt x="71438" y="66675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996950" y="46482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企业签约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363938" y="462915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85% Fortune 100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77850" y="5124450"/>
            <a:ext cx="5248275" cy="495300"/>
          </a:xfrm>
          <a:custGeom>
            <a:avLst/>
            <a:gdLst/>
            <a:ahLst/>
            <a:cxnLst/>
            <a:rect l="l" t="t" r="r" b="b"/>
            <a:pathLst>
              <a:path w="5248275" h="495300">
                <a:moveTo>
                  <a:pt x="76202" y="0"/>
                </a:moveTo>
                <a:lnTo>
                  <a:pt x="5172073" y="0"/>
                </a:lnTo>
                <a:cubicBezTo>
                  <a:pt x="5214158" y="0"/>
                  <a:pt x="5248275" y="34117"/>
                  <a:pt x="5248275" y="76202"/>
                </a:cubicBezTo>
                <a:lnTo>
                  <a:pt x="5248275" y="419098"/>
                </a:lnTo>
                <a:cubicBezTo>
                  <a:pt x="5248275" y="461183"/>
                  <a:pt x="5214158" y="495300"/>
                  <a:pt x="517207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711200" y="5295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996950" y="52578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资本验证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645396" y="5238750"/>
            <a:ext cx="2152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$100亿营收 / $1800亿估值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175375" y="2682877"/>
            <a:ext cx="5635625" cy="3787775"/>
          </a:xfrm>
          <a:custGeom>
            <a:avLst/>
            <a:gdLst/>
            <a:ahLst/>
            <a:cxnLst/>
            <a:rect l="l" t="t" r="r" b="b"/>
            <a:pathLst>
              <a:path w="5635625" h="3787775">
                <a:moveTo>
                  <a:pt x="114315" y="0"/>
                </a:moveTo>
                <a:lnTo>
                  <a:pt x="5521310" y="0"/>
                </a:lnTo>
                <a:cubicBezTo>
                  <a:pt x="5584444" y="0"/>
                  <a:pt x="5635625" y="51181"/>
                  <a:pt x="5635625" y="114315"/>
                </a:cubicBezTo>
                <a:lnTo>
                  <a:pt x="5635625" y="3673460"/>
                </a:lnTo>
                <a:cubicBezTo>
                  <a:pt x="5635625" y="3736594"/>
                  <a:pt x="5584444" y="3787775"/>
                  <a:pt x="5521310" y="3787775"/>
                </a:cubicBezTo>
                <a:lnTo>
                  <a:pt x="114315" y="3787775"/>
                </a:lnTo>
                <a:cubicBezTo>
                  <a:pt x="51181" y="3787775"/>
                  <a:pt x="0" y="3736594"/>
                  <a:pt x="0" y="3673460"/>
                </a:cubicBezTo>
                <a:lnTo>
                  <a:pt x="0" y="114315"/>
                </a:lnTo>
                <a:cubicBezTo>
                  <a:pt x="0" y="51223"/>
                  <a:pt x="51223" y="0"/>
                  <a:pt x="114315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6392863" y="29146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6607175" y="2876550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关键指标对比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369050" y="3295650"/>
            <a:ext cx="99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开发者采用率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312823" y="329565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92%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69050" y="3562350"/>
            <a:ext cx="5248275" cy="95250"/>
          </a:xfrm>
          <a:custGeom>
            <a:avLst/>
            <a:gdLst/>
            <a:ahLst/>
            <a:cxnLst/>
            <a:rect l="l" t="t" r="r" b="b"/>
            <a:pathLst>
              <a:path w="5248275" h="95250">
                <a:moveTo>
                  <a:pt x="47625" y="0"/>
                </a:moveTo>
                <a:lnTo>
                  <a:pt x="5200650" y="0"/>
                </a:lnTo>
                <a:cubicBezTo>
                  <a:pt x="5226935" y="0"/>
                  <a:pt x="5248275" y="21340"/>
                  <a:pt x="5248275" y="47625"/>
                </a:cubicBezTo>
                <a:lnTo>
                  <a:pt x="5248275" y="47625"/>
                </a:lnTo>
                <a:cubicBezTo>
                  <a:pt x="5248275" y="73910"/>
                  <a:pt x="5226935" y="95250"/>
                  <a:pt x="52006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6369050" y="3562350"/>
            <a:ext cx="4829175" cy="95250"/>
          </a:xfrm>
          <a:custGeom>
            <a:avLst/>
            <a:gdLst/>
            <a:ahLst/>
            <a:cxnLst/>
            <a:rect l="l" t="t" r="r" b="b"/>
            <a:pathLst>
              <a:path w="4829175" h="95250">
                <a:moveTo>
                  <a:pt x="47625" y="0"/>
                </a:moveTo>
                <a:lnTo>
                  <a:pt x="4781550" y="0"/>
                </a:lnTo>
                <a:cubicBezTo>
                  <a:pt x="4807835" y="0"/>
                  <a:pt x="4829175" y="21340"/>
                  <a:pt x="4829175" y="47625"/>
                </a:cubicBezTo>
                <a:lnTo>
                  <a:pt x="4829175" y="47625"/>
                </a:lnTo>
                <a:cubicBezTo>
                  <a:pt x="4829175" y="73910"/>
                  <a:pt x="4807835" y="95250"/>
                  <a:pt x="47815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369050" y="3771900"/>
            <a:ext cx="99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代码生成占比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339910" y="3771900"/>
            <a:ext cx="352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41%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69050" y="4038600"/>
            <a:ext cx="5248275" cy="95250"/>
          </a:xfrm>
          <a:custGeom>
            <a:avLst/>
            <a:gdLst/>
            <a:ahLst/>
            <a:cxnLst/>
            <a:rect l="l" t="t" r="r" b="b"/>
            <a:pathLst>
              <a:path w="5248275" h="95250">
                <a:moveTo>
                  <a:pt x="47625" y="0"/>
                </a:moveTo>
                <a:lnTo>
                  <a:pt x="5200650" y="0"/>
                </a:lnTo>
                <a:cubicBezTo>
                  <a:pt x="5226935" y="0"/>
                  <a:pt x="5248275" y="21340"/>
                  <a:pt x="5248275" y="47625"/>
                </a:cubicBezTo>
                <a:lnTo>
                  <a:pt x="5248275" y="47625"/>
                </a:lnTo>
                <a:cubicBezTo>
                  <a:pt x="5248275" y="73910"/>
                  <a:pt x="5226935" y="95250"/>
                  <a:pt x="52006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6369050" y="4038600"/>
            <a:ext cx="2152650" cy="95250"/>
          </a:xfrm>
          <a:custGeom>
            <a:avLst/>
            <a:gdLst/>
            <a:ahLst/>
            <a:cxnLst/>
            <a:rect l="l" t="t" r="r" b="b"/>
            <a:pathLst>
              <a:path w="2152650" h="95250">
                <a:moveTo>
                  <a:pt x="47625" y="0"/>
                </a:moveTo>
                <a:lnTo>
                  <a:pt x="2105025" y="0"/>
                </a:lnTo>
                <a:cubicBezTo>
                  <a:pt x="2131310" y="0"/>
                  <a:pt x="2152650" y="21340"/>
                  <a:pt x="2152650" y="47625"/>
                </a:cubicBezTo>
                <a:lnTo>
                  <a:pt x="2152650" y="47625"/>
                </a:lnTo>
                <a:cubicBezTo>
                  <a:pt x="2152650" y="73910"/>
                  <a:pt x="2131310" y="95250"/>
                  <a:pt x="21050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6369050" y="4248150"/>
            <a:ext cx="83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企业部署率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1319173" y="4248150"/>
            <a:ext cx="371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75%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69050" y="4514850"/>
            <a:ext cx="5248275" cy="95250"/>
          </a:xfrm>
          <a:custGeom>
            <a:avLst/>
            <a:gdLst/>
            <a:ahLst/>
            <a:cxnLst/>
            <a:rect l="l" t="t" r="r" b="b"/>
            <a:pathLst>
              <a:path w="5248275" h="95250">
                <a:moveTo>
                  <a:pt x="47625" y="0"/>
                </a:moveTo>
                <a:lnTo>
                  <a:pt x="5200650" y="0"/>
                </a:lnTo>
                <a:cubicBezTo>
                  <a:pt x="5226935" y="0"/>
                  <a:pt x="5248275" y="21340"/>
                  <a:pt x="5248275" y="47625"/>
                </a:cubicBezTo>
                <a:lnTo>
                  <a:pt x="5248275" y="47625"/>
                </a:lnTo>
                <a:cubicBezTo>
                  <a:pt x="5248275" y="73910"/>
                  <a:pt x="5226935" y="95250"/>
                  <a:pt x="52006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369050" y="4514850"/>
            <a:ext cx="3933825" cy="95250"/>
          </a:xfrm>
          <a:custGeom>
            <a:avLst/>
            <a:gdLst/>
            <a:ahLst/>
            <a:cxnLst/>
            <a:rect l="l" t="t" r="r" b="b"/>
            <a:pathLst>
              <a:path w="3933825" h="95250">
                <a:moveTo>
                  <a:pt x="47625" y="0"/>
                </a:moveTo>
                <a:lnTo>
                  <a:pt x="3886200" y="0"/>
                </a:lnTo>
                <a:cubicBezTo>
                  <a:pt x="3912485" y="0"/>
                  <a:pt x="3933825" y="21340"/>
                  <a:pt x="3933825" y="47625"/>
                </a:cubicBezTo>
                <a:lnTo>
                  <a:pt x="3933825" y="47625"/>
                </a:lnTo>
                <a:cubicBezTo>
                  <a:pt x="3933825" y="73910"/>
                  <a:pt x="3912485" y="95250"/>
                  <a:pt x="388620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6369050" y="4724400"/>
            <a:ext cx="128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Code渗透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1399838" y="4724400"/>
            <a:ext cx="295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4%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69050" y="4991100"/>
            <a:ext cx="5248275" cy="95250"/>
          </a:xfrm>
          <a:custGeom>
            <a:avLst/>
            <a:gdLst/>
            <a:ahLst/>
            <a:cxnLst/>
            <a:rect l="l" t="t" r="r" b="b"/>
            <a:pathLst>
              <a:path w="5248275" h="95250">
                <a:moveTo>
                  <a:pt x="47625" y="0"/>
                </a:moveTo>
                <a:lnTo>
                  <a:pt x="5200650" y="0"/>
                </a:lnTo>
                <a:cubicBezTo>
                  <a:pt x="5226935" y="0"/>
                  <a:pt x="5248275" y="21340"/>
                  <a:pt x="5248275" y="47625"/>
                </a:cubicBezTo>
                <a:lnTo>
                  <a:pt x="5248275" y="47625"/>
                </a:lnTo>
                <a:cubicBezTo>
                  <a:pt x="5248275" y="73910"/>
                  <a:pt x="5226935" y="95250"/>
                  <a:pt x="52006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6369050" y="4991100"/>
            <a:ext cx="209550" cy="95250"/>
          </a:xfrm>
          <a:custGeom>
            <a:avLst/>
            <a:gdLst/>
            <a:ahLst/>
            <a:cxnLst/>
            <a:rect l="l" t="t" r="r" b="b"/>
            <a:pathLst>
              <a:path w="209550" h="95250">
                <a:moveTo>
                  <a:pt x="47625" y="0"/>
                </a:moveTo>
                <a:lnTo>
                  <a:pt x="161925" y="0"/>
                </a:lnTo>
                <a:cubicBezTo>
                  <a:pt x="188210" y="0"/>
                  <a:pt x="209550" y="21340"/>
                  <a:pt x="209550" y="47625"/>
                </a:cubicBezTo>
                <a:lnTo>
                  <a:pt x="209550" y="47625"/>
                </a:lnTo>
                <a:cubicBezTo>
                  <a:pt x="209550" y="73910"/>
                  <a:pt x="188210" y="95250"/>
                  <a:pt x="1619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6372225" y="5241925"/>
            <a:ext cx="5235575" cy="463550"/>
          </a:xfrm>
          <a:custGeom>
            <a:avLst/>
            <a:gdLst/>
            <a:ahLst/>
            <a:cxnLst/>
            <a:rect l="l" t="t" r="r" b="b"/>
            <a:pathLst>
              <a:path w="5235575" h="463550">
                <a:moveTo>
                  <a:pt x="76198" y="0"/>
                </a:moveTo>
                <a:lnTo>
                  <a:pt x="5159377" y="0"/>
                </a:lnTo>
                <a:cubicBezTo>
                  <a:pt x="5201460" y="0"/>
                  <a:pt x="5235575" y="34115"/>
                  <a:pt x="5235575" y="76198"/>
                </a:cubicBezTo>
                <a:lnTo>
                  <a:pt x="5235575" y="387352"/>
                </a:lnTo>
                <a:cubicBezTo>
                  <a:pt x="5235575" y="429435"/>
                  <a:pt x="5201460" y="463550"/>
                  <a:pt x="5159377" y="463550"/>
                </a:cubicBezTo>
                <a:lnTo>
                  <a:pt x="76198" y="463550"/>
                </a:lnTo>
                <a:cubicBezTo>
                  <a:pt x="34143" y="463550"/>
                  <a:pt x="0" y="429407"/>
                  <a:pt x="0" y="38735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6508750" y="53911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42952" y="0"/>
                </a:moveTo>
                <a:lnTo>
                  <a:pt x="109627" y="0"/>
                </a:lnTo>
                <a:cubicBezTo>
                  <a:pt x="117515" y="0"/>
                  <a:pt x="123944" y="6489"/>
                  <a:pt x="123646" y="14347"/>
                </a:cubicBezTo>
                <a:cubicBezTo>
                  <a:pt x="123587" y="15925"/>
                  <a:pt x="123527" y="17502"/>
                  <a:pt x="123438" y="19050"/>
                </a:cubicBezTo>
                <a:lnTo>
                  <a:pt x="138202" y="19050"/>
                </a:lnTo>
                <a:cubicBezTo>
                  <a:pt x="145971" y="19050"/>
                  <a:pt x="152817" y="25479"/>
                  <a:pt x="152221" y="33873"/>
                </a:cubicBezTo>
                <a:cubicBezTo>
                  <a:pt x="149989" y="64740"/>
                  <a:pt x="134213" y="81707"/>
                  <a:pt x="117098" y="90577"/>
                </a:cubicBezTo>
                <a:cubicBezTo>
                  <a:pt x="112395" y="93018"/>
                  <a:pt x="107603" y="94833"/>
                  <a:pt x="103049" y="96173"/>
                </a:cubicBezTo>
                <a:cubicBezTo>
                  <a:pt x="97036" y="104686"/>
                  <a:pt x="90785" y="109180"/>
                  <a:pt x="85814" y="111591"/>
                </a:cubicBezTo>
                <a:lnTo>
                  <a:pt x="85814" y="133350"/>
                </a:lnTo>
                <a:lnTo>
                  <a:pt x="104864" y="133350"/>
                </a:lnTo>
                <a:cubicBezTo>
                  <a:pt x="110133" y="133350"/>
                  <a:pt x="114389" y="137606"/>
                  <a:pt x="114389" y="142875"/>
                </a:cubicBezTo>
                <a:cubicBezTo>
                  <a:pt x="114389" y="148144"/>
                  <a:pt x="110133" y="152400"/>
                  <a:pt x="104864" y="152400"/>
                </a:cubicBezTo>
                <a:lnTo>
                  <a:pt x="47714" y="152400"/>
                </a:lnTo>
                <a:cubicBezTo>
                  <a:pt x="42446" y="152400"/>
                  <a:pt x="38189" y="148144"/>
                  <a:pt x="38189" y="142875"/>
                </a:cubicBezTo>
                <a:cubicBezTo>
                  <a:pt x="38189" y="137606"/>
                  <a:pt x="42446" y="133350"/>
                  <a:pt x="47714" y="133350"/>
                </a:cubicBezTo>
                <a:lnTo>
                  <a:pt x="66764" y="133350"/>
                </a:lnTo>
                <a:lnTo>
                  <a:pt x="66764" y="111591"/>
                </a:lnTo>
                <a:cubicBezTo>
                  <a:pt x="62002" y="109299"/>
                  <a:pt x="56078" y="105043"/>
                  <a:pt x="50304" y="97215"/>
                </a:cubicBezTo>
                <a:cubicBezTo>
                  <a:pt x="44827" y="95786"/>
                  <a:pt x="38874" y="93613"/>
                  <a:pt x="33070" y="90339"/>
                </a:cubicBezTo>
                <a:cubicBezTo>
                  <a:pt x="16966" y="81320"/>
                  <a:pt x="2441" y="64324"/>
                  <a:pt x="357" y="33814"/>
                </a:cubicBezTo>
                <a:cubicBezTo>
                  <a:pt x="-208" y="25450"/>
                  <a:pt x="6608" y="19020"/>
                  <a:pt x="14377" y="19020"/>
                </a:cubicBezTo>
                <a:lnTo>
                  <a:pt x="29141" y="19020"/>
                </a:lnTo>
                <a:cubicBezTo>
                  <a:pt x="29051" y="17472"/>
                  <a:pt x="28992" y="15925"/>
                  <a:pt x="28932" y="14317"/>
                </a:cubicBezTo>
                <a:cubicBezTo>
                  <a:pt x="28635" y="6429"/>
                  <a:pt x="35064" y="-30"/>
                  <a:pt x="42952" y="-30"/>
                </a:cubicBezTo>
                <a:close/>
                <a:moveTo>
                  <a:pt x="30212" y="33338"/>
                </a:moveTo>
                <a:lnTo>
                  <a:pt x="14615" y="33338"/>
                </a:lnTo>
                <a:cubicBezTo>
                  <a:pt x="16460" y="58549"/>
                  <a:pt x="28039" y="71170"/>
                  <a:pt x="39975" y="77867"/>
                </a:cubicBezTo>
                <a:cubicBezTo>
                  <a:pt x="35689" y="66764"/>
                  <a:pt x="32147" y="52268"/>
                  <a:pt x="30212" y="33338"/>
                </a:cubicBezTo>
                <a:close/>
                <a:moveTo>
                  <a:pt x="113109" y="76438"/>
                </a:moveTo>
                <a:cubicBezTo>
                  <a:pt x="125164" y="69354"/>
                  <a:pt x="136059" y="56763"/>
                  <a:pt x="137904" y="33338"/>
                </a:cubicBezTo>
                <a:lnTo>
                  <a:pt x="122337" y="33338"/>
                </a:lnTo>
                <a:cubicBezTo>
                  <a:pt x="120491" y="51465"/>
                  <a:pt x="117157" y="65544"/>
                  <a:pt x="113109" y="7643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/>
          <p:nvPr/>
        </p:nvSpPr>
        <p:spPr>
          <a:xfrm>
            <a:off x="6737350" y="5359401"/>
            <a:ext cx="482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2026年现状：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Code成为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事实标准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主流Code Agent工具全景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 &amp; DOMESTIC TOOLS LANDSCAPE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22375"/>
            <a:ext cx="5635625" cy="3940175"/>
          </a:xfrm>
          <a:custGeom>
            <a:avLst/>
            <a:gdLst/>
            <a:ahLst/>
            <a:cxnLst/>
            <a:rect l="l" t="t" r="r" b="b"/>
            <a:pathLst>
              <a:path w="5635625" h="3940175">
                <a:moveTo>
                  <a:pt x="114304" y="0"/>
                </a:moveTo>
                <a:lnTo>
                  <a:pt x="5521321" y="0"/>
                </a:lnTo>
                <a:cubicBezTo>
                  <a:pt x="5584449" y="0"/>
                  <a:pt x="5635625" y="51176"/>
                  <a:pt x="5635625" y="114304"/>
                </a:cubicBezTo>
                <a:lnTo>
                  <a:pt x="5635625" y="3825871"/>
                </a:lnTo>
                <a:cubicBezTo>
                  <a:pt x="5635625" y="3888999"/>
                  <a:pt x="5584449" y="3940175"/>
                  <a:pt x="5521321" y="3940175"/>
                </a:cubicBezTo>
                <a:lnTo>
                  <a:pt x="114304" y="3940175"/>
                </a:lnTo>
                <a:cubicBezTo>
                  <a:pt x="51176" y="3940175"/>
                  <a:pt x="0" y="3888999"/>
                  <a:pt x="0" y="382587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63563" y="1416051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0932" y="104180"/>
                </a:moveTo>
                <a:lnTo>
                  <a:pt x="59903" y="104180"/>
                </a:lnTo>
                <a:cubicBezTo>
                  <a:pt x="60982" y="128178"/>
                  <a:pt x="66303" y="150279"/>
                  <a:pt x="73856" y="166464"/>
                </a:cubicBezTo>
                <a:cubicBezTo>
                  <a:pt x="78098" y="175580"/>
                  <a:pt x="82674" y="182017"/>
                  <a:pt x="86916" y="185961"/>
                </a:cubicBezTo>
                <a:cubicBezTo>
                  <a:pt x="91083" y="189867"/>
                  <a:pt x="93948" y="190500"/>
                  <a:pt x="95436" y="190500"/>
                </a:cubicBezTo>
                <a:cubicBezTo>
                  <a:pt x="96924" y="190500"/>
                  <a:pt x="99789" y="189867"/>
                  <a:pt x="103956" y="185961"/>
                </a:cubicBezTo>
                <a:cubicBezTo>
                  <a:pt x="108198" y="182017"/>
                  <a:pt x="112775" y="175543"/>
                  <a:pt x="117016" y="166464"/>
                </a:cubicBezTo>
                <a:cubicBezTo>
                  <a:pt x="124569" y="150279"/>
                  <a:pt x="129890" y="128178"/>
                  <a:pt x="130969" y="104180"/>
                </a:cubicBezTo>
                <a:close/>
                <a:moveTo>
                  <a:pt x="59866" y="86320"/>
                </a:moveTo>
                <a:lnTo>
                  <a:pt x="130894" y="86320"/>
                </a:lnTo>
                <a:cubicBezTo>
                  <a:pt x="129853" y="62322"/>
                  <a:pt x="124532" y="40221"/>
                  <a:pt x="116979" y="24036"/>
                </a:cubicBezTo>
                <a:cubicBezTo>
                  <a:pt x="112737" y="14957"/>
                  <a:pt x="108161" y="8483"/>
                  <a:pt x="103919" y="4539"/>
                </a:cubicBezTo>
                <a:cubicBezTo>
                  <a:pt x="99752" y="633"/>
                  <a:pt x="96887" y="0"/>
                  <a:pt x="95399" y="0"/>
                </a:cubicBezTo>
                <a:cubicBezTo>
                  <a:pt x="93911" y="0"/>
                  <a:pt x="91046" y="633"/>
                  <a:pt x="86878" y="4539"/>
                </a:cubicBezTo>
                <a:cubicBezTo>
                  <a:pt x="82637" y="8483"/>
                  <a:pt x="78060" y="14957"/>
                  <a:pt x="73819" y="24036"/>
                </a:cubicBezTo>
                <a:cubicBezTo>
                  <a:pt x="66266" y="40221"/>
                  <a:pt x="60945" y="62322"/>
                  <a:pt x="59866" y="86320"/>
                </a:cubicBezTo>
                <a:close/>
                <a:moveTo>
                  <a:pt x="42007" y="86320"/>
                </a:moveTo>
                <a:cubicBezTo>
                  <a:pt x="43309" y="54471"/>
                  <a:pt x="51532" y="24892"/>
                  <a:pt x="63550" y="5469"/>
                </a:cubicBezTo>
                <a:cubicBezTo>
                  <a:pt x="29282" y="17599"/>
                  <a:pt x="4056" y="48816"/>
                  <a:pt x="558" y="86320"/>
                </a:cubicBezTo>
                <a:lnTo>
                  <a:pt x="42007" y="86320"/>
                </a:lnTo>
                <a:close/>
                <a:moveTo>
                  <a:pt x="558" y="104180"/>
                </a:moveTo>
                <a:cubicBezTo>
                  <a:pt x="4056" y="141684"/>
                  <a:pt x="29282" y="172901"/>
                  <a:pt x="63550" y="185031"/>
                </a:cubicBezTo>
                <a:cubicBezTo>
                  <a:pt x="51532" y="165608"/>
                  <a:pt x="43309" y="136029"/>
                  <a:pt x="42007" y="104180"/>
                </a:cubicBezTo>
                <a:lnTo>
                  <a:pt x="558" y="104180"/>
                </a:lnTo>
                <a:close/>
                <a:moveTo>
                  <a:pt x="148791" y="104180"/>
                </a:moveTo>
                <a:cubicBezTo>
                  <a:pt x="147489" y="136029"/>
                  <a:pt x="139266" y="165608"/>
                  <a:pt x="127248" y="185031"/>
                </a:cubicBezTo>
                <a:cubicBezTo>
                  <a:pt x="161516" y="172864"/>
                  <a:pt x="186742" y="141684"/>
                  <a:pt x="190240" y="104180"/>
                </a:cubicBezTo>
                <a:lnTo>
                  <a:pt x="148791" y="104180"/>
                </a:lnTo>
                <a:close/>
                <a:moveTo>
                  <a:pt x="190240" y="86320"/>
                </a:moveTo>
                <a:cubicBezTo>
                  <a:pt x="186742" y="48816"/>
                  <a:pt x="161516" y="17599"/>
                  <a:pt x="127248" y="5469"/>
                </a:cubicBezTo>
                <a:cubicBezTo>
                  <a:pt x="139266" y="24892"/>
                  <a:pt x="147489" y="54471"/>
                  <a:pt x="148791" y="86320"/>
                </a:cubicBezTo>
                <a:lnTo>
                  <a:pt x="190240" y="8632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77875" y="1377951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国际主流工具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8800" y="1758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558800" y="1758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92150" y="1873251"/>
            <a:ext cx="981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2850" y="1873251"/>
            <a:ext cx="723900" cy="190500"/>
          </a:xfrm>
          <a:custGeom>
            <a:avLst/>
            <a:gdLst/>
            <a:ahLst/>
            <a:cxnLst/>
            <a:rect l="l" t="t" r="r" b="b"/>
            <a:pathLst>
              <a:path w="723900" h="190500">
                <a:moveTo>
                  <a:pt x="38100" y="0"/>
                </a:moveTo>
                <a:lnTo>
                  <a:pt x="685800" y="0"/>
                </a:lnTo>
                <a:cubicBezTo>
                  <a:pt x="706828" y="0"/>
                  <a:pt x="723900" y="17072"/>
                  <a:pt x="723900" y="38100"/>
                </a:cubicBezTo>
                <a:lnTo>
                  <a:pt x="723900" y="152400"/>
                </a:lnTo>
                <a:cubicBezTo>
                  <a:pt x="723900" y="173428"/>
                  <a:pt x="706828" y="190500"/>
                  <a:pt x="6858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022850" y="1873251"/>
            <a:ext cx="7810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企业级首选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2150" y="2139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Anthropic | 复杂重构、大型项目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58800" y="2520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58800" y="2520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92150" y="2635251"/>
            <a:ext cx="828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OpenCode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2850" y="2635251"/>
            <a:ext cx="723900" cy="190500"/>
          </a:xfrm>
          <a:custGeom>
            <a:avLst/>
            <a:gdLst/>
            <a:ahLst/>
            <a:cxnLst/>
            <a:rect l="l" t="t" r="r" b="b"/>
            <a:pathLst>
              <a:path w="723900" h="190500">
                <a:moveTo>
                  <a:pt x="38100" y="0"/>
                </a:moveTo>
                <a:lnTo>
                  <a:pt x="685800" y="0"/>
                </a:lnTo>
                <a:cubicBezTo>
                  <a:pt x="706828" y="0"/>
                  <a:pt x="723900" y="17072"/>
                  <a:pt x="723900" y="38100"/>
                </a:cubicBezTo>
                <a:lnTo>
                  <a:pt x="723900" y="152400"/>
                </a:lnTo>
                <a:cubicBezTo>
                  <a:pt x="723900" y="173428"/>
                  <a:pt x="706828" y="190500"/>
                  <a:pt x="6858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022850" y="2635251"/>
            <a:ext cx="7810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开源可部署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2150" y="2901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社区/开源 | 私有化部署、定制SKILL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58800" y="3282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558800" y="3282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92150" y="3397251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251450" y="3397251"/>
            <a:ext cx="495300" cy="190500"/>
          </a:xfrm>
          <a:custGeom>
            <a:avLst/>
            <a:gdLst/>
            <a:ahLst/>
            <a:cxnLst/>
            <a:rect l="l" t="t" r="r" b="b"/>
            <a:pathLst>
              <a:path w="495300" h="190500">
                <a:moveTo>
                  <a:pt x="38100" y="0"/>
                </a:moveTo>
                <a:lnTo>
                  <a:pt x="457200" y="0"/>
                </a:lnTo>
                <a:cubicBezTo>
                  <a:pt x="478228" y="0"/>
                  <a:pt x="495300" y="17072"/>
                  <a:pt x="495300" y="38100"/>
                </a:cubicBezTo>
                <a:lnTo>
                  <a:pt x="495300" y="152400"/>
                </a:lnTo>
                <a:cubicBezTo>
                  <a:pt x="495300" y="173428"/>
                  <a:pt x="478228" y="190500"/>
                  <a:pt x="4572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251450" y="3397251"/>
            <a:ext cx="5524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轻量级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2150" y="3663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OpenAI | 快速脚本、原型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8800" y="4044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58800" y="4044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92150" y="4159251"/>
            <a:ext cx="1381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GitHub Copilot CLI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2850" y="4159251"/>
            <a:ext cx="723900" cy="190500"/>
          </a:xfrm>
          <a:custGeom>
            <a:avLst/>
            <a:gdLst/>
            <a:ahLst/>
            <a:cxnLst/>
            <a:rect l="l" t="t" r="r" b="b"/>
            <a:pathLst>
              <a:path w="723900" h="190500">
                <a:moveTo>
                  <a:pt x="38100" y="0"/>
                </a:moveTo>
                <a:lnTo>
                  <a:pt x="685800" y="0"/>
                </a:lnTo>
                <a:cubicBezTo>
                  <a:pt x="706828" y="0"/>
                  <a:pt x="723900" y="17072"/>
                  <a:pt x="723900" y="38100"/>
                </a:cubicBezTo>
                <a:lnTo>
                  <a:pt x="723900" y="152400"/>
                </a:lnTo>
                <a:cubicBezTo>
                  <a:pt x="723900" y="173428"/>
                  <a:pt x="706828" y="190500"/>
                  <a:pt x="6858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5022850" y="4159251"/>
            <a:ext cx="7810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命令行增强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2150" y="4425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GitHub | Git工作流集成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175375" y="1222375"/>
            <a:ext cx="5635625" cy="3940175"/>
          </a:xfrm>
          <a:custGeom>
            <a:avLst/>
            <a:gdLst/>
            <a:ahLst/>
            <a:cxnLst/>
            <a:rect l="l" t="t" r="r" b="b"/>
            <a:pathLst>
              <a:path w="5635625" h="3940175">
                <a:moveTo>
                  <a:pt x="114304" y="0"/>
                </a:moveTo>
                <a:lnTo>
                  <a:pt x="5521321" y="0"/>
                </a:lnTo>
                <a:cubicBezTo>
                  <a:pt x="5584449" y="0"/>
                  <a:pt x="5635625" y="51176"/>
                  <a:pt x="5635625" y="114304"/>
                </a:cubicBezTo>
                <a:lnTo>
                  <a:pt x="5635625" y="3825871"/>
                </a:lnTo>
                <a:cubicBezTo>
                  <a:pt x="5635625" y="3888999"/>
                  <a:pt x="5584449" y="3940175"/>
                  <a:pt x="5521321" y="3940175"/>
                </a:cubicBezTo>
                <a:lnTo>
                  <a:pt x="114304" y="3940175"/>
                </a:lnTo>
                <a:cubicBezTo>
                  <a:pt x="51176" y="3940175"/>
                  <a:pt x="0" y="3888999"/>
                  <a:pt x="0" y="382587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6366669" y="1416051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23812" y="5321"/>
                  <a:pt x="18492" y="0"/>
                  <a:pt x="11906" y="0"/>
                </a:cubicBezTo>
                <a:cubicBezTo>
                  <a:pt x="5321" y="0"/>
                  <a:pt x="0" y="5321"/>
                  <a:pt x="0" y="11906"/>
                </a:cubicBezTo>
                <a:lnTo>
                  <a:pt x="0" y="178594"/>
                </a:lnTo>
                <a:cubicBezTo>
                  <a:pt x="0" y="185179"/>
                  <a:pt x="5321" y="190500"/>
                  <a:pt x="11906" y="190500"/>
                </a:cubicBezTo>
                <a:cubicBezTo>
                  <a:pt x="18492" y="190500"/>
                  <a:pt x="23812" y="185179"/>
                  <a:pt x="23812" y="178594"/>
                </a:cubicBezTo>
                <a:lnTo>
                  <a:pt x="23812" y="133350"/>
                </a:lnTo>
                <a:lnTo>
                  <a:pt x="47141" y="126355"/>
                </a:lnTo>
                <a:cubicBezTo>
                  <a:pt x="62731" y="121667"/>
                  <a:pt x="79549" y="123118"/>
                  <a:pt x="94097" y="130411"/>
                </a:cubicBezTo>
                <a:cubicBezTo>
                  <a:pt x="109984" y="138373"/>
                  <a:pt x="128513" y="139340"/>
                  <a:pt x="145145" y="133090"/>
                </a:cubicBezTo>
                <a:lnTo>
                  <a:pt x="158948" y="127918"/>
                </a:lnTo>
                <a:cubicBezTo>
                  <a:pt x="163599" y="126169"/>
                  <a:pt x="166688" y="121741"/>
                  <a:pt x="166688" y="116756"/>
                </a:cubicBezTo>
                <a:lnTo>
                  <a:pt x="166688" y="24594"/>
                </a:lnTo>
                <a:cubicBezTo>
                  <a:pt x="166688" y="16036"/>
                  <a:pt x="157683" y="10455"/>
                  <a:pt x="150019" y="14287"/>
                </a:cubicBezTo>
                <a:lnTo>
                  <a:pt x="145628" y="16483"/>
                </a:lnTo>
                <a:cubicBezTo>
                  <a:pt x="128922" y="24854"/>
                  <a:pt x="109240" y="24854"/>
                  <a:pt x="92497" y="16483"/>
                </a:cubicBezTo>
                <a:cubicBezTo>
                  <a:pt x="78953" y="9711"/>
                  <a:pt x="63364" y="8372"/>
                  <a:pt x="48890" y="12725"/>
                </a:cubicBezTo>
                <a:lnTo>
                  <a:pt x="23812" y="20241"/>
                </a:lnTo>
                <a:lnTo>
                  <a:pt x="23812" y="1190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569075" y="1377951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国内主流工具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0000" y="1758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350000" y="1758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483350" y="1873251"/>
            <a:ext cx="1047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CodeFuse CLI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1042650" y="1873251"/>
            <a:ext cx="495300" cy="190500"/>
          </a:xfrm>
          <a:custGeom>
            <a:avLst/>
            <a:gdLst/>
            <a:ahLst/>
            <a:cxnLst/>
            <a:rect l="l" t="t" r="r" b="b"/>
            <a:pathLst>
              <a:path w="495300" h="190500">
                <a:moveTo>
                  <a:pt x="38100" y="0"/>
                </a:moveTo>
                <a:lnTo>
                  <a:pt x="457200" y="0"/>
                </a:lnTo>
                <a:cubicBezTo>
                  <a:pt x="478228" y="0"/>
                  <a:pt x="495300" y="17072"/>
                  <a:pt x="495300" y="38100"/>
                </a:cubicBezTo>
                <a:lnTo>
                  <a:pt x="495300" y="152400"/>
                </a:lnTo>
                <a:cubicBezTo>
                  <a:pt x="495300" y="173428"/>
                  <a:pt x="478228" y="190500"/>
                  <a:pt x="4572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11042650" y="1873251"/>
            <a:ext cx="5524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金融级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83350" y="2139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蚂蚁集团 | 金融场景适配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50000" y="2520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6350000" y="2520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483350" y="2635251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文心快码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928350" y="2635251"/>
            <a:ext cx="609600" cy="190500"/>
          </a:xfrm>
          <a:custGeom>
            <a:avLst/>
            <a:gdLst/>
            <a:ahLst/>
            <a:cxnLst/>
            <a:rect l="l" t="t" r="r" b="b"/>
            <a:pathLst>
              <a:path w="609600" h="190500">
                <a:moveTo>
                  <a:pt x="38100" y="0"/>
                </a:moveTo>
                <a:lnTo>
                  <a:pt x="571500" y="0"/>
                </a:lnTo>
                <a:cubicBezTo>
                  <a:pt x="592528" y="0"/>
                  <a:pt x="609600" y="17072"/>
                  <a:pt x="609600" y="38100"/>
                </a:cubicBezTo>
                <a:lnTo>
                  <a:pt x="609600" y="152400"/>
                </a:lnTo>
                <a:cubicBezTo>
                  <a:pt x="609600" y="173428"/>
                  <a:pt x="592528" y="190500"/>
                  <a:pt x="5715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10928350" y="2635251"/>
            <a:ext cx="6667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全栈智能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483350" y="2901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百度 | 中文理解强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0000" y="3282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350000" y="3282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6483350" y="3397251"/>
            <a:ext cx="1095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CodeGeeX CLI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1042650" y="3397251"/>
            <a:ext cx="495300" cy="190500"/>
          </a:xfrm>
          <a:custGeom>
            <a:avLst/>
            <a:gdLst/>
            <a:ahLst/>
            <a:cxnLst/>
            <a:rect l="l" t="t" r="r" b="b"/>
            <a:pathLst>
              <a:path w="495300" h="190500">
                <a:moveTo>
                  <a:pt x="38100" y="0"/>
                </a:moveTo>
                <a:lnTo>
                  <a:pt x="457200" y="0"/>
                </a:lnTo>
                <a:cubicBezTo>
                  <a:pt x="478228" y="0"/>
                  <a:pt x="495300" y="17072"/>
                  <a:pt x="495300" y="38100"/>
                </a:cubicBezTo>
                <a:lnTo>
                  <a:pt x="495300" y="152400"/>
                </a:lnTo>
                <a:cubicBezTo>
                  <a:pt x="495300" y="173428"/>
                  <a:pt x="478228" y="190500"/>
                  <a:pt x="4572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11042650" y="3397251"/>
            <a:ext cx="5524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多语言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483350" y="3663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智谱AI | 国产模型生态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0000" y="4044951"/>
            <a:ext cx="5305425" cy="685800"/>
          </a:xfrm>
          <a:custGeom>
            <a:avLst/>
            <a:gdLst/>
            <a:ahLst/>
            <a:cxnLst/>
            <a:rect l="l" t="t" r="r" b="b"/>
            <a:pathLst>
              <a:path w="5305425" h="685800">
                <a:moveTo>
                  <a:pt x="38100" y="0"/>
                </a:moveTo>
                <a:lnTo>
                  <a:pt x="5229226" y="0"/>
                </a:lnTo>
                <a:cubicBezTo>
                  <a:pt x="5271309" y="0"/>
                  <a:pt x="5305425" y="34116"/>
                  <a:pt x="5305425" y="76199"/>
                </a:cubicBezTo>
                <a:lnTo>
                  <a:pt x="5305425" y="609601"/>
                </a:lnTo>
                <a:cubicBezTo>
                  <a:pt x="5305425" y="651684"/>
                  <a:pt x="5271309" y="685800"/>
                  <a:pt x="52292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350000" y="4044951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6483350" y="4159251"/>
            <a:ext cx="122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华为云 CodeArts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0814050" y="4159251"/>
            <a:ext cx="723900" cy="190500"/>
          </a:xfrm>
          <a:custGeom>
            <a:avLst/>
            <a:gdLst/>
            <a:ahLst/>
            <a:cxnLst/>
            <a:rect l="l" t="t" r="r" b="b"/>
            <a:pathLst>
              <a:path w="723900" h="190500">
                <a:moveTo>
                  <a:pt x="38100" y="0"/>
                </a:moveTo>
                <a:lnTo>
                  <a:pt x="685800" y="0"/>
                </a:lnTo>
                <a:cubicBezTo>
                  <a:pt x="706828" y="0"/>
                  <a:pt x="723900" y="17072"/>
                  <a:pt x="723900" y="38100"/>
                </a:cubicBezTo>
                <a:lnTo>
                  <a:pt x="723900" y="152400"/>
                </a:lnTo>
                <a:cubicBezTo>
                  <a:pt x="723900" y="173428"/>
                  <a:pt x="706828" y="190500"/>
                  <a:pt x="685800" y="190500"/>
                </a:cubicBezTo>
                <a:lnTo>
                  <a:pt x="38100" y="190500"/>
                </a:lnTo>
                <a:cubicBezTo>
                  <a:pt x="17072" y="190500"/>
                  <a:pt x="0" y="173428"/>
                  <a:pt x="0" y="152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10814050" y="4159251"/>
            <a:ext cx="781050" cy="190500"/>
          </a:xfrm>
          <a:prstGeom prst="rect">
            <a:avLst/>
          </a:prstGeom>
          <a:noFill/>
          <a:ln/>
        </p:spPr>
        <p:txBody>
          <a:bodyPr wrap="square" lIns="76200" tIns="19050" rIns="76200" bIns="1905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全生命周期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83350" y="4425951"/>
            <a:ext cx="512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华为云 | DevOps集成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384175" y="5324476"/>
            <a:ext cx="5635625" cy="1149350"/>
          </a:xfrm>
          <a:custGeom>
            <a:avLst/>
            <a:gdLst/>
            <a:ahLst/>
            <a:cxnLst/>
            <a:rect l="l" t="t" r="r" b="b"/>
            <a:pathLst>
              <a:path w="5635625" h="1149350">
                <a:moveTo>
                  <a:pt x="114303" y="0"/>
                </a:moveTo>
                <a:lnTo>
                  <a:pt x="5521322" y="0"/>
                </a:lnTo>
                <a:cubicBezTo>
                  <a:pt x="5584450" y="0"/>
                  <a:pt x="5635625" y="51175"/>
                  <a:pt x="5635625" y="114303"/>
                </a:cubicBezTo>
                <a:lnTo>
                  <a:pt x="5635625" y="1035047"/>
                </a:lnTo>
                <a:cubicBezTo>
                  <a:pt x="5635625" y="1098175"/>
                  <a:pt x="5584450" y="1149350"/>
                  <a:pt x="5521322" y="1149350"/>
                </a:cubicBezTo>
                <a:lnTo>
                  <a:pt x="114303" y="1149350"/>
                </a:lnTo>
                <a:cubicBezTo>
                  <a:pt x="51175" y="1149350"/>
                  <a:pt x="0" y="1098175"/>
                  <a:pt x="0" y="1035047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563563" y="5527677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/>
          <p:nvPr/>
        </p:nvSpPr>
        <p:spPr>
          <a:xfrm>
            <a:off x="758825" y="5480052"/>
            <a:ext cx="5191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Claude Code 核心能力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592138" y="58896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Text 61"/>
          <p:cNvSpPr/>
          <p:nvPr/>
        </p:nvSpPr>
        <p:spPr>
          <a:xfrm>
            <a:off x="782638" y="5861052"/>
            <a:ext cx="1123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200k+上下文窗口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3290888" y="58896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5" name="Text 63"/>
          <p:cNvSpPr/>
          <p:nvPr/>
        </p:nvSpPr>
        <p:spPr>
          <a:xfrm>
            <a:off x="3481388" y="5861052"/>
            <a:ext cx="1162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MCP工具调用协议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592138" y="61563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Text 65"/>
          <p:cNvSpPr/>
          <p:nvPr/>
        </p:nvSpPr>
        <p:spPr>
          <a:xfrm>
            <a:off x="782638" y="6127752"/>
            <a:ext cx="111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Artifacts实时预览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290888" y="61563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9" name="Text 67"/>
          <p:cNvSpPr/>
          <p:nvPr/>
        </p:nvSpPr>
        <p:spPr>
          <a:xfrm>
            <a:off x="3481388" y="6127752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内置安全扫描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175375" y="5324476"/>
            <a:ext cx="5635625" cy="1149350"/>
          </a:xfrm>
          <a:custGeom>
            <a:avLst/>
            <a:gdLst/>
            <a:ahLst/>
            <a:cxnLst/>
            <a:rect l="l" t="t" r="r" b="b"/>
            <a:pathLst>
              <a:path w="5635625" h="1149350">
                <a:moveTo>
                  <a:pt x="114303" y="0"/>
                </a:moveTo>
                <a:lnTo>
                  <a:pt x="5521322" y="0"/>
                </a:lnTo>
                <a:cubicBezTo>
                  <a:pt x="5584450" y="0"/>
                  <a:pt x="5635625" y="51175"/>
                  <a:pt x="5635625" y="114303"/>
                </a:cubicBezTo>
                <a:lnTo>
                  <a:pt x="5635625" y="1035047"/>
                </a:lnTo>
                <a:cubicBezTo>
                  <a:pt x="5635625" y="1098175"/>
                  <a:pt x="5584450" y="1149350"/>
                  <a:pt x="5521322" y="1149350"/>
                </a:cubicBezTo>
                <a:lnTo>
                  <a:pt x="114303" y="1149350"/>
                </a:lnTo>
                <a:cubicBezTo>
                  <a:pt x="51175" y="1149350"/>
                  <a:pt x="0" y="1098175"/>
                  <a:pt x="0" y="1035047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6354763" y="5527677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2" name="Text 70"/>
          <p:cNvSpPr/>
          <p:nvPr/>
        </p:nvSpPr>
        <p:spPr>
          <a:xfrm>
            <a:off x="6550025" y="5480052"/>
            <a:ext cx="5191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OpenCode 核心能力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383338" y="58896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4" name="Text 72"/>
          <p:cNvSpPr/>
          <p:nvPr/>
        </p:nvSpPr>
        <p:spPr>
          <a:xfrm>
            <a:off x="6573838" y="5861052"/>
            <a:ext cx="82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多Agent编排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9082088" y="58896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6" name="Text 74"/>
          <p:cNvSpPr/>
          <p:nvPr/>
        </p:nvSpPr>
        <p:spPr>
          <a:xfrm>
            <a:off x="9272588" y="5861052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多模型后端切换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6383338" y="61563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8" name="Text 76"/>
          <p:cNvSpPr/>
          <p:nvPr/>
        </p:nvSpPr>
        <p:spPr>
          <a:xfrm>
            <a:off x="6573838" y="6127752"/>
            <a:ext cx="847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Skill系统沉淀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082088" y="6156327"/>
            <a:ext cx="66675" cy="133350"/>
          </a:xfrm>
          <a:custGeom>
            <a:avLst/>
            <a:gdLst/>
            <a:ahLst/>
            <a:cxnLst/>
            <a:rect l="l" t="t" r="r" b="b"/>
            <a:pathLst>
              <a:path w="66675" h="133350">
                <a:moveTo>
                  <a:pt x="64357" y="60789"/>
                </a:moveTo>
                <a:cubicBezTo>
                  <a:pt x="67613" y="64044"/>
                  <a:pt x="67613" y="69332"/>
                  <a:pt x="64357" y="72587"/>
                </a:cubicBezTo>
                <a:lnTo>
                  <a:pt x="22685" y="114259"/>
                </a:lnTo>
                <a:cubicBezTo>
                  <a:pt x="19430" y="117515"/>
                  <a:pt x="14142" y="117515"/>
                  <a:pt x="10887" y="114259"/>
                </a:cubicBezTo>
                <a:cubicBezTo>
                  <a:pt x="7631" y="111003"/>
                  <a:pt x="7631" y="105716"/>
                  <a:pt x="10887" y="102461"/>
                </a:cubicBezTo>
                <a:lnTo>
                  <a:pt x="46673" y="66675"/>
                </a:lnTo>
                <a:lnTo>
                  <a:pt x="10913" y="30889"/>
                </a:lnTo>
                <a:cubicBezTo>
                  <a:pt x="7657" y="27634"/>
                  <a:pt x="7657" y="22347"/>
                  <a:pt x="10913" y="19091"/>
                </a:cubicBezTo>
                <a:cubicBezTo>
                  <a:pt x="14168" y="15835"/>
                  <a:pt x="19456" y="15835"/>
                  <a:pt x="22711" y="19091"/>
                </a:cubicBezTo>
                <a:lnTo>
                  <a:pt x="64383" y="6076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8"/>
          <p:cNvSpPr/>
          <p:nvPr/>
        </p:nvSpPr>
        <p:spPr>
          <a:xfrm>
            <a:off x="9272588" y="6127752"/>
            <a:ext cx="733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开源可部署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31750" cy="317500"/>
          </a:xfrm>
          <a:custGeom>
            <a:avLst/>
            <a:gdLst/>
            <a:ahLst/>
            <a:cxnLst/>
            <a:rect l="l" t="t" r="r" b="b"/>
            <a:pathLst>
              <a:path w="31750" h="317500">
                <a:moveTo>
                  <a:pt x="0" y="0"/>
                </a:moveTo>
                <a:lnTo>
                  <a:pt x="31750" y="0"/>
                </a:lnTo>
                <a:lnTo>
                  <a:pt x="31750" y="317500"/>
                </a:lnTo>
                <a:lnTo>
                  <a:pt x="0" y="3175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44500" y="317500"/>
            <a:ext cx="4714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典型案例：数据库密码管理系统开发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4500" y="698500"/>
            <a:ext cx="1149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DATABASE PASSWORD MANAGER - AI-DRIVEN DEVELOPMENT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146" y="1018646"/>
            <a:ext cx="7657042" cy="2711979"/>
          </a:xfrm>
          <a:custGeom>
            <a:avLst/>
            <a:gdLst/>
            <a:ahLst/>
            <a:cxnLst/>
            <a:rect l="l" t="t" r="r" b="b"/>
            <a:pathLst>
              <a:path w="7657042" h="2711979">
                <a:moveTo>
                  <a:pt x="95245" y="0"/>
                </a:moveTo>
                <a:lnTo>
                  <a:pt x="7561797" y="0"/>
                </a:lnTo>
                <a:cubicBezTo>
                  <a:pt x="7614399" y="0"/>
                  <a:pt x="7657042" y="42643"/>
                  <a:pt x="7657042" y="95245"/>
                </a:cubicBezTo>
                <a:lnTo>
                  <a:pt x="7657042" y="2616734"/>
                </a:lnTo>
                <a:cubicBezTo>
                  <a:pt x="7657042" y="2669337"/>
                  <a:pt x="7614399" y="2711979"/>
                  <a:pt x="7561797" y="2711979"/>
                </a:cubicBezTo>
                <a:lnTo>
                  <a:pt x="95245" y="2711979"/>
                </a:lnTo>
                <a:cubicBezTo>
                  <a:pt x="42643" y="2711979"/>
                  <a:pt x="0" y="2669337"/>
                  <a:pt x="0" y="2616734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1385" y="1211792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0" y="24805"/>
                </a:moveTo>
                <a:cubicBezTo>
                  <a:pt x="0" y="16588"/>
                  <a:pt x="6666" y="9922"/>
                  <a:pt x="14883" y="9922"/>
                </a:cubicBezTo>
                <a:lnTo>
                  <a:pt x="44648" y="9922"/>
                </a:lnTo>
                <a:cubicBezTo>
                  <a:pt x="52865" y="9922"/>
                  <a:pt x="59531" y="16588"/>
                  <a:pt x="59531" y="24805"/>
                </a:cubicBezTo>
                <a:lnTo>
                  <a:pt x="59531" y="29766"/>
                </a:lnTo>
                <a:lnTo>
                  <a:pt x="99219" y="29766"/>
                </a:lnTo>
                <a:lnTo>
                  <a:pt x="99219" y="24805"/>
                </a:lnTo>
                <a:cubicBezTo>
                  <a:pt x="99219" y="16588"/>
                  <a:pt x="105885" y="9922"/>
                  <a:pt x="114102" y="9922"/>
                </a:cubicBezTo>
                <a:lnTo>
                  <a:pt x="143867" y="9922"/>
                </a:lnTo>
                <a:cubicBezTo>
                  <a:pt x="152084" y="9922"/>
                  <a:pt x="158750" y="16588"/>
                  <a:pt x="158750" y="24805"/>
                </a:cubicBezTo>
                <a:lnTo>
                  <a:pt x="158750" y="54570"/>
                </a:lnTo>
                <a:cubicBezTo>
                  <a:pt x="158750" y="62787"/>
                  <a:pt x="152084" y="69453"/>
                  <a:pt x="143867" y="69453"/>
                </a:cubicBezTo>
                <a:lnTo>
                  <a:pt x="114102" y="69453"/>
                </a:lnTo>
                <a:cubicBezTo>
                  <a:pt x="105885" y="69453"/>
                  <a:pt x="99219" y="62787"/>
                  <a:pt x="99219" y="54570"/>
                </a:cubicBezTo>
                <a:lnTo>
                  <a:pt x="99219" y="49609"/>
                </a:lnTo>
                <a:lnTo>
                  <a:pt x="59531" y="49609"/>
                </a:lnTo>
                <a:lnTo>
                  <a:pt x="59531" y="54570"/>
                </a:lnTo>
                <a:cubicBezTo>
                  <a:pt x="59531" y="56834"/>
                  <a:pt x="59004" y="59004"/>
                  <a:pt x="58105" y="60927"/>
                </a:cubicBezTo>
                <a:lnTo>
                  <a:pt x="79375" y="89297"/>
                </a:lnTo>
                <a:lnTo>
                  <a:pt x="104180" y="89297"/>
                </a:lnTo>
                <a:cubicBezTo>
                  <a:pt x="112396" y="89297"/>
                  <a:pt x="119062" y="95963"/>
                  <a:pt x="119062" y="104180"/>
                </a:cubicBezTo>
                <a:lnTo>
                  <a:pt x="119062" y="133945"/>
                </a:lnTo>
                <a:cubicBezTo>
                  <a:pt x="119062" y="142162"/>
                  <a:pt x="112396" y="148828"/>
                  <a:pt x="104180" y="148828"/>
                </a:cubicBezTo>
                <a:lnTo>
                  <a:pt x="74414" y="148828"/>
                </a:lnTo>
                <a:cubicBezTo>
                  <a:pt x="66198" y="148828"/>
                  <a:pt x="59531" y="142162"/>
                  <a:pt x="59531" y="133945"/>
                </a:cubicBezTo>
                <a:lnTo>
                  <a:pt x="59531" y="104180"/>
                </a:lnTo>
                <a:cubicBezTo>
                  <a:pt x="59531" y="101916"/>
                  <a:pt x="60058" y="99746"/>
                  <a:pt x="60958" y="97823"/>
                </a:cubicBezTo>
                <a:lnTo>
                  <a:pt x="39688" y="69453"/>
                </a:lnTo>
                <a:lnTo>
                  <a:pt x="14883" y="69453"/>
                </a:lnTo>
                <a:cubicBezTo>
                  <a:pt x="6666" y="69453"/>
                  <a:pt x="0" y="62787"/>
                  <a:pt x="0" y="54570"/>
                </a:cubicBezTo>
                <a:lnTo>
                  <a:pt x="0" y="24805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79979" y="1180042"/>
            <a:ext cx="7215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项目背景与核心特性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1542" y="1529292"/>
            <a:ext cx="366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项目概述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1542" y="1783292"/>
            <a:ext cx="366712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基于</a:t>
            </a:r>
            <a:r>
              <a:rPr lang="en-US" sz="10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SM4国密算法</a:t>
            </a: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的数据库密码管理系统，提供</a:t>
            </a: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7种核心集成模式</a:t>
            </a: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，覆盖主流Java技术栈。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12167" y="1529292"/>
            <a:ext cx="366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核心目标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12167" y="1783292"/>
            <a:ext cx="366712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确保生产环境数据库密码</a:t>
            </a: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不在代码库和配置文件中明文出现</a:t>
            </a: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，全程加密保护。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188" y="2325690"/>
            <a:ext cx="1759479" cy="679979"/>
          </a:xfrm>
          <a:custGeom>
            <a:avLst/>
            <a:gdLst/>
            <a:ahLst/>
            <a:cxnLst/>
            <a:rect l="l" t="t" r="r" b="b"/>
            <a:pathLst>
              <a:path w="1759479" h="679979">
                <a:moveTo>
                  <a:pt x="63503" y="0"/>
                </a:moveTo>
                <a:lnTo>
                  <a:pt x="1695976" y="0"/>
                </a:lnTo>
                <a:cubicBezTo>
                  <a:pt x="1731048" y="0"/>
                  <a:pt x="1759479" y="28431"/>
                  <a:pt x="1759479" y="63503"/>
                </a:cubicBezTo>
                <a:lnTo>
                  <a:pt x="1759479" y="616476"/>
                </a:lnTo>
                <a:cubicBezTo>
                  <a:pt x="1759479" y="651548"/>
                  <a:pt x="1731048" y="679979"/>
                  <a:pt x="1695976" y="679979"/>
                </a:cubicBezTo>
                <a:lnTo>
                  <a:pt x="63503" y="679979"/>
                </a:lnTo>
                <a:cubicBezTo>
                  <a:pt x="28431" y="679979"/>
                  <a:pt x="0" y="651548"/>
                  <a:pt x="0" y="616476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283229" y="2423585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54302" y="2619375"/>
            <a:ext cx="1619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SM4-GCM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8271" y="2778125"/>
            <a:ext cx="1611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认证加密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341563" y="2325690"/>
            <a:ext cx="1759479" cy="679979"/>
          </a:xfrm>
          <a:custGeom>
            <a:avLst/>
            <a:gdLst/>
            <a:ahLst/>
            <a:cxnLst/>
            <a:rect l="l" t="t" r="r" b="b"/>
            <a:pathLst>
              <a:path w="1759479" h="679979">
                <a:moveTo>
                  <a:pt x="63503" y="0"/>
                </a:moveTo>
                <a:lnTo>
                  <a:pt x="1695976" y="0"/>
                </a:lnTo>
                <a:cubicBezTo>
                  <a:pt x="1731048" y="0"/>
                  <a:pt x="1759479" y="28431"/>
                  <a:pt x="1759479" y="63503"/>
                </a:cubicBezTo>
                <a:lnTo>
                  <a:pt x="1759479" y="616476"/>
                </a:lnTo>
                <a:cubicBezTo>
                  <a:pt x="1759479" y="651548"/>
                  <a:pt x="1731048" y="679979"/>
                  <a:pt x="1695976" y="679979"/>
                </a:cubicBezTo>
                <a:lnTo>
                  <a:pt x="63503" y="679979"/>
                </a:lnTo>
                <a:cubicBezTo>
                  <a:pt x="28431" y="679979"/>
                  <a:pt x="0" y="651548"/>
                  <a:pt x="0" y="616476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3140604" y="2423585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88057" y="-403"/>
                </a:moveTo>
                <a:cubicBezTo>
                  <a:pt x="82693" y="-3504"/>
                  <a:pt x="76057" y="-3504"/>
                  <a:pt x="70693" y="-403"/>
                </a:cubicBezTo>
                <a:lnTo>
                  <a:pt x="44586" y="14666"/>
                </a:lnTo>
                <a:cubicBezTo>
                  <a:pt x="39222" y="17766"/>
                  <a:pt x="35905" y="23502"/>
                  <a:pt x="35905" y="29704"/>
                </a:cubicBezTo>
                <a:lnTo>
                  <a:pt x="35905" y="61299"/>
                </a:lnTo>
                <a:lnTo>
                  <a:pt x="8527" y="77112"/>
                </a:lnTo>
                <a:cubicBezTo>
                  <a:pt x="3163" y="80212"/>
                  <a:pt x="-155" y="85948"/>
                  <a:pt x="-155" y="92149"/>
                </a:cubicBezTo>
                <a:lnTo>
                  <a:pt x="-155" y="122318"/>
                </a:lnTo>
                <a:cubicBezTo>
                  <a:pt x="-155" y="128519"/>
                  <a:pt x="3163" y="134255"/>
                  <a:pt x="8527" y="137356"/>
                </a:cubicBezTo>
                <a:lnTo>
                  <a:pt x="34665" y="152425"/>
                </a:lnTo>
                <a:cubicBezTo>
                  <a:pt x="40029" y="155525"/>
                  <a:pt x="46664" y="155525"/>
                  <a:pt x="52028" y="152425"/>
                </a:cubicBezTo>
                <a:lnTo>
                  <a:pt x="79406" y="136612"/>
                </a:lnTo>
                <a:lnTo>
                  <a:pt x="106784" y="152425"/>
                </a:lnTo>
                <a:cubicBezTo>
                  <a:pt x="112148" y="155525"/>
                  <a:pt x="118783" y="155525"/>
                  <a:pt x="124147" y="152425"/>
                </a:cubicBezTo>
                <a:lnTo>
                  <a:pt x="150223" y="137356"/>
                </a:lnTo>
                <a:cubicBezTo>
                  <a:pt x="155587" y="134255"/>
                  <a:pt x="158905" y="128519"/>
                  <a:pt x="158905" y="122318"/>
                </a:cubicBezTo>
                <a:lnTo>
                  <a:pt x="158905" y="92149"/>
                </a:lnTo>
                <a:cubicBezTo>
                  <a:pt x="158905" y="85948"/>
                  <a:pt x="155587" y="80212"/>
                  <a:pt x="150223" y="77112"/>
                </a:cubicBezTo>
                <a:lnTo>
                  <a:pt x="122845" y="61299"/>
                </a:lnTo>
                <a:lnTo>
                  <a:pt x="122845" y="29704"/>
                </a:lnTo>
                <a:cubicBezTo>
                  <a:pt x="122845" y="23502"/>
                  <a:pt x="119528" y="17766"/>
                  <a:pt x="114164" y="14666"/>
                </a:cubicBezTo>
                <a:lnTo>
                  <a:pt x="88057" y="-403"/>
                </a:lnTo>
                <a:close/>
                <a:moveTo>
                  <a:pt x="71934" y="90723"/>
                </a:moveTo>
                <a:lnTo>
                  <a:pt x="71934" y="123744"/>
                </a:lnTo>
                <a:lnTo>
                  <a:pt x="44555" y="139557"/>
                </a:lnTo>
                <a:cubicBezTo>
                  <a:pt x="44183" y="139774"/>
                  <a:pt x="43749" y="139898"/>
                  <a:pt x="43315" y="139898"/>
                </a:cubicBezTo>
                <a:lnTo>
                  <a:pt x="43315" y="107249"/>
                </a:lnTo>
                <a:lnTo>
                  <a:pt x="71934" y="90723"/>
                </a:lnTo>
                <a:close/>
                <a:moveTo>
                  <a:pt x="143681" y="90909"/>
                </a:moveTo>
                <a:cubicBezTo>
                  <a:pt x="143898" y="91281"/>
                  <a:pt x="144022" y="91715"/>
                  <a:pt x="144022" y="92149"/>
                </a:cubicBezTo>
                <a:lnTo>
                  <a:pt x="144022" y="122318"/>
                </a:lnTo>
                <a:cubicBezTo>
                  <a:pt x="144022" y="123217"/>
                  <a:pt x="143557" y="124023"/>
                  <a:pt x="142782" y="124458"/>
                </a:cubicBezTo>
                <a:lnTo>
                  <a:pt x="116644" y="139526"/>
                </a:lnTo>
                <a:cubicBezTo>
                  <a:pt x="116272" y="139743"/>
                  <a:pt x="115838" y="139867"/>
                  <a:pt x="115404" y="139867"/>
                </a:cubicBezTo>
                <a:lnTo>
                  <a:pt x="115404" y="107218"/>
                </a:lnTo>
                <a:lnTo>
                  <a:pt x="143681" y="90909"/>
                </a:lnTo>
                <a:close/>
                <a:moveTo>
                  <a:pt x="107993" y="29704"/>
                </a:moveTo>
                <a:lnTo>
                  <a:pt x="107993" y="61299"/>
                </a:lnTo>
                <a:lnTo>
                  <a:pt x="79375" y="77825"/>
                </a:lnTo>
                <a:lnTo>
                  <a:pt x="79375" y="44803"/>
                </a:lnTo>
                <a:lnTo>
                  <a:pt x="107652" y="28494"/>
                </a:lnTo>
                <a:cubicBezTo>
                  <a:pt x="107869" y="28866"/>
                  <a:pt x="107993" y="29301"/>
                  <a:pt x="107993" y="29735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2411677" y="2619375"/>
            <a:ext cx="1619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7种模式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15646" y="2778125"/>
            <a:ext cx="1611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集成方案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198938" y="2325690"/>
            <a:ext cx="1759479" cy="679979"/>
          </a:xfrm>
          <a:custGeom>
            <a:avLst/>
            <a:gdLst/>
            <a:ahLst/>
            <a:cxnLst/>
            <a:rect l="l" t="t" r="r" b="b"/>
            <a:pathLst>
              <a:path w="1759479" h="679979">
                <a:moveTo>
                  <a:pt x="63503" y="0"/>
                </a:moveTo>
                <a:lnTo>
                  <a:pt x="1695976" y="0"/>
                </a:lnTo>
                <a:cubicBezTo>
                  <a:pt x="1731048" y="0"/>
                  <a:pt x="1759479" y="28431"/>
                  <a:pt x="1759479" y="63503"/>
                </a:cubicBezTo>
                <a:lnTo>
                  <a:pt x="1759479" y="616476"/>
                </a:lnTo>
                <a:cubicBezTo>
                  <a:pt x="1759479" y="651548"/>
                  <a:pt x="1731048" y="679979"/>
                  <a:pt x="1695976" y="679979"/>
                </a:cubicBezTo>
                <a:lnTo>
                  <a:pt x="63503" y="679979"/>
                </a:lnTo>
                <a:cubicBezTo>
                  <a:pt x="28431" y="679979"/>
                  <a:pt x="0" y="651548"/>
                  <a:pt x="0" y="616476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4988057" y="2423585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2712" y="-7720"/>
                </a:moveTo>
                <a:cubicBezTo>
                  <a:pt x="9798" y="-10635"/>
                  <a:pt x="5085" y="-10635"/>
                  <a:pt x="2201" y="-7720"/>
                </a:cubicBezTo>
                <a:cubicBezTo>
                  <a:pt x="-682" y="-4806"/>
                  <a:pt x="-713" y="-93"/>
                  <a:pt x="2170" y="2822"/>
                </a:cubicBezTo>
                <a:lnTo>
                  <a:pt x="165881" y="166532"/>
                </a:lnTo>
                <a:cubicBezTo>
                  <a:pt x="168796" y="169447"/>
                  <a:pt x="173509" y="169447"/>
                  <a:pt x="176392" y="166532"/>
                </a:cubicBezTo>
                <a:cubicBezTo>
                  <a:pt x="179276" y="163618"/>
                  <a:pt x="179307" y="158905"/>
                  <a:pt x="176392" y="156021"/>
                </a:cubicBezTo>
                <a:lnTo>
                  <a:pt x="146503" y="126132"/>
                </a:lnTo>
                <a:cubicBezTo>
                  <a:pt x="147340" y="125388"/>
                  <a:pt x="148177" y="124644"/>
                  <a:pt x="148983" y="123899"/>
                </a:cubicBezTo>
                <a:cubicBezTo>
                  <a:pt x="163494" y="110412"/>
                  <a:pt x="173199" y="94320"/>
                  <a:pt x="177819" y="83251"/>
                </a:cubicBezTo>
                <a:cubicBezTo>
                  <a:pt x="178842" y="80801"/>
                  <a:pt x="178842" y="78073"/>
                  <a:pt x="177819" y="75623"/>
                </a:cubicBezTo>
                <a:cubicBezTo>
                  <a:pt x="173199" y="64554"/>
                  <a:pt x="163494" y="48431"/>
                  <a:pt x="148983" y="34975"/>
                </a:cubicBezTo>
                <a:cubicBezTo>
                  <a:pt x="134379" y="21425"/>
                  <a:pt x="114319" y="9984"/>
                  <a:pt x="89266" y="9984"/>
                </a:cubicBezTo>
                <a:cubicBezTo>
                  <a:pt x="71655" y="9984"/>
                  <a:pt x="56524" y="15627"/>
                  <a:pt x="43997" y="23688"/>
                </a:cubicBezTo>
                <a:lnTo>
                  <a:pt x="12712" y="-7720"/>
                </a:lnTo>
                <a:close/>
                <a:moveTo>
                  <a:pt x="63407" y="43005"/>
                </a:moveTo>
                <a:cubicBezTo>
                  <a:pt x="70693" y="37796"/>
                  <a:pt x="79654" y="34727"/>
                  <a:pt x="89297" y="34727"/>
                </a:cubicBezTo>
                <a:cubicBezTo>
                  <a:pt x="113947" y="34727"/>
                  <a:pt x="133945" y="54725"/>
                  <a:pt x="133945" y="79375"/>
                </a:cubicBezTo>
                <a:cubicBezTo>
                  <a:pt x="133945" y="89018"/>
                  <a:pt x="130876" y="97948"/>
                  <a:pt x="125667" y="105265"/>
                </a:cubicBezTo>
                <a:lnTo>
                  <a:pt x="114908" y="94506"/>
                </a:lnTo>
                <a:cubicBezTo>
                  <a:pt x="118845" y="87871"/>
                  <a:pt x="120179" y="79716"/>
                  <a:pt x="118039" y="71655"/>
                </a:cubicBezTo>
                <a:cubicBezTo>
                  <a:pt x="113792" y="55780"/>
                  <a:pt x="97451" y="46354"/>
                  <a:pt x="81576" y="50602"/>
                </a:cubicBezTo>
                <a:cubicBezTo>
                  <a:pt x="78910" y="51315"/>
                  <a:pt x="76398" y="52369"/>
                  <a:pt x="74135" y="53702"/>
                </a:cubicBezTo>
                <a:lnTo>
                  <a:pt x="63376" y="42943"/>
                </a:lnTo>
                <a:close/>
                <a:moveTo>
                  <a:pt x="100862" y="122504"/>
                </a:moveTo>
                <a:cubicBezTo>
                  <a:pt x="97172" y="123496"/>
                  <a:pt x="93297" y="124023"/>
                  <a:pt x="89297" y="124023"/>
                </a:cubicBezTo>
                <a:cubicBezTo>
                  <a:pt x="64647" y="124023"/>
                  <a:pt x="44648" y="104025"/>
                  <a:pt x="44648" y="79375"/>
                </a:cubicBezTo>
                <a:cubicBezTo>
                  <a:pt x="44648" y="75375"/>
                  <a:pt x="45176" y="71500"/>
                  <a:pt x="46168" y="67810"/>
                </a:cubicBezTo>
                <a:lnTo>
                  <a:pt x="21518" y="43160"/>
                </a:lnTo>
                <a:cubicBezTo>
                  <a:pt x="11410" y="54570"/>
                  <a:pt x="4465" y="66663"/>
                  <a:pt x="775" y="75561"/>
                </a:cubicBezTo>
                <a:cubicBezTo>
                  <a:pt x="-248" y="78011"/>
                  <a:pt x="-248" y="80739"/>
                  <a:pt x="775" y="83189"/>
                </a:cubicBezTo>
                <a:cubicBezTo>
                  <a:pt x="5395" y="94258"/>
                  <a:pt x="15100" y="110381"/>
                  <a:pt x="29611" y="123837"/>
                </a:cubicBezTo>
                <a:cubicBezTo>
                  <a:pt x="44214" y="137387"/>
                  <a:pt x="64275" y="148828"/>
                  <a:pt x="89328" y="148828"/>
                </a:cubicBezTo>
                <a:cubicBezTo>
                  <a:pt x="100893" y="148828"/>
                  <a:pt x="111404" y="146379"/>
                  <a:pt x="120799" y="142441"/>
                </a:cubicBezTo>
                <a:lnTo>
                  <a:pt x="100893" y="122535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4269052" y="2619375"/>
            <a:ext cx="1619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无感知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73021" y="2778125"/>
            <a:ext cx="1611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应用集成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56313" y="2325690"/>
            <a:ext cx="1759479" cy="679979"/>
          </a:xfrm>
          <a:custGeom>
            <a:avLst/>
            <a:gdLst/>
            <a:ahLst/>
            <a:cxnLst/>
            <a:rect l="l" t="t" r="r" b="b"/>
            <a:pathLst>
              <a:path w="1759479" h="679979">
                <a:moveTo>
                  <a:pt x="63503" y="0"/>
                </a:moveTo>
                <a:lnTo>
                  <a:pt x="1695976" y="0"/>
                </a:lnTo>
                <a:cubicBezTo>
                  <a:pt x="1731048" y="0"/>
                  <a:pt x="1759479" y="28431"/>
                  <a:pt x="1759479" y="63503"/>
                </a:cubicBezTo>
                <a:lnTo>
                  <a:pt x="1759479" y="616476"/>
                </a:lnTo>
                <a:cubicBezTo>
                  <a:pt x="1759479" y="651548"/>
                  <a:pt x="1731048" y="679979"/>
                  <a:pt x="1695976" y="679979"/>
                </a:cubicBezTo>
                <a:lnTo>
                  <a:pt x="63503" y="679979"/>
                </a:lnTo>
                <a:cubicBezTo>
                  <a:pt x="28431" y="679979"/>
                  <a:pt x="0" y="651548"/>
                  <a:pt x="0" y="616476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845432" y="2423585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126427" y="2619375"/>
            <a:ext cx="1619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零代码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30396" y="2778125"/>
            <a:ext cx="1611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快速集成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09479" y="1018646"/>
            <a:ext cx="3759729" cy="2711979"/>
          </a:xfrm>
          <a:custGeom>
            <a:avLst/>
            <a:gdLst/>
            <a:ahLst/>
            <a:cxnLst/>
            <a:rect l="l" t="t" r="r" b="b"/>
            <a:pathLst>
              <a:path w="3759729" h="2711979">
                <a:moveTo>
                  <a:pt x="95245" y="0"/>
                </a:moveTo>
                <a:lnTo>
                  <a:pt x="3664484" y="0"/>
                </a:lnTo>
                <a:cubicBezTo>
                  <a:pt x="3717087" y="0"/>
                  <a:pt x="3759729" y="42643"/>
                  <a:pt x="3759729" y="95245"/>
                </a:cubicBezTo>
                <a:lnTo>
                  <a:pt x="3759729" y="2616734"/>
                </a:lnTo>
                <a:cubicBezTo>
                  <a:pt x="3759729" y="2669337"/>
                  <a:pt x="3717087" y="2711979"/>
                  <a:pt x="3664484" y="2711979"/>
                </a:cubicBezTo>
                <a:lnTo>
                  <a:pt x="95245" y="2711979"/>
                </a:lnTo>
                <a:cubicBezTo>
                  <a:pt x="42643" y="2711979"/>
                  <a:pt x="0" y="2669337"/>
                  <a:pt x="0" y="2616734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290719" y="1211792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44741" y="0"/>
                </a:moveTo>
                <a:lnTo>
                  <a:pt x="114195" y="0"/>
                </a:lnTo>
                <a:cubicBezTo>
                  <a:pt x="122411" y="0"/>
                  <a:pt x="129108" y="6759"/>
                  <a:pt x="128798" y="14945"/>
                </a:cubicBezTo>
                <a:cubicBezTo>
                  <a:pt x="128736" y="16588"/>
                  <a:pt x="128674" y="18231"/>
                  <a:pt x="128581" y="19844"/>
                </a:cubicBezTo>
                <a:lnTo>
                  <a:pt x="143960" y="19844"/>
                </a:lnTo>
                <a:cubicBezTo>
                  <a:pt x="152053" y="19844"/>
                  <a:pt x="159184" y="26541"/>
                  <a:pt x="158564" y="35285"/>
                </a:cubicBezTo>
                <a:cubicBezTo>
                  <a:pt x="156239" y="67438"/>
                  <a:pt x="139805" y="85111"/>
                  <a:pt x="121977" y="94351"/>
                </a:cubicBezTo>
                <a:cubicBezTo>
                  <a:pt x="117078" y="96893"/>
                  <a:pt x="112086" y="98785"/>
                  <a:pt x="107342" y="100180"/>
                </a:cubicBezTo>
                <a:cubicBezTo>
                  <a:pt x="101079" y="109048"/>
                  <a:pt x="94568" y="113729"/>
                  <a:pt x="89390" y="116241"/>
                </a:cubicBezTo>
                <a:lnTo>
                  <a:pt x="89390" y="138906"/>
                </a:lnTo>
                <a:lnTo>
                  <a:pt x="109234" y="138906"/>
                </a:lnTo>
                <a:cubicBezTo>
                  <a:pt x="114722" y="138906"/>
                  <a:pt x="119156" y="143340"/>
                  <a:pt x="119156" y="148828"/>
                </a:cubicBezTo>
                <a:cubicBezTo>
                  <a:pt x="119156" y="154316"/>
                  <a:pt x="114722" y="158750"/>
                  <a:pt x="109234" y="158750"/>
                </a:cubicBezTo>
                <a:lnTo>
                  <a:pt x="49702" y="158750"/>
                </a:lnTo>
                <a:cubicBezTo>
                  <a:pt x="44214" y="158750"/>
                  <a:pt x="39781" y="154316"/>
                  <a:pt x="39781" y="148828"/>
                </a:cubicBezTo>
                <a:cubicBezTo>
                  <a:pt x="39781" y="143340"/>
                  <a:pt x="44214" y="138906"/>
                  <a:pt x="49702" y="138906"/>
                </a:cubicBezTo>
                <a:lnTo>
                  <a:pt x="69546" y="138906"/>
                </a:lnTo>
                <a:lnTo>
                  <a:pt x="69546" y="116241"/>
                </a:lnTo>
                <a:cubicBezTo>
                  <a:pt x="64585" y="113854"/>
                  <a:pt x="58415" y="109420"/>
                  <a:pt x="52400" y="101265"/>
                </a:cubicBezTo>
                <a:cubicBezTo>
                  <a:pt x="46695" y="99777"/>
                  <a:pt x="40494" y="97513"/>
                  <a:pt x="34448" y="94103"/>
                </a:cubicBezTo>
                <a:cubicBezTo>
                  <a:pt x="17673" y="84708"/>
                  <a:pt x="2542" y="67004"/>
                  <a:pt x="372" y="35223"/>
                </a:cubicBezTo>
                <a:cubicBezTo>
                  <a:pt x="-217" y="26510"/>
                  <a:pt x="6883" y="19813"/>
                  <a:pt x="14976" y="19813"/>
                </a:cubicBezTo>
                <a:lnTo>
                  <a:pt x="30355" y="19813"/>
                </a:lnTo>
                <a:cubicBezTo>
                  <a:pt x="30262" y="18200"/>
                  <a:pt x="30200" y="16588"/>
                  <a:pt x="30138" y="14914"/>
                </a:cubicBezTo>
                <a:cubicBezTo>
                  <a:pt x="29828" y="6697"/>
                  <a:pt x="36525" y="-31"/>
                  <a:pt x="44741" y="-31"/>
                </a:cubicBezTo>
                <a:close/>
                <a:moveTo>
                  <a:pt x="31471" y="34727"/>
                </a:moveTo>
                <a:lnTo>
                  <a:pt x="15224" y="34727"/>
                </a:lnTo>
                <a:cubicBezTo>
                  <a:pt x="17146" y="60989"/>
                  <a:pt x="29208" y="74135"/>
                  <a:pt x="41641" y="81111"/>
                </a:cubicBezTo>
                <a:cubicBezTo>
                  <a:pt x="37176" y="69546"/>
                  <a:pt x="33486" y="54446"/>
                  <a:pt x="31471" y="34727"/>
                </a:cubicBezTo>
                <a:close/>
                <a:moveTo>
                  <a:pt x="117822" y="79623"/>
                </a:moveTo>
                <a:cubicBezTo>
                  <a:pt x="130380" y="72244"/>
                  <a:pt x="141728" y="59128"/>
                  <a:pt x="143650" y="34727"/>
                </a:cubicBezTo>
                <a:lnTo>
                  <a:pt x="127434" y="34727"/>
                </a:lnTo>
                <a:cubicBezTo>
                  <a:pt x="125512" y="53609"/>
                  <a:pt x="122039" y="68275"/>
                  <a:pt x="117822" y="79623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8469313" y="1180042"/>
            <a:ext cx="3317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开发成果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270875" y="1529292"/>
            <a:ext cx="3436938" cy="698500"/>
          </a:xfrm>
          <a:custGeom>
            <a:avLst/>
            <a:gdLst/>
            <a:ahLst/>
            <a:cxnLst/>
            <a:rect l="l" t="t" r="r" b="b"/>
            <a:pathLst>
              <a:path w="3436938" h="698500">
                <a:moveTo>
                  <a:pt x="63501" y="0"/>
                </a:moveTo>
                <a:lnTo>
                  <a:pt x="3373437" y="0"/>
                </a:lnTo>
                <a:cubicBezTo>
                  <a:pt x="3408507" y="0"/>
                  <a:pt x="3436938" y="28430"/>
                  <a:pt x="3436938" y="63501"/>
                </a:cubicBezTo>
                <a:lnTo>
                  <a:pt x="3436938" y="634999"/>
                </a:lnTo>
                <a:cubicBezTo>
                  <a:pt x="3436938" y="670070"/>
                  <a:pt x="3408507" y="698500"/>
                  <a:pt x="33734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8294688" y="1624542"/>
            <a:ext cx="338931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1人12天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38344" y="1973792"/>
            <a:ext cx="3302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实际投入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270875" y="2323044"/>
            <a:ext cx="3436938" cy="698500"/>
          </a:xfrm>
          <a:custGeom>
            <a:avLst/>
            <a:gdLst/>
            <a:ahLst/>
            <a:cxnLst/>
            <a:rect l="l" t="t" r="r" b="b"/>
            <a:pathLst>
              <a:path w="3436938" h="698500">
                <a:moveTo>
                  <a:pt x="63501" y="0"/>
                </a:moveTo>
                <a:lnTo>
                  <a:pt x="3373437" y="0"/>
                </a:lnTo>
                <a:cubicBezTo>
                  <a:pt x="3408507" y="0"/>
                  <a:pt x="3436938" y="28430"/>
                  <a:pt x="3436938" y="63501"/>
                </a:cubicBezTo>
                <a:lnTo>
                  <a:pt x="3436938" y="634999"/>
                </a:lnTo>
                <a:cubicBezTo>
                  <a:pt x="3436938" y="670070"/>
                  <a:pt x="3408507" y="698500"/>
                  <a:pt x="33734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8294688" y="2418294"/>
            <a:ext cx="338931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2人月+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38344" y="2767544"/>
            <a:ext cx="3302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传统预估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273521" y="3119440"/>
            <a:ext cx="3434292" cy="449792"/>
          </a:xfrm>
          <a:custGeom>
            <a:avLst/>
            <a:gdLst/>
            <a:ahLst/>
            <a:cxnLst/>
            <a:rect l="l" t="t" r="r" b="b"/>
            <a:pathLst>
              <a:path w="3434292" h="449792">
                <a:moveTo>
                  <a:pt x="63502" y="0"/>
                </a:moveTo>
                <a:lnTo>
                  <a:pt x="3370790" y="0"/>
                </a:lnTo>
                <a:cubicBezTo>
                  <a:pt x="3405861" y="0"/>
                  <a:pt x="3434292" y="28431"/>
                  <a:pt x="3434292" y="63502"/>
                </a:cubicBezTo>
                <a:lnTo>
                  <a:pt x="3434292" y="386290"/>
                </a:lnTo>
                <a:cubicBezTo>
                  <a:pt x="3434292" y="421361"/>
                  <a:pt x="3405861" y="449792"/>
                  <a:pt x="3370790" y="449792"/>
                </a:cubicBezTo>
                <a:lnTo>
                  <a:pt x="63502" y="449792"/>
                </a:lnTo>
                <a:cubicBezTo>
                  <a:pt x="28431" y="449792"/>
                  <a:pt x="0" y="421361"/>
                  <a:pt x="0" y="386290"/>
                </a:cubicBezTo>
                <a:lnTo>
                  <a:pt x="0" y="63502"/>
                </a:lnTo>
                <a:cubicBezTo>
                  <a:pt x="0" y="28431"/>
                  <a:pt x="28431" y="0"/>
                  <a:pt x="63502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395189" y="3302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79375"/>
                </a:moveTo>
                <a:lnTo>
                  <a:pt x="6077" y="79375"/>
                </a:lnTo>
                <a:cubicBezTo>
                  <a:pt x="-99" y="79375"/>
                  <a:pt x="-3894" y="72653"/>
                  <a:pt x="-719" y="67345"/>
                </a:cubicBezTo>
                <a:lnTo>
                  <a:pt x="12402" y="45467"/>
                </a:lnTo>
                <a:cubicBezTo>
                  <a:pt x="14560" y="41870"/>
                  <a:pt x="18430" y="39688"/>
                  <a:pt x="22622" y="39688"/>
                </a:cubicBezTo>
                <a:lnTo>
                  <a:pt x="46186" y="39688"/>
                </a:lnTo>
                <a:cubicBezTo>
                  <a:pt x="65063" y="7714"/>
                  <a:pt x="93216" y="6102"/>
                  <a:pt x="112043" y="8855"/>
                </a:cubicBezTo>
                <a:cubicBezTo>
                  <a:pt x="115218" y="9327"/>
                  <a:pt x="117698" y="11807"/>
                  <a:pt x="118145" y="14957"/>
                </a:cubicBezTo>
                <a:cubicBezTo>
                  <a:pt x="120898" y="33784"/>
                  <a:pt x="119286" y="61937"/>
                  <a:pt x="87313" y="80814"/>
                </a:cubicBezTo>
                <a:lnTo>
                  <a:pt x="87313" y="104378"/>
                </a:lnTo>
                <a:cubicBezTo>
                  <a:pt x="87313" y="108570"/>
                  <a:pt x="85130" y="112440"/>
                  <a:pt x="81533" y="114598"/>
                </a:cubicBezTo>
                <a:lnTo>
                  <a:pt x="59655" y="127719"/>
                </a:lnTo>
                <a:cubicBezTo>
                  <a:pt x="54372" y="130894"/>
                  <a:pt x="47625" y="127074"/>
                  <a:pt x="47625" y="120923"/>
                </a:cubicBezTo>
                <a:lnTo>
                  <a:pt x="47625" y="95250"/>
                </a:lnTo>
                <a:cubicBezTo>
                  <a:pt x="47625" y="86494"/>
                  <a:pt x="40506" y="79375"/>
                  <a:pt x="31750" y="79375"/>
                </a:cubicBezTo>
                <a:lnTo>
                  <a:pt x="31725" y="79375"/>
                </a:lnTo>
                <a:close/>
                <a:moveTo>
                  <a:pt x="99219" y="39688"/>
                </a:moveTo>
                <a:cubicBezTo>
                  <a:pt x="99219" y="33116"/>
                  <a:pt x="93884" y="27781"/>
                  <a:pt x="87313" y="27781"/>
                </a:cubicBezTo>
                <a:cubicBezTo>
                  <a:pt x="80741" y="27781"/>
                  <a:pt x="75406" y="33116"/>
                  <a:pt x="75406" y="39688"/>
                </a:cubicBezTo>
                <a:cubicBezTo>
                  <a:pt x="75406" y="46259"/>
                  <a:pt x="80741" y="51594"/>
                  <a:pt x="87313" y="51594"/>
                </a:cubicBezTo>
                <a:cubicBezTo>
                  <a:pt x="93884" y="51594"/>
                  <a:pt x="99219" y="46259"/>
                  <a:pt x="99219" y="3968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8538105" y="3217335"/>
            <a:ext cx="3103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效率提升 </a:t>
            </a:r>
            <a:r>
              <a:rPr lang="en-US" sz="15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5倍+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0146" y="3865565"/>
            <a:ext cx="5712354" cy="3315229"/>
          </a:xfrm>
          <a:custGeom>
            <a:avLst/>
            <a:gdLst/>
            <a:ahLst/>
            <a:cxnLst/>
            <a:rect l="l" t="t" r="r" b="b"/>
            <a:pathLst>
              <a:path w="5712354" h="3315229">
                <a:moveTo>
                  <a:pt x="95247" y="0"/>
                </a:moveTo>
                <a:lnTo>
                  <a:pt x="5617108" y="0"/>
                </a:lnTo>
                <a:cubicBezTo>
                  <a:pt x="5669711" y="0"/>
                  <a:pt x="5712354" y="42643"/>
                  <a:pt x="5712354" y="95247"/>
                </a:cubicBezTo>
                <a:lnTo>
                  <a:pt x="5712354" y="3219983"/>
                </a:lnTo>
                <a:cubicBezTo>
                  <a:pt x="5712354" y="3272586"/>
                  <a:pt x="5669711" y="3315229"/>
                  <a:pt x="5617108" y="3315229"/>
                </a:cubicBezTo>
                <a:lnTo>
                  <a:pt x="95247" y="3315229"/>
                </a:lnTo>
                <a:cubicBezTo>
                  <a:pt x="42643" y="3315229"/>
                  <a:pt x="0" y="3272586"/>
                  <a:pt x="0" y="321998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501385" y="405871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59531" y="19844"/>
                </a:moveTo>
                <a:cubicBezTo>
                  <a:pt x="59531" y="14356"/>
                  <a:pt x="63965" y="9922"/>
                  <a:pt x="69453" y="9922"/>
                </a:cubicBezTo>
                <a:lnTo>
                  <a:pt x="89297" y="9922"/>
                </a:lnTo>
                <a:cubicBezTo>
                  <a:pt x="94785" y="9922"/>
                  <a:pt x="99219" y="14356"/>
                  <a:pt x="99219" y="19844"/>
                </a:cubicBezTo>
                <a:lnTo>
                  <a:pt x="99219" y="39688"/>
                </a:lnTo>
                <a:cubicBezTo>
                  <a:pt x="99219" y="45176"/>
                  <a:pt x="94785" y="49609"/>
                  <a:pt x="89297" y="49609"/>
                </a:cubicBezTo>
                <a:lnTo>
                  <a:pt x="86816" y="49609"/>
                </a:lnTo>
                <a:lnTo>
                  <a:pt x="86816" y="69453"/>
                </a:lnTo>
                <a:lnTo>
                  <a:pt x="124023" y="69453"/>
                </a:lnTo>
                <a:cubicBezTo>
                  <a:pt x="136364" y="69453"/>
                  <a:pt x="146348" y="79437"/>
                  <a:pt x="146348" y="91777"/>
                </a:cubicBezTo>
                <a:lnTo>
                  <a:pt x="146348" y="109141"/>
                </a:lnTo>
                <a:lnTo>
                  <a:pt x="148828" y="109141"/>
                </a:lnTo>
                <a:cubicBezTo>
                  <a:pt x="154316" y="109141"/>
                  <a:pt x="158750" y="113574"/>
                  <a:pt x="158750" y="119062"/>
                </a:cubicBezTo>
                <a:lnTo>
                  <a:pt x="158750" y="138906"/>
                </a:lnTo>
                <a:cubicBezTo>
                  <a:pt x="158750" y="144394"/>
                  <a:pt x="154316" y="148828"/>
                  <a:pt x="148828" y="148828"/>
                </a:cubicBezTo>
                <a:lnTo>
                  <a:pt x="128984" y="148828"/>
                </a:lnTo>
                <a:cubicBezTo>
                  <a:pt x="123496" y="148828"/>
                  <a:pt x="119062" y="144394"/>
                  <a:pt x="119062" y="138906"/>
                </a:cubicBezTo>
                <a:lnTo>
                  <a:pt x="119062" y="119062"/>
                </a:lnTo>
                <a:cubicBezTo>
                  <a:pt x="119062" y="113574"/>
                  <a:pt x="123496" y="109141"/>
                  <a:pt x="128984" y="109141"/>
                </a:cubicBezTo>
                <a:lnTo>
                  <a:pt x="131465" y="109141"/>
                </a:lnTo>
                <a:lnTo>
                  <a:pt x="131465" y="91777"/>
                </a:lnTo>
                <a:cubicBezTo>
                  <a:pt x="131465" y="87654"/>
                  <a:pt x="128147" y="84336"/>
                  <a:pt x="124023" y="84336"/>
                </a:cubicBezTo>
                <a:lnTo>
                  <a:pt x="86816" y="84336"/>
                </a:lnTo>
                <a:lnTo>
                  <a:pt x="86816" y="109141"/>
                </a:lnTo>
                <a:lnTo>
                  <a:pt x="89297" y="109141"/>
                </a:lnTo>
                <a:cubicBezTo>
                  <a:pt x="94785" y="109141"/>
                  <a:pt x="99219" y="113574"/>
                  <a:pt x="99219" y="119062"/>
                </a:cubicBezTo>
                <a:lnTo>
                  <a:pt x="99219" y="138906"/>
                </a:lnTo>
                <a:cubicBezTo>
                  <a:pt x="99219" y="144394"/>
                  <a:pt x="94785" y="148828"/>
                  <a:pt x="89297" y="148828"/>
                </a:cubicBezTo>
                <a:lnTo>
                  <a:pt x="69453" y="148828"/>
                </a:lnTo>
                <a:cubicBezTo>
                  <a:pt x="63965" y="148828"/>
                  <a:pt x="59531" y="144394"/>
                  <a:pt x="59531" y="138906"/>
                </a:cubicBezTo>
                <a:lnTo>
                  <a:pt x="59531" y="119062"/>
                </a:lnTo>
                <a:cubicBezTo>
                  <a:pt x="59531" y="113574"/>
                  <a:pt x="63965" y="109141"/>
                  <a:pt x="69453" y="109141"/>
                </a:cubicBezTo>
                <a:lnTo>
                  <a:pt x="71934" y="109141"/>
                </a:lnTo>
                <a:lnTo>
                  <a:pt x="71934" y="84336"/>
                </a:lnTo>
                <a:lnTo>
                  <a:pt x="34727" y="84336"/>
                </a:lnTo>
                <a:cubicBezTo>
                  <a:pt x="30603" y="84336"/>
                  <a:pt x="27285" y="87654"/>
                  <a:pt x="27285" y="91777"/>
                </a:cubicBezTo>
                <a:lnTo>
                  <a:pt x="27285" y="109141"/>
                </a:lnTo>
                <a:lnTo>
                  <a:pt x="29766" y="109141"/>
                </a:lnTo>
                <a:cubicBezTo>
                  <a:pt x="35254" y="109141"/>
                  <a:pt x="39688" y="113574"/>
                  <a:pt x="39688" y="119062"/>
                </a:cubicBezTo>
                <a:lnTo>
                  <a:pt x="39688" y="138906"/>
                </a:lnTo>
                <a:cubicBezTo>
                  <a:pt x="39688" y="144394"/>
                  <a:pt x="35254" y="148828"/>
                  <a:pt x="29766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19062"/>
                </a:lnTo>
                <a:cubicBezTo>
                  <a:pt x="0" y="113574"/>
                  <a:pt x="4434" y="109141"/>
                  <a:pt x="9922" y="109141"/>
                </a:cubicBezTo>
                <a:lnTo>
                  <a:pt x="12402" y="109141"/>
                </a:lnTo>
                <a:lnTo>
                  <a:pt x="12402" y="91777"/>
                </a:lnTo>
                <a:cubicBezTo>
                  <a:pt x="12402" y="79437"/>
                  <a:pt x="22386" y="69453"/>
                  <a:pt x="34727" y="69453"/>
                </a:cubicBezTo>
                <a:lnTo>
                  <a:pt x="71934" y="69453"/>
                </a:lnTo>
                <a:lnTo>
                  <a:pt x="71934" y="49609"/>
                </a:lnTo>
                <a:lnTo>
                  <a:pt x="69453" y="49609"/>
                </a:lnTo>
                <a:cubicBezTo>
                  <a:pt x="63965" y="49609"/>
                  <a:pt x="59531" y="45176"/>
                  <a:pt x="59531" y="39688"/>
                </a:cubicBezTo>
                <a:lnTo>
                  <a:pt x="59531" y="19844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679979" y="4026960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项目结构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89479" y="4376210"/>
            <a:ext cx="5381625" cy="285750"/>
          </a:xfrm>
          <a:custGeom>
            <a:avLst/>
            <a:gdLst/>
            <a:ahLst/>
            <a:cxnLst/>
            <a:rect l="l" t="t" r="r" b="b"/>
            <a:pathLst>
              <a:path w="5381625" h="285750">
                <a:moveTo>
                  <a:pt x="15875" y="0"/>
                </a:moveTo>
                <a:lnTo>
                  <a:pt x="5349875" y="0"/>
                </a:lnTo>
                <a:cubicBezTo>
                  <a:pt x="5367410" y="0"/>
                  <a:pt x="5381625" y="14215"/>
                  <a:pt x="5381625" y="31750"/>
                </a:cubicBezTo>
                <a:lnTo>
                  <a:pt x="5381625" y="254000"/>
                </a:lnTo>
                <a:cubicBezTo>
                  <a:pt x="5381625" y="271535"/>
                  <a:pt x="5367410" y="285750"/>
                  <a:pt x="5349875" y="285750"/>
                </a:cubicBez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489479" y="4376210"/>
            <a:ext cx="15875" cy="285750"/>
          </a:xfrm>
          <a:custGeom>
            <a:avLst/>
            <a:gdLst/>
            <a:ahLst/>
            <a:cxnLst/>
            <a:rect l="l" t="t" r="r" b="b"/>
            <a:pathLst>
              <a:path w="15875" h="285750">
                <a:moveTo>
                  <a:pt x="15875" y="0"/>
                </a:moveTo>
                <a:lnTo>
                  <a:pt x="15875" y="0"/>
                </a:lnTo>
                <a:lnTo>
                  <a:pt x="15875" y="285750"/>
                </a:ln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576792" y="446352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13891" y="97234"/>
                </a:moveTo>
                <a:lnTo>
                  <a:pt x="97234" y="97234"/>
                </a:lnTo>
                <a:cubicBezTo>
                  <a:pt x="104896" y="97234"/>
                  <a:pt x="111125" y="91005"/>
                  <a:pt x="111125" y="83344"/>
                </a:cubicBezTo>
                <a:lnTo>
                  <a:pt x="111125" y="31254"/>
                </a:lnTo>
                <a:cubicBezTo>
                  <a:pt x="111125" y="23592"/>
                  <a:pt x="104896" y="17363"/>
                  <a:pt x="97234" y="17363"/>
                </a:cubicBezTo>
                <a:lnTo>
                  <a:pt x="64830" y="17363"/>
                </a:lnTo>
                <a:cubicBezTo>
                  <a:pt x="63333" y="17363"/>
                  <a:pt x="61857" y="16886"/>
                  <a:pt x="60663" y="15974"/>
                </a:cubicBezTo>
                <a:lnTo>
                  <a:pt x="52329" y="9723"/>
                </a:lnTo>
                <a:cubicBezTo>
                  <a:pt x="49919" y="7922"/>
                  <a:pt x="46989" y="6945"/>
                  <a:pt x="43994" y="6945"/>
                </a:cubicBezTo>
                <a:lnTo>
                  <a:pt x="13891" y="6945"/>
                </a:lnTo>
                <a:cubicBezTo>
                  <a:pt x="6229" y="6945"/>
                  <a:pt x="0" y="13174"/>
                  <a:pt x="0" y="20836"/>
                </a:cubicBezTo>
                <a:lnTo>
                  <a:pt x="0" y="83344"/>
                </a:lnTo>
                <a:cubicBezTo>
                  <a:pt x="0" y="91005"/>
                  <a:pt x="6229" y="97234"/>
                  <a:pt x="13891" y="9723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763323" y="4439710"/>
            <a:ext cx="777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db-pwd-core/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548639" y="4439710"/>
            <a:ext cx="61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核心加解密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9479" y="4725460"/>
            <a:ext cx="5381625" cy="285750"/>
          </a:xfrm>
          <a:custGeom>
            <a:avLst/>
            <a:gdLst/>
            <a:ahLst/>
            <a:cxnLst/>
            <a:rect l="l" t="t" r="r" b="b"/>
            <a:pathLst>
              <a:path w="5381625" h="285750">
                <a:moveTo>
                  <a:pt x="15875" y="0"/>
                </a:moveTo>
                <a:lnTo>
                  <a:pt x="5349875" y="0"/>
                </a:lnTo>
                <a:cubicBezTo>
                  <a:pt x="5367410" y="0"/>
                  <a:pt x="5381625" y="14215"/>
                  <a:pt x="5381625" y="31750"/>
                </a:cubicBezTo>
                <a:lnTo>
                  <a:pt x="5381625" y="254000"/>
                </a:lnTo>
                <a:cubicBezTo>
                  <a:pt x="5381625" y="271535"/>
                  <a:pt x="5367410" y="285750"/>
                  <a:pt x="5349875" y="285750"/>
                </a:cubicBez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489479" y="4725460"/>
            <a:ext cx="15875" cy="285750"/>
          </a:xfrm>
          <a:custGeom>
            <a:avLst/>
            <a:gdLst/>
            <a:ahLst/>
            <a:cxnLst/>
            <a:rect l="l" t="t" r="r" b="b"/>
            <a:pathLst>
              <a:path w="15875" h="285750">
                <a:moveTo>
                  <a:pt x="15875" y="0"/>
                </a:moveTo>
                <a:lnTo>
                  <a:pt x="15875" y="0"/>
                </a:lnTo>
                <a:lnTo>
                  <a:pt x="15875" y="285750"/>
                </a:ln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576792" y="481277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13891" y="97234"/>
                </a:moveTo>
                <a:lnTo>
                  <a:pt x="97234" y="97234"/>
                </a:lnTo>
                <a:cubicBezTo>
                  <a:pt x="104896" y="97234"/>
                  <a:pt x="111125" y="91005"/>
                  <a:pt x="111125" y="83344"/>
                </a:cubicBezTo>
                <a:lnTo>
                  <a:pt x="111125" y="31254"/>
                </a:lnTo>
                <a:cubicBezTo>
                  <a:pt x="111125" y="23592"/>
                  <a:pt x="104896" y="17363"/>
                  <a:pt x="97234" y="17363"/>
                </a:cubicBezTo>
                <a:lnTo>
                  <a:pt x="64830" y="17363"/>
                </a:lnTo>
                <a:cubicBezTo>
                  <a:pt x="63333" y="17363"/>
                  <a:pt x="61857" y="16886"/>
                  <a:pt x="60663" y="15974"/>
                </a:cubicBezTo>
                <a:lnTo>
                  <a:pt x="52329" y="9723"/>
                </a:lnTo>
                <a:cubicBezTo>
                  <a:pt x="49919" y="7922"/>
                  <a:pt x="46989" y="6945"/>
                  <a:pt x="43994" y="6945"/>
                </a:cubicBezTo>
                <a:lnTo>
                  <a:pt x="13891" y="6945"/>
                </a:lnTo>
                <a:cubicBezTo>
                  <a:pt x="6229" y="6945"/>
                  <a:pt x="0" y="13174"/>
                  <a:pt x="0" y="20836"/>
                </a:cubicBezTo>
                <a:lnTo>
                  <a:pt x="0" y="83344"/>
                </a:lnTo>
                <a:cubicBezTo>
                  <a:pt x="0" y="91005"/>
                  <a:pt x="6229" y="97234"/>
                  <a:pt x="13891" y="9723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763323" y="4788960"/>
            <a:ext cx="817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db-pwd-druid/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587665" y="4788960"/>
            <a:ext cx="555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Druid集成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89479" y="5074710"/>
            <a:ext cx="5381625" cy="285750"/>
          </a:xfrm>
          <a:custGeom>
            <a:avLst/>
            <a:gdLst/>
            <a:ahLst/>
            <a:cxnLst/>
            <a:rect l="l" t="t" r="r" b="b"/>
            <a:pathLst>
              <a:path w="5381625" h="285750">
                <a:moveTo>
                  <a:pt x="15875" y="0"/>
                </a:moveTo>
                <a:lnTo>
                  <a:pt x="5349875" y="0"/>
                </a:lnTo>
                <a:cubicBezTo>
                  <a:pt x="5367410" y="0"/>
                  <a:pt x="5381625" y="14215"/>
                  <a:pt x="5381625" y="31750"/>
                </a:cubicBezTo>
                <a:lnTo>
                  <a:pt x="5381625" y="254000"/>
                </a:lnTo>
                <a:cubicBezTo>
                  <a:pt x="5381625" y="271535"/>
                  <a:pt x="5367410" y="285750"/>
                  <a:pt x="5349875" y="285750"/>
                </a:cubicBez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489479" y="5074710"/>
            <a:ext cx="15875" cy="285750"/>
          </a:xfrm>
          <a:custGeom>
            <a:avLst/>
            <a:gdLst/>
            <a:ahLst/>
            <a:cxnLst/>
            <a:rect l="l" t="t" r="r" b="b"/>
            <a:pathLst>
              <a:path w="15875" h="285750">
                <a:moveTo>
                  <a:pt x="15875" y="0"/>
                </a:moveTo>
                <a:lnTo>
                  <a:pt x="15875" y="0"/>
                </a:lnTo>
                <a:lnTo>
                  <a:pt x="15875" y="285750"/>
                </a:ln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576792" y="516202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13891" y="97234"/>
                </a:moveTo>
                <a:lnTo>
                  <a:pt x="97234" y="97234"/>
                </a:lnTo>
                <a:cubicBezTo>
                  <a:pt x="104896" y="97234"/>
                  <a:pt x="111125" y="91005"/>
                  <a:pt x="111125" y="83344"/>
                </a:cubicBezTo>
                <a:lnTo>
                  <a:pt x="111125" y="31254"/>
                </a:lnTo>
                <a:cubicBezTo>
                  <a:pt x="111125" y="23592"/>
                  <a:pt x="104896" y="17363"/>
                  <a:pt x="97234" y="17363"/>
                </a:cubicBezTo>
                <a:lnTo>
                  <a:pt x="64830" y="17363"/>
                </a:lnTo>
                <a:cubicBezTo>
                  <a:pt x="63333" y="17363"/>
                  <a:pt x="61857" y="16886"/>
                  <a:pt x="60663" y="15974"/>
                </a:cubicBezTo>
                <a:lnTo>
                  <a:pt x="52329" y="9723"/>
                </a:lnTo>
                <a:cubicBezTo>
                  <a:pt x="49919" y="7922"/>
                  <a:pt x="46989" y="6945"/>
                  <a:pt x="43994" y="6945"/>
                </a:cubicBezTo>
                <a:lnTo>
                  <a:pt x="13891" y="6945"/>
                </a:lnTo>
                <a:cubicBezTo>
                  <a:pt x="6229" y="6945"/>
                  <a:pt x="0" y="13174"/>
                  <a:pt x="0" y="20836"/>
                </a:cubicBezTo>
                <a:lnTo>
                  <a:pt x="0" y="83344"/>
                </a:lnTo>
                <a:cubicBezTo>
                  <a:pt x="0" y="91005"/>
                  <a:pt x="6229" y="97234"/>
                  <a:pt x="13891" y="9723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763323" y="5138210"/>
            <a:ext cx="1531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db-pwd-spring-boot-starter/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2306340" y="5138210"/>
            <a:ext cx="658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89479" y="5423960"/>
            <a:ext cx="5381625" cy="285750"/>
          </a:xfrm>
          <a:custGeom>
            <a:avLst/>
            <a:gdLst/>
            <a:ahLst/>
            <a:cxnLst/>
            <a:rect l="l" t="t" r="r" b="b"/>
            <a:pathLst>
              <a:path w="5381625" h="285750">
                <a:moveTo>
                  <a:pt x="15875" y="0"/>
                </a:moveTo>
                <a:lnTo>
                  <a:pt x="5349875" y="0"/>
                </a:lnTo>
                <a:cubicBezTo>
                  <a:pt x="5367410" y="0"/>
                  <a:pt x="5381625" y="14215"/>
                  <a:pt x="5381625" y="31750"/>
                </a:cubicBezTo>
                <a:lnTo>
                  <a:pt x="5381625" y="254000"/>
                </a:lnTo>
                <a:cubicBezTo>
                  <a:pt x="5381625" y="271535"/>
                  <a:pt x="5367410" y="285750"/>
                  <a:pt x="5349875" y="285750"/>
                </a:cubicBez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489479" y="5423960"/>
            <a:ext cx="15875" cy="285750"/>
          </a:xfrm>
          <a:custGeom>
            <a:avLst/>
            <a:gdLst/>
            <a:ahLst/>
            <a:cxnLst/>
            <a:rect l="l" t="t" r="r" b="b"/>
            <a:pathLst>
              <a:path w="15875" h="285750">
                <a:moveTo>
                  <a:pt x="15875" y="0"/>
                </a:moveTo>
                <a:lnTo>
                  <a:pt x="15875" y="0"/>
                </a:lnTo>
                <a:lnTo>
                  <a:pt x="15875" y="285750"/>
                </a:ln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576792" y="551127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13891" y="97234"/>
                </a:moveTo>
                <a:lnTo>
                  <a:pt x="97234" y="97234"/>
                </a:lnTo>
                <a:cubicBezTo>
                  <a:pt x="104896" y="97234"/>
                  <a:pt x="111125" y="91005"/>
                  <a:pt x="111125" y="83344"/>
                </a:cubicBezTo>
                <a:lnTo>
                  <a:pt x="111125" y="31254"/>
                </a:lnTo>
                <a:cubicBezTo>
                  <a:pt x="111125" y="23592"/>
                  <a:pt x="104896" y="17363"/>
                  <a:pt x="97234" y="17363"/>
                </a:cubicBezTo>
                <a:lnTo>
                  <a:pt x="64830" y="17363"/>
                </a:lnTo>
                <a:cubicBezTo>
                  <a:pt x="63333" y="17363"/>
                  <a:pt x="61857" y="16886"/>
                  <a:pt x="60663" y="15974"/>
                </a:cubicBezTo>
                <a:lnTo>
                  <a:pt x="52329" y="9723"/>
                </a:lnTo>
                <a:cubicBezTo>
                  <a:pt x="49919" y="7922"/>
                  <a:pt x="46989" y="6945"/>
                  <a:pt x="43994" y="6945"/>
                </a:cubicBezTo>
                <a:lnTo>
                  <a:pt x="13891" y="6945"/>
                </a:lnTo>
                <a:cubicBezTo>
                  <a:pt x="6229" y="6945"/>
                  <a:pt x="0" y="13174"/>
                  <a:pt x="0" y="20836"/>
                </a:cubicBezTo>
                <a:lnTo>
                  <a:pt x="0" y="83344"/>
                </a:lnTo>
                <a:cubicBezTo>
                  <a:pt x="0" y="91005"/>
                  <a:pt x="6229" y="97234"/>
                  <a:pt x="13891" y="97234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/>
          <p:nvPr/>
        </p:nvSpPr>
        <p:spPr>
          <a:xfrm>
            <a:off x="763323" y="5487460"/>
            <a:ext cx="952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db-pwd-mybatis/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720536" y="5487460"/>
            <a:ext cx="682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MyBatis集成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489479" y="5773210"/>
            <a:ext cx="5381625" cy="285750"/>
          </a:xfrm>
          <a:custGeom>
            <a:avLst/>
            <a:gdLst/>
            <a:ahLst/>
            <a:cxnLst/>
            <a:rect l="l" t="t" r="r" b="b"/>
            <a:pathLst>
              <a:path w="5381625" h="285750">
                <a:moveTo>
                  <a:pt x="15875" y="0"/>
                </a:moveTo>
                <a:lnTo>
                  <a:pt x="5349875" y="0"/>
                </a:lnTo>
                <a:cubicBezTo>
                  <a:pt x="5367410" y="0"/>
                  <a:pt x="5381625" y="14215"/>
                  <a:pt x="5381625" y="31750"/>
                </a:cubicBezTo>
                <a:lnTo>
                  <a:pt x="5381625" y="254000"/>
                </a:lnTo>
                <a:cubicBezTo>
                  <a:pt x="5381625" y="271535"/>
                  <a:pt x="5367410" y="285750"/>
                  <a:pt x="5349875" y="285750"/>
                </a:cubicBez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2"/>
          <p:cNvSpPr/>
          <p:nvPr/>
        </p:nvSpPr>
        <p:spPr>
          <a:xfrm>
            <a:off x="489479" y="5773210"/>
            <a:ext cx="15875" cy="285750"/>
          </a:xfrm>
          <a:custGeom>
            <a:avLst/>
            <a:gdLst/>
            <a:ahLst/>
            <a:cxnLst/>
            <a:rect l="l" t="t" r="r" b="b"/>
            <a:pathLst>
              <a:path w="15875" h="285750">
                <a:moveTo>
                  <a:pt x="15875" y="0"/>
                </a:moveTo>
                <a:lnTo>
                  <a:pt x="15875" y="0"/>
                </a:lnTo>
                <a:lnTo>
                  <a:pt x="15875" y="285750"/>
                </a:lnTo>
                <a:lnTo>
                  <a:pt x="15875" y="285750"/>
                </a:lnTo>
                <a:cubicBezTo>
                  <a:pt x="7113" y="285750"/>
                  <a:pt x="0" y="278637"/>
                  <a:pt x="0" y="269875"/>
                </a:cubicBezTo>
                <a:lnTo>
                  <a:pt x="0" y="15875"/>
                </a:lnTo>
                <a:cubicBezTo>
                  <a:pt x="0" y="7113"/>
                  <a:pt x="7113" y="0"/>
                  <a:pt x="15875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576792" y="586052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13891" y="97234"/>
                </a:moveTo>
                <a:lnTo>
                  <a:pt x="97234" y="97234"/>
                </a:lnTo>
                <a:cubicBezTo>
                  <a:pt x="104896" y="97234"/>
                  <a:pt x="111125" y="91005"/>
                  <a:pt x="111125" y="83344"/>
                </a:cubicBezTo>
                <a:lnTo>
                  <a:pt x="111125" y="31254"/>
                </a:lnTo>
                <a:cubicBezTo>
                  <a:pt x="111125" y="23592"/>
                  <a:pt x="104896" y="17363"/>
                  <a:pt x="97234" y="17363"/>
                </a:cubicBezTo>
                <a:lnTo>
                  <a:pt x="64830" y="17363"/>
                </a:lnTo>
                <a:cubicBezTo>
                  <a:pt x="63333" y="17363"/>
                  <a:pt x="61857" y="16886"/>
                  <a:pt x="60663" y="15974"/>
                </a:cubicBezTo>
                <a:lnTo>
                  <a:pt x="52329" y="9723"/>
                </a:lnTo>
                <a:cubicBezTo>
                  <a:pt x="49919" y="7922"/>
                  <a:pt x="46989" y="6945"/>
                  <a:pt x="43994" y="6945"/>
                </a:cubicBezTo>
                <a:lnTo>
                  <a:pt x="13891" y="6945"/>
                </a:lnTo>
                <a:cubicBezTo>
                  <a:pt x="6229" y="6945"/>
                  <a:pt x="0" y="13174"/>
                  <a:pt x="0" y="20836"/>
                </a:cubicBezTo>
                <a:lnTo>
                  <a:pt x="0" y="83344"/>
                </a:lnTo>
                <a:cubicBezTo>
                  <a:pt x="0" y="91005"/>
                  <a:pt x="6229" y="97234"/>
                  <a:pt x="13891" y="97234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/>
          <p:nvPr/>
        </p:nvSpPr>
        <p:spPr>
          <a:xfrm>
            <a:off x="763323" y="5836710"/>
            <a:ext cx="444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demos/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212619" y="5836710"/>
            <a:ext cx="82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Demo应用(9个)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484188" y="6156855"/>
            <a:ext cx="5378979" cy="354542"/>
          </a:xfrm>
          <a:custGeom>
            <a:avLst/>
            <a:gdLst/>
            <a:ahLst/>
            <a:cxnLst/>
            <a:rect l="l" t="t" r="r" b="b"/>
            <a:pathLst>
              <a:path w="5378979" h="354542">
                <a:moveTo>
                  <a:pt x="63498" y="0"/>
                </a:moveTo>
                <a:lnTo>
                  <a:pt x="5315481" y="0"/>
                </a:lnTo>
                <a:cubicBezTo>
                  <a:pt x="5350550" y="0"/>
                  <a:pt x="5378979" y="28429"/>
                  <a:pt x="5378979" y="63498"/>
                </a:cubicBezTo>
                <a:lnTo>
                  <a:pt x="5378979" y="291043"/>
                </a:lnTo>
                <a:cubicBezTo>
                  <a:pt x="5378979" y="326112"/>
                  <a:pt x="5350550" y="354542"/>
                  <a:pt x="5315481" y="354542"/>
                </a:cubicBezTo>
                <a:lnTo>
                  <a:pt x="63498" y="354542"/>
                </a:lnTo>
                <a:cubicBezTo>
                  <a:pt x="28429" y="354542"/>
                  <a:pt x="0" y="326112"/>
                  <a:pt x="0" y="291043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597958" y="6275919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0" name="Text 68"/>
          <p:cNvSpPr/>
          <p:nvPr/>
        </p:nvSpPr>
        <p:spPr>
          <a:xfrm>
            <a:off x="764646" y="6254750"/>
            <a:ext cx="505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全流程AI生成：</a:t>
            </a: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架构设计、核心代码、集成模块、Demo应用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162146" y="3865565"/>
            <a:ext cx="5712354" cy="3315229"/>
          </a:xfrm>
          <a:custGeom>
            <a:avLst/>
            <a:gdLst/>
            <a:ahLst/>
            <a:cxnLst/>
            <a:rect l="l" t="t" r="r" b="b"/>
            <a:pathLst>
              <a:path w="5712354" h="3315229">
                <a:moveTo>
                  <a:pt x="95247" y="0"/>
                </a:moveTo>
                <a:lnTo>
                  <a:pt x="5617108" y="0"/>
                </a:lnTo>
                <a:cubicBezTo>
                  <a:pt x="5669711" y="0"/>
                  <a:pt x="5712354" y="42643"/>
                  <a:pt x="5712354" y="95247"/>
                </a:cubicBezTo>
                <a:lnTo>
                  <a:pt x="5712354" y="3219983"/>
                </a:lnTo>
                <a:cubicBezTo>
                  <a:pt x="5712354" y="3272586"/>
                  <a:pt x="5669711" y="3315229"/>
                  <a:pt x="5617108" y="3315229"/>
                </a:cubicBezTo>
                <a:lnTo>
                  <a:pt x="95247" y="3315229"/>
                </a:lnTo>
                <a:cubicBezTo>
                  <a:pt x="42643" y="3315229"/>
                  <a:pt x="0" y="3272586"/>
                  <a:pt x="0" y="3219983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Shape 70"/>
          <p:cNvSpPr/>
          <p:nvPr/>
        </p:nvSpPr>
        <p:spPr>
          <a:xfrm>
            <a:off x="6343386" y="405871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0" y="22324"/>
                </a:moveTo>
                <a:cubicBezTo>
                  <a:pt x="0" y="18231"/>
                  <a:pt x="3318" y="14883"/>
                  <a:pt x="7441" y="14883"/>
                </a:cubicBezTo>
                <a:lnTo>
                  <a:pt x="22324" y="14883"/>
                </a:lnTo>
                <a:cubicBezTo>
                  <a:pt x="26448" y="14883"/>
                  <a:pt x="29766" y="18200"/>
                  <a:pt x="29766" y="22324"/>
                </a:cubicBezTo>
                <a:lnTo>
                  <a:pt x="29766" y="54570"/>
                </a:lnTo>
                <a:lnTo>
                  <a:pt x="37207" y="54570"/>
                </a:lnTo>
                <a:cubicBezTo>
                  <a:pt x="41331" y="54570"/>
                  <a:pt x="44648" y="57888"/>
                  <a:pt x="44648" y="62012"/>
                </a:cubicBezTo>
                <a:cubicBezTo>
                  <a:pt x="44648" y="66135"/>
                  <a:pt x="41331" y="69453"/>
                  <a:pt x="37207" y="69453"/>
                </a:cubicBezTo>
                <a:lnTo>
                  <a:pt x="7441" y="69453"/>
                </a:lnTo>
                <a:cubicBezTo>
                  <a:pt x="3318" y="69453"/>
                  <a:pt x="0" y="66135"/>
                  <a:pt x="0" y="62012"/>
                </a:cubicBezTo>
                <a:cubicBezTo>
                  <a:pt x="0" y="57888"/>
                  <a:pt x="3318" y="54570"/>
                  <a:pt x="7441" y="54570"/>
                </a:cubicBezTo>
                <a:lnTo>
                  <a:pt x="14883" y="54570"/>
                </a:lnTo>
                <a:lnTo>
                  <a:pt x="14883" y="29766"/>
                </a:lnTo>
                <a:lnTo>
                  <a:pt x="7441" y="29766"/>
                </a:lnTo>
                <a:cubicBezTo>
                  <a:pt x="3318" y="29766"/>
                  <a:pt x="0" y="26448"/>
                  <a:pt x="0" y="22324"/>
                </a:cubicBezTo>
                <a:close/>
                <a:moveTo>
                  <a:pt x="9426" y="93390"/>
                </a:moveTo>
                <a:cubicBezTo>
                  <a:pt x="12960" y="90723"/>
                  <a:pt x="17270" y="89297"/>
                  <a:pt x="21704" y="89297"/>
                </a:cubicBezTo>
                <a:lnTo>
                  <a:pt x="23223" y="89297"/>
                </a:lnTo>
                <a:cubicBezTo>
                  <a:pt x="33672" y="89297"/>
                  <a:pt x="42168" y="97792"/>
                  <a:pt x="42168" y="108241"/>
                </a:cubicBezTo>
                <a:cubicBezTo>
                  <a:pt x="42168" y="114319"/>
                  <a:pt x="39253" y="119993"/>
                  <a:pt x="34354" y="123558"/>
                </a:cubicBezTo>
                <a:lnTo>
                  <a:pt x="26913" y="128984"/>
                </a:lnTo>
                <a:lnTo>
                  <a:pt x="37207" y="128984"/>
                </a:lnTo>
                <a:cubicBezTo>
                  <a:pt x="41331" y="128984"/>
                  <a:pt x="44648" y="132302"/>
                  <a:pt x="44648" y="136426"/>
                </a:cubicBezTo>
                <a:cubicBezTo>
                  <a:pt x="44648" y="140550"/>
                  <a:pt x="41331" y="143867"/>
                  <a:pt x="37207" y="143867"/>
                </a:cubicBezTo>
                <a:lnTo>
                  <a:pt x="9085" y="143867"/>
                </a:lnTo>
                <a:cubicBezTo>
                  <a:pt x="4062" y="143867"/>
                  <a:pt x="0" y="139805"/>
                  <a:pt x="0" y="134782"/>
                </a:cubicBezTo>
                <a:cubicBezTo>
                  <a:pt x="0" y="131868"/>
                  <a:pt x="1395" y="129139"/>
                  <a:pt x="3752" y="127434"/>
                </a:cubicBezTo>
                <a:lnTo>
                  <a:pt x="25611" y="111528"/>
                </a:lnTo>
                <a:cubicBezTo>
                  <a:pt x="26665" y="110753"/>
                  <a:pt x="27285" y="109544"/>
                  <a:pt x="27285" y="108241"/>
                </a:cubicBezTo>
                <a:cubicBezTo>
                  <a:pt x="27285" y="106009"/>
                  <a:pt x="25456" y="104180"/>
                  <a:pt x="23223" y="104180"/>
                </a:cubicBezTo>
                <a:lnTo>
                  <a:pt x="21704" y="104180"/>
                </a:lnTo>
                <a:cubicBezTo>
                  <a:pt x="20495" y="104180"/>
                  <a:pt x="19317" y="104583"/>
                  <a:pt x="18355" y="105296"/>
                </a:cubicBezTo>
                <a:lnTo>
                  <a:pt x="11906" y="110133"/>
                </a:lnTo>
                <a:cubicBezTo>
                  <a:pt x="8620" y="112613"/>
                  <a:pt x="3969" y="111931"/>
                  <a:pt x="1488" y="108645"/>
                </a:cubicBezTo>
                <a:cubicBezTo>
                  <a:pt x="-992" y="105358"/>
                  <a:pt x="-310" y="100707"/>
                  <a:pt x="2977" y="98227"/>
                </a:cubicBezTo>
                <a:lnTo>
                  <a:pt x="9426" y="93390"/>
                </a:lnTo>
                <a:close/>
                <a:moveTo>
                  <a:pt x="69453" y="19844"/>
                </a:moveTo>
                <a:lnTo>
                  <a:pt x="148828" y="19844"/>
                </a:lnTo>
                <a:cubicBezTo>
                  <a:pt x="154316" y="19844"/>
                  <a:pt x="158750" y="24278"/>
                  <a:pt x="158750" y="29766"/>
                </a:cubicBezTo>
                <a:cubicBezTo>
                  <a:pt x="158750" y="35254"/>
                  <a:pt x="154316" y="39688"/>
                  <a:pt x="148828" y="39688"/>
                </a:cubicBezTo>
                <a:lnTo>
                  <a:pt x="69453" y="39688"/>
                </a:lnTo>
                <a:cubicBezTo>
                  <a:pt x="63965" y="39688"/>
                  <a:pt x="59531" y="35254"/>
                  <a:pt x="59531" y="29766"/>
                </a:cubicBezTo>
                <a:cubicBezTo>
                  <a:pt x="59531" y="24278"/>
                  <a:pt x="63965" y="19844"/>
                  <a:pt x="69453" y="19844"/>
                </a:cubicBezTo>
                <a:close/>
                <a:moveTo>
                  <a:pt x="69453" y="69453"/>
                </a:moveTo>
                <a:lnTo>
                  <a:pt x="148828" y="69453"/>
                </a:lnTo>
                <a:cubicBezTo>
                  <a:pt x="154316" y="69453"/>
                  <a:pt x="158750" y="73887"/>
                  <a:pt x="158750" y="79375"/>
                </a:cubicBezTo>
                <a:cubicBezTo>
                  <a:pt x="158750" y="84863"/>
                  <a:pt x="154316" y="89297"/>
                  <a:pt x="148828" y="89297"/>
                </a:cubicBezTo>
                <a:lnTo>
                  <a:pt x="69453" y="89297"/>
                </a:lnTo>
                <a:cubicBezTo>
                  <a:pt x="63965" y="89297"/>
                  <a:pt x="59531" y="84863"/>
                  <a:pt x="59531" y="79375"/>
                </a:cubicBezTo>
                <a:cubicBezTo>
                  <a:pt x="59531" y="73887"/>
                  <a:pt x="63965" y="69453"/>
                  <a:pt x="69453" y="69453"/>
                </a:cubicBezTo>
                <a:close/>
                <a:moveTo>
                  <a:pt x="69453" y="119062"/>
                </a:moveTo>
                <a:lnTo>
                  <a:pt x="148828" y="119062"/>
                </a:lnTo>
                <a:cubicBezTo>
                  <a:pt x="154316" y="119062"/>
                  <a:pt x="158750" y="123496"/>
                  <a:pt x="158750" y="128984"/>
                </a:cubicBezTo>
                <a:cubicBezTo>
                  <a:pt x="158750" y="134472"/>
                  <a:pt x="154316" y="138906"/>
                  <a:pt x="148828" y="138906"/>
                </a:cubicBezTo>
                <a:lnTo>
                  <a:pt x="69453" y="138906"/>
                </a:lnTo>
                <a:cubicBezTo>
                  <a:pt x="63965" y="138906"/>
                  <a:pt x="59531" y="134472"/>
                  <a:pt x="59531" y="128984"/>
                </a:cubicBezTo>
                <a:cubicBezTo>
                  <a:pt x="59531" y="123496"/>
                  <a:pt x="63965" y="119062"/>
                  <a:pt x="69453" y="119062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3" name="Text 71"/>
          <p:cNvSpPr/>
          <p:nvPr/>
        </p:nvSpPr>
        <p:spPr>
          <a:xfrm>
            <a:off x="6521979" y="4026960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7种集成模式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326188" y="4378855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/>
          <p:nvPr/>
        </p:nvSpPr>
        <p:spPr>
          <a:xfrm>
            <a:off x="6364552" y="4445000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方案1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6368521" y="4603750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Druid连接池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7378650" y="4773085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自动解密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9051396" y="4378855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Text 77"/>
          <p:cNvSpPr/>
          <p:nvPr/>
        </p:nvSpPr>
        <p:spPr>
          <a:xfrm>
            <a:off x="9089761" y="4445000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方案2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9093730" y="4603750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10103859" y="4773085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自动解密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6326188" y="5056190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/>
          <p:nvPr/>
        </p:nvSpPr>
        <p:spPr>
          <a:xfrm>
            <a:off x="6364552" y="5122335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方案3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6368521" y="5281085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传统Spring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7378650" y="5450419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自动解密</a:t>
            </a:r>
            <a:endParaRPr lang="en-US" sz="1600" dirty="0"/>
          </a:p>
        </p:txBody>
      </p:sp>
      <p:sp>
        <p:nvSpPr>
          <p:cNvPr id="86" name="Shape 84"/>
          <p:cNvSpPr/>
          <p:nvPr/>
        </p:nvSpPr>
        <p:spPr>
          <a:xfrm>
            <a:off x="9051396" y="5056190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/>
          <p:nvPr/>
        </p:nvSpPr>
        <p:spPr>
          <a:xfrm>
            <a:off x="9089761" y="5122335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方案4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9093730" y="5281085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MyBatis</a:t>
            </a:r>
            <a:endParaRPr lang="en-US" sz="1600" dirty="0"/>
          </a:p>
        </p:txBody>
      </p:sp>
      <p:sp>
        <p:nvSpPr>
          <p:cNvPr id="89" name="Text 87"/>
          <p:cNvSpPr/>
          <p:nvPr/>
        </p:nvSpPr>
        <p:spPr>
          <a:xfrm>
            <a:off x="10103859" y="5450419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自动解密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6326188" y="5733521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8D99A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Text 89"/>
          <p:cNvSpPr/>
          <p:nvPr/>
        </p:nvSpPr>
        <p:spPr>
          <a:xfrm>
            <a:off x="6364552" y="5799669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方案5</a:t>
            </a:r>
            <a:endParaRPr lang="en-US" sz="1600" dirty="0"/>
          </a:p>
        </p:txBody>
      </p:sp>
      <p:sp>
        <p:nvSpPr>
          <p:cNvPr id="92" name="Text 90"/>
          <p:cNvSpPr/>
          <p:nvPr/>
        </p:nvSpPr>
        <p:spPr>
          <a:xfrm>
            <a:off x="6368521" y="5958419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纯JDBC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7482665" y="6127750"/>
            <a:ext cx="343462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手动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9051396" y="5733521"/>
            <a:ext cx="2656417" cy="608542"/>
          </a:xfrm>
          <a:custGeom>
            <a:avLst/>
            <a:gdLst/>
            <a:ahLst/>
            <a:cxnLst/>
            <a:rect l="l" t="t" r="r" b="b"/>
            <a:pathLst>
              <a:path w="2656417" h="608542">
                <a:moveTo>
                  <a:pt x="31748" y="0"/>
                </a:moveTo>
                <a:lnTo>
                  <a:pt x="2624669" y="0"/>
                </a:lnTo>
                <a:cubicBezTo>
                  <a:pt x="2642203" y="0"/>
                  <a:pt x="2656417" y="14214"/>
                  <a:pt x="2656417" y="31748"/>
                </a:cubicBezTo>
                <a:lnTo>
                  <a:pt x="2656417" y="576794"/>
                </a:lnTo>
                <a:cubicBezTo>
                  <a:pt x="2656417" y="594328"/>
                  <a:pt x="2642203" y="608542"/>
                  <a:pt x="2624669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8467">
            <a:solidFill>
              <a:srgbClr val="8D99A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Text 93"/>
          <p:cNvSpPr/>
          <p:nvPr/>
        </p:nvSpPr>
        <p:spPr>
          <a:xfrm>
            <a:off x="9089761" y="5799669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方案6</a:t>
            </a:r>
            <a:endParaRPr lang="en-US" sz="1600" dirty="0"/>
          </a:p>
        </p:txBody>
      </p:sp>
      <p:sp>
        <p:nvSpPr>
          <p:cNvPr id="96" name="Text 94"/>
          <p:cNvSpPr/>
          <p:nvPr/>
        </p:nvSpPr>
        <p:spPr>
          <a:xfrm>
            <a:off x="9093730" y="5958419"/>
            <a:ext cx="257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Servlet/Web</a:t>
            </a:r>
            <a:endParaRPr lang="en-US" sz="1600" dirty="0"/>
          </a:p>
        </p:txBody>
      </p:sp>
      <p:sp>
        <p:nvSpPr>
          <p:cNvPr id="97" name="Text 95"/>
          <p:cNvSpPr/>
          <p:nvPr/>
        </p:nvSpPr>
        <p:spPr>
          <a:xfrm>
            <a:off x="10103859" y="6127750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自动解密</a:t>
            </a:r>
            <a:endParaRPr lang="en-US" sz="1600" dirty="0"/>
          </a:p>
        </p:txBody>
      </p:sp>
      <p:sp>
        <p:nvSpPr>
          <p:cNvPr id="98" name="Shape 96"/>
          <p:cNvSpPr/>
          <p:nvPr/>
        </p:nvSpPr>
        <p:spPr>
          <a:xfrm>
            <a:off x="6326188" y="6410855"/>
            <a:ext cx="5378979" cy="608542"/>
          </a:xfrm>
          <a:custGeom>
            <a:avLst/>
            <a:gdLst/>
            <a:ahLst/>
            <a:cxnLst/>
            <a:rect l="l" t="t" r="r" b="b"/>
            <a:pathLst>
              <a:path w="5378979" h="608542">
                <a:moveTo>
                  <a:pt x="31748" y="0"/>
                </a:moveTo>
                <a:lnTo>
                  <a:pt x="5347232" y="0"/>
                </a:lnTo>
                <a:cubicBezTo>
                  <a:pt x="5364765" y="0"/>
                  <a:pt x="5378979" y="14214"/>
                  <a:pt x="5378979" y="31748"/>
                </a:cubicBezTo>
                <a:lnTo>
                  <a:pt x="5378979" y="576794"/>
                </a:lnTo>
                <a:cubicBezTo>
                  <a:pt x="5378979" y="594328"/>
                  <a:pt x="5364765" y="608542"/>
                  <a:pt x="5347232" y="608542"/>
                </a:cubicBezTo>
                <a:lnTo>
                  <a:pt x="31748" y="608542"/>
                </a:lnTo>
                <a:cubicBezTo>
                  <a:pt x="14214" y="608542"/>
                  <a:pt x="0" y="594328"/>
                  <a:pt x="0" y="576794"/>
                </a:cubicBezTo>
                <a:lnTo>
                  <a:pt x="0" y="31748"/>
                </a:lnTo>
                <a:cubicBezTo>
                  <a:pt x="0" y="14226"/>
                  <a:pt x="14226" y="0"/>
                  <a:pt x="31748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Text 97"/>
          <p:cNvSpPr/>
          <p:nvPr/>
        </p:nvSpPr>
        <p:spPr>
          <a:xfrm>
            <a:off x="6364552" y="6477000"/>
            <a:ext cx="5302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方案7：零代码集成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6368521" y="6635750"/>
            <a:ext cx="5294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通过ServletContext共享DataSource</a:t>
            </a:r>
            <a:endParaRPr lang="en-US" sz="1600" dirty="0"/>
          </a:p>
        </p:txBody>
      </p:sp>
      <p:sp>
        <p:nvSpPr>
          <p:cNvPr id="101" name="Text 99"/>
          <p:cNvSpPr/>
          <p:nvPr/>
        </p:nvSpPr>
        <p:spPr>
          <a:xfrm>
            <a:off x="8741255" y="6805085"/>
            <a:ext cx="55140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完全自动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31750" cy="317500"/>
          </a:xfrm>
          <a:custGeom>
            <a:avLst/>
            <a:gdLst/>
            <a:ahLst/>
            <a:cxnLst/>
            <a:rect l="l" t="t" r="r" b="b"/>
            <a:pathLst>
              <a:path w="31750" h="317500">
                <a:moveTo>
                  <a:pt x="0" y="0"/>
                </a:moveTo>
                <a:lnTo>
                  <a:pt x="31750" y="0"/>
                </a:lnTo>
                <a:lnTo>
                  <a:pt x="31750" y="317500"/>
                </a:lnTo>
                <a:lnTo>
                  <a:pt x="0" y="3175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44500" y="3175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SKILL驱动技术改造方法论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4500" y="698500"/>
            <a:ext cx="1149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FROM MANUAL TO AUTOMATION - SKILL-DRIVEN TRANSFORMATION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146" y="1018646"/>
            <a:ext cx="5712354" cy="2997729"/>
          </a:xfrm>
          <a:custGeom>
            <a:avLst/>
            <a:gdLst/>
            <a:ahLst/>
            <a:cxnLst/>
            <a:rect l="l" t="t" r="r" b="b"/>
            <a:pathLst>
              <a:path w="5712354" h="2997729">
                <a:moveTo>
                  <a:pt x="95238" y="0"/>
                </a:moveTo>
                <a:lnTo>
                  <a:pt x="5617116" y="0"/>
                </a:lnTo>
                <a:cubicBezTo>
                  <a:pt x="5669715" y="0"/>
                  <a:pt x="5712354" y="42639"/>
                  <a:pt x="5712354" y="95238"/>
                </a:cubicBezTo>
                <a:lnTo>
                  <a:pt x="5712354" y="2902491"/>
                </a:lnTo>
                <a:cubicBezTo>
                  <a:pt x="5712354" y="2955090"/>
                  <a:pt x="5669715" y="2997729"/>
                  <a:pt x="5617116" y="2997729"/>
                </a:cubicBezTo>
                <a:lnTo>
                  <a:pt x="95238" y="2997729"/>
                </a:lnTo>
                <a:cubicBezTo>
                  <a:pt x="42639" y="2997729"/>
                  <a:pt x="0" y="2955090"/>
                  <a:pt x="0" y="2902491"/>
                </a:cubicBezTo>
                <a:lnTo>
                  <a:pt x="0" y="95238"/>
                </a:lnTo>
                <a:cubicBezTo>
                  <a:pt x="0" y="42675"/>
                  <a:pt x="42675" y="0"/>
                  <a:pt x="95238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1385" y="1211794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55835" y="46695"/>
                </a:moveTo>
                <a:lnTo>
                  <a:pt x="126070" y="76460"/>
                </a:lnTo>
                <a:cubicBezTo>
                  <a:pt x="123217" y="79313"/>
                  <a:pt x="118969" y="80150"/>
                  <a:pt x="115249" y="78600"/>
                </a:cubicBezTo>
                <a:cubicBezTo>
                  <a:pt x="111528" y="77050"/>
                  <a:pt x="109141" y="73453"/>
                  <a:pt x="109141" y="69453"/>
                </a:cubicBezTo>
                <a:lnTo>
                  <a:pt x="109141" y="49609"/>
                </a:lnTo>
                <a:lnTo>
                  <a:pt x="9922" y="49609"/>
                </a:lnTo>
                <a:cubicBezTo>
                  <a:pt x="4434" y="49609"/>
                  <a:pt x="0" y="45176"/>
                  <a:pt x="0" y="39688"/>
                </a:cubicBezTo>
                <a:cubicBezTo>
                  <a:pt x="0" y="34199"/>
                  <a:pt x="4434" y="29766"/>
                  <a:pt x="9922" y="29766"/>
                </a:cubicBezTo>
                <a:lnTo>
                  <a:pt x="109141" y="29766"/>
                </a:lnTo>
                <a:lnTo>
                  <a:pt x="109141" y="9922"/>
                </a:lnTo>
                <a:cubicBezTo>
                  <a:pt x="109141" y="5922"/>
                  <a:pt x="111559" y="2294"/>
                  <a:pt x="115280" y="744"/>
                </a:cubicBezTo>
                <a:cubicBezTo>
                  <a:pt x="119000" y="-806"/>
                  <a:pt x="123248" y="62"/>
                  <a:pt x="126101" y="2884"/>
                </a:cubicBezTo>
                <a:lnTo>
                  <a:pt x="155866" y="32649"/>
                </a:lnTo>
                <a:cubicBezTo>
                  <a:pt x="159742" y="36525"/>
                  <a:pt x="159742" y="42819"/>
                  <a:pt x="155866" y="46695"/>
                </a:cubicBezTo>
                <a:close/>
                <a:moveTo>
                  <a:pt x="32649" y="155835"/>
                </a:moveTo>
                <a:lnTo>
                  <a:pt x="2884" y="126070"/>
                </a:lnTo>
                <a:cubicBezTo>
                  <a:pt x="-992" y="122194"/>
                  <a:pt x="-992" y="115900"/>
                  <a:pt x="2884" y="112024"/>
                </a:cubicBezTo>
                <a:lnTo>
                  <a:pt x="32649" y="82259"/>
                </a:lnTo>
                <a:cubicBezTo>
                  <a:pt x="35502" y="79406"/>
                  <a:pt x="39750" y="78569"/>
                  <a:pt x="43470" y="80119"/>
                </a:cubicBezTo>
                <a:cubicBezTo>
                  <a:pt x="47191" y="81669"/>
                  <a:pt x="49609" y="85297"/>
                  <a:pt x="49609" y="89297"/>
                </a:cubicBezTo>
                <a:lnTo>
                  <a:pt x="49609" y="109141"/>
                </a:lnTo>
                <a:lnTo>
                  <a:pt x="148828" y="109141"/>
                </a:lnTo>
                <a:cubicBezTo>
                  <a:pt x="154316" y="109141"/>
                  <a:pt x="158750" y="113574"/>
                  <a:pt x="158750" y="119062"/>
                </a:cubicBezTo>
                <a:cubicBezTo>
                  <a:pt x="158750" y="124551"/>
                  <a:pt x="154316" y="128984"/>
                  <a:pt x="148828" y="128984"/>
                </a:cubicBezTo>
                <a:lnTo>
                  <a:pt x="49609" y="128984"/>
                </a:lnTo>
                <a:lnTo>
                  <a:pt x="49609" y="148828"/>
                </a:lnTo>
                <a:cubicBezTo>
                  <a:pt x="49609" y="152828"/>
                  <a:pt x="47191" y="156456"/>
                  <a:pt x="43470" y="158006"/>
                </a:cubicBezTo>
                <a:cubicBezTo>
                  <a:pt x="39750" y="159556"/>
                  <a:pt x="35502" y="158688"/>
                  <a:pt x="32649" y="155866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79979" y="1180044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传统模式 vs AI新模式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7417" y="1529294"/>
            <a:ext cx="5373688" cy="984250"/>
          </a:xfrm>
          <a:custGeom>
            <a:avLst/>
            <a:gdLst/>
            <a:ahLst/>
            <a:cxnLst/>
            <a:rect l="l" t="t" r="r" b="b"/>
            <a:pathLst>
              <a:path w="5373688" h="984250">
                <a:moveTo>
                  <a:pt x="31750" y="0"/>
                </a:moveTo>
                <a:lnTo>
                  <a:pt x="5310184" y="0"/>
                </a:lnTo>
                <a:cubicBezTo>
                  <a:pt x="5345256" y="0"/>
                  <a:pt x="5373688" y="28432"/>
                  <a:pt x="5373688" y="63504"/>
                </a:cubicBezTo>
                <a:lnTo>
                  <a:pt x="5373688" y="920746"/>
                </a:lnTo>
                <a:cubicBezTo>
                  <a:pt x="5373687" y="955818"/>
                  <a:pt x="5345256" y="984250"/>
                  <a:pt x="5310184" y="984250"/>
                </a:cubicBezTo>
                <a:lnTo>
                  <a:pt x="31750" y="984250"/>
                </a:lnTo>
                <a:cubicBezTo>
                  <a:pt x="14215" y="984250"/>
                  <a:pt x="0" y="970035"/>
                  <a:pt x="0" y="9525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497417" y="1529294"/>
            <a:ext cx="31750" cy="984250"/>
          </a:xfrm>
          <a:custGeom>
            <a:avLst/>
            <a:gdLst/>
            <a:ahLst/>
            <a:cxnLst/>
            <a:rect l="l" t="t" r="r" b="b"/>
            <a:pathLst>
              <a:path w="31750" h="984250">
                <a:moveTo>
                  <a:pt x="31750" y="0"/>
                </a:moveTo>
                <a:lnTo>
                  <a:pt x="31750" y="0"/>
                </a:lnTo>
                <a:lnTo>
                  <a:pt x="31750" y="984250"/>
                </a:lnTo>
                <a:lnTo>
                  <a:pt x="31750" y="984250"/>
                </a:lnTo>
                <a:cubicBezTo>
                  <a:pt x="14227" y="984250"/>
                  <a:pt x="0" y="970023"/>
                  <a:pt x="0" y="9525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08542" y="1624544"/>
            <a:ext cx="523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传统模式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8542" y="1878544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框架开发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63170" y="1878544"/>
            <a:ext cx="865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实现底层组件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542" y="2069044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使用手册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63170" y="2069044"/>
            <a:ext cx="865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提供集成文档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8542" y="2259544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集成实施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52045" y="2259544"/>
            <a:ext cx="976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⚠ 效率低，易出错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7417" y="2611440"/>
            <a:ext cx="5368396" cy="1180042"/>
          </a:xfrm>
          <a:custGeom>
            <a:avLst/>
            <a:gdLst/>
            <a:ahLst/>
            <a:cxnLst/>
            <a:rect l="l" t="t" r="r" b="b"/>
            <a:pathLst>
              <a:path w="5368396" h="1180042">
                <a:moveTo>
                  <a:pt x="63498" y="0"/>
                </a:moveTo>
                <a:lnTo>
                  <a:pt x="5304898" y="0"/>
                </a:lnTo>
                <a:cubicBezTo>
                  <a:pt x="5339967" y="0"/>
                  <a:pt x="5368396" y="28429"/>
                  <a:pt x="5368396" y="63498"/>
                </a:cubicBezTo>
                <a:lnTo>
                  <a:pt x="5368396" y="1116544"/>
                </a:lnTo>
                <a:cubicBezTo>
                  <a:pt x="5368396" y="1151613"/>
                  <a:pt x="5339967" y="1180042"/>
                  <a:pt x="5304898" y="1180042"/>
                </a:cubicBezTo>
                <a:lnTo>
                  <a:pt x="63498" y="1180042"/>
                </a:lnTo>
                <a:cubicBezTo>
                  <a:pt x="28429" y="1180042"/>
                  <a:pt x="0" y="1151613"/>
                  <a:pt x="0" y="1116544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08542" y="2709335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SKILL自动化模式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542" y="2963335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交互方式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01167" y="2963335"/>
            <a:ext cx="72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自然语言指令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8542" y="3153835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学习成本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45154" y="3153835"/>
            <a:ext cx="674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低(描述需求)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8542" y="3344335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出错概率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56279" y="3344335"/>
            <a:ext cx="563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低(标准化)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542" y="3534835"/>
            <a:ext cx="500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执行速度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34542" y="3534835"/>
            <a:ext cx="388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分钟级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62146" y="1018646"/>
            <a:ext cx="5712354" cy="2997729"/>
          </a:xfrm>
          <a:custGeom>
            <a:avLst/>
            <a:gdLst/>
            <a:ahLst/>
            <a:cxnLst/>
            <a:rect l="l" t="t" r="r" b="b"/>
            <a:pathLst>
              <a:path w="5712354" h="2997729">
                <a:moveTo>
                  <a:pt x="95238" y="0"/>
                </a:moveTo>
                <a:lnTo>
                  <a:pt x="5617116" y="0"/>
                </a:lnTo>
                <a:cubicBezTo>
                  <a:pt x="5669715" y="0"/>
                  <a:pt x="5712354" y="42639"/>
                  <a:pt x="5712354" y="95238"/>
                </a:cubicBezTo>
                <a:lnTo>
                  <a:pt x="5712354" y="2902491"/>
                </a:lnTo>
                <a:cubicBezTo>
                  <a:pt x="5712354" y="2955090"/>
                  <a:pt x="5669715" y="2997729"/>
                  <a:pt x="5617116" y="2997729"/>
                </a:cubicBezTo>
                <a:lnTo>
                  <a:pt x="95238" y="2997729"/>
                </a:lnTo>
                <a:cubicBezTo>
                  <a:pt x="42639" y="2997729"/>
                  <a:pt x="0" y="2955090"/>
                  <a:pt x="0" y="2902491"/>
                </a:cubicBezTo>
                <a:lnTo>
                  <a:pt x="0" y="95238"/>
                </a:lnTo>
                <a:cubicBezTo>
                  <a:pt x="0" y="42675"/>
                  <a:pt x="42675" y="0"/>
                  <a:pt x="95238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6323542" y="121179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09141" y="0"/>
                </a:moveTo>
                <a:cubicBezTo>
                  <a:pt x="109141" y="-5488"/>
                  <a:pt x="104707" y="-9922"/>
                  <a:pt x="99219" y="-9922"/>
                </a:cubicBezTo>
                <a:cubicBezTo>
                  <a:pt x="93731" y="-9922"/>
                  <a:pt x="89297" y="-5488"/>
                  <a:pt x="89297" y="0"/>
                </a:cubicBezTo>
                <a:lnTo>
                  <a:pt x="89297" y="19844"/>
                </a:lnTo>
                <a:lnTo>
                  <a:pt x="59531" y="19844"/>
                </a:lnTo>
                <a:cubicBezTo>
                  <a:pt x="43098" y="19844"/>
                  <a:pt x="29766" y="33176"/>
                  <a:pt x="29766" y="49609"/>
                </a:cubicBezTo>
                <a:lnTo>
                  <a:pt x="29766" y="119062"/>
                </a:lnTo>
                <a:cubicBezTo>
                  <a:pt x="29766" y="135496"/>
                  <a:pt x="43098" y="148828"/>
                  <a:pt x="59531" y="148828"/>
                </a:cubicBezTo>
                <a:lnTo>
                  <a:pt x="138906" y="148828"/>
                </a:lnTo>
                <a:cubicBezTo>
                  <a:pt x="155339" y="148828"/>
                  <a:pt x="168672" y="135496"/>
                  <a:pt x="168672" y="119062"/>
                </a:cubicBezTo>
                <a:lnTo>
                  <a:pt x="168672" y="49609"/>
                </a:lnTo>
                <a:cubicBezTo>
                  <a:pt x="168672" y="33176"/>
                  <a:pt x="155339" y="19844"/>
                  <a:pt x="138906" y="19844"/>
                </a:cubicBezTo>
                <a:lnTo>
                  <a:pt x="109141" y="19844"/>
                </a:lnTo>
                <a:lnTo>
                  <a:pt x="109141" y="0"/>
                </a:lnTo>
                <a:close/>
                <a:moveTo>
                  <a:pt x="49609" y="114102"/>
                </a:moveTo>
                <a:cubicBezTo>
                  <a:pt x="49609" y="109978"/>
                  <a:pt x="52927" y="106660"/>
                  <a:pt x="57051" y="106660"/>
                </a:cubicBezTo>
                <a:lnTo>
                  <a:pt x="66973" y="106660"/>
                </a:lnTo>
                <a:cubicBezTo>
                  <a:pt x="71096" y="106660"/>
                  <a:pt x="74414" y="109978"/>
                  <a:pt x="74414" y="114102"/>
                </a:cubicBezTo>
                <a:cubicBezTo>
                  <a:pt x="74414" y="118225"/>
                  <a:pt x="71096" y="121543"/>
                  <a:pt x="66973" y="121543"/>
                </a:cubicBezTo>
                <a:lnTo>
                  <a:pt x="57051" y="121543"/>
                </a:lnTo>
                <a:cubicBezTo>
                  <a:pt x="52927" y="121543"/>
                  <a:pt x="49609" y="118225"/>
                  <a:pt x="49609" y="114102"/>
                </a:cubicBezTo>
                <a:close/>
                <a:moveTo>
                  <a:pt x="86816" y="114102"/>
                </a:moveTo>
                <a:cubicBezTo>
                  <a:pt x="86816" y="109978"/>
                  <a:pt x="90134" y="106660"/>
                  <a:pt x="94258" y="106660"/>
                </a:cubicBezTo>
                <a:lnTo>
                  <a:pt x="104180" y="106660"/>
                </a:lnTo>
                <a:cubicBezTo>
                  <a:pt x="108303" y="106660"/>
                  <a:pt x="111621" y="109978"/>
                  <a:pt x="111621" y="114102"/>
                </a:cubicBezTo>
                <a:cubicBezTo>
                  <a:pt x="111621" y="118225"/>
                  <a:pt x="108303" y="121543"/>
                  <a:pt x="104180" y="121543"/>
                </a:cubicBezTo>
                <a:lnTo>
                  <a:pt x="94258" y="121543"/>
                </a:lnTo>
                <a:cubicBezTo>
                  <a:pt x="90134" y="121543"/>
                  <a:pt x="86816" y="118225"/>
                  <a:pt x="86816" y="114102"/>
                </a:cubicBezTo>
                <a:close/>
                <a:moveTo>
                  <a:pt x="124023" y="114102"/>
                </a:moveTo>
                <a:cubicBezTo>
                  <a:pt x="124023" y="109978"/>
                  <a:pt x="127341" y="106660"/>
                  <a:pt x="131465" y="106660"/>
                </a:cubicBezTo>
                <a:lnTo>
                  <a:pt x="141387" y="106660"/>
                </a:lnTo>
                <a:cubicBezTo>
                  <a:pt x="145510" y="106660"/>
                  <a:pt x="148828" y="109978"/>
                  <a:pt x="148828" y="114102"/>
                </a:cubicBezTo>
                <a:cubicBezTo>
                  <a:pt x="148828" y="118225"/>
                  <a:pt x="145510" y="121543"/>
                  <a:pt x="141387" y="121543"/>
                </a:cubicBezTo>
                <a:lnTo>
                  <a:pt x="131465" y="121543"/>
                </a:lnTo>
                <a:cubicBezTo>
                  <a:pt x="127341" y="121543"/>
                  <a:pt x="124023" y="118225"/>
                  <a:pt x="124023" y="114102"/>
                </a:cubicBezTo>
                <a:close/>
                <a:moveTo>
                  <a:pt x="69453" y="54570"/>
                </a:moveTo>
                <a:cubicBezTo>
                  <a:pt x="77667" y="54570"/>
                  <a:pt x="84336" y="61239"/>
                  <a:pt x="84336" y="69453"/>
                </a:cubicBezTo>
                <a:cubicBezTo>
                  <a:pt x="84336" y="77667"/>
                  <a:pt x="77667" y="84336"/>
                  <a:pt x="69453" y="84336"/>
                </a:cubicBezTo>
                <a:cubicBezTo>
                  <a:pt x="61239" y="84336"/>
                  <a:pt x="54570" y="77667"/>
                  <a:pt x="54570" y="69453"/>
                </a:cubicBezTo>
                <a:cubicBezTo>
                  <a:pt x="54570" y="61239"/>
                  <a:pt x="61239" y="54570"/>
                  <a:pt x="69453" y="54570"/>
                </a:cubicBezTo>
                <a:close/>
                <a:moveTo>
                  <a:pt x="114102" y="69453"/>
                </a:moveTo>
                <a:cubicBezTo>
                  <a:pt x="114102" y="61239"/>
                  <a:pt x="120770" y="54570"/>
                  <a:pt x="128984" y="54570"/>
                </a:cubicBezTo>
                <a:cubicBezTo>
                  <a:pt x="137198" y="54570"/>
                  <a:pt x="143867" y="61239"/>
                  <a:pt x="143867" y="69453"/>
                </a:cubicBezTo>
                <a:cubicBezTo>
                  <a:pt x="143867" y="77667"/>
                  <a:pt x="137198" y="84336"/>
                  <a:pt x="128984" y="84336"/>
                </a:cubicBezTo>
                <a:cubicBezTo>
                  <a:pt x="120770" y="84336"/>
                  <a:pt x="114102" y="77667"/>
                  <a:pt x="114102" y="69453"/>
                </a:cubicBezTo>
                <a:close/>
                <a:moveTo>
                  <a:pt x="19844" y="69453"/>
                </a:moveTo>
                <a:cubicBezTo>
                  <a:pt x="19844" y="63965"/>
                  <a:pt x="15410" y="59531"/>
                  <a:pt x="9922" y="59531"/>
                </a:cubicBezTo>
                <a:cubicBezTo>
                  <a:pt x="4434" y="59531"/>
                  <a:pt x="0" y="63965"/>
                  <a:pt x="0" y="69453"/>
                </a:cubicBezTo>
                <a:lnTo>
                  <a:pt x="0" y="99219"/>
                </a:lnTo>
                <a:cubicBezTo>
                  <a:pt x="0" y="104707"/>
                  <a:pt x="4434" y="109141"/>
                  <a:pt x="9922" y="109141"/>
                </a:cubicBezTo>
                <a:cubicBezTo>
                  <a:pt x="15410" y="109141"/>
                  <a:pt x="19844" y="104707"/>
                  <a:pt x="19844" y="99219"/>
                </a:cubicBezTo>
                <a:lnTo>
                  <a:pt x="19844" y="69453"/>
                </a:lnTo>
                <a:close/>
                <a:moveTo>
                  <a:pt x="188516" y="59531"/>
                </a:moveTo>
                <a:cubicBezTo>
                  <a:pt x="183028" y="59531"/>
                  <a:pt x="178594" y="63965"/>
                  <a:pt x="178594" y="69453"/>
                </a:cubicBezTo>
                <a:lnTo>
                  <a:pt x="178594" y="99219"/>
                </a:lnTo>
                <a:cubicBezTo>
                  <a:pt x="178594" y="104707"/>
                  <a:pt x="183028" y="109141"/>
                  <a:pt x="188516" y="109141"/>
                </a:cubicBezTo>
                <a:cubicBezTo>
                  <a:pt x="194004" y="109141"/>
                  <a:pt x="198438" y="104707"/>
                  <a:pt x="198438" y="99219"/>
                </a:cubicBezTo>
                <a:lnTo>
                  <a:pt x="198438" y="69453"/>
                </a:lnTo>
                <a:cubicBezTo>
                  <a:pt x="198438" y="63965"/>
                  <a:pt x="194004" y="59531"/>
                  <a:pt x="188516" y="595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521979" y="1180044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SKILL自动化集成流程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23542" y="1576919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457322" y="1640419"/>
            <a:ext cx="111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736292" y="1529294"/>
            <a:ext cx="4976813" cy="412750"/>
          </a:xfrm>
          <a:custGeom>
            <a:avLst/>
            <a:gdLst/>
            <a:ahLst/>
            <a:cxnLst/>
            <a:rect l="l" t="t" r="r" b="b"/>
            <a:pathLst>
              <a:path w="4976813" h="412750">
                <a:moveTo>
                  <a:pt x="63502" y="0"/>
                </a:moveTo>
                <a:lnTo>
                  <a:pt x="4913311" y="0"/>
                </a:lnTo>
                <a:cubicBezTo>
                  <a:pt x="4948382" y="0"/>
                  <a:pt x="4976813" y="28431"/>
                  <a:pt x="4976813" y="63502"/>
                </a:cubicBezTo>
                <a:lnTo>
                  <a:pt x="4976813" y="349248"/>
                </a:lnTo>
                <a:cubicBezTo>
                  <a:pt x="4976813" y="384319"/>
                  <a:pt x="4948382" y="412750"/>
                  <a:pt x="4913311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799792" y="1592794"/>
            <a:ext cx="4905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用户输入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99792" y="1751544"/>
            <a:ext cx="4897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"帮我集成数据库密码加密"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23542" y="2053169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446573" y="2116669"/>
            <a:ext cx="134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736292" y="2005544"/>
            <a:ext cx="4976813" cy="412750"/>
          </a:xfrm>
          <a:custGeom>
            <a:avLst/>
            <a:gdLst/>
            <a:ahLst/>
            <a:cxnLst/>
            <a:rect l="l" t="t" r="r" b="b"/>
            <a:pathLst>
              <a:path w="4976813" h="412750">
                <a:moveTo>
                  <a:pt x="63502" y="0"/>
                </a:moveTo>
                <a:lnTo>
                  <a:pt x="4913311" y="0"/>
                </a:lnTo>
                <a:cubicBezTo>
                  <a:pt x="4948382" y="0"/>
                  <a:pt x="4976813" y="28431"/>
                  <a:pt x="4976813" y="63502"/>
                </a:cubicBezTo>
                <a:lnTo>
                  <a:pt x="4976813" y="349248"/>
                </a:lnTo>
                <a:cubicBezTo>
                  <a:pt x="4976813" y="384319"/>
                  <a:pt x="4948382" y="412750"/>
                  <a:pt x="4913311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6799792" y="2069044"/>
            <a:ext cx="4905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AI扫描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99792" y="2227794"/>
            <a:ext cx="4897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检测项目类型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23542" y="2529419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6444920" y="2592919"/>
            <a:ext cx="134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736292" y="2481794"/>
            <a:ext cx="4976813" cy="412750"/>
          </a:xfrm>
          <a:custGeom>
            <a:avLst/>
            <a:gdLst/>
            <a:ahLst/>
            <a:cxnLst/>
            <a:rect l="l" t="t" r="r" b="b"/>
            <a:pathLst>
              <a:path w="4976813" h="412750">
                <a:moveTo>
                  <a:pt x="63502" y="0"/>
                </a:moveTo>
                <a:lnTo>
                  <a:pt x="4913311" y="0"/>
                </a:lnTo>
                <a:cubicBezTo>
                  <a:pt x="4948382" y="0"/>
                  <a:pt x="4976813" y="28431"/>
                  <a:pt x="4976813" y="63502"/>
                </a:cubicBezTo>
                <a:lnTo>
                  <a:pt x="4976813" y="349248"/>
                </a:lnTo>
                <a:cubicBezTo>
                  <a:pt x="4976813" y="384319"/>
                  <a:pt x="4948382" y="412750"/>
                  <a:pt x="4913311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799792" y="2545294"/>
            <a:ext cx="4905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AI推荐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799792" y="2704044"/>
            <a:ext cx="4897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匹配最佳方案(7选1)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23542" y="3005669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6445002" y="3069169"/>
            <a:ext cx="134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736292" y="2958044"/>
            <a:ext cx="4976813" cy="412750"/>
          </a:xfrm>
          <a:custGeom>
            <a:avLst/>
            <a:gdLst/>
            <a:ahLst/>
            <a:cxnLst/>
            <a:rect l="l" t="t" r="r" b="b"/>
            <a:pathLst>
              <a:path w="4976813" h="412750">
                <a:moveTo>
                  <a:pt x="63502" y="0"/>
                </a:moveTo>
                <a:lnTo>
                  <a:pt x="4913311" y="0"/>
                </a:lnTo>
                <a:cubicBezTo>
                  <a:pt x="4948382" y="0"/>
                  <a:pt x="4976813" y="28431"/>
                  <a:pt x="4976813" y="63502"/>
                </a:cubicBezTo>
                <a:lnTo>
                  <a:pt x="4976813" y="349248"/>
                </a:lnTo>
                <a:cubicBezTo>
                  <a:pt x="4976813" y="384319"/>
                  <a:pt x="4948382" y="412750"/>
                  <a:pt x="4913311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6799792" y="3021544"/>
            <a:ext cx="4905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AI执行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799792" y="3180294"/>
            <a:ext cx="4897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添加依赖、修改配置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26188" y="3489855"/>
            <a:ext cx="314854" cy="314854"/>
          </a:xfrm>
          <a:custGeom>
            <a:avLst/>
            <a:gdLst/>
            <a:ahLst/>
            <a:cxnLst/>
            <a:rect l="l" t="t" r="r" b="b"/>
            <a:pathLst>
              <a:path w="314854" h="314854">
                <a:moveTo>
                  <a:pt x="157427" y="0"/>
                </a:moveTo>
                <a:lnTo>
                  <a:pt x="157427" y="0"/>
                </a:lnTo>
                <a:cubicBezTo>
                  <a:pt x="244313" y="0"/>
                  <a:pt x="314854" y="70541"/>
                  <a:pt x="314854" y="157427"/>
                </a:cubicBezTo>
                <a:lnTo>
                  <a:pt x="314854" y="157427"/>
                </a:lnTo>
                <a:cubicBezTo>
                  <a:pt x="314854" y="244313"/>
                  <a:pt x="244313" y="314854"/>
                  <a:pt x="157427" y="314854"/>
                </a:cubicBezTo>
                <a:lnTo>
                  <a:pt x="157427" y="314854"/>
                </a:lnTo>
                <a:cubicBezTo>
                  <a:pt x="70541" y="314854"/>
                  <a:pt x="0" y="244313"/>
                  <a:pt x="0" y="157427"/>
                </a:cubicBezTo>
                <a:lnTo>
                  <a:pt x="0" y="157427"/>
                </a:lnTo>
                <a:cubicBezTo>
                  <a:pt x="0" y="70541"/>
                  <a:pt x="70541" y="0"/>
                  <a:pt x="157427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 w="8467">
            <a:solidFill>
              <a:srgbClr val="5E8B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6444341" y="3550710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738938" y="3436940"/>
            <a:ext cx="4966229" cy="418042"/>
          </a:xfrm>
          <a:custGeom>
            <a:avLst/>
            <a:gdLst/>
            <a:ahLst/>
            <a:cxnLst/>
            <a:rect l="l" t="t" r="r" b="b"/>
            <a:pathLst>
              <a:path w="4966229" h="418042">
                <a:moveTo>
                  <a:pt x="63501" y="0"/>
                </a:moveTo>
                <a:lnTo>
                  <a:pt x="4902729" y="0"/>
                </a:lnTo>
                <a:cubicBezTo>
                  <a:pt x="4937799" y="0"/>
                  <a:pt x="4966229" y="28430"/>
                  <a:pt x="4966229" y="63501"/>
                </a:cubicBezTo>
                <a:lnTo>
                  <a:pt x="4966229" y="354541"/>
                </a:lnTo>
                <a:cubicBezTo>
                  <a:pt x="4966229" y="389612"/>
                  <a:pt x="4937799" y="418042"/>
                  <a:pt x="4902729" y="418042"/>
                </a:cubicBezTo>
                <a:lnTo>
                  <a:pt x="63501" y="418042"/>
                </a:lnTo>
                <a:cubicBezTo>
                  <a:pt x="28430" y="418042"/>
                  <a:pt x="0" y="389612"/>
                  <a:pt x="0" y="354541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/>
          <p:nvPr/>
        </p:nvSpPr>
        <p:spPr>
          <a:xfrm>
            <a:off x="6805084" y="3503085"/>
            <a:ext cx="4889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AI验证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805084" y="3661835"/>
            <a:ext cx="4881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编译检查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20146" y="4151315"/>
            <a:ext cx="5712354" cy="2823104"/>
          </a:xfrm>
          <a:custGeom>
            <a:avLst/>
            <a:gdLst/>
            <a:ahLst/>
            <a:cxnLst/>
            <a:rect l="l" t="t" r="r" b="b"/>
            <a:pathLst>
              <a:path w="5712354" h="2823104">
                <a:moveTo>
                  <a:pt x="95252" y="0"/>
                </a:moveTo>
                <a:lnTo>
                  <a:pt x="5617103" y="0"/>
                </a:lnTo>
                <a:cubicBezTo>
                  <a:pt x="5669709" y="0"/>
                  <a:pt x="5712354" y="42646"/>
                  <a:pt x="5712354" y="95252"/>
                </a:cubicBezTo>
                <a:lnTo>
                  <a:pt x="5712354" y="2727853"/>
                </a:lnTo>
                <a:cubicBezTo>
                  <a:pt x="5712354" y="2780459"/>
                  <a:pt x="5669709" y="2823104"/>
                  <a:pt x="5617103" y="2823104"/>
                </a:cubicBezTo>
                <a:lnTo>
                  <a:pt x="95252" y="2823104"/>
                </a:lnTo>
                <a:cubicBezTo>
                  <a:pt x="42646" y="2823104"/>
                  <a:pt x="0" y="2780459"/>
                  <a:pt x="0" y="2727853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521229" y="434446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77484" y="20712"/>
                </a:moveTo>
                <a:cubicBezTo>
                  <a:pt x="80708" y="16278"/>
                  <a:pt x="79716" y="10077"/>
                  <a:pt x="75282" y="6852"/>
                </a:cubicBezTo>
                <a:cubicBezTo>
                  <a:pt x="70848" y="3628"/>
                  <a:pt x="64647" y="4620"/>
                  <a:pt x="61423" y="9054"/>
                </a:cubicBezTo>
                <a:lnTo>
                  <a:pt x="28556" y="54229"/>
                </a:lnTo>
                <a:lnTo>
                  <a:pt x="16929" y="42602"/>
                </a:lnTo>
                <a:cubicBezTo>
                  <a:pt x="13053" y="38726"/>
                  <a:pt x="6759" y="38726"/>
                  <a:pt x="2884" y="42602"/>
                </a:cubicBezTo>
                <a:cubicBezTo>
                  <a:pt x="-992" y="46478"/>
                  <a:pt x="-992" y="52772"/>
                  <a:pt x="2884" y="56648"/>
                </a:cubicBezTo>
                <a:lnTo>
                  <a:pt x="22727" y="76491"/>
                </a:lnTo>
                <a:cubicBezTo>
                  <a:pt x="24774" y="78538"/>
                  <a:pt x="27626" y="79592"/>
                  <a:pt x="30510" y="79375"/>
                </a:cubicBezTo>
                <a:cubicBezTo>
                  <a:pt x="33393" y="79158"/>
                  <a:pt x="36060" y="77670"/>
                  <a:pt x="37765" y="75313"/>
                </a:cubicBezTo>
                <a:lnTo>
                  <a:pt x="77453" y="20743"/>
                </a:lnTo>
                <a:close/>
                <a:moveTo>
                  <a:pt x="117171" y="62880"/>
                </a:moveTo>
                <a:cubicBezTo>
                  <a:pt x="120396" y="58446"/>
                  <a:pt x="119404" y="52245"/>
                  <a:pt x="114970" y="49020"/>
                </a:cubicBezTo>
                <a:cubicBezTo>
                  <a:pt x="110536" y="45796"/>
                  <a:pt x="104335" y="46788"/>
                  <a:pt x="101110" y="51222"/>
                </a:cubicBezTo>
                <a:lnTo>
                  <a:pt x="48400" y="123682"/>
                </a:lnTo>
                <a:lnTo>
                  <a:pt x="26851" y="102133"/>
                </a:lnTo>
                <a:cubicBezTo>
                  <a:pt x="22975" y="98258"/>
                  <a:pt x="16681" y="98258"/>
                  <a:pt x="12805" y="102133"/>
                </a:cubicBezTo>
                <a:cubicBezTo>
                  <a:pt x="8930" y="106009"/>
                  <a:pt x="8930" y="112303"/>
                  <a:pt x="12805" y="116179"/>
                </a:cubicBezTo>
                <a:lnTo>
                  <a:pt x="42571" y="145945"/>
                </a:lnTo>
                <a:cubicBezTo>
                  <a:pt x="44617" y="147991"/>
                  <a:pt x="47470" y="149045"/>
                  <a:pt x="50354" y="148828"/>
                </a:cubicBezTo>
                <a:cubicBezTo>
                  <a:pt x="53237" y="148611"/>
                  <a:pt x="55904" y="147123"/>
                  <a:pt x="57609" y="144766"/>
                </a:cubicBezTo>
                <a:lnTo>
                  <a:pt x="117140" y="62911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679979" y="4312710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适用场景分析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81542" y="4661960"/>
            <a:ext cx="5389563" cy="285750"/>
          </a:xfrm>
          <a:custGeom>
            <a:avLst/>
            <a:gdLst/>
            <a:ahLst/>
            <a:cxnLst/>
            <a:rect l="l" t="t" r="r" b="b"/>
            <a:pathLst>
              <a:path w="5389563" h="285750">
                <a:moveTo>
                  <a:pt x="63499" y="0"/>
                </a:moveTo>
                <a:lnTo>
                  <a:pt x="5326063" y="0"/>
                </a:lnTo>
                <a:cubicBezTo>
                  <a:pt x="5361133" y="0"/>
                  <a:pt x="5389563" y="28430"/>
                  <a:pt x="5389563" y="63499"/>
                </a:cubicBezTo>
                <a:lnTo>
                  <a:pt x="5389563" y="222251"/>
                </a:lnTo>
                <a:cubicBezTo>
                  <a:pt x="5389563" y="257320"/>
                  <a:pt x="5361133" y="285750"/>
                  <a:pt x="53260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545042" y="4725460"/>
            <a:ext cx="72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全新项目开发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5088599" y="4757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59"/>
          <p:cNvSpPr/>
          <p:nvPr/>
        </p:nvSpPr>
        <p:spPr>
          <a:xfrm>
            <a:off x="5239412" y="4757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5390224" y="4757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5541037" y="4757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2"/>
          <p:cNvSpPr/>
          <p:nvPr/>
        </p:nvSpPr>
        <p:spPr>
          <a:xfrm>
            <a:off x="5691849" y="4757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481542" y="5011210"/>
            <a:ext cx="5389563" cy="285750"/>
          </a:xfrm>
          <a:custGeom>
            <a:avLst/>
            <a:gdLst/>
            <a:ahLst/>
            <a:cxnLst/>
            <a:rect l="l" t="t" r="r" b="b"/>
            <a:pathLst>
              <a:path w="5389563" h="285750">
                <a:moveTo>
                  <a:pt x="63499" y="0"/>
                </a:moveTo>
                <a:lnTo>
                  <a:pt x="5326063" y="0"/>
                </a:lnTo>
                <a:cubicBezTo>
                  <a:pt x="5361133" y="0"/>
                  <a:pt x="5389563" y="28430"/>
                  <a:pt x="5389563" y="63499"/>
                </a:cubicBezTo>
                <a:lnTo>
                  <a:pt x="5389563" y="222251"/>
                </a:lnTo>
                <a:cubicBezTo>
                  <a:pt x="5389563" y="257320"/>
                  <a:pt x="5361133" y="285750"/>
                  <a:pt x="53260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/>
          <p:nvPr/>
        </p:nvSpPr>
        <p:spPr>
          <a:xfrm>
            <a:off x="545042" y="5074710"/>
            <a:ext cx="1008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原型/MVP快速验证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5088599" y="51064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8" name="Shape 66"/>
          <p:cNvSpPr/>
          <p:nvPr/>
        </p:nvSpPr>
        <p:spPr>
          <a:xfrm>
            <a:off x="5239412" y="51064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5390224" y="51064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8"/>
          <p:cNvSpPr/>
          <p:nvPr/>
        </p:nvSpPr>
        <p:spPr>
          <a:xfrm>
            <a:off x="5541037" y="51064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5691849" y="51064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2" name="Shape 70"/>
          <p:cNvSpPr/>
          <p:nvPr/>
        </p:nvSpPr>
        <p:spPr>
          <a:xfrm>
            <a:off x="481542" y="5360460"/>
            <a:ext cx="5389563" cy="285750"/>
          </a:xfrm>
          <a:custGeom>
            <a:avLst/>
            <a:gdLst/>
            <a:ahLst/>
            <a:cxnLst/>
            <a:rect l="l" t="t" r="r" b="b"/>
            <a:pathLst>
              <a:path w="5389563" h="285750">
                <a:moveTo>
                  <a:pt x="63499" y="0"/>
                </a:moveTo>
                <a:lnTo>
                  <a:pt x="5326063" y="0"/>
                </a:lnTo>
                <a:cubicBezTo>
                  <a:pt x="5361133" y="0"/>
                  <a:pt x="5389563" y="28430"/>
                  <a:pt x="5389563" y="63499"/>
                </a:cubicBezTo>
                <a:lnTo>
                  <a:pt x="5389563" y="222251"/>
                </a:lnTo>
                <a:cubicBezTo>
                  <a:pt x="5389563" y="257320"/>
                  <a:pt x="5361133" y="285750"/>
                  <a:pt x="53260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3" name="Text 71"/>
          <p:cNvSpPr/>
          <p:nvPr/>
        </p:nvSpPr>
        <p:spPr>
          <a:xfrm>
            <a:off x="545042" y="5423960"/>
            <a:ext cx="61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技术改造类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5088599" y="54557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5" name="Shape 73"/>
          <p:cNvSpPr/>
          <p:nvPr/>
        </p:nvSpPr>
        <p:spPr>
          <a:xfrm>
            <a:off x="5239412" y="54557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6" name="Shape 74"/>
          <p:cNvSpPr/>
          <p:nvPr/>
        </p:nvSpPr>
        <p:spPr>
          <a:xfrm>
            <a:off x="5390224" y="54557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7" name="Shape 75"/>
          <p:cNvSpPr/>
          <p:nvPr/>
        </p:nvSpPr>
        <p:spPr>
          <a:xfrm>
            <a:off x="5541037" y="54557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8" name="Shape 76"/>
          <p:cNvSpPr/>
          <p:nvPr/>
        </p:nvSpPr>
        <p:spPr>
          <a:xfrm>
            <a:off x="5691849" y="54557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3597" y="-5953"/>
                </a:moveTo>
                <a:cubicBezTo>
                  <a:pt x="55271" y="-5953"/>
                  <a:pt x="56815" y="-5004"/>
                  <a:pt x="57578" y="-3516"/>
                </a:cubicBezTo>
                <a:lnTo>
                  <a:pt x="71251" y="23310"/>
                </a:lnTo>
                <a:lnTo>
                  <a:pt x="100998" y="28035"/>
                </a:lnTo>
                <a:cubicBezTo>
                  <a:pt x="102654" y="28296"/>
                  <a:pt x="104031" y="29468"/>
                  <a:pt x="104552" y="31068"/>
                </a:cubicBezTo>
                <a:cubicBezTo>
                  <a:pt x="105073" y="32668"/>
                  <a:pt x="104645" y="34417"/>
                  <a:pt x="103473" y="35607"/>
                </a:cubicBezTo>
                <a:lnTo>
                  <a:pt x="82172" y="56908"/>
                </a:lnTo>
                <a:lnTo>
                  <a:pt x="86878" y="86655"/>
                </a:lnTo>
                <a:cubicBezTo>
                  <a:pt x="87139" y="88311"/>
                  <a:pt x="86451" y="89985"/>
                  <a:pt x="85092" y="90971"/>
                </a:cubicBezTo>
                <a:cubicBezTo>
                  <a:pt x="83734" y="91957"/>
                  <a:pt x="81930" y="92106"/>
                  <a:pt x="80442" y="91343"/>
                </a:cubicBezTo>
                <a:lnTo>
                  <a:pt x="53597" y="77688"/>
                </a:lnTo>
                <a:lnTo>
                  <a:pt x="26752" y="91343"/>
                </a:lnTo>
                <a:cubicBezTo>
                  <a:pt x="25264" y="92106"/>
                  <a:pt x="23459" y="91957"/>
                  <a:pt x="22101" y="90971"/>
                </a:cubicBezTo>
                <a:cubicBezTo>
                  <a:pt x="20743" y="89985"/>
                  <a:pt x="20055" y="88329"/>
                  <a:pt x="20315" y="86655"/>
                </a:cubicBezTo>
                <a:lnTo>
                  <a:pt x="25003" y="56908"/>
                </a:lnTo>
                <a:lnTo>
                  <a:pt x="3721" y="35607"/>
                </a:lnTo>
                <a:cubicBezTo>
                  <a:pt x="2530" y="34417"/>
                  <a:pt x="2121" y="32668"/>
                  <a:pt x="2642" y="31068"/>
                </a:cubicBezTo>
                <a:cubicBezTo>
                  <a:pt x="3163" y="29468"/>
                  <a:pt x="4521" y="28296"/>
                  <a:pt x="6195" y="28035"/>
                </a:cubicBezTo>
                <a:lnTo>
                  <a:pt x="35942" y="23310"/>
                </a:lnTo>
                <a:lnTo>
                  <a:pt x="49634" y="-3516"/>
                </a:lnTo>
                <a:cubicBezTo>
                  <a:pt x="50397" y="-5004"/>
                  <a:pt x="51941" y="-5953"/>
                  <a:pt x="53615" y="-5953"/>
                </a:cubicBezTo>
                <a:close/>
                <a:moveTo>
                  <a:pt x="53597" y="8334"/>
                </a:moveTo>
                <a:lnTo>
                  <a:pt x="42844" y="29394"/>
                </a:lnTo>
                <a:cubicBezTo>
                  <a:pt x="42193" y="30659"/>
                  <a:pt x="40984" y="31552"/>
                  <a:pt x="39570" y="31775"/>
                </a:cubicBezTo>
                <a:lnTo>
                  <a:pt x="16222" y="35496"/>
                </a:lnTo>
                <a:lnTo>
                  <a:pt x="32928" y="52220"/>
                </a:lnTo>
                <a:cubicBezTo>
                  <a:pt x="33933" y="53225"/>
                  <a:pt x="34398" y="54657"/>
                  <a:pt x="34175" y="56071"/>
                </a:cubicBezTo>
                <a:lnTo>
                  <a:pt x="30491" y="79418"/>
                </a:lnTo>
                <a:lnTo>
                  <a:pt x="51569" y="68703"/>
                </a:lnTo>
                <a:cubicBezTo>
                  <a:pt x="52834" y="68052"/>
                  <a:pt x="54341" y="68052"/>
                  <a:pt x="55625" y="68703"/>
                </a:cubicBezTo>
                <a:lnTo>
                  <a:pt x="76702" y="79418"/>
                </a:lnTo>
                <a:lnTo>
                  <a:pt x="73019" y="56071"/>
                </a:lnTo>
                <a:cubicBezTo>
                  <a:pt x="72796" y="54657"/>
                  <a:pt x="73261" y="53225"/>
                  <a:pt x="74265" y="52220"/>
                </a:cubicBezTo>
                <a:lnTo>
                  <a:pt x="90971" y="35496"/>
                </a:lnTo>
                <a:lnTo>
                  <a:pt x="67624" y="31775"/>
                </a:lnTo>
                <a:cubicBezTo>
                  <a:pt x="66210" y="31552"/>
                  <a:pt x="65001" y="30659"/>
                  <a:pt x="64350" y="29394"/>
                </a:cubicBezTo>
                <a:lnTo>
                  <a:pt x="53597" y="8334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9" name="Shape 77"/>
          <p:cNvSpPr/>
          <p:nvPr/>
        </p:nvSpPr>
        <p:spPr>
          <a:xfrm>
            <a:off x="481542" y="5709710"/>
            <a:ext cx="5389563" cy="285750"/>
          </a:xfrm>
          <a:custGeom>
            <a:avLst/>
            <a:gdLst/>
            <a:ahLst/>
            <a:cxnLst/>
            <a:rect l="l" t="t" r="r" b="b"/>
            <a:pathLst>
              <a:path w="5389563" h="285750">
                <a:moveTo>
                  <a:pt x="63499" y="0"/>
                </a:moveTo>
                <a:lnTo>
                  <a:pt x="5326063" y="0"/>
                </a:lnTo>
                <a:cubicBezTo>
                  <a:pt x="5361133" y="0"/>
                  <a:pt x="5389563" y="28430"/>
                  <a:pt x="5389563" y="63499"/>
                </a:cubicBezTo>
                <a:lnTo>
                  <a:pt x="5389563" y="222251"/>
                </a:lnTo>
                <a:cubicBezTo>
                  <a:pt x="5389563" y="257320"/>
                  <a:pt x="5361133" y="285750"/>
                  <a:pt x="53260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8"/>
          <p:cNvSpPr/>
          <p:nvPr/>
        </p:nvSpPr>
        <p:spPr>
          <a:xfrm>
            <a:off x="545042" y="5773210"/>
            <a:ext cx="809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标准CRUD开发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5088599" y="58049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5239412" y="58049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3" name="Shape 81"/>
          <p:cNvSpPr/>
          <p:nvPr/>
        </p:nvSpPr>
        <p:spPr>
          <a:xfrm>
            <a:off x="5390224" y="58049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4" name="Shape 82"/>
          <p:cNvSpPr/>
          <p:nvPr/>
        </p:nvSpPr>
        <p:spPr>
          <a:xfrm>
            <a:off x="5541037" y="58049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5" name="Shape 83"/>
          <p:cNvSpPr/>
          <p:nvPr/>
        </p:nvSpPr>
        <p:spPr>
          <a:xfrm>
            <a:off x="5691849" y="580496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3597" y="-5953"/>
                </a:moveTo>
                <a:cubicBezTo>
                  <a:pt x="55271" y="-5953"/>
                  <a:pt x="56815" y="-5004"/>
                  <a:pt x="57578" y="-3516"/>
                </a:cubicBezTo>
                <a:lnTo>
                  <a:pt x="71251" y="23310"/>
                </a:lnTo>
                <a:lnTo>
                  <a:pt x="100998" y="28035"/>
                </a:lnTo>
                <a:cubicBezTo>
                  <a:pt x="102654" y="28296"/>
                  <a:pt x="104031" y="29468"/>
                  <a:pt x="104552" y="31068"/>
                </a:cubicBezTo>
                <a:cubicBezTo>
                  <a:pt x="105073" y="32668"/>
                  <a:pt x="104645" y="34417"/>
                  <a:pt x="103473" y="35607"/>
                </a:cubicBezTo>
                <a:lnTo>
                  <a:pt x="82172" y="56908"/>
                </a:lnTo>
                <a:lnTo>
                  <a:pt x="86878" y="86655"/>
                </a:lnTo>
                <a:cubicBezTo>
                  <a:pt x="87139" y="88311"/>
                  <a:pt x="86451" y="89985"/>
                  <a:pt x="85092" y="90971"/>
                </a:cubicBezTo>
                <a:cubicBezTo>
                  <a:pt x="83734" y="91957"/>
                  <a:pt x="81930" y="92106"/>
                  <a:pt x="80442" y="91343"/>
                </a:cubicBezTo>
                <a:lnTo>
                  <a:pt x="53597" y="77688"/>
                </a:lnTo>
                <a:lnTo>
                  <a:pt x="26752" y="91343"/>
                </a:lnTo>
                <a:cubicBezTo>
                  <a:pt x="25264" y="92106"/>
                  <a:pt x="23459" y="91957"/>
                  <a:pt x="22101" y="90971"/>
                </a:cubicBezTo>
                <a:cubicBezTo>
                  <a:pt x="20743" y="89985"/>
                  <a:pt x="20055" y="88329"/>
                  <a:pt x="20315" y="86655"/>
                </a:cubicBezTo>
                <a:lnTo>
                  <a:pt x="25003" y="56908"/>
                </a:lnTo>
                <a:lnTo>
                  <a:pt x="3721" y="35607"/>
                </a:lnTo>
                <a:cubicBezTo>
                  <a:pt x="2530" y="34417"/>
                  <a:pt x="2121" y="32668"/>
                  <a:pt x="2642" y="31068"/>
                </a:cubicBezTo>
                <a:cubicBezTo>
                  <a:pt x="3163" y="29468"/>
                  <a:pt x="4521" y="28296"/>
                  <a:pt x="6195" y="28035"/>
                </a:cubicBezTo>
                <a:lnTo>
                  <a:pt x="35942" y="23310"/>
                </a:lnTo>
                <a:lnTo>
                  <a:pt x="49634" y="-3516"/>
                </a:lnTo>
                <a:cubicBezTo>
                  <a:pt x="50397" y="-5004"/>
                  <a:pt x="51941" y="-5953"/>
                  <a:pt x="53615" y="-5953"/>
                </a:cubicBezTo>
                <a:close/>
                <a:moveTo>
                  <a:pt x="53597" y="8334"/>
                </a:moveTo>
                <a:lnTo>
                  <a:pt x="42844" y="29394"/>
                </a:lnTo>
                <a:cubicBezTo>
                  <a:pt x="42193" y="30659"/>
                  <a:pt x="40984" y="31552"/>
                  <a:pt x="39570" y="31775"/>
                </a:cubicBezTo>
                <a:lnTo>
                  <a:pt x="16222" y="35496"/>
                </a:lnTo>
                <a:lnTo>
                  <a:pt x="32928" y="52220"/>
                </a:lnTo>
                <a:cubicBezTo>
                  <a:pt x="33933" y="53225"/>
                  <a:pt x="34398" y="54657"/>
                  <a:pt x="34175" y="56071"/>
                </a:cubicBezTo>
                <a:lnTo>
                  <a:pt x="30491" y="79418"/>
                </a:lnTo>
                <a:lnTo>
                  <a:pt x="51569" y="68703"/>
                </a:lnTo>
                <a:cubicBezTo>
                  <a:pt x="52834" y="68052"/>
                  <a:pt x="54341" y="68052"/>
                  <a:pt x="55625" y="68703"/>
                </a:cubicBezTo>
                <a:lnTo>
                  <a:pt x="76702" y="79418"/>
                </a:lnTo>
                <a:lnTo>
                  <a:pt x="73019" y="56071"/>
                </a:lnTo>
                <a:cubicBezTo>
                  <a:pt x="72796" y="54657"/>
                  <a:pt x="73261" y="53225"/>
                  <a:pt x="74265" y="52220"/>
                </a:cubicBezTo>
                <a:lnTo>
                  <a:pt x="90971" y="35496"/>
                </a:lnTo>
                <a:lnTo>
                  <a:pt x="67624" y="31775"/>
                </a:lnTo>
                <a:cubicBezTo>
                  <a:pt x="66210" y="31552"/>
                  <a:pt x="65001" y="30659"/>
                  <a:pt x="64350" y="29394"/>
                </a:cubicBezTo>
                <a:lnTo>
                  <a:pt x="53597" y="8334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6" name="Shape 84"/>
          <p:cNvSpPr/>
          <p:nvPr/>
        </p:nvSpPr>
        <p:spPr>
          <a:xfrm>
            <a:off x="481542" y="6058960"/>
            <a:ext cx="5389563" cy="285750"/>
          </a:xfrm>
          <a:custGeom>
            <a:avLst/>
            <a:gdLst/>
            <a:ahLst/>
            <a:cxnLst/>
            <a:rect l="l" t="t" r="r" b="b"/>
            <a:pathLst>
              <a:path w="5389563" h="285750">
                <a:moveTo>
                  <a:pt x="63499" y="0"/>
                </a:moveTo>
                <a:lnTo>
                  <a:pt x="5326063" y="0"/>
                </a:lnTo>
                <a:cubicBezTo>
                  <a:pt x="5361133" y="0"/>
                  <a:pt x="5389563" y="28430"/>
                  <a:pt x="5389563" y="63499"/>
                </a:cubicBezTo>
                <a:lnTo>
                  <a:pt x="5389563" y="222251"/>
                </a:lnTo>
                <a:cubicBezTo>
                  <a:pt x="5389563" y="257320"/>
                  <a:pt x="5361133" y="285750"/>
                  <a:pt x="53260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/>
          <p:nvPr/>
        </p:nvSpPr>
        <p:spPr>
          <a:xfrm>
            <a:off x="545042" y="6122460"/>
            <a:ext cx="722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遗留系统维护</a:t>
            </a:r>
            <a:endParaRPr lang="en-US" sz="1600" dirty="0"/>
          </a:p>
        </p:txBody>
      </p:sp>
      <p:sp>
        <p:nvSpPr>
          <p:cNvPr id="88" name="Shape 86"/>
          <p:cNvSpPr/>
          <p:nvPr/>
        </p:nvSpPr>
        <p:spPr>
          <a:xfrm>
            <a:off x="5088599" y="6154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7"/>
          <p:cNvSpPr/>
          <p:nvPr/>
        </p:nvSpPr>
        <p:spPr>
          <a:xfrm>
            <a:off x="5239412" y="6154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7578" y="-3516"/>
                </a:moveTo>
                <a:cubicBezTo>
                  <a:pt x="56815" y="-5004"/>
                  <a:pt x="55271" y="-5953"/>
                  <a:pt x="53597" y="-5953"/>
                </a:cubicBezTo>
                <a:cubicBezTo>
                  <a:pt x="51922" y="-5953"/>
                  <a:pt x="50378" y="-5004"/>
                  <a:pt x="49616" y="-3516"/>
                </a:cubicBezTo>
                <a:lnTo>
                  <a:pt x="35923" y="23310"/>
                </a:lnTo>
                <a:lnTo>
                  <a:pt x="6176" y="28035"/>
                </a:lnTo>
                <a:cubicBezTo>
                  <a:pt x="4521" y="28296"/>
                  <a:pt x="3144" y="29468"/>
                  <a:pt x="2623" y="31068"/>
                </a:cubicBezTo>
                <a:cubicBezTo>
                  <a:pt x="2102" y="32668"/>
                  <a:pt x="2530" y="34417"/>
                  <a:pt x="3702" y="35607"/>
                </a:cubicBezTo>
                <a:lnTo>
                  <a:pt x="24985" y="56908"/>
                </a:lnTo>
                <a:lnTo>
                  <a:pt x="20296" y="86655"/>
                </a:lnTo>
                <a:cubicBezTo>
                  <a:pt x="20036" y="88311"/>
                  <a:pt x="20724" y="89985"/>
                  <a:pt x="22082" y="90971"/>
                </a:cubicBezTo>
                <a:cubicBezTo>
                  <a:pt x="23440" y="91957"/>
                  <a:pt x="25226" y="92106"/>
                  <a:pt x="26733" y="91343"/>
                </a:cubicBezTo>
                <a:lnTo>
                  <a:pt x="53597" y="77688"/>
                </a:lnTo>
                <a:lnTo>
                  <a:pt x="80442" y="91343"/>
                </a:lnTo>
                <a:cubicBezTo>
                  <a:pt x="81930" y="92106"/>
                  <a:pt x="83734" y="91957"/>
                  <a:pt x="85092" y="90971"/>
                </a:cubicBezTo>
                <a:cubicBezTo>
                  <a:pt x="86451" y="89985"/>
                  <a:pt x="87139" y="88329"/>
                  <a:pt x="86878" y="86655"/>
                </a:cubicBezTo>
                <a:lnTo>
                  <a:pt x="82172" y="56908"/>
                </a:lnTo>
                <a:lnTo>
                  <a:pt x="103454" y="35607"/>
                </a:lnTo>
                <a:cubicBezTo>
                  <a:pt x="104645" y="34417"/>
                  <a:pt x="105054" y="32668"/>
                  <a:pt x="104533" y="31068"/>
                </a:cubicBezTo>
                <a:cubicBezTo>
                  <a:pt x="104012" y="29468"/>
                  <a:pt x="102654" y="28296"/>
                  <a:pt x="100980" y="28035"/>
                </a:cubicBezTo>
                <a:lnTo>
                  <a:pt x="71251" y="23310"/>
                </a:lnTo>
                <a:lnTo>
                  <a:pt x="57578" y="-351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0" name="Shape 88"/>
          <p:cNvSpPr/>
          <p:nvPr/>
        </p:nvSpPr>
        <p:spPr>
          <a:xfrm>
            <a:off x="5390224" y="6154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3597" y="-5953"/>
                </a:moveTo>
                <a:cubicBezTo>
                  <a:pt x="55271" y="-5953"/>
                  <a:pt x="56815" y="-5004"/>
                  <a:pt x="57578" y="-3516"/>
                </a:cubicBezTo>
                <a:lnTo>
                  <a:pt x="71251" y="23310"/>
                </a:lnTo>
                <a:lnTo>
                  <a:pt x="100998" y="28035"/>
                </a:lnTo>
                <a:cubicBezTo>
                  <a:pt x="102654" y="28296"/>
                  <a:pt x="104031" y="29468"/>
                  <a:pt x="104552" y="31068"/>
                </a:cubicBezTo>
                <a:cubicBezTo>
                  <a:pt x="105073" y="32668"/>
                  <a:pt x="104645" y="34417"/>
                  <a:pt x="103473" y="35607"/>
                </a:cubicBezTo>
                <a:lnTo>
                  <a:pt x="82172" y="56908"/>
                </a:lnTo>
                <a:lnTo>
                  <a:pt x="86878" y="86655"/>
                </a:lnTo>
                <a:cubicBezTo>
                  <a:pt x="87139" y="88311"/>
                  <a:pt x="86451" y="89985"/>
                  <a:pt x="85092" y="90971"/>
                </a:cubicBezTo>
                <a:cubicBezTo>
                  <a:pt x="83734" y="91957"/>
                  <a:pt x="81930" y="92106"/>
                  <a:pt x="80442" y="91343"/>
                </a:cubicBezTo>
                <a:lnTo>
                  <a:pt x="53597" y="77688"/>
                </a:lnTo>
                <a:lnTo>
                  <a:pt x="26752" y="91343"/>
                </a:lnTo>
                <a:cubicBezTo>
                  <a:pt x="25264" y="92106"/>
                  <a:pt x="23459" y="91957"/>
                  <a:pt x="22101" y="90971"/>
                </a:cubicBezTo>
                <a:cubicBezTo>
                  <a:pt x="20743" y="89985"/>
                  <a:pt x="20055" y="88329"/>
                  <a:pt x="20315" y="86655"/>
                </a:cubicBezTo>
                <a:lnTo>
                  <a:pt x="25003" y="56908"/>
                </a:lnTo>
                <a:lnTo>
                  <a:pt x="3721" y="35607"/>
                </a:lnTo>
                <a:cubicBezTo>
                  <a:pt x="2530" y="34417"/>
                  <a:pt x="2121" y="32668"/>
                  <a:pt x="2642" y="31068"/>
                </a:cubicBezTo>
                <a:cubicBezTo>
                  <a:pt x="3163" y="29468"/>
                  <a:pt x="4521" y="28296"/>
                  <a:pt x="6195" y="28035"/>
                </a:cubicBezTo>
                <a:lnTo>
                  <a:pt x="35942" y="23310"/>
                </a:lnTo>
                <a:lnTo>
                  <a:pt x="49634" y="-3516"/>
                </a:lnTo>
                <a:cubicBezTo>
                  <a:pt x="50397" y="-5004"/>
                  <a:pt x="51941" y="-5953"/>
                  <a:pt x="53615" y="-5953"/>
                </a:cubicBezTo>
                <a:close/>
                <a:moveTo>
                  <a:pt x="53597" y="8334"/>
                </a:moveTo>
                <a:lnTo>
                  <a:pt x="42844" y="29394"/>
                </a:lnTo>
                <a:cubicBezTo>
                  <a:pt x="42193" y="30659"/>
                  <a:pt x="40984" y="31552"/>
                  <a:pt x="39570" y="31775"/>
                </a:cubicBezTo>
                <a:lnTo>
                  <a:pt x="16222" y="35496"/>
                </a:lnTo>
                <a:lnTo>
                  <a:pt x="32928" y="52220"/>
                </a:lnTo>
                <a:cubicBezTo>
                  <a:pt x="33933" y="53225"/>
                  <a:pt x="34398" y="54657"/>
                  <a:pt x="34175" y="56071"/>
                </a:cubicBezTo>
                <a:lnTo>
                  <a:pt x="30491" y="79418"/>
                </a:lnTo>
                <a:lnTo>
                  <a:pt x="51569" y="68703"/>
                </a:lnTo>
                <a:cubicBezTo>
                  <a:pt x="52834" y="68052"/>
                  <a:pt x="54341" y="68052"/>
                  <a:pt x="55625" y="68703"/>
                </a:cubicBezTo>
                <a:lnTo>
                  <a:pt x="76702" y="79418"/>
                </a:lnTo>
                <a:lnTo>
                  <a:pt x="73019" y="56071"/>
                </a:lnTo>
                <a:cubicBezTo>
                  <a:pt x="72796" y="54657"/>
                  <a:pt x="73261" y="53225"/>
                  <a:pt x="74265" y="52220"/>
                </a:cubicBezTo>
                <a:lnTo>
                  <a:pt x="90971" y="35496"/>
                </a:lnTo>
                <a:lnTo>
                  <a:pt x="67624" y="31775"/>
                </a:lnTo>
                <a:cubicBezTo>
                  <a:pt x="66210" y="31552"/>
                  <a:pt x="65001" y="30659"/>
                  <a:pt x="64350" y="29394"/>
                </a:cubicBezTo>
                <a:lnTo>
                  <a:pt x="53597" y="8334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1" name="Shape 89"/>
          <p:cNvSpPr/>
          <p:nvPr/>
        </p:nvSpPr>
        <p:spPr>
          <a:xfrm>
            <a:off x="5541037" y="6154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3597" y="-5953"/>
                </a:moveTo>
                <a:cubicBezTo>
                  <a:pt x="55271" y="-5953"/>
                  <a:pt x="56815" y="-5004"/>
                  <a:pt x="57578" y="-3516"/>
                </a:cubicBezTo>
                <a:lnTo>
                  <a:pt x="71251" y="23310"/>
                </a:lnTo>
                <a:lnTo>
                  <a:pt x="100998" y="28035"/>
                </a:lnTo>
                <a:cubicBezTo>
                  <a:pt x="102654" y="28296"/>
                  <a:pt x="104031" y="29468"/>
                  <a:pt x="104552" y="31068"/>
                </a:cubicBezTo>
                <a:cubicBezTo>
                  <a:pt x="105073" y="32668"/>
                  <a:pt x="104645" y="34417"/>
                  <a:pt x="103473" y="35607"/>
                </a:cubicBezTo>
                <a:lnTo>
                  <a:pt x="82172" y="56908"/>
                </a:lnTo>
                <a:lnTo>
                  <a:pt x="86878" y="86655"/>
                </a:lnTo>
                <a:cubicBezTo>
                  <a:pt x="87139" y="88311"/>
                  <a:pt x="86451" y="89985"/>
                  <a:pt x="85092" y="90971"/>
                </a:cubicBezTo>
                <a:cubicBezTo>
                  <a:pt x="83734" y="91957"/>
                  <a:pt x="81930" y="92106"/>
                  <a:pt x="80442" y="91343"/>
                </a:cubicBezTo>
                <a:lnTo>
                  <a:pt x="53597" y="77688"/>
                </a:lnTo>
                <a:lnTo>
                  <a:pt x="26752" y="91343"/>
                </a:lnTo>
                <a:cubicBezTo>
                  <a:pt x="25264" y="92106"/>
                  <a:pt x="23459" y="91957"/>
                  <a:pt x="22101" y="90971"/>
                </a:cubicBezTo>
                <a:cubicBezTo>
                  <a:pt x="20743" y="89985"/>
                  <a:pt x="20055" y="88329"/>
                  <a:pt x="20315" y="86655"/>
                </a:cubicBezTo>
                <a:lnTo>
                  <a:pt x="25003" y="56908"/>
                </a:lnTo>
                <a:lnTo>
                  <a:pt x="3721" y="35607"/>
                </a:lnTo>
                <a:cubicBezTo>
                  <a:pt x="2530" y="34417"/>
                  <a:pt x="2121" y="32668"/>
                  <a:pt x="2642" y="31068"/>
                </a:cubicBezTo>
                <a:cubicBezTo>
                  <a:pt x="3163" y="29468"/>
                  <a:pt x="4521" y="28296"/>
                  <a:pt x="6195" y="28035"/>
                </a:cubicBezTo>
                <a:lnTo>
                  <a:pt x="35942" y="23310"/>
                </a:lnTo>
                <a:lnTo>
                  <a:pt x="49634" y="-3516"/>
                </a:lnTo>
                <a:cubicBezTo>
                  <a:pt x="50397" y="-5004"/>
                  <a:pt x="51941" y="-5953"/>
                  <a:pt x="53615" y="-5953"/>
                </a:cubicBezTo>
                <a:close/>
                <a:moveTo>
                  <a:pt x="53597" y="8334"/>
                </a:moveTo>
                <a:lnTo>
                  <a:pt x="42844" y="29394"/>
                </a:lnTo>
                <a:cubicBezTo>
                  <a:pt x="42193" y="30659"/>
                  <a:pt x="40984" y="31552"/>
                  <a:pt x="39570" y="31775"/>
                </a:cubicBezTo>
                <a:lnTo>
                  <a:pt x="16222" y="35496"/>
                </a:lnTo>
                <a:lnTo>
                  <a:pt x="32928" y="52220"/>
                </a:lnTo>
                <a:cubicBezTo>
                  <a:pt x="33933" y="53225"/>
                  <a:pt x="34398" y="54657"/>
                  <a:pt x="34175" y="56071"/>
                </a:cubicBezTo>
                <a:lnTo>
                  <a:pt x="30491" y="79418"/>
                </a:lnTo>
                <a:lnTo>
                  <a:pt x="51569" y="68703"/>
                </a:lnTo>
                <a:cubicBezTo>
                  <a:pt x="52834" y="68052"/>
                  <a:pt x="54341" y="68052"/>
                  <a:pt x="55625" y="68703"/>
                </a:cubicBezTo>
                <a:lnTo>
                  <a:pt x="76702" y="79418"/>
                </a:lnTo>
                <a:lnTo>
                  <a:pt x="73019" y="56071"/>
                </a:lnTo>
                <a:cubicBezTo>
                  <a:pt x="72796" y="54657"/>
                  <a:pt x="73261" y="53225"/>
                  <a:pt x="74265" y="52220"/>
                </a:cubicBezTo>
                <a:lnTo>
                  <a:pt x="90971" y="35496"/>
                </a:lnTo>
                <a:lnTo>
                  <a:pt x="67624" y="31775"/>
                </a:lnTo>
                <a:cubicBezTo>
                  <a:pt x="66210" y="31552"/>
                  <a:pt x="65001" y="30659"/>
                  <a:pt x="64350" y="29394"/>
                </a:cubicBezTo>
                <a:lnTo>
                  <a:pt x="53597" y="8334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2" name="Shape 90"/>
          <p:cNvSpPr/>
          <p:nvPr/>
        </p:nvSpPr>
        <p:spPr>
          <a:xfrm>
            <a:off x="5691849" y="6154210"/>
            <a:ext cx="107156" cy="95250"/>
          </a:xfrm>
          <a:custGeom>
            <a:avLst/>
            <a:gdLst/>
            <a:ahLst/>
            <a:cxnLst/>
            <a:rect l="l" t="t" r="r" b="b"/>
            <a:pathLst>
              <a:path w="107156" h="95250">
                <a:moveTo>
                  <a:pt x="53597" y="-5953"/>
                </a:moveTo>
                <a:cubicBezTo>
                  <a:pt x="55271" y="-5953"/>
                  <a:pt x="56815" y="-5004"/>
                  <a:pt x="57578" y="-3516"/>
                </a:cubicBezTo>
                <a:lnTo>
                  <a:pt x="71251" y="23310"/>
                </a:lnTo>
                <a:lnTo>
                  <a:pt x="100998" y="28035"/>
                </a:lnTo>
                <a:cubicBezTo>
                  <a:pt x="102654" y="28296"/>
                  <a:pt x="104031" y="29468"/>
                  <a:pt x="104552" y="31068"/>
                </a:cubicBezTo>
                <a:cubicBezTo>
                  <a:pt x="105073" y="32668"/>
                  <a:pt x="104645" y="34417"/>
                  <a:pt x="103473" y="35607"/>
                </a:cubicBezTo>
                <a:lnTo>
                  <a:pt x="82172" y="56908"/>
                </a:lnTo>
                <a:lnTo>
                  <a:pt x="86878" y="86655"/>
                </a:lnTo>
                <a:cubicBezTo>
                  <a:pt x="87139" y="88311"/>
                  <a:pt x="86451" y="89985"/>
                  <a:pt x="85092" y="90971"/>
                </a:cubicBezTo>
                <a:cubicBezTo>
                  <a:pt x="83734" y="91957"/>
                  <a:pt x="81930" y="92106"/>
                  <a:pt x="80442" y="91343"/>
                </a:cubicBezTo>
                <a:lnTo>
                  <a:pt x="53597" y="77688"/>
                </a:lnTo>
                <a:lnTo>
                  <a:pt x="26752" y="91343"/>
                </a:lnTo>
                <a:cubicBezTo>
                  <a:pt x="25264" y="92106"/>
                  <a:pt x="23459" y="91957"/>
                  <a:pt x="22101" y="90971"/>
                </a:cubicBezTo>
                <a:cubicBezTo>
                  <a:pt x="20743" y="89985"/>
                  <a:pt x="20055" y="88329"/>
                  <a:pt x="20315" y="86655"/>
                </a:cubicBezTo>
                <a:lnTo>
                  <a:pt x="25003" y="56908"/>
                </a:lnTo>
                <a:lnTo>
                  <a:pt x="3721" y="35607"/>
                </a:lnTo>
                <a:cubicBezTo>
                  <a:pt x="2530" y="34417"/>
                  <a:pt x="2121" y="32668"/>
                  <a:pt x="2642" y="31068"/>
                </a:cubicBezTo>
                <a:cubicBezTo>
                  <a:pt x="3163" y="29468"/>
                  <a:pt x="4521" y="28296"/>
                  <a:pt x="6195" y="28035"/>
                </a:cubicBezTo>
                <a:lnTo>
                  <a:pt x="35942" y="23310"/>
                </a:lnTo>
                <a:lnTo>
                  <a:pt x="49634" y="-3516"/>
                </a:lnTo>
                <a:cubicBezTo>
                  <a:pt x="50397" y="-5004"/>
                  <a:pt x="51941" y="-5953"/>
                  <a:pt x="53615" y="-5953"/>
                </a:cubicBezTo>
                <a:close/>
                <a:moveTo>
                  <a:pt x="53597" y="8334"/>
                </a:moveTo>
                <a:lnTo>
                  <a:pt x="42844" y="29394"/>
                </a:lnTo>
                <a:cubicBezTo>
                  <a:pt x="42193" y="30659"/>
                  <a:pt x="40984" y="31552"/>
                  <a:pt x="39570" y="31775"/>
                </a:cubicBezTo>
                <a:lnTo>
                  <a:pt x="16222" y="35496"/>
                </a:lnTo>
                <a:lnTo>
                  <a:pt x="32928" y="52220"/>
                </a:lnTo>
                <a:cubicBezTo>
                  <a:pt x="33933" y="53225"/>
                  <a:pt x="34398" y="54657"/>
                  <a:pt x="34175" y="56071"/>
                </a:cubicBezTo>
                <a:lnTo>
                  <a:pt x="30491" y="79418"/>
                </a:lnTo>
                <a:lnTo>
                  <a:pt x="51569" y="68703"/>
                </a:lnTo>
                <a:cubicBezTo>
                  <a:pt x="52834" y="68052"/>
                  <a:pt x="54341" y="68052"/>
                  <a:pt x="55625" y="68703"/>
                </a:cubicBezTo>
                <a:lnTo>
                  <a:pt x="76702" y="79418"/>
                </a:lnTo>
                <a:lnTo>
                  <a:pt x="73019" y="56071"/>
                </a:lnTo>
                <a:cubicBezTo>
                  <a:pt x="72796" y="54657"/>
                  <a:pt x="73261" y="53225"/>
                  <a:pt x="74265" y="52220"/>
                </a:cubicBezTo>
                <a:lnTo>
                  <a:pt x="90971" y="35496"/>
                </a:lnTo>
                <a:lnTo>
                  <a:pt x="67624" y="31775"/>
                </a:lnTo>
                <a:cubicBezTo>
                  <a:pt x="66210" y="31552"/>
                  <a:pt x="65001" y="30659"/>
                  <a:pt x="64350" y="29394"/>
                </a:cubicBezTo>
                <a:lnTo>
                  <a:pt x="53597" y="8334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3" name="Shape 91"/>
          <p:cNvSpPr/>
          <p:nvPr/>
        </p:nvSpPr>
        <p:spPr>
          <a:xfrm>
            <a:off x="6162146" y="4151315"/>
            <a:ext cx="5712354" cy="2823104"/>
          </a:xfrm>
          <a:custGeom>
            <a:avLst/>
            <a:gdLst/>
            <a:ahLst/>
            <a:cxnLst/>
            <a:rect l="l" t="t" r="r" b="b"/>
            <a:pathLst>
              <a:path w="5712354" h="2823104">
                <a:moveTo>
                  <a:pt x="95252" y="0"/>
                </a:moveTo>
                <a:lnTo>
                  <a:pt x="5617103" y="0"/>
                </a:lnTo>
                <a:cubicBezTo>
                  <a:pt x="5669709" y="0"/>
                  <a:pt x="5712354" y="42646"/>
                  <a:pt x="5712354" y="95252"/>
                </a:cubicBezTo>
                <a:lnTo>
                  <a:pt x="5712354" y="2727853"/>
                </a:lnTo>
                <a:cubicBezTo>
                  <a:pt x="5712354" y="2780459"/>
                  <a:pt x="5669709" y="2823104"/>
                  <a:pt x="5617103" y="2823104"/>
                </a:cubicBezTo>
                <a:lnTo>
                  <a:pt x="95252" y="2823104"/>
                </a:lnTo>
                <a:cubicBezTo>
                  <a:pt x="42646" y="2823104"/>
                  <a:pt x="0" y="2780459"/>
                  <a:pt x="0" y="2727853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Shape 92"/>
          <p:cNvSpPr/>
          <p:nvPr/>
        </p:nvSpPr>
        <p:spPr>
          <a:xfrm>
            <a:off x="6343386" y="434446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48859" y="59531"/>
                </a:moveTo>
                <a:lnTo>
                  <a:pt x="151309" y="59531"/>
                </a:lnTo>
                <a:cubicBezTo>
                  <a:pt x="155432" y="59531"/>
                  <a:pt x="158750" y="56214"/>
                  <a:pt x="158750" y="52090"/>
                </a:cubicBezTo>
                <a:lnTo>
                  <a:pt x="158750" y="7441"/>
                </a:lnTo>
                <a:cubicBezTo>
                  <a:pt x="158750" y="4434"/>
                  <a:pt x="156952" y="1705"/>
                  <a:pt x="154161" y="558"/>
                </a:cubicBezTo>
                <a:cubicBezTo>
                  <a:pt x="151371" y="-589"/>
                  <a:pt x="148177" y="62"/>
                  <a:pt x="146038" y="2170"/>
                </a:cubicBezTo>
                <a:lnTo>
                  <a:pt x="130008" y="18231"/>
                </a:lnTo>
                <a:cubicBezTo>
                  <a:pt x="116272" y="6852"/>
                  <a:pt x="98599" y="0"/>
                  <a:pt x="79375" y="0"/>
                </a:cubicBezTo>
                <a:cubicBezTo>
                  <a:pt x="39377" y="0"/>
                  <a:pt x="6294" y="29580"/>
                  <a:pt x="806" y="68058"/>
                </a:cubicBezTo>
                <a:cubicBezTo>
                  <a:pt x="31" y="73484"/>
                  <a:pt x="3783" y="78507"/>
                  <a:pt x="9209" y="79282"/>
                </a:cubicBezTo>
                <a:cubicBezTo>
                  <a:pt x="14635" y="80057"/>
                  <a:pt x="19658" y="76274"/>
                  <a:pt x="20433" y="70879"/>
                </a:cubicBezTo>
                <a:cubicBezTo>
                  <a:pt x="24557" y="42013"/>
                  <a:pt x="49392" y="19844"/>
                  <a:pt x="79375" y="19844"/>
                </a:cubicBezTo>
                <a:cubicBezTo>
                  <a:pt x="93142" y="19844"/>
                  <a:pt x="105792" y="24495"/>
                  <a:pt x="115869" y="32339"/>
                </a:cubicBezTo>
                <a:lnTo>
                  <a:pt x="101389" y="46819"/>
                </a:lnTo>
                <a:cubicBezTo>
                  <a:pt x="99250" y="48958"/>
                  <a:pt x="98630" y="52152"/>
                  <a:pt x="99777" y="54942"/>
                </a:cubicBezTo>
                <a:cubicBezTo>
                  <a:pt x="100924" y="57733"/>
                  <a:pt x="103653" y="59531"/>
                  <a:pt x="106660" y="59531"/>
                </a:cubicBezTo>
                <a:lnTo>
                  <a:pt x="148859" y="59531"/>
                </a:lnTo>
                <a:close/>
                <a:moveTo>
                  <a:pt x="157975" y="90692"/>
                </a:moveTo>
                <a:cubicBezTo>
                  <a:pt x="158750" y="85266"/>
                  <a:pt x="154967" y="80243"/>
                  <a:pt x="149572" y="79468"/>
                </a:cubicBezTo>
                <a:cubicBezTo>
                  <a:pt x="144177" y="78693"/>
                  <a:pt x="139123" y="82476"/>
                  <a:pt x="138348" y="87871"/>
                </a:cubicBezTo>
                <a:cubicBezTo>
                  <a:pt x="134224" y="116706"/>
                  <a:pt x="109389" y="138875"/>
                  <a:pt x="79406" y="138875"/>
                </a:cubicBezTo>
                <a:cubicBezTo>
                  <a:pt x="65639" y="138875"/>
                  <a:pt x="52989" y="134224"/>
                  <a:pt x="42912" y="126380"/>
                </a:cubicBezTo>
                <a:lnTo>
                  <a:pt x="57361" y="111931"/>
                </a:lnTo>
                <a:cubicBezTo>
                  <a:pt x="59500" y="109792"/>
                  <a:pt x="60120" y="106598"/>
                  <a:pt x="58973" y="103808"/>
                </a:cubicBezTo>
                <a:cubicBezTo>
                  <a:pt x="57826" y="101017"/>
                  <a:pt x="55097" y="99219"/>
                  <a:pt x="52090" y="99219"/>
                </a:cubicBezTo>
                <a:lnTo>
                  <a:pt x="7441" y="99219"/>
                </a:lnTo>
                <a:cubicBezTo>
                  <a:pt x="3318" y="99219"/>
                  <a:pt x="0" y="102536"/>
                  <a:pt x="0" y="106660"/>
                </a:cubicBezTo>
                <a:lnTo>
                  <a:pt x="0" y="151309"/>
                </a:lnTo>
                <a:cubicBezTo>
                  <a:pt x="0" y="154316"/>
                  <a:pt x="1798" y="157045"/>
                  <a:pt x="4589" y="158192"/>
                </a:cubicBezTo>
                <a:cubicBezTo>
                  <a:pt x="7379" y="159339"/>
                  <a:pt x="10573" y="158688"/>
                  <a:pt x="12712" y="156580"/>
                </a:cubicBezTo>
                <a:lnTo>
                  <a:pt x="28773" y="140519"/>
                </a:lnTo>
                <a:cubicBezTo>
                  <a:pt x="42478" y="151898"/>
                  <a:pt x="60151" y="158750"/>
                  <a:pt x="79375" y="158750"/>
                </a:cubicBezTo>
                <a:cubicBezTo>
                  <a:pt x="119373" y="158750"/>
                  <a:pt x="152456" y="129170"/>
                  <a:pt x="157944" y="90692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5" name="Text 93"/>
          <p:cNvSpPr/>
          <p:nvPr/>
        </p:nvSpPr>
        <p:spPr>
          <a:xfrm>
            <a:off x="6521979" y="4312710"/>
            <a:ext cx="527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SKILL增量更新机制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6323542" y="4677835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0"/>
                </a:moveTo>
                <a:lnTo>
                  <a:pt x="222250" y="0"/>
                </a:lnTo>
                <a:cubicBezTo>
                  <a:pt x="239773" y="0"/>
                  <a:pt x="254000" y="14227"/>
                  <a:pt x="254000" y="31750"/>
                </a:cubicBezTo>
                <a:lnTo>
                  <a:pt x="254000" y="222250"/>
                </a:lnTo>
                <a:cubicBezTo>
                  <a:pt x="254000" y="239773"/>
                  <a:pt x="239773" y="254000"/>
                  <a:pt x="222250" y="254000"/>
                </a:cubicBezTo>
                <a:lnTo>
                  <a:pt x="31750" y="254000"/>
                </a:lnTo>
                <a:cubicBezTo>
                  <a:pt x="14227" y="254000"/>
                  <a:pt x="0" y="239773"/>
                  <a:pt x="0" y="222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7" name="Shape 95"/>
          <p:cNvSpPr/>
          <p:nvPr/>
        </p:nvSpPr>
        <p:spPr>
          <a:xfrm>
            <a:off x="6403909" y="4749272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55563" y="13891"/>
                </a:moveTo>
                <a:cubicBezTo>
                  <a:pt x="55563" y="10049"/>
                  <a:pt x="52459" y="6945"/>
                  <a:pt x="48617" y="6945"/>
                </a:cubicBezTo>
                <a:cubicBezTo>
                  <a:pt x="44776" y="6945"/>
                  <a:pt x="41672" y="10049"/>
                  <a:pt x="41672" y="13891"/>
                </a:cubicBezTo>
                <a:lnTo>
                  <a:pt x="41672" y="48617"/>
                </a:lnTo>
                <a:lnTo>
                  <a:pt x="6945" y="48617"/>
                </a:lnTo>
                <a:cubicBezTo>
                  <a:pt x="3104" y="48617"/>
                  <a:pt x="0" y="51721"/>
                  <a:pt x="0" y="55563"/>
                </a:cubicBezTo>
                <a:cubicBezTo>
                  <a:pt x="0" y="59404"/>
                  <a:pt x="3104" y="62508"/>
                  <a:pt x="6945" y="62508"/>
                </a:cubicBezTo>
                <a:lnTo>
                  <a:pt x="41672" y="62508"/>
                </a:lnTo>
                <a:lnTo>
                  <a:pt x="41672" y="97234"/>
                </a:lnTo>
                <a:cubicBezTo>
                  <a:pt x="41672" y="101076"/>
                  <a:pt x="44776" y="104180"/>
                  <a:pt x="48617" y="104180"/>
                </a:cubicBezTo>
                <a:cubicBezTo>
                  <a:pt x="52459" y="104180"/>
                  <a:pt x="55563" y="101076"/>
                  <a:pt x="55563" y="97234"/>
                </a:cubicBezTo>
                <a:lnTo>
                  <a:pt x="55563" y="62508"/>
                </a:lnTo>
                <a:lnTo>
                  <a:pt x="90289" y="62508"/>
                </a:lnTo>
                <a:cubicBezTo>
                  <a:pt x="94131" y="62508"/>
                  <a:pt x="97234" y="59404"/>
                  <a:pt x="97234" y="55563"/>
                </a:cubicBezTo>
                <a:cubicBezTo>
                  <a:pt x="97234" y="51721"/>
                  <a:pt x="94131" y="48617"/>
                  <a:pt x="90289" y="48617"/>
                </a:cubicBezTo>
                <a:lnTo>
                  <a:pt x="55563" y="48617"/>
                </a:lnTo>
                <a:lnTo>
                  <a:pt x="55563" y="13891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8" name="Shape 96"/>
          <p:cNvSpPr/>
          <p:nvPr/>
        </p:nvSpPr>
        <p:spPr>
          <a:xfrm>
            <a:off x="6641042" y="4661960"/>
            <a:ext cx="5072063" cy="285750"/>
          </a:xfrm>
          <a:custGeom>
            <a:avLst/>
            <a:gdLst/>
            <a:ahLst/>
            <a:cxnLst/>
            <a:rect l="l" t="t" r="r" b="b"/>
            <a:pathLst>
              <a:path w="5072063" h="285750">
                <a:moveTo>
                  <a:pt x="63499" y="0"/>
                </a:moveTo>
                <a:lnTo>
                  <a:pt x="5008563" y="0"/>
                </a:lnTo>
                <a:cubicBezTo>
                  <a:pt x="5043633" y="0"/>
                  <a:pt x="5072063" y="28430"/>
                  <a:pt x="5072063" y="63499"/>
                </a:cubicBezTo>
                <a:lnTo>
                  <a:pt x="5072063" y="222251"/>
                </a:lnTo>
                <a:cubicBezTo>
                  <a:pt x="5072063" y="257320"/>
                  <a:pt x="5043633" y="285750"/>
                  <a:pt x="50085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9" name="Text 97"/>
          <p:cNvSpPr/>
          <p:nvPr/>
        </p:nvSpPr>
        <p:spPr>
          <a:xfrm>
            <a:off x="6704542" y="4725460"/>
            <a:ext cx="500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新场景 → 人工介入分析</a:t>
            </a:r>
            <a:endParaRPr lang="en-US" sz="1600" dirty="0"/>
          </a:p>
        </p:txBody>
      </p:sp>
      <p:sp>
        <p:nvSpPr>
          <p:cNvPr id="100" name="Shape 98"/>
          <p:cNvSpPr/>
          <p:nvPr/>
        </p:nvSpPr>
        <p:spPr>
          <a:xfrm>
            <a:off x="6323542" y="5027085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0"/>
                </a:moveTo>
                <a:lnTo>
                  <a:pt x="222250" y="0"/>
                </a:lnTo>
                <a:cubicBezTo>
                  <a:pt x="239773" y="0"/>
                  <a:pt x="254000" y="14227"/>
                  <a:pt x="254000" y="31750"/>
                </a:cubicBezTo>
                <a:lnTo>
                  <a:pt x="254000" y="222250"/>
                </a:lnTo>
                <a:cubicBezTo>
                  <a:pt x="254000" y="239773"/>
                  <a:pt x="239773" y="254000"/>
                  <a:pt x="222250" y="254000"/>
                </a:cubicBezTo>
                <a:lnTo>
                  <a:pt x="31750" y="254000"/>
                </a:lnTo>
                <a:cubicBezTo>
                  <a:pt x="14227" y="254000"/>
                  <a:pt x="0" y="239773"/>
                  <a:pt x="0" y="222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1" name="Shape 99"/>
          <p:cNvSpPr/>
          <p:nvPr/>
        </p:nvSpPr>
        <p:spPr>
          <a:xfrm>
            <a:off x="6390018" y="5098522"/>
            <a:ext cx="125016" cy="111125"/>
          </a:xfrm>
          <a:custGeom>
            <a:avLst/>
            <a:gdLst/>
            <a:ahLst/>
            <a:cxnLst/>
            <a:rect l="l" t="t" r="r" b="b"/>
            <a:pathLst>
              <a:path w="125016" h="111125">
                <a:moveTo>
                  <a:pt x="78308" y="260"/>
                </a:moveTo>
                <a:cubicBezTo>
                  <a:pt x="74619" y="-803"/>
                  <a:pt x="70777" y="1346"/>
                  <a:pt x="69714" y="5035"/>
                </a:cubicBezTo>
                <a:lnTo>
                  <a:pt x="41932" y="102270"/>
                </a:lnTo>
                <a:cubicBezTo>
                  <a:pt x="40869" y="105959"/>
                  <a:pt x="43018" y="109801"/>
                  <a:pt x="46707" y="110865"/>
                </a:cubicBezTo>
                <a:cubicBezTo>
                  <a:pt x="50397" y="111928"/>
                  <a:pt x="54239" y="109779"/>
                  <a:pt x="55302" y="106090"/>
                </a:cubicBezTo>
                <a:lnTo>
                  <a:pt x="83083" y="8855"/>
                </a:lnTo>
                <a:cubicBezTo>
                  <a:pt x="84147" y="5166"/>
                  <a:pt x="81998" y="1324"/>
                  <a:pt x="78308" y="260"/>
                </a:cubicBezTo>
                <a:close/>
                <a:moveTo>
                  <a:pt x="92329" y="29800"/>
                </a:moveTo>
                <a:cubicBezTo>
                  <a:pt x="89616" y="32513"/>
                  <a:pt x="89616" y="36919"/>
                  <a:pt x="92329" y="39632"/>
                </a:cubicBezTo>
                <a:lnTo>
                  <a:pt x="108260" y="55563"/>
                </a:lnTo>
                <a:lnTo>
                  <a:pt x="92329" y="71493"/>
                </a:lnTo>
                <a:cubicBezTo>
                  <a:pt x="89616" y="74206"/>
                  <a:pt x="89616" y="78612"/>
                  <a:pt x="92329" y="81325"/>
                </a:cubicBezTo>
                <a:cubicBezTo>
                  <a:pt x="95042" y="84038"/>
                  <a:pt x="99448" y="84038"/>
                  <a:pt x="102161" y="81325"/>
                </a:cubicBezTo>
                <a:lnTo>
                  <a:pt x="122997" y="60489"/>
                </a:lnTo>
                <a:cubicBezTo>
                  <a:pt x="125710" y="57776"/>
                  <a:pt x="125710" y="53370"/>
                  <a:pt x="122997" y="50657"/>
                </a:cubicBezTo>
                <a:lnTo>
                  <a:pt x="102161" y="29821"/>
                </a:lnTo>
                <a:cubicBezTo>
                  <a:pt x="99448" y="27108"/>
                  <a:pt x="95042" y="27108"/>
                  <a:pt x="92329" y="29821"/>
                </a:cubicBezTo>
                <a:close/>
                <a:moveTo>
                  <a:pt x="32708" y="29800"/>
                </a:moveTo>
                <a:cubicBezTo>
                  <a:pt x="29995" y="27087"/>
                  <a:pt x="25589" y="27087"/>
                  <a:pt x="22876" y="29800"/>
                </a:cubicBezTo>
                <a:lnTo>
                  <a:pt x="2040" y="50636"/>
                </a:lnTo>
                <a:cubicBezTo>
                  <a:pt x="-673" y="53349"/>
                  <a:pt x="-673" y="57755"/>
                  <a:pt x="2040" y="60468"/>
                </a:cubicBezTo>
                <a:lnTo>
                  <a:pt x="22876" y="81304"/>
                </a:lnTo>
                <a:cubicBezTo>
                  <a:pt x="25589" y="84017"/>
                  <a:pt x="29995" y="84017"/>
                  <a:pt x="32708" y="81304"/>
                </a:cubicBezTo>
                <a:cubicBezTo>
                  <a:pt x="35421" y="78591"/>
                  <a:pt x="35421" y="74185"/>
                  <a:pt x="32708" y="71472"/>
                </a:cubicBezTo>
                <a:lnTo>
                  <a:pt x="16777" y="55563"/>
                </a:lnTo>
                <a:lnTo>
                  <a:pt x="32686" y="39632"/>
                </a:lnTo>
                <a:cubicBezTo>
                  <a:pt x="35399" y="36919"/>
                  <a:pt x="35399" y="32513"/>
                  <a:pt x="32686" y="2980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2" name="Shape 100"/>
          <p:cNvSpPr/>
          <p:nvPr/>
        </p:nvSpPr>
        <p:spPr>
          <a:xfrm>
            <a:off x="6641042" y="5011210"/>
            <a:ext cx="5072063" cy="285750"/>
          </a:xfrm>
          <a:custGeom>
            <a:avLst/>
            <a:gdLst/>
            <a:ahLst/>
            <a:cxnLst/>
            <a:rect l="l" t="t" r="r" b="b"/>
            <a:pathLst>
              <a:path w="5072063" h="285750">
                <a:moveTo>
                  <a:pt x="63499" y="0"/>
                </a:moveTo>
                <a:lnTo>
                  <a:pt x="5008563" y="0"/>
                </a:lnTo>
                <a:cubicBezTo>
                  <a:pt x="5043633" y="0"/>
                  <a:pt x="5072063" y="28430"/>
                  <a:pt x="5072063" y="63499"/>
                </a:cubicBezTo>
                <a:lnTo>
                  <a:pt x="5072063" y="222251"/>
                </a:lnTo>
                <a:cubicBezTo>
                  <a:pt x="5072063" y="257320"/>
                  <a:pt x="5043633" y="285750"/>
                  <a:pt x="50085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3" name="Text 101"/>
          <p:cNvSpPr/>
          <p:nvPr/>
        </p:nvSpPr>
        <p:spPr>
          <a:xfrm>
            <a:off x="6704542" y="5074710"/>
            <a:ext cx="500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生成新改造类 + 新场景改造</a:t>
            </a:r>
            <a:endParaRPr lang="en-US" sz="1600" dirty="0"/>
          </a:p>
        </p:txBody>
      </p:sp>
      <p:sp>
        <p:nvSpPr>
          <p:cNvPr id="104" name="Shape 102"/>
          <p:cNvSpPr/>
          <p:nvPr/>
        </p:nvSpPr>
        <p:spPr>
          <a:xfrm>
            <a:off x="6323542" y="5376335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0"/>
                </a:moveTo>
                <a:lnTo>
                  <a:pt x="222250" y="0"/>
                </a:lnTo>
                <a:cubicBezTo>
                  <a:pt x="239773" y="0"/>
                  <a:pt x="254000" y="14227"/>
                  <a:pt x="254000" y="31750"/>
                </a:cubicBezTo>
                <a:lnTo>
                  <a:pt x="254000" y="222250"/>
                </a:lnTo>
                <a:cubicBezTo>
                  <a:pt x="254000" y="239773"/>
                  <a:pt x="239773" y="254000"/>
                  <a:pt x="222250" y="254000"/>
                </a:cubicBezTo>
                <a:lnTo>
                  <a:pt x="31750" y="254000"/>
                </a:lnTo>
                <a:cubicBezTo>
                  <a:pt x="14227" y="254000"/>
                  <a:pt x="0" y="239773"/>
                  <a:pt x="0" y="222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5" name="Shape 103"/>
          <p:cNvSpPr/>
          <p:nvPr/>
        </p:nvSpPr>
        <p:spPr>
          <a:xfrm>
            <a:off x="6396964" y="5447772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0462" y="1129"/>
                </a:moveTo>
                <a:cubicBezTo>
                  <a:pt x="53696" y="-369"/>
                  <a:pt x="57429" y="-369"/>
                  <a:pt x="60663" y="1129"/>
                </a:cubicBezTo>
                <a:lnTo>
                  <a:pt x="108108" y="23050"/>
                </a:lnTo>
                <a:cubicBezTo>
                  <a:pt x="109953" y="23896"/>
                  <a:pt x="111125" y="25741"/>
                  <a:pt x="111125" y="27781"/>
                </a:cubicBezTo>
                <a:cubicBezTo>
                  <a:pt x="111125" y="29821"/>
                  <a:pt x="109953" y="31666"/>
                  <a:pt x="108108" y="32513"/>
                </a:cubicBezTo>
                <a:lnTo>
                  <a:pt x="60663" y="54434"/>
                </a:lnTo>
                <a:cubicBezTo>
                  <a:pt x="57429" y="55931"/>
                  <a:pt x="53696" y="55931"/>
                  <a:pt x="50462" y="54434"/>
                </a:cubicBezTo>
                <a:lnTo>
                  <a:pt x="3017" y="32513"/>
                </a:lnTo>
                <a:cubicBezTo>
                  <a:pt x="1172" y="31645"/>
                  <a:pt x="0" y="29800"/>
                  <a:pt x="0" y="27781"/>
                </a:cubicBezTo>
                <a:cubicBezTo>
                  <a:pt x="0" y="25763"/>
                  <a:pt x="1172" y="23896"/>
                  <a:pt x="3017" y="23050"/>
                </a:cubicBezTo>
                <a:lnTo>
                  <a:pt x="50462" y="1129"/>
                </a:lnTo>
                <a:close/>
                <a:moveTo>
                  <a:pt x="10440" y="47402"/>
                </a:moveTo>
                <a:lnTo>
                  <a:pt x="46100" y="63875"/>
                </a:lnTo>
                <a:cubicBezTo>
                  <a:pt x="52112" y="66653"/>
                  <a:pt x="59035" y="66653"/>
                  <a:pt x="65047" y="63875"/>
                </a:cubicBezTo>
                <a:lnTo>
                  <a:pt x="100707" y="47402"/>
                </a:lnTo>
                <a:lnTo>
                  <a:pt x="108108" y="50831"/>
                </a:lnTo>
                <a:cubicBezTo>
                  <a:pt x="109953" y="51677"/>
                  <a:pt x="111125" y="53522"/>
                  <a:pt x="111125" y="55563"/>
                </a:cubicBezTo>
                <a:cubicBezTo>
                  <a:pt x="111125" y="57603"/>
                  <a:pt x="109953" y="59448"/>
                  <a:pt x="108108" y="60294"/>
                </a:cubicBezTo>
                <a:lnTo>
                  <a:pt x="60663" y="82215"/>
                </a:lnTo>
                <a:cubicBezTo>
                  <a:pt x="57429" y="83713"/>
                  <a:pt x="53696" y="83713"/>
                  <a:pt x="50462" y="82215"/>
                </a:cubicBezTo>
                <a:lnTo>
                  <a:pt x="3017" y="60294"/>
                </a:lnTo>
                <a:cubicBezTo>
                  <a:pt x="1172" y="59426"/>
                  <a:pt x="0" y="57581"/>
                  <a:pt x="0" y="55563"/>
                </a:cubicBezTo>
                <a:cubicBezTo>
                  <a:pt x="0" y="53544"/>
                  <a:pt x="1172" y="51677"/>
                  <a:pt x="3017" y="50831"/>
                </a:cubicBezTo>
                <a:lnTo>
                  <a:pt x="10418" y="47402"/>
                </a:lnTo>
                <a:close/>
                <a:moveTo>
                  <a:pt x="3017" y="78612"/>
                </a:moveTo>
                <a:lnTo>
                  <a:pt x="10418" y="75183"/>
                </a:lnTo>
                <a:lnTo>
                  <a:pt x="46078" y="91656"/>
                </a:lnTo>
                <a:cubicBezTo>
                  <a:pt x="52090" y="94435"/>
                  <a:pt x="59013" y="94435"/>
                  <a:pt x="65025" y="91656"/>
                </a:cubicBezTo>
                <a:lnTo>
                  <a:pt x="100685" y="75183"/>
                </a:lnTo>
                <a:lnTo>
                  <a:pt x="108086" y="78612"/>
                </a:lnTo>
                <a:cubicBezTo>
                  <a:pt x="109931" y="79459"/>
                  <a:pt x="111103" y="81304"/>
                  <a:pt x="111103" y="83344"/>
                </a:cubicBezTo>
                <a:cubicBezTo>
                  <a:pt x="111103" y="85384"/>
                  <a:pt x="109931" y="87229"/>
                  <a:pt x="108086" y="88075"/>
                </a:cubicBezTo>
                <a:lnTo>
                  <a:pt x="60641" y="109996"/>
                </a:lnTo>
                <a:cubicBezTo>
                  <a:pt x="57407" y="111494"/>
                  <a:pt x="53674" y="111494"/>
                  <a:pt x="50440" y="109996"/>
                </a:cubicBezTo>
                <a:lnTo>
                  <a:pt x="3017" y="88075"/>
                </a:lnTo>
                <a:cubicBezTo>
                  <a:pt x="1172" y="87207"/>
                  <a:pt x="0" y="85362"/>
                  <a:pt x="0" y="83344"/>
                </a:cubicBezTo>
                <a:cubicBezTo>
                  <a:pt x="0" y="81325"/>
                  <a:pt x="1172" y="79459"/>
                  <a:pt x="3017" y="78612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6" name="Shape 104"/>
          <p:cNvSpPr/>
          <p:nvPr/>
        </p:nvSpPr>
        <p:spPr>
          <a:xfrm>
            <a:off x="6641042" y="5360460"/>
            <a:ext cx="5072063" cy="285750"/>
          </a:xfrm>
          <a:custGeom>
            <a:avLst/>
            <a:gdLst/>
            <a:ahLst/>
            <a:cxnLst/>
            <a:rect l="l" t="t" r="r" b="b"/>
            <a:pathLst>
              <a:path w="5072063" h="285750">
                <a:moveTo>
                  <a:pt x="63499" y="0"/>
                </a:moveTo>
                <a:lnTo>
                  <a:pt x="5008563" y="0"/>
                </a:lnTo>
                <a:cubicBezTo>
                  <a:pt x="5043633" y="0"/>
                  <a:pt x="5072063" y="28430"/>
                  <a:pt x="5072063" y="63499"/>
                </a:cubicBezTo>
                <a:lnTo>
                  <a:pt x="5072063" y="222251"/>
                </a:lnTo>
                <a:cubicBezTo>
                  <a:pt x="5072063" y="257320"/>
                  <a:pt x="5043633" y="285750"/>
                  <a:pt x="50085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7" name="Text 105"/>
          <p:cNvSpPr/>
          <p:nvPr/>
        </p:nvSpPr>
        <p:spPr>
          <a:xfrm>
            <a:off x="6704542" y="5423960"/>
            <a:ext cx="500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增量更新SKILL</a:t>
            </a:r>
            <a:endParaRPr lang="en-US" sz="1600" dirty="0"/>
          </a:p>
        </p:txBody>
      </p:sp>
      <p:sp>
        <p:nvSpPr>
          <p:cNvPr id="108" name="Shape 106"/>
          <p:cNvSpPr/>
          <p:nvPr/>
        </p:nvSpPr>
        <p:spPr>
          <a:xfrm>
            <a:off x="6323542" y="5725585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0"/>
                </a:moveTo>
                <a:lnTo>
                  <a:pt x="222250" y="0"/>
                </a:lnTo>
                <a:cubicBezTo>
                  <a:pt x="239773" y="0"/>
                  <a:pt x="254000" y="14227"/>
                  <a:pt x="254000" y="31750"/>
                </a:cubicBezTo>
                <a:lnTo>
                  <a:pt x="254000" y="222250"/>
                </a:lnTo>
                <a:cubicBezTo>
                  <a:pt x="254000" y="239773"/>
                  <a:pt x="239773" y="254000"/>
                  <a:pt x="222250" y="254000"/>
                </a:cubicBezTo>
                <a:lnTo>
                  <a:pt x="31750" y="254000"/>
                </a:lnTo>
                <a:cubicBezTo>
                  <a:pt x="14227" y="254000"/>
                  <a:pt x="0" y="239773"/>
                  <a:pt x="0" y="222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9" name="Shape 107"/>
          <p:cNvSpPr/>
          <p:nvPr/>
        </p:nvSpPr>
        <p:spPr>
          <a:xfrm>
            <a:off x="6403909" y="5797022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36463" y="6945"/>
                </a:moveTo>
                <a:lnTo>
                  <a:pt x="5209" y="6945"/>
                </a:lnTo>
                <a:cubicBezTo>
                  <a:pt x="2322" y="6945"/>
                  <a:pt x="0" y="9268"/>
                  <a:pt x="0" y="12154"/>
                </a:cubicBezTo>
                <a:lnTo>
                  <a:pt x="0" y="43408"/>
                </a:lnTo>
                <a:cubicBezTo>
                  <a:pt x="0" y="45514"/>
                  <a:pt x="1259" y="47423"/>
                  <a:pt x="3212" y="48227"/>
                </a:cubicBezTo>
                <a:cubicBezTo>
                  <a:pt x="5166" y="49030"/>
                  <a:pt x="7401" y="48574"/>
                  <a:pt x="8899" y="47098"/>
                </a:cubicBezTo>
                <a:lnTo>
                  <a:pt x="17580" y="38416"/>
                </a:lnTo>
                <a:lnTo>
                  <a:pt x="34727" y="55563"/>
                </a:lnTo>
                <a:lnTo>
                  <a:pt x="17580" y="72709"/>
                </a:lnTo>
                <a:lnTo>
                  <a:pt x="8899" y="64027"/>
                </a:lnTo>
                <a:cubicBezTo>
                  <a:pt x="7401" y="62530"/>
                  <a:pt x="5166" y="62095"/>
                  <a:pt x="3212" y="62898"/>
                </a:cubicBezTo>
                <a:cubicBezTo>
                  <a:pt x="1259" y="63702"/>
                  <a:pt x="0" y="65611"/>
                  <a:pt x="0" y="67717"/>
                </a:cubicBezTo>
                <a:lnTo>
                  <a:pt x="0" y="98971"/>
                </a:lnTo>
                <a:cubicBezTo>
                  <a:pt x="0" y="101857"/>
                  <a:pt x="2322" y="104180"/>
                  <a:pt x="5209" y="104180"/>
                </a:cubicBezTo>
                <a:lnTo>
                  <a:pt x="36463" y="104180"/>
                </a:lnTo>
                <a:cubicBezTo>
                  <a:pt x="38568" y="104180"/>
                  <a:pt x="40478" y="102921"/>
                  <a:pt x="41281" y="100967"/>
                </a:cubicBezTo>
                <a:cubicBezTo>
                  <a:pt x="42084" y="99014"/>
                  <a:pt x="41650" y="96779"/>
                  <a:pt x="40153" y="95281"/>
                </a:cubicBezTo>
                <a:lnTo>
                  <a:pt x="31471" y="86599"/>
                </a:lnTo>
                <a:lnTo>
                  <a:pt x="48617" y="69453"/>
                </a:lnTo>
                <a:lnTo>
                  <a:pt x="65763" y="86599"/>
                </a:lnTo>
                <a:lnTo>
                  <a:pt x="57082" y="95281"/>
                </a:lnTo>
                <a:cubicBezTo>
                  <a:pt x="55584" y="96779"/>
                  <a:pt x="55150" y="99014"/>
                  <a:pt x="55953" y="100967"/>
                </a:cubicBezTo>
                <a:cubicBezTo>
                  <a:pt x="56756" y="102921"/>
                  <a:pt x="58666" y="104180"/>
                  <a:pt x="60771" y="104180"/>
                </a:cubicBezTo>
                <a:lnTo>
                  <a:pt x="92025" y="104180"/>
                </a:lnTo>
                <a:cubicBezTo>
                  <a:pt x="94912" y="104180"/>
                  <a:pt x="97234" y="101857"/>
                  <a:pt x="97234" y="98971"/>
                </a:cubicBezTo>
                <a:lnTo>
                  <a:pt x="97234" y="67717"/>
                </a:lnTo>
                <a:cubicBezTo>
                  <a:pt x="97234" y="65611"/>
                  <a:pt x="95976" y="63702"/>
                  <a:pt x="94022" y="62898"/>
                </a:cubicBezTo>
                <a:cubicBezTo>
                  <a:pt x="92069" y="62095"/>
                  <a:pt x="89833" y="62530"/>
                  <a:pt x="88336" y="64027"/>
                </a:cubicBezTo>
                <a:lnTo>
                  <a:pt x="79654" y="72709"/>
                </a:lnTo>
                <a:lnTo>
                  <a:pt x="62508" y="55563"/>
                </a:lnTo>
                <a:lnTo>
                  <a:pt x="79654" y="38416"/>
                </a:lnTo>
                <a:lnTo>
                  <a:pt x="88336" y="47098"/>
                </a:lnTo>
                <a:cubicBezTo>
                  <a:pt x="89833" y="48595"/>
                  <a:pt x="92069" y="49030"/>
                  <a:pt x="94022" y="48227"/>
                </a:cubicBezTo>
                <a:cubicBezTo>
                  <a:pt x="95976" y="47423"/>
                  <a:pt x="97234" y="45514"/>
                  <a:pt x="97234" y="43408"/>
                </a:cubicBezTo>
                <a:lnTo>
                  <a:pt x="97234" y="12154"/>
                </a:lnTo>
                <a:cubicBezTo>
                  <a:pt x="97234" y="9268"/>
                  <a:pt x="94912" y="6945"/>
                  <a:pt x="92025" y="6945"/>
                </a:cubicBezTo>
                <a:lnTo>
                  <a:pt x="60771" y="6945"/>
                </a:lnTo>
                <a:cubicBezTo>
                  <a:pt x="58666" y="6945"/>
                  <a:pt x="56756" y="8204"/>
                  <a:pt x="55953" y="10158"/>
                </a:cubicBezTo>
                <a:cubicBezTo>
                  <a:pt x="55150" y="12111"/>
                  <a:pt x="55606" y="14346"/>
                  <a:pt x="57082" y="15844"/>
                </a:cubicBezTo>
                <a:lnTo>
                  <a:pt x="65763" y="24526"/>
                </a:lnTo>
                <a:lnTo>
                  <a:pt x="48617" y="41672"/>
                </a:lnTo>
                <a:lnTo>
                  <a:pt x="31471" y="24526"/>
                </a:lnTo>
                <a:lnTo>
                  <a:pt x="40153" y="15844"/>
                </a:lnTo>
                <a:cubicBezTo>
                  <a:pt x="41650" y="14346"/>
                  <a:pt x="42084" y="12111"/>
                  <a:pt x="41281" y="10158"/>
                </a:cubicBezTo>
                <a:cubicBezTo>
                  <a:pt x="40478" y="8204"/>
                  <a:pt x="38568" y="6945"/>
                  <a:pt x="36463" y="6945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0" name="Shape 108"/>
          <p:cNvSpPr/>
          <p:nvPr/>
        </p:nvSpPr>
        <p:spPr>
          <a:xfrm>
            <a:off x="6641042" y="5709710"/>
            <a:ext cx="5072063" cy="285750"/>
          </a:xfrm>
          <a:custGeom>
            <a:avLst/>
            <a:gdLst/>
            <a:ahLst/>
            <a:cxnLst/>
            <a:rect l="l" t="t" r="r" b="b"/>
            <a:pathLst>
              <a:path w="5072063" h="285750">
                <a:moveTo>
                  <a:pt x="63499" y="0"/>
                </a:moveTo>
                <a:lnTo>
                  <a:pt x="5008563" y="0"/>
                </a:lnTo>
                <a:cubicBezTo>
                  <a:pt x="5043633" y="0"/>
                  <a:pt x="5072063" y="28430"/>
                  <a:pt x="5072063" y="63499"/>
                </a:cubicBezTo>
                <a:lnTo>
                  <a:pt x="5072063" y="222251"/>
                </a:lnTo>
                <a:cubicBezTo>
                  <a:pt x="5072063" y="257320"/>
                  <a:pt x="5043633" y="285750"/>
                  <a:pt x="5008563" y="285750"/>
                </a:cubicBezTo>
                <a:lnTo>
                  <a:pt x="63499" y="285750"/>
                </a:lnTo>
                <a:cubicBezTo>
                  <a:pt x="28430" y="285750"/>
                  <a:pt x="0" y="257320"/>
                  <a:pt x="0" y="22225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109"/>
          <p:cNvSpPr/>
          <p:nvPr/>
        </p:nvSpPr>
        <p:spPr>
          <a:xfrm>
            <a:off x="6704542" y="5773210"/>
            <a:ext cx="500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覆盖范围扩大</a:t>
            </a:r>
            <a:endParaRPr lang="en-US" sz="1600" dirty="0"/>
          </a:p>
        </p:txBody>
      </p:sp>
      <p:sp>
        <p:nvSpPr>
          <p:cNvPr id="112" name="Shape 110"/>
          <p:cNvSpPr/>
          <p:nvPr/>
        </p:nvSpPr>
        <p:spPr>
          <a:xfrm>
            <a:off x="6326188" y="6082771"/>
            <a:ext cx="251354" cy="251354"/>
          </a:xfrm>
          <a:custGeom>
            <a:avLst/>
            <a:gdLst/>
            <a:ahLst/>
            <a:cxnLst/>
            <a:rect l="l" t="t" r="r" b="b"/>
            <a:pathLst>
              <a:path w="251354" h="251354">
                <a:moveTo>
                  <a:pt x="31751" y="0"/>
                </a:moveTo>
                <a:lnTo>
                  <a:pt x="219603" y="0"/>
                </a:lnTo>
                <a:cubicBezTo>
                  <a:pt x="237139" y="0"/>
                  <a:pt x="251354" y="14215"/>
                  <a:pt x="251354" y="31751"/>
                </a:cubicBezTo>
                <a:lnTo>
                  <a:pt x="251354" y="219603"/>
                </a:lnTo>
                <a:cubicBezTo>
                  <a:pt x="251354" y="237139"/>
                  <a:pt x="237139" y="251354"/>
                  <a:pt x="219603" y="251354"/>
                </a:cubicBezTo>
                <a:lnTo>
                  <a:pt x="31751" y="251354"/>
                </a:lnTo>
                <a:cubicBezTo>
                  <a:pt x="14215" y="251354"/>
                  <a:pt x="0" y="237139"/>
                  <a:pt x="0" y="219603"/>
                </a:cubicBezTo>
                <a:lnTo>
                  <a:pt x="0" y="31751"/>
                </a:lnTo>
                <a:cubicBezTo>
                  <a:pt x="0" y="14227"/>
                  <a:pt x="14227" y="0"/>
                  <a:pt x="31751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 w="8467">
            <a:solidFill>
              <a:srgbClr val="5E8B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111"/>
          <p:cNvSpPr/>
          <p:nvPr/>
        </p:nvSpPr>
        <p:spPr>
          <a:xfrm>
            <a:off x="6396964" y="6151563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94782" y="16213"/>
                </a:moveTo>
                <a:lnTo>
                  <a:pt x="97234" y="18535"/>
                </a:lnTo>
                <a:lnTo>
                  <a:pt x="97234" y="6945"/>
                </a:lnTo>
                <a:cubicBezTo>
                  <a:pt x="97234" y="3104"/>
                  <a:pt x="100338" y="0"/>
                  <a:pt x="104180" y="0"/>
                </a:cubicBezTo>
                <a:cubicBezTo>
                  <a:pt x="108021" y="0"/>
                  <a:pt x="111125" y="3104"/>
                  <a:pt x="111125" y="6945"/>
                </a:cubicBezTo>
                <a:lnTo>
                  <a:pt x="111125" y="34727"/>
                </a:lnTo>
                <a:cubicBezTo>
                  <a:pt x="111125" y="38568"/>
                  <a:pt x="108021" y="41672"/>
                  <a:pt x="104180" y="41672"/>
                </a:cubicBezTo>
                <a:lnTo>
                  <a:pt x="76398" y="41672"/>
                </a:lnTo>
                <a:cubicBezTo>
                  <a:pt x="72557" y="41672"/>
                  <a:pt x="69453" y="38568"/>
                  <a:pt x="69453" y="34727"/>
                </a:cubicBezTo>
                <a:cubicBezTo>
                  <a:pt x="69453" y="30885"/>
                  <a:pt x="72557" y="27781"/>
                  <a:pt x="76398" y="27781"/>
                </a:cubicBezTo>
                <a:lnTo>
                  <a:pt x="86795" y="27781"/>
                </a:lnTo>
                <a:lnTo>
                  <a:pt x="85145" y="26219"/>
                </a:lnTo>
                <a:cubicBezTo>
                  <a:pt x="85102" y="26175"/>
                  <a:pt x="85058" y="26132"/>
                  <a:pt x="85015" y="26088"/>
                </a:cubicBezTo>
                <a:cubicBezTo>
                  <a:pt x="68737" y="9810"/>
                  <a:pt x="42366" y="9810"/>
                  <a:pt x="26088" y="26088"/>
                </a:cubicBezTo>
                <a:cubicBezTo>
                  <a:pt x="9810" y="42366"/>
                  <a:pt x="9810" y="68737"/>
                  <a:pt x="26088" y="85015"/>
                </a:cubicBezTo>
                <a:cubicBezTo>
                  <a:pt x="42366" y="101293"/>
                  <a:pt x="68737" y="101293"/>
                  <a:pt x="85015" y="85015"/>
                </a:cubicBezTo>
                <a:cubicBezTo>
                  <a:pt x="86795" y="83235"/>
                  <a:pt x="88379" y="81347"/>
                  <a:pt x="89768" y="79350"/>
                </a:cubicBezTo>
                <a:cubicBezTo>
                  <a:pt x="91960" y="76203"/>
                  <a:pt x="96301" y="75443"/>
                  <a:pt x="99448" y="77636"/>
                </a:cubicBezTo>
                <a:cubicBezTo>
                  <a:pt x="102595" y="79828"/>
                  <a:pt x="103355" y="84169"/>
                  <a:pt x="101163" y="87316"/>
                </a:cubicBezTo>
                <a:cubicBezTo>
                  <a:pt x="99318" y="89964"/>
                  <a:pt x="97213" y="92481"/>
                  <a:pt x="94847" y="94847"/>
                </a:cubicBezTo>
                <a:cubicBezTo>
                  <a:pt x="73143" y="116551"/>
                  <a:pt x="37960" y="116551"/>
                  <a:pt x="16278" y="94847"/>
                </a:cubicBezTo>
                <a:cubicBezTo>
                  <a:pt x="-5404" y="73143"/>
                  <a:pt x="-5426" y="37982"/>
                  <a:pt x="16278" y="16278"/>
                </a:cubicBezTo>
                <a:cubicBezTo>
                  <a:pt x="37960" y="-5404"/>
                  <a:pt x="73078" y="-5426"/>
                  <a:pt x="94782" y="16213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4" name="Shape 112"/>
          <p:cNvSpPr/>
          <p:nvPr/>
        </p:nvSpPr>
        <p:spPr>
          <a:xfrm>
            <a:off x="6643688" y="6061605"/>
            <a:ext cx="5061479" cy="291042"/>
          </a:xfrm>
          <a:custGeom>
            <a:avLst/>
            <a:gdLst/>
            <a:ahLst/>
            <a:cxnLst/>
            <a:rect l="l" t="t" r="r" b="b"/>
            <a:pathLst>
              <a:path w="5061479" h="291042">
                <a:moveTo>
                  <a:pt x="63499" y="0"/>
                </a:moveTo>
                <a:lnTo>
                  <a:pt x="4997980" y="0"/>
                </a:lnTo>
                <a:cubicBezTo>
                  <a:pt x="5033049" y="0"/>
                  <a:pt x="5061479" y="28430"/>
                  <a:pt x="5061479" y="63499"/>
                </a:cubicBezTo>
                <a:lnTo>
                  <a:pt x="5061479" y="227542"/>
                </a:lnTo>
                <a:cubicBezTo>
                  <a:pt x="5061479" y="262612"/>
                  <a:pt x="5033049" y="291042"/>
                  <a:pt x="4997980" y="291042"/>
                </a:cubicBezTo>
                <a:lnTo>
                  <a:pt x="63499" y="291042"/>
                </a:lnTo>
                <a:cubicBezTo>
                  <a:pt x="28430" y="291042"/>
                  <a:pt x="0" y="262612"/>
                  <a:pt x="0" y="227542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Text 113"/>
          <p:cNvSpPr/>
          <p:nvPr/>
        </p:nvSpPr>
        <p:spPr>
          <a:xfrm>
            <a:off x="6709834" y="6127750"/>
            <a:ext cx="4984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下一轮更智能</a:t>
            </a:r>
            <a:endParaRPr lang="en-US" sz="1600" dirty="0"/>
          </a:p>
        </p:txBody>
      </p:sp>
      <p:sp>
        <p:nvSpPr>
          <p:cNvPr id="116" name="Shape 114"/>
          <p:cNvSpPr/>
          <p:nvPr/>
        </p:nvSpPr>
        <p:spPr>
          <a:xfrm>
            <a:off x="6326188" y="6453190"/>
            <a:ext cx="5378979" cy="354542"/>
          </a:xfrm>
          <a:custGeom>
            <a:avLst/>
            <a:gdLst/>
            <a:ahLst/>
            <a:cxnLst/>
            <a:rect l="l" t="t" r="r" b="b"/>
            <a:pathLst>
              <a:path w="5378979" h="354542">
                <a:moveTo>
                  <a:pt x="63498" y="0"/>
                </a:moveTo>
                <a:lnTo>
                  <a:pt x="5315481" y="0"/>
                </a:lnTo>
                <a:cubicBezTo>
                  <a:pt x="5350550" y="0"/>
                  <a:pt x="5378979" y="28429"/>
                  <a:pt x="5378979" y="63498"/>
                </a:cubicBezTo>
                <a:lnTo>
                  <a:pt x="5378979" y="291043"/>
                </a:lnTo>
                <a:cubicBezTo>
                  <a:pt x="5378979" y="326112"/>
                  <a:pt x="5350550" y="354542"/>
                  <a:pt x="5315481" y="354542"/>
                </a:cubicBezTo>
                <a:lnTo>
                  <a:pt x="63498" y="354542"/>
                </a:lnTo>
                <a:cubicBezTo>
                  <a:pt x="28429" y="354542"/>
                  <a:pt x="0" y="326112"/>
                  <a:pt x="0" y="291043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15"/>
          <p:cNvSpPr/>
          <p:nvPr/>
        </p:nvSpPr>
        <p:spPr>
          <a:xfrm>
            <a:off x="6453849" y="6572250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63571" y="83344"/>
                </a:moveTo>
                <a:cubicBezTo>
                  <a:pt x="65156" y="78504"/>
                  <a:pt x="68325" y="74120"/>
                  <a:pt x="71906" y="70343"/>
                </a:cubicBezTo>
                <a:cubicBezTo>
                  <a:pt x="79003" y="62877"/>
                  <a:pt x="83344" y="52784"/>
                  <a:pt x="83344" y="41672"/>
                </a:cubicBezTo>
                <a:cubicBezTo>
                  <a:pt x="83344" y="18666"/>
                  <a:pt x="64678" y="0"/>
                  <a:pt x="41672" y="0"/>
                </a:cubicBezTo>
                <a:cubicBezTo>
                  <a:pt x="18666" y="0"/>
                  <a:pt x="0" y="18666"/>
                  <a:pt x="0" y="41672"/>
                </a:cubicBezTo>
                <a:cubicBezTo>
                  <a:pt x="0" y="52784"/>
                  <a:pt x="4341" y="62877"/>
                  <a:pt x="11438" y="70343"/>
                </a:cubicBezTo>
                <a:cubicBezTo>
                  <a:pt x="15019" y="74120"/>
                  <a:pt x="18210" y="78504"/>
                  <a:pt x="19772" y="83344"/>
                </a:cubicBezTo>
                <a:lnTo>
                  <a:pt x="63550" y="83344"/>
                </a:lnTo>
                <a:close/>
                <a:moveTo>
                  <a:pt x="62508" y="93762"/>
                </a:moveTo>
                <a:lnTo>
                  <a:pt x="20836" y="93762"/>
                </a:lnTo>
                <a:lnTo>
                  <a:pt x="20836" y="97234"/>
                </a:lnTo>
                <a:cubicBezTo>
                  <a:pt x="20836" y="106828"/>
                  <a:pt x="28606" y="114598"/>
                  <a:pt x="38199" y="114598"/>
                </a:cubicBezTo>
                <a:lnTo>
                  <a:pt x="45145" y="114598"/>
                </a:lnTo>
                <a:cubicBezTo>
                  <a:pt x="54738" y="114598"/>
                  <a:pt x="62508" y="106828"/>
                  <a:pt x="62508" y="97234"/>
                </a:cubicBezTo>
                <a:lnTo>
                  <a:pt x="62508" y="93762"/>
                </a:lnTo>
                <a:close/>
                <a:moveTo>
                  <a:pt x="39936" y="24309"/>
                </a:moveTo>
                <a:cubicBezTo>
                  <a:pt x="31297" y="24309"/>
                  <a:pt x="24309" y="31297"/>
                  <a:pt x="24309" y="39936"/>
                </a:cubicBezTo>
                <a:cubicBezTo>
                  <a:pt x="24309" y="42822"/>
                  <a:pt x="21986" y="45145"/>
                  <a:pt x="19100" y="45145"/>
                </a:cubicBezTo>
                <a:cubicBezTo>
                  <a:pt x="16213" y="45145"/>
                  <a:pt x="13891" y="42822"/>
                  <a:pt x="13891" y="39936"/>
                </a:cubicBezTo>
                <a:cubicBezTo>
                  <a:pt x="13891" y="25546"/>
                  <a:pt x="25546" y="13891"/>
                  <a:pt x="39936" y="13891"/>
                </a:cubicBezTo>
                <a:cubicBezTo>
                  <a:pt x="42822" y="13891"/>
                  <a:pt x="45145" y="16213"/>
                  <a:pt x="45145" y="19100"/>
                </a:cubicBezTo>
                <a:cubicBezTo>
                  <a:pt x="45145" y="21986"/>
                  <a:pt x="42822" y="24309"/>
                  <a:pt x="39936" y="24309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8" name="Text 116"/>
          <p:cNvSpPr/>
          <p:nvPr/>
        </p:nvSpPr>
        <p:spPr>
          <a:xfrm>
            <a:off x="6606646" y="6551085"/>
            <a:ext cx="5056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核心本质：</a:t>
            </a:r>
            <a:r>
              <a:rPr lang="en-US" sz="875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 = 直接业务逻辑实现 + 经验通过SKILL凝聚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6372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算力需求：1000人团队的Token消耗预估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COMPUTE RESOURCE PLANNING - TOKEN CONSUMPTION FORECAST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22375"/>
            <a:ext cx="5635625" cy="4130675"/>
          </a:xfrm>
          <a:custGeom>
            <a:avLst/>
            <a:gdLst/>
            <a:ahLst/>
            <a:cxnLst/>
            <a:rect l="l" t="t" r="r" b="b"/>
            <a:pathLst>
              <a:path w="5635625" h="4130675">
                <a:moveTo>
                  <a:pt x="114296" y="0"/>
                </a:moveTo>
                <a:lnTo>
                  <a:pt x="5521329" y="0"/>
                </a:lnTo>
                <a:cubicBezTo>
                  <a:pt x="5584453" y="0"/>
                  <a:pt x="5635625" y="51172"/>
                  <a:pt x="5635625" y="114296"/>
                </a:cubicBezTo>
                <a:lnTo>
                  <a:pt x="5635625" y="4016379"/>
                </a:lnTo>
                <a:cubicBezTo>
                  <a:pt x="5635625" y="4079503"/>
                  <a:pt x="5584453" y="4130675"/>
                  <a:pt x="5521329" y="4130675"/>
                </a:cubicBezTo>
                <a:lnTo>
                  <a:pt x="114296" y="4130675"/>
                </a:lnTo>
                <a:cubicBezTo>
                  <a:pt x="51172" y="4130675"/>
                  <a:pt x="0" y="4079503"/>
                  <a:pt x="0" y="401637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13569" y="145415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15975" y="1416053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OpenCode实际使用数据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81025" y="1838328"/>
            <a:ext cx="5235575" cy="958850"/>
          </a:xfrm>
          <a:custGeom>
            <a:avLst/>
            <a:gdLst/>
            <a:ahLst/>
            <a:cxnLst/>
            <a:rect l="l" t="t" r="r" b="b"/>
            <a:pathLst>
              <a:path w="5235575" h="958850">
                <a:moveTo>
                  <a:pt x="76200" y="0"/>
                </a:moveTo>
                <a:lnTo>
                  <a:pt x="5159375" y="0"/>
                </a:lnTo>
                <a:cubicBezTo>
                  <a:pt x="5201459" y="0"/>
                  <a:pt x="5235575" y="34116"/>
                  <a:pt x="5235575" y="76200"/>
                </a:cubicBezTo>
                <a:lnTo>
                  <a:pt x="5235575" y="882650"/>
                </a:lnTo>
                <a:cubicBezTo>
                  <a:pt x="5235575" y="924734"/>
                  <a:pt x="5201459" y="958850"/>
                  <a:pt x="5159375" y="958850"/>
                </a:cubicBezTo>
                <a:lnTo>
                  <a:pt x="76200" y="958850"/>
                </a:lnTo>
                <a:cubicBezTo>
                  <a:pt x="34116" y="958850"/>
                  <a:pt x="0" y="924734"/>
                  <a:pt x="0" y="8826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98500" y="1955802"/>
            <a:ext cx="506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参考项目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98500" y="2184402"/>
            <a:ext cx="5086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dbpwd项目（1人12天）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8500" y="2489202"/>
            <a:ext cx="506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2026年2月统计周期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7850" y="2952750"/>
            <a:ext cx="2562225" cy="952500"/>
          </a:xfrm>
          <a:custGeom>
            <a:avLst/>
            <a:gdLst/>
            <a:ahLst/>
            <a:cxnLst/>
            <a:rect l="l" t="t" r="r" b="b"/>
            <a:pathLst>
              <a:path w="2562225" h="952500">
                <a:moveTo>
                  <a:pt x="76200" y="0"/>
                </a:moveTo>
                <a:lnTo>
                  <a:pt x="2486025" y="0"/>
                </a:lnTo>
                <a:cubicBezTo>
                  <a:pt x="2528081" y="0"/>
                  <a:pt x="2562225" y="34144"/>
                  <a:pt x="2562225" y="76200"/>
                </a:cubicBezTo>
                <a:lnTo>
                  <a:pt x="2562225" y="876300"/>
                </a:lnTo>
                <a:cubicBezTo>
                  <a:pt x="2562225" y="918356"/>
                  <a:pt x="2528081" y="952500"/>
                  <a:pt x="2486025" y="952500"/>
                </a:cubicBezTo>
                <a:lnTo>
                  <a:pt x="76200" y="952500"/>
                </a:lnTo>
                <a:cubicBezTo>
                  <a:pt x="34144" y="952500"/>
                  <a:pt x="0" y="918356"/>
                  <a:pt x="0" y="8763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20713" y="30670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722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813" y="3448050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会话数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3575" y="3638550"/>
            <a:ext cx="23907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日均60个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57550" y="2952750"/>
            <a:ext cx="2562225" cy="952500"/>
          </a:xfrm>
          <a:custGeom>
            <a:avLst/>
            <a:gdLst/>
            <a:ahLst/>
            <a:cxnLst/>
            <a:rect l="l" t="t" r="r" b="b"/>
            <a:pathLst>
              <a:path w="2562225" h="952500">
                <a:moveTo>
                  <a:pt x="76200" y="0"/>
                </a:moveTo>
                <a:lnTo>
                  <a:pt x="2486025" y="0"/>
                </a:lnTo>
                <a:cubicBezTo>
                  <a:pt x="2528081" y="0"/>
                  <a:pt x="2562225" y="34144"/>
                  <a:pt x="2562225" y="76200"/>
                </a:cubicBezTo>
                <a:lnTo>
                  <a:pt x="2562225" y="876300"/>
                </a:lnTo>
                <a:cubicBezTo>
                  <a:pt x="2562225" y="918356"/>
                  <a:pt x="2528081" y="952500"/>
                  <a:pt x="2486025" y="952500"/>
                </a:cubicBezTo>
                <a:lnTo>
                  <a:pt x="76200" y="952500"/>
                </a:lnTo>
                <a:cubicBezTo>
                  <a:pt x="34144" y="952500"/>
                  <a:pt x="0" y="918356"/>
                  <a:pt x="0" y="8763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3300413" y="30670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1.82亿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338513" y="3448050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总Input Tokens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43275" y="3638550"/>
            <a:ext cx="23907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日均1516万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77850" y="4019550"/>
            <a:ext cx="2562225" cy="952500"/>
          </a:xfrm>
          <a:custGeom>
            <a:avLst/>
            <a:gdLst/>
            <a:ahLst/>
            <a:cxnLst/>
            <a:rect l="l" t="t" r="r" b="b"/>
            <a:pathLst>
              <a:path w="2562225" h="952500">
                <a:moveTo>
                  <a:pt x="76200" y="0"/>
                </a:moveTo>
                <a:lnTo>
                  <a:pt x="2486025" y="0"/>
                </a:lnTo>
                <a:cubicBezTo>
                  <a:pt x="2528081" y="0"/>
                  <a:pt x="2562225" y="34144"/>
                  <a:pt x="2562225" y="76200"/>
                </a:cubicBezTo>
                <a:lnTo>
                  <a:pt x="2562225" y="876300"/>
                </a:lnTo>
                <a:cubicBezTo>
                  <a:pt x="2562225" y="918356"/>
                  <a:pt x="2528081" y="952500"/>
                  <a:pt x="2486025" y="952500"/>
                </a:cubicBezTo>
                <a:lnTo>
                  <a:pt x="76200" y="952500"/>
                </a:lnTo>
                <a:cubicBezTo>
                  <a:pt x="34144" y="952500"/>
                  <a:pt x="0" y="918356"/>
                  <a:pt x="0" y="8763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20713" y="41338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68万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8813" y="4514850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平均每会话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3575" y="4705350"/>
            <a:ext cx="23907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中位数2.6万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257550" y="4019550"/>
            <a:ext cx="2562225" cy="952500"/>
          </a:xfrm>
          <a:custGeom>
            <a:avLst/>
            <a:gdLst/>
            <a:ahLst/>
            <a:cxnLst/>
            <a:rect l="l" t="t" r="r" b="b"/>
            <a:pathLst>
              <a:path w="2562225" h="952500">
                <a:moveTo>
                  <a:pt x="76200" y="0"/>
                </a:moveTo>
                <a:lnTo>
                  <a:pt x="2486025" y="0"/>
                </a:lnTo>
                <a:cubicBezTo>
                  <a:pt x="2528081" y="0"/>
                  <a:pt x="2562225" y="34144"/>
                  <a:pt x="2562225" y="76200"/>
                </a:cubicBezTo>
                <a:lnTo>
                  <a:pt x="2562225" y="876300"/>
                </a:lnTo>
                <a:cubicBezTo>
                  <a:pt x="2562225" y="918356"/>
                  <a:pt x="2528081" y="952500"/>
                  <a:pt x="2486025" y="952500"/>
                </a:cubicBezTo>
                <a:lnTo>
                  <a:pt x="76200" y="952500"/>
                </a:lnTo>
                <a:cubicBezTo>
                  <a:pt x="34144" y="952500"/>
                  <a:pt x="0" y="918356"/>
                  <a:pt x="0" y="8763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3300413" y="41338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1人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338513" y="4514850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用户规模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43275" y="4705350"/>
            <a:ext cx="23907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dbpwd项目开发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5375" y="1222375"/>
            <a:ext cx="5635625" cy="4130675"/>
          </a:xfrm>
          <a:custGeom>
            <a:avLst/>
            <a:gdLst/>
            <a:ahLst/>
            <a:cxnLst/>
            <a:rect l="l" t="t" r="r" b="b"/>
            <a:pathLst>
              <a:path w="5635625" h="4130675">
                <a:moveTo>
                  <a:pt x="114296" y="0"/>
                </a:moveTo>
                <a:lnTo>
                  <a:pt x="5521329" y="0"/>
                </a:lnTo>
                <a:cubicBezTo>
                  <a:pt x="5584453" y="0"/>
                  <a:pt x="5635625" y="51172"/>
                  <a:pt x="5635625" y="114296"/>
                </a:cubicBezTo>
                <a:lnTo>
                  <a:pt x="5635625" y="4016379"/>
                </a:lnTo>
                <a:cubicBezTo>
                  <a:pt x="5635625" y="4079503"/>
                  <a:pt x="5584453" y="4130675"/>
                  <a:pt x="5521329" y="4130675"/>
                </a:cubicBezTo>
                <a:lnTo>
                  <a:pt x="114296" y="4130675"/>
                </a:lnTo>
                <a:cubicBezTo>
                  <a:pt x="51172" y="4130675"/>
                  <a:pt x="0" y="4079503"/>
                  <a:pt x="0" y="401637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416675" y="1454153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607175" y="1416053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1000人团队Token需求估算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69050" y="1835153"/>
            <a:ext cx="5248275" cy="990600"/>
          </a:xfrm>
          <a:custGeom>
            <a:avLst/>
            <a:gdLst/>
            <a:ahLst/>
            <a:cxnLst/>
            <a:rect l="l" t="t" r="r" b="b"/>
            <a:pathLst>
              <a:path w="5248275" h="990600">
                <a:moveTo>
                  <a:pt x="76197" y="0"/>
                </a:moveTo>
                <a:lnTo>
                  <a:pt x="5172078" y="0"/>
                </a:lnTo>
                <a:cubicBezTo>
                  <a:pt x="5214160" y="0"/>
                  <a:pt x="5248275" y="34115"/>
                  <a:pt x="5248275" y="76197"/>
                </a:cubicBezTo>
                <a:lnTo>
                  <a:pt x="5248275" y="914403"/>
                </a:lnTo>
                <a:cubicBezTo>
                  <a:pt x="5248275" y="956485"/>
                  <a:pt x="5214160" y="990600"/>
                  <a:pt x="5172078" y="990600"/>
                </a:cubicBezTo>
                <a:lnTo>
                  <a:pt x="76197" y="990600"/>
                </a:lnTo>
                <a:cubicBezTo>
                  <a:pt x="34115" y="990600"/>
                  <a:pt x="0" y="956485"/>
                  <a:pt x="0" y="91440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6483350" y="1949453"/>
            <a:ext cx="5086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估算依据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83350" y="2216153"/>
            <a:ext cx="5095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人均日均Token: </a:t>
            </a:r>
            <a:r>
              <a:rPr lang="en-US" sz="15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1516万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（基于dbpwd项目实际数据）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83350" y="2520953"/>
            <a:ext cx="5086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计算公式: 1516万 × 1000人 × 强度系数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88100" y="2940053"/>
            <a:ext cx="5229225" cy="685800"/>
          </a:xfrm>
          <a:custGeom>
            <a:avLst/>
            <a:gdLst/>
            <a:ahLst/>
            <a:cxnLst/>
            <a:rect l="l" t="t" r="r" b="b"/>
            <a:pathLst>
              <a:path w="5229225" h="685800">
                <a:moveTo>
                  <a:pt x="38100" y="0"/>
                </a:moveTo>
                <a:lnTo>
                  <a:pt x="5153026" y="0"/>
                </a:lnTo>
                <a:cubicBezTo>
                  <a:pt x="5195109" y="0"/>
                  <a:pt x="5229225" y="34116"/>
                  <a:pt x="5229225" y="76199"/>
                </a:cubicBezTo>
                <a:lnTo>
                  <a:pt x="5229225" y="609601"/>
                </a:lnTo>
                <a:cubicBezTo>
                  <a:pt x="5229225" y="651684"/>
                  <a:pt x="5195109" y="685800"/>
                  <a:pt x="51530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388100" y="2940053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521450" y="3073403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轻度使用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521450" y="3302003"/>
            <a:ext cx="1562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系数 0.3x | 人均455万/天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461824" y="3054353"/>
            <a:ext cx="1038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800" b="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45.5亿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0518974" y="3359153"/>
            <a:ext cx="981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1000人日均Token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88100" y="3702053"/>
            <a:ext cx="5229225" cy="685800"/>
          </a:xfrm>
          <a:custGeom>
            <a:avLst/>
            <a:gdLst/>
            <a:ahLst/>
            <a:cxnLst/>
            <a:rect l="l" t="t" r="r" b="b"/>
            <a:pathLst>
              <a:path w="5229225" h="685800">
                <a:moveTo>
                  <a:pt x="38100" y="0"/>
                </a:moveTo>
                <a:lnTo>
                  <a:pt x="5153026" y="0"/>
                </a:lnTo>
                <a:cubicBezTo>
                  <a:pt x="5195109" y="0"/>
                  <a:pt x="5229225" y="34116"/>
                  <a:pt x="5229225" y="76199"/>
                </a:cubicBezTo>
                <a:lnTo>
                  <a:pt x="5229225" y="609601"/>
                </a:lnTo>
                <a:cubicBezTo>
                  <a:pt x="5229225" y="651684"/>
                  <a:pt x="5195109" y="685800"/>
                  <a:pt x="51530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6388100" y="3702053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521450" y="3835403"/>
            <a:ext cx="145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中度使用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521450" y="4064003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系数 1x | 人均1516万/天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461824" y="3816353"/>
            <a:ext cx="1038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8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152亿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0518974" y="4121153"/>
            <a:ext cx="981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1000人日均Token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88100" y="4467228"/>
            <a:ext cx="5222875" cy="692150"/>
          </a:xfrm>
          <a:custGeom>
            <a:avLst/>
            <a:gdLst/>
            <a:ahLst/>
            <a:cxnLst/>
            <a:rect l="l" t="t" r="r" b="b"/>
            <a:pathLst>
              <a:path w="5222875" h="692150">
                <a:moveTo>
                  <a:pt x="76199" y="0"/>
                </a:moveTo>
                <a:lnTo>
                  <a:pt x="5146676" y="0"/>
                </a:lnTo>
                <a:cubicBezTo>
                  <a:pt x="5188760" y="0"/>
                  <a:pt x="5222875" y="34115"/>
                  <a:pt x="5222875" y="76199"/>
                </a:cubicBezTo>
                <a:lnTo>
                  <a:pt x="5222875" y="615951"/>
                </a:lnTo>
                <a:cubicBezTo>
                  <a:pt x="5222875" y="658035"/>
                  <a:pt x="5188760" y="692150"/>
                  <a:pt x="5146676" y="692150"/>
                </a:cubicBezTo>
                <a:lnTo>
                  <a:pt x="76199" y="692150"/>
                </a:lnTo>
                <a:cubicBezTo>
                  <a:pt x="34115" y="692150"/>
                  <a:pt x="0" y="658035"/>
                  <a:pt x="0" y="61595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6521450" y="460375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重度使用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21450" y="4832352"/>
            <a:ext cx="1590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系数 1.5x | 人均2274万/天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0455473" y="4584702"/>
            <a:ext cx="1038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227亿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0512623" y="4889502"/>
            <a:ext cx="981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1000人日均Token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84175" y="5514978"/>
            <a:ext cx="11426825" cy="901700"/>
          </a:xfrm>
          <a:custGeom>
            <a:avLst/>
            <a:gdLst/>
            <a:ahLst/>
            <a:cxnLst/>
            <a:rect l="l" t="t" r="r" b="b"/>
            <a:pathLst>
              <a:path w="11426825" h="901700">
                <a:moveTo>
                  <a:pt x="114299" y="0"/>
                </a:moveTo>
                <a:lnTo>
                  <a:pt x="11312526" y="0"/>
                </a:lnTo>
                <a:cubicBezTo>
                  <a:pt x="11375651" y="0"/>
                  <a:pt x="11426825" y="51174"/>
                  <a:pt x="11426825" y="114299"/>
                </a:cubicBezTo>
                <a:lnTo>
                  <a:pt x="11426825" y="787401"/>
                </a:lnTo>
                <a:cubicBezTo>
                  <a:pt x="11426825" y="850526"/>
                  <a:pt x="11375651" y="901700"/>
                  <a:pt x="11312526" y="901700"/>
                </a:cubicBezTo>
                <a:lnTo>
                  <a:pt x="114299" y="901700"/>
                </a:lnTo>
                <a:cubicBezTo>
                  <a:pt x="51174" y="901700"/>
                  <a:pt x="0" y="850526"/>
                  <a:pt x="0" y="787401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4A6C8C">
                  <a:alpha val="10000"/>
                </a:srgbClr>
              </a:gs>
            </a:gsLst>
            <a:lin ang="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539750" y="5670552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73100" y="580390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1149350" y="5670552"/>
            <a:ext cx="10591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关键警示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149350" y="6013452"/>
            <a:ext cx="105822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Coding模式算力消耗巨大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，必须提前规划充足算力。建议先期限制使用用户（如核心团队），但必须确保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算力储备充足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，避免体验中断。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落地挑战与应对策略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CHALLENGES &amp; STRATEGIES - RISK MANAGEMENT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22375"/>
            <a:ext cx="5635625" cy="2197100"/>
          </a:xfrm>
          <a:custGeom>
            <a:avLst/>
            <a:gdLst/>
            <a:ahLst/>
            <a:cxnLst/>
            <a:rect l="l" t="t" r="r" b="b"/>
            <a:pathLst>
              <a:path w="5635625" h="2197100">
                <a:moveTo>
                  <a:pt x="114293" y="0"/>
                </a:moveTo>
                <a:lnTo>
                  <a:pt x="5521332" y="0"/>
                </a:lnTo>
                <a:cubicBezTo>
                  <a:pt x="5584454" y="0"/>
                  <a:pt x="5635625" y="51171"/>
                  <a:pt x="5635625" y="114293"/>
                </a:cubicBezTo>
                <a:lnTo>
                  <a:pt x="5635625" y="2082807"/>
                </a:lnTo>
                <a:cubicBezTo>
                  <a:pt x="5635625" y="2145929"/>
                  <a:pt x="5584454" y="2197100"/>
                  <a:pt x="5521332" y="2197100"/>
                </a:cubicBezTo>
                <a:lnTo>
                  <a:pt x="114293" y="2197100"/>
                </a:lnTo>
                <a:cubicBezTo>
                  <a:pt x="51171" y="2197100"/>
                  <a:pt x="0" y="2145929"/>
                  <a:pt x="0" y="208280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77850" y="141605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11200" y="154940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7625" y="35719"/>
                </a:moveTo>
                <a:lnTo>
                  <a:pt x="47625" y="29766"/>
                </a:lnTo>
                <a:cubicBezTo>
                  <a:pt x="47625" y="13320"/>
                  <a:pt x="79623" y="0"/>
                  <a:pt x="119063" y="0"/>
                </a:cubicBezTo>
                <a:cubicBezTo>
                  <a:pt x="158502" y="0"/>
                  <a:pt x="190500" y="13320"/>
                  <a:pt x="190500" y="29766"/>
                </a:cubicBezTo>
                <a:lnTo>
                  <a:pt x="190500" y="35719"/>
                </a:lnTo>
                <a:cubicBezTo>
                  <a:pt x="190500" y="47104"/>
                  <a:pt x="175133" y="57001"/>
                  <a:pt x="152549" y="62024"/>
                </a:cubicBezTo>
                <a:cubicBezTo>
                  <a:pt x="151656" y="60982"/>
                  <a:pt x="150726" y="59978"/>
                  <a:pt x="149796" y="59048"/>
                </a:cubicBezTo>
                <a:cubicBezTo>
                  <a:pt x="144028" y="53355"/>
                  <a:pt x="136587" y="49039"/>
                  <a:pt x="128811" y="45839"/>
                </a:cubicBezTo>
                <a:cubicBezTo>
                  <a:pt x="113221" y="39328"/>
                  <a:pt x="92906" y="35756"/>
                  <a:pt x="71438" y="35756"/>
                </a:cubicBezTo>
                <a:cubicBezTo>
                  <a:pt x="63289" y="35756"/>
                  <a:pt x="55327" y="36277"/>
                  <a:pt x="47699" y="37281"/>
                </a:cubicBezTo>
                <a:cubicBezTo>
                  <a:pt x="47625" y="36798"/>
                  <a:pt x="47625" y="36277"/>
                  <a:pt x="47625" y="35756"/>
                </a:cubicBezTo>
                <a:close/>
                <a:moveTo>
                  <a:pt x="160734" y="131341"/>
                </a:moveTo>
                <a:lnTo>
                  <a:pt x="160734" y="114151"/>
                </a:lnTo>
                <a:cubicBezTo>
                  <a:pt x="166353" y="112700"/>
                  <a:pt x="171636" y="110989"/>
                  <a:pt x="176436" y="108979"/>
                </a:cubicBezTo>
                <a:cubicBezTo>
                  <a:pt x="181347" y="106933"/>
                  <a:pt x="186147" y="104440"/>
                  <a:pt x="190500" y="101426"/>
                </a:cubicBezTo>
                <a:lnTo>
                  <a:pt x="190500" y="107156"/>
                </a:lnTo>
                <a:cubicBezTo>
                  <a:pt x="190500" y="117128"/>
                  <a:pt x="178780" y="125946"/>
                  <a:pt x="160734" y="131341"/>
                </a:cubicBezTo>
                <a:close/>
                <a:moveTo>
                  <a:pt x="160734" y="95622"/>
                </a:moveTo>
                <a:lnTo>
                  <a:pt x="160734" y="83344"/>
                </a:lnTo>
                <a:cubicBezTo>
                  <a:pt x="160734" y="81669"/>
                  <a:pt x="160586" y="80070"/>
                  <a:pt x="160362" y="78507"/>
                </a:cubicBezTo>
                <a:cubicBezTo>
                  <a:pt x="166129" y="77056"/>
                  <a:pt x="171524" y="75307"/>
                  <a:pt x="176436" y="73223"/>
                </a:cubicBezTo>
                <a:cubicBezTo>
                  <a:pt x="181347" y="71140"/>
                  <a:pt x="186147" y="68684"/>
                  <a:pt x="190500" y="65670"/>
                </a:cubicBezTo>
                <a:lnTo>
                  <a:pt x="190500" y="71400"/>
                </a:lnTo>
                <a:cubicBezTo>
                  <a:pt x="190500" y="81372"/>
                  <a:pt x="178780" y="90190"/>
                  <a:pt x="160734" y="95585"/>
                </a:cubicBezTo>
                <a:close/>
                <a:moveTo>
                  <a:pt x="0" y="89297"/>
                </a:moveTo>
                <a:lnTo>
                  <a:pt x="0" y="83344"/>
                </a:lnTo>
                <a:cubicBezTo>
                  <a:pt x="0" y="66898"/>
                  <a:pt x="31998" y="53578"/>
                  <a:pt x="71438" y="53578"/>
                </a:cubicBezTo>
                <a:cubicBezTo>
                  <a:pt x="110877" y="53578"/>
                  <a:pt x="142875" y="66898"/>
                  <a:pt x="142875" y="83344"/>
                </a:cubicBezTo>
                <a:lnTo>
                  <a:pt x="142875" y="89297"/>
                </a:lnTo>
                <a:cubicBezTo>
                  <a:pt x="142875" y="105742"/>
                  <a:pt x="110877" y="119063"/>
                  <a:pt x="71438" y="119063"/>
                </a:cubicBezTo>
                <a:cubicBezTo>
                  <a:pt x="31998" y="119063"/>
                  <a:pt x="0" y="105742"/>
                  <a:pt x="0" y="89297"/>
                </a:cubicBezTo>
                <a:close/>
                <a:moveTo>
                  <a:pt x="142875" y="125016"/>
                </a:moveTo>
                <a:cubicBezTo>
                  <a:pt x="142875" y="141461"/>
                  <a:pt x="110877" y="154781"/>
                  <a:pt x="71438" y="154781"/>
                </a:cubicBezTo>
                <a:cubicBezTo>
                  <a:pt x="31998" y="154781"/>
                  <a:pt x="0" y="141461"/>
                  <a:pt x="0" y="125016"/>
                </a:cubicBezTo>
                <a:lnTo>
                  <a:pt x="0" y="119286"/>
                </a:lnTo>
                <a:cubicBezTo>
                  <a:pt x="4316" y="122300"/>
                  <a:pt x="9116" y="124755"/>
                  <a:pt x="14064" y="126839"/>
                </a:cubicBezTo>
                <a:cubicBezTo>
                  <a:pt x="29654" y="133350"/>
                  <a:pt x="49969" y="136922"/>
                  <a:pt x="71438" y="136922"/>
                </a:cubicBezTo>
                <a:cubicBezTo>
                  <a:pt x="92906" y="136922"/>
                  <a:pt x="113221" y="133313"/>
                  <a:pt x="128811" y="126839"/>
                </a:cubicBezTo>
                <a:cubicBezTo>
                  <a:pt x="133722" y="124792"/>
                  <a:pt x="138522" y="122300"/>
                  <a:pt x="142875" y="119286"/>
                </a:cubicBezTo>
                <a:lnTo>
                  <a:pt x="142875" y="125016"/>
                </a:lnTo>
                <a:close/>
                <a:moveTo>
                  <a:pt x="142875" y="155004"/>
                </a:moveTo>
                <a:lnTo>
                  <a:pt x="142875" y="160734"/>
                </a:lnTo>
                <a:cubicBezTo>
                  <a:pt x="142875" y="177180"/>
                  <a:pt x="110877" y="190500"/>
                  <a:pt x="71438" y="190500"/>
                </a:cubicBezTo>
                <a:cubicBezTo>
                  <a:pt x="31998" y="190500"/>
                  <a:pt x="0" y="177180"/>
                  <a:pt x="0" y="160734"/>
                </a:cubicBezTo>
                <a:lnTo>
                  <a:pt x="0" y="155004"/>
                </a:lnTo>
                <a:cubicBezTo>
                  <a:pt x="4316" y="158018"/>
                  <a:pt x="9116" y="160474"/>
                  <a:pt x="14064" y="162558"/>
                </a:cubicBezTo>
                <a:cubicBezTo>
                  <a:pt x="29654" y="169069"/>
                  <a:pt x="49969" y="172641"/>
                  <a:pt x="71438" y="172641"/>
                </a:cubicBezTo>
                <a:cubicBezTo>
                  <a:pt x="92906" y="172641"/>
                  <a:pt x="113221" y="169032"/>
                  <a:pt x="128811" y="162558"/>
                </a:cubicBezTo>
                <a:cubicBezTo>
                  <a:pt x="133722" y="160511"/>
                  <a:pt x="138522" y="158018"/>
                  <a:pt x="142875" y="15500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149350" y="1416053"/>
            <a:ext cx="140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算力成本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9350" y="1682753"/>
            <a:ext cx="137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Token消耗指数级增加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81025" y="2028828"/>
            <a:ext cx="5235575" cy="1187450"/>
          </a:xfrm>
          <a:custGeom>
            <a:avLst/>
            <a:gdLst/>
            <a:ahLst/>
            <a:cxnLst/>
            <a:rect l="l" t="t" r="r" b="b"/>
            <a:pathLst>
              <a:path w="5235575" h="1187450">
                <a:moveTo>
                  <a:pt x="76199" y="0"/>
                </a:moveTo>
                <a:lnTo>
                  <a:pt x="5159376" y="0"/>
                </a:lnTo>
                <a:cubicBezTo>
                  <a:pt x="5201460" y="0"/>
                  <a:pt x="5235575" y="34115"/>
                  <a:pt x="5235575" y="76199"/>
                </a:cubicBezTo>
                <a:lnTo>
                  <a:pt x="5235575" y="1111251"/>
                </a:lnTo>
                <a:cubicBezTo>
                  <a:pt x="5235575" y="1153335"/>
                  <a:pt x="5201460" y="1187450"/>
                  <a:pt x="5159376" y="1187450"/>
                </a:cubicBezTo>
                <a:lnTo>
                  <a:pt x="76199" y="1187450"/>
                </a:lnTo>
                <a:cubicBezTo>
                  <a:pt x="34115" y="1187450"/>
                  <a:pt x="0" y="1153335"/>
                  <a:pt x="0" y="1111251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717550" y="217805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946150" y="2146302"/>
            <a:ext cx="482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25884" y="24892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941388" y="2451102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按需选择模型，平衡成本与效果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25884" y="27178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41388" y="2679702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预留算力冗余，避免体验中断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5884" y="29464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941388" y="2908302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先期限制使用用户，逐步扩大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4175" y="3578227"/>
            <a:ext cx="5635625" cy="2197100"/>
          </a:xfrm>
          <a:custGeom>
            <a:avLst/>
            <a:gdLst/>
            <a:ahLst/>
            <a:cxnLst/>
            <a:rect l="l" t="t" r="r" b="b"/>
            <a:pathLst>
              <a:path w="5635625" h="2197100">
                <a:moveTo>
                  <a:pt x="114293" y="0"/>
                </a:moveTo>
                <a:lnTo>
                  <a:pt x="5521332" y="0"/>
                </a:lnTo>
                <a:cubicBezTo>
                  <a:pt x="5584454" y="0"/>
                  <a:pt x="5635625" y="51171"/>
                  <a:pt x="5635625" y="114293"/>
                </a:cubicBezTo>
                <a:lnTo>
                  <a:pt x="5635625" y="2082807"/>
                </a:lnTo>
                <a:cubicBezTo>
                  <a:pt x="5635625" y="2145929"/>
                  <a:pt x="5584454" y="2197100"/>
                  <a:pt x="5521332" y="2197100"/>
                </a:cubicBezTo>
                <a:lnTo>
                  <a:pt x="114293" y="2197100"/>
                </a:lnTo>
                <a:cubicBezTo>
                  <a:pt x="51171" y="2197100"/>
                  <a:pt x="0" y="2145929"/>
                  <a:pt x="0" y="208280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77850" y="37719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711200" y="3905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4648" y="20836"/>
                </a:moveTo>
                <a:cubicBezTo>
                  <a:pt x="44648" y="9339"/>
                  <a:pt x="53987" y="0"/>
                  <a:pt x="65484" y="0"/>
                </a:cubicBezTo>
                <a:lnTo>
                  <a:pt x="74414" y="0"/>
                </a:lnTo>
                <a:cubicBezTo>
                  <a:pt x="81000" y="0"/>
                  <a:pt x="86320" y="5321"/>
                  <a:pt x="86320" y="11906"/>
                </a:cubicBezTo>
                <a:lnTo>
                  <a:pt x="86320" y="178594"/>
                </a:lnTo>
                <a:cubicBezTo>
                  <a:pt x="86320" y="185179"/>
                  <a:pt x="81000" y="190500"/>
                  <a:pt x="74414" y="190500"/>
                </a:cubicBezTo>
                <a:lnTo>
                  <a:pt x="62508" y="190500"/>
                </a:lnTo>
                <a:cubicBezTo>
                  <a:pt x="51420" y="190500"/>
                  <a:pt x="42081" y="182910"/>
                  <a:pt x="39439" y="172641"/>
                </a:cubicBezTo>
                <a:cubicBezTo>
                  <a:pt x="39179" y="172641"/>
                  <a:pt x="38956" y="172641"/>
                  <a:pt x="38695" y="172641"/>
                </a:cubicBezTo>
                <a:cubicBezTo>
                  <a:pt x="22250" y="172641"/>
                  <a:pt x="8930" y="159321"/>
                  <a:pt x="8930" y="142875"/>
                </a:cubicBezTo>
                <a:cubicBezTo>
                  <a:pt x="8930" y="136178"/>
                  <a:pt x="11162" y="130001"/>
                  <a:pt x="14883" y="125016"/>
                </a:cubicBezTo>
                <a:cubicBezTo>
                  <a:pt x="7665" y="119583"/>
                  <a:pt x="2977" y="110951"/>
                  <a:pt x="2977" y="101203"/>
                </a:cubicBezTo>
                <a:cubicBezTo>
                  <a:pt x="2977" y="89706"/>
                  <a:pt x="9525" y="79697"/>
                  <a:pt x="19050" y="74749"/>
                </a:cubicBezTo>
                <a:cubicBezTo>
                  <a:pt x="16408" y="70284"/>
                  <a:pt x="14883" y="65075"/>
                  <a:pt x="14883" y="59531"/>
                </a:cubicBezTo>
                <a:cubicBezTo>
                  <a:pt x="14883" y="43086"/>
                  <a:pt x="28203" y="29766"/>
                  <a:pt x="44648" y="29766"/>
                </a:cubicBezTo>
                <a:lnTo>
                  <a:pt x="44648" y="20836"/>
                </a:lnTo>
                <a:close/>
                <a:moveTo>
                  <a:pt x="145852" y="20836"/>
                </a:moveTo>
                <a:lnTo>
                  <a:pt x="145852" y="29766"/>
                </a:lnTo>
                <a:cubicBezTo>
                  <a:pt x="162297" y="29766"/>
                  <a:pt x="175617" y="43086"/>
                  <a:pt x="175617" y="59531"/>
                </a:cubicBezTo>
                <a:cubicBezTo>
                  <a:pt x="175617" y="65112"/>
                  <a:pt x="174092" y="70321"/>
                  <a:pt x="171450" y="74749"/>
                </a:cubicBezTo>
                <a:cubicBezTo>
                  <a:pt x="181012" y="79697"/>
                  <a:pt x="187523" y="89669"/>
                  <a:pt x="187523" y="101203"/>
                </a:cubicBezTo>
                <a:cubicBezTo>
                  <a:pt x="187523" y="110951"/>
                  <a:pt x="182835" y="119583"/>
                  <a:pt x="175617" y="125016"/>
                </a:cubicBezTo>
                <a:cubicBezTo>
                  <a:pt x="179338" y="130001"/>
                  <a:pt x="181570" y="136178"/>
                  <a:pt x="181570" y="142875"/>
                </a:cubicBezTo>
                <a:cubicBezTo>
                  <a:pt x="181570" y="159321"/>
                  <a:pt x="168250" y="172641"/>
                  <a:pt x="151805" y="172641"/>
                </a:cubicBezTo>
                <a:cubicBezTo>
                  <a:pt x="151544" y="172641"/>
                  <a:pt x="151321" y="172641"/>
                  <a:pt x="151061" y="172641"/>
                </a:cubicBezTo>
                <a:cubicBezTo>
                  <a:pt x="148419" y="182910"/>
                  <a:pt x="139080" y="190500"/>
                  <a:pt x="127992" y="190500"/>
                </a:cubicBezTo>
                <a:lnTo>
                  <a:pt x="116086" y="190500"/>
                </a:lnTo>
                <a:cubicBezTo>
                  <a:pt x="109500" y="190500"/>
                  <a:pt x="104180" y="185179"/>
                  <a:pt x="104180" y="178594"/>
                </a:cubicBezTo>
                <a:lnTo>
                  <a:pt x="104180" y="11906"/>
                </a:lnTo>
                <a:cubicBezTo>
                  <a:pt x="104180" y="5321"/>
                  <a:pt x="109500" y="0"/>
                  <a:pt x="116086" y="0"/>
                </a:cubicBezTo>
                <a:lnTo>
                  <a:pt x="125016" y="0"/>
                </a:lnTo>
                <a:cubicBezTo>
                  <a:pt x="136513" y="0"/>
                  <a:pt x="145852" y="9339"/>
                  <a:pt x="145852" y="20836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1149350" y="37719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模型能力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9350" y="4038600"/>
            <a:ext cx="140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上下文限制 / 幻觉问题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81025" y="4384675"/>
            <a:ext cx="5235575" cy="1187450"/>
          </a:xfrm>
          <a:custGeom>
            <a:avLst/>
            <a:gdLst/>
            <a:ahLst/>
            <a:cxnLst/>
            <a:rect l="l" t="t" r="r" b="b"/>
            <a:pathLst>
              <a:path w="5235575" h="1187450">
                <a:moveTo>
                  <a:pt x="76199" y="0"/>
                </a:moveTo>
                <a:lnTo>
                  <a:pt x="5159376" y="0"/>
                </a:lnTo>
                <a:cubicBezTo>
                  <a:pt x="5201460" y="0"/>
                  <a:pt x="5235575" y="34115"/>
                  <a:pt x="5235575" y="76199"/>
                </a:cubicBezTo>
                <a:lnTo>
                  <a:pt x="5235575" y="1111251"/>
                </a:lnTo>
                <a:cubicBezTo>
                  <a:pt x="5235575" y="1153335"/>
                  <a:pt x="5201460" y="1187450"/>
                  <a:pt x="5159376" y="1187450"/>
                </a:cubicBezTo>
                <a:lnTo>
                  <a:pt x="76199" y="1187450"/>
                </a:lnTo>
                <a:cubicBezTo>
                  <a:pt x="34115" y="1187450"/>
                  <a:pt x="0" y="1153335"/>
                  <a:pt x="0" y="1111251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717550" y="4533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946150" y="4502153"/>
            <a:ext cx="482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5884" y="48450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941388" y="4806953"/>
            <a:ext cx="2066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选用最新满血模型，版本差异巨大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25884" y="50736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941388" y="5035553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人工控制方向，防止幻觉偏离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25884" y="53022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941388" y="5264153"/>
            <a:ext cx="2581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推荐：Qwen3.5 / GLM-5 / Minimax-M2.5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75375" y="1222375"/>
            <a:ext cx="5635625" cy="2197100"/>
          </a:xfrm>
          <a:custGeom>
            <a:avLst/>
            <a:gdLst/>
            <a:ahLst/>
            <a:cxnLst/>
            <a:rect l="l" t="t" r="r" b="b"/>
            <a:pathLst>
              <a:path w="5635625" h="2197100">
                <a:moveTo>
                  <a:pt x="114293" y="0"/>
                </a:moveTo>
                <a:lnTo>
                  <a:pt x="5521332" y="0"/>
                </a:lnTo>
                <a:cubicBezTo>
                  <a:pt x="5584454" y="0"/>
                  <a:pt x="5635625" y="51171"/>
                  <a:pt x="5635625" y="114293"/>
                </a:cubicBezTo>
                <a:lnTo>
                  <a:pt x="5635625" y="2082807"/>
                </a:lnTo>
                <a:cubicBezTo>
                  <a:pt x="5635625" y="2145929"/>
                  <a:pt x="5584454" y="2197100"/>
                  <a:pt x="5521332" y="2197100"/>
                </a:cubicBezTo>
                <a:lnTo>
                  <a:pt x="114293" y="2197100"/>
                </a:lnTo>
                <a:cubicBezTo>
                  <a:pt x="51171" y="2197100"/>
                  <a:pt x="0" y="2145929"/>
                  <a:pt x="0" y="208280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6369050" y="141605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490494" y="154940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40550" y="1416053"/>
            <a:ext cx="116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质量控制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940550" y="1682753"/>
            <a:ext cx="113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代码质量参差不齐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72225" y="2028828"/>
            <a:ext cx="5235575" cy="1187450"/>
          </a:xfrm>
          <a:custGeom>
            <a:avLst/>
            <a:gdLst/>
            <a:ahLst/>
            <a:cxnLst/>
            <a:rect l="l" t="t" r="r" b="b"/>
            <a:pathLst>
              <a:path w="5235575" h="1187450">
                <a:moveTo>
                  <a:pt x="76199" y="0"/>
                </a:moveTo>
                <a:lnTo>
                  <a:pt x="5159376" y="0"/>
                </a:lnTo>
                <a:cubicBezTo>
                  <a:pt x="5201460" y="0"/>
                  <a:pt x="5235575" y="34115"/>
                  <a:pt x="5235575" y="76199"/>
                </a:cubicBezTo>
                <a:lnTo>
                  <a:pt x="5235575" y="1111251"/>
                </a:lnTo>
                <a:cubicBezTo>
                  <a:pt x="5235575" y="1153335"/>
                  <a:pt x="5201460" y="1187450"/>
                  <a:pt x="5159376" y="1187450"/>
                </a:cubicBezTo>
                <a:lnTo>
                  <a:pt x="76199" y="1187450"/>
                </a:lnTo>
                <a:cubicBezTo>
                  <a:pt x="34115" y="1187450"/>
                  <a:pt x="0" y="1153335"/>
                  <a:pt x="0" y="1111251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6508750" y="217805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737350" y="2146302"/>
            <a:ext cx="482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517085" y="24892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6732588" y="2451102"/>
            <a:ext cx="2066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强制Code Review，确保代码质量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517085" y="27178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732588" y="2679702"/>
            <a:ext cx="1743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SKILL标准化，沉淀最佳实践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517085" y="2946402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6732588" y="2908302"/>
            <a:ext cx="166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单元测试覆盖，自动化验证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175375" y="3578227"/>
            <a:ext cx="5635625" cy="2197100"/>
          </a:xfrm>
          <a:custGeom>
            <a:avLst/>
            <a:gdLst/>
            <a:ahLst/>
            <a:cxnLst/>
            <a:rect l="l" t="t" r="r" b="b"/>
            <a:pathLst>
              <a:path w="5635625" h="2197100">
                <a:moveTo>
                  <a:pt x="114293" y="0"/>
                </a:moveTo>
                <a:lnTo>
                  <a:pt x="5521332" y="0"/>
                </a:lnTo>
                <a:cubicBezTo>
                  <a:pt x="5584454" y="0"/>
                  <a:pt x="5635625" y="51171"/>
                  <a:pt x="5635625" y="114293"/>
                </a:cubicBezTo>
                <a:lnTo>
                  <a:pt x="5635625" y="2082807"/>
                </a:lnTo>
                <a:cubicBezTo>
                  <a:pt x="5635625" y="2145929"/>
                  <a:pt x="5584454" y="2197100"/>
                  <a:pt x="5521332" y="2197100"/>
                </a:cubicBezTo>
                <a:lnTo>
                  <a:pt x="114293" y="2197100"/>
                </a:lnTo>
                <a:cubicBezTo>
                  <a:pt x="51171" y="2197100"/>
                  <a:pt x="0" y="2145929"/>
                  <a:pt x="0" y="208280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8467">
            <a:solidFill>
              <a:srgbClr val="8D99A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369050" y="37719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6478588" y="3905250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54744" y="78321"/>
                </a:moveTo>
                <a:cubicBezTo>
                  <a:pt x="159283" y="77093"/>
                  <a:pt x="164046" y="79251"/>
                  <a:pt x="166092" y="83455"/>
                </a:cubicBezTo>
                <a:lnTo>
                  <a:pt x="173013" y="97445"/>
                </a:lnTo>
                <a:cubicBezTo>
                  <a:pt x="176845" y="97966"/>
                  <a:pt x="180603" y="99008"/>
                  <a:pt x="184138" y="100459"/>
                </a:cubicBezTo>
                <a:lnTo>
                  <a:pt x="197160" y="91790"/>
                </a:lnTo>
                <a:cubicBezTo>
                  <a:pt x="201067" y="89185"/>
                  <a:pt x="206239" y="89706"/>
                  <a:pt x="209550" y="93018"/>
                </a:cubicBezTo>
                <a:lnTo>
                  <a:pt x="216694" y="100161"/>
                </a:lnTo>
                <a:cubicBezTo>
                  <a:pt x="220005" y="103473"/>
                  <a:pt x="220526" y="108682"/>
                  <a:pt x="217922" y="112551"/>
                </a:cubicBezTo>
                <a:lnTo>
                  <a:pt x="209252" y="125537"/>
                </a:lnTo>
                <a:cubicBezTo>
                  <a:pt x="209959" y="127285"/>
                  <a:pt x="210592" y="129108"/>
                  <a:pt x="211113" y="131006"/>
                </a:cubicBezTo>
                <a:cubicBezTo>
                  <a:pt x="211634" y="132904"/>
                  <a:pt x="211968" y="134764"/>
                  <a:pt x="212229" y="136661"/>
                </a:cubicBezTo>
                <a:lnTo>
                  <a:pt x="226256" y="143582"/>
                </a:lnTo>
                <a:cubicBezTo>
                  <a:pt x="230460" y="145666"/>
                  <a:pt x="232618" y="150428"/>
                  <a:pt x="231391" y="154930"/>
                </a:cubicBezTo>
                <a:lnTo>
                  <a:pt x="228786" y="164678"/>
                </a:lnTo>
                <a:cubicBezTo>
                  <a:pt x="227558" y="169180"/>
                  <a:pt x="223354" y="172231"/>
                  <a:pt x="218666" y="171934"/>
                </a:cubicBezTo>
                <a:lnTo>
                  <a:pt x="203039" y="170929"/>
                </a:lnTo>
                <a:cubicBezTo>
                  <a:pt x="200695" y="173943"/>
                  <a:pt x="197979" y="176733"/>
                  <a:pt x="194890" y="179115"/>
                </a:cubicBezTo>
                <a:lnTo>
                  <a:pt x="195895" y="194704"/>
                </a:lnTo>
                <a:cubicBezTo>
                  <a:pt x="196193" y="199392"/>
                  <a:pt x="193142" y="203634"/>
                  <a:pt x="188640" y="204825"/>
                </a:cubicBezTo>
                <a:lnTo>
                  <a:pt x="178891" y="207429"/>
                </a:lnTo>
                <a:cubicBezTo>
                  <a:pt x="174352" y="208657"/>
                  <a:pt x="169627" y="206499"/>
                  <a:pt x="167543" y="202295"/>
                </a:cubicBezTo>
                <a:lnTo>
                  <a:pt x="160623" y="188305"/>
                </a:lnTo>
                <a:cubicBezTo>
                  <a:pt x="156790" y="187784"/>
                  <a:pt x="153033" y="186742"/>
                  <a:pt x="149498" y="185291"/>
                </a:cubicBezTo>
                <a:lnTo>
                  <a:pt x="136475" y="193960"/>
                </a:lnTo>
                <a:cubicBezTo>
                  <a:pt x="132569" y="196565"/>
                  <a:pt x="127397" y="196044"/>
                  <a:pt x="124085" y="192732"/>
                </a:cubicBezTo>
                <a:lnTo>
                  <a:pt x="116942" y="185589"/>
                </a:lnTo>
                <a:cubicBezTo>
                  <a:pt x="113630" y="182277"/>
                  <a:pt x="113109" y="177105"/>
                  <a:pt x="115714" y="173199"/>
                </a:cubicBezTo>
                <a:lnTo>
                  <a:pt x="124383" y="160176"/>
                </a:lnTo>
                <a:cubicBezTo>
                  <a:pt x="123676" y="158428"/>
                  <a:pt x="123044" y="156604"/>
                  <a:pt x="122523" y="154707"/>
                </a:cubicBezTo>
                <a:cubicBezTo>
                  <a:pt x="122002" y="152809"/>
                  <a:pt x="121667" y="150912"/>
                  <a:pt x="121407" y="149051"/>
                </a:cubicBezTo>
                <a:lnTo>
                  <a:pt x="107379" y="142131"/>
                </a:lnTo>
                <a:cubicBezTo>
                  <a:pt x="103175" y="140047"/>
                  <a:pt x="101054" y="135285"/>
                  <a:pt x="102245" y="130783"/>
                </a:cubicBezTo>
                <a:lnTo>
                  <a:pt x="104849" y="121034"/>
                </a:lnTo>
                <a:cubicBezTo>
                  <a:pt x="106077" y="116532"/>
                  <a:pt x="110282" y="113481"/>
                  <a:pt x="114970" y="113779"/>
                </a:cubicBezTo>
                <a:lnTo>
                  <a:pt x="130559" y="114784"/>
                </a:lnTo>
                <a:cubicBezTo>
                  <a:pt x="132904" y="111770"/>
                  <a:pt x="135620" y="108979"/>
                  <a:pt x="138708" y="106598"/>
                </a:cubicBezTo>
                <a:lnTo>
                  <a:pt x="137703" y="91046"/>
                </a:lnTo>
                <a:cubicBezTo>
                  <a:pt x="137406" y="86358"/>
                  <a:pt x="140457" y="82116"/>
                  <a:pt x="144959" y="80925"/>
                </a:cubicBezTo>
                <a:lnTo>
                  <a:pt x="154707" y="78321"/>
                </a:lnTo>
                <a:close/>
                <a:moveTo>
                  <a:pt x="166836" y="126504"/>
                </a:moveTo>
                <a:cubicBezTo>
                  <a:pt x="157801" y="126514"/>
                  <a:pt x="150474" y="133858"/>
                  <a:pt x="150484" y="142894"/>
                </a:cubicBezTo>
                <a:cubicBezTo>
                  <a:pt x="150494" y="151929"/>
                  <a:pt x="157838" y="159256"/>
                  <a:pt x="166874" y="159246"/>
                </a:cubicBezTo>
                <a:cubicBezTo>
                  <a:pt x="175909" y="159236"/>
                  <a:pt x="183236" y="151892"/>
                  <a:pt x="183226" y="142856"/>
                </a:cubicBezTo>
                <a:cubicBezTo>
                  <a:pt x="183216" y="133821"/>
                  <a:pt x="175872" y="126494"/>
                  <a:pt x="166836" y="126504"/>
                </a:cubicBezTo>
                <a:close/>
                <a:moveTo>
                  <a:pt x="83679" y="-16929"/>
                </a:moveTo>
                <a:lnTo>
                  <a:pt x="93427" y="-14325"/>
                </a:lnTo>
                <a:cubicBezTo>
                  <a:pt x="97929" y="-13097"/>
                  <a:pt x="100980" y="-8855"/>
                  <a:pt x="100682" y="-4204"/>
                </a:cubicBezTo>
                <a:lnTo>
                  <a:pt x="99678" y="11348"/>
                </a:lnTo>
                <a:cubicBezTo>
                  <a:pt x="102766" y="13729"/>
                  <a:pt x="105482" y="16483"/>
                  <a:pt x="107826" y="19534"/>
                </a:cubicBezTo>
                <a:lnTo>
                  <a:pt x="123453" y="18529"/>
                </a:lnTo>
                <a:cubicBezTo>
                  <a:pt x="128104" y="18231"/>
                  <a:pt x="132345" y="21282"/>
                  <a:pt x="133573" y="25784"/>
                </a:cubicBezTo>
                <a:lnTo>
                  <a:pt x="136178" y="35533"/>
                </a:lnTo>
                <a:cubicBezTo>
                  <a:pt x="137368" y="40035"/>
                  <a:pt x="135248" y="44797"/>
                  <a:pt x="131043" y="46881"/>
                </a:cubicBezTo>
                <a:lnTo>
                  <a:pt x="117016" y="53801"/>
                </a:lnTo>
                <a:cubicBezTo>
                  <a:pt x="116756" y="55699"/>
                  <a:pt x="116384" y="57596"/>
                  <a:pt x="115900" y="59457"/>
                </a:cubicBezTo>
                <a:cubicBezTo>
                  <a:pt x="115416" y="61317"/>
                  <a:pt x="114746" y="63178"/>
                  <a:pt x="114040" y="64926"/>
                </a:cubicBezTo>
                <a:lnTo>
                  <a:pt x="122709" y="77949"/>
                </a:lnTo>
                <a:cubicBezTo>
                  <a:pt x="125313" y="81855"/>
                  <a:pt x="124792" y="87027"/>
                  <a:pt x="121481" y="90339"/>
                </a:cubicBezTo>
                <a:lnTo>
                  <a:pt x="114337" y="97482"/>
                </a:lnTo>
                <a:cubicBezTo>
                  <a:pt x="111026" y="100794"/>
                  <a:pt x="105854" y="101315"/>
                  <a:pt x="101947" y="98710"/>
                </a:cubicBezTo>
                <a:lnTo>
                  <a:pt x="88925" y="90041"/>
                </a:lnTo>
                <a:cubicBezTo>
                  <a:pt x="85390" y="91492"/>
                  <a:pt x="81632" y="92534"/>
                  <a:pt x="77800" y="93055"/>
                </a:cubicBezTo>
                <a:lnTo>
                  <a:pt x="70879" y="107045"/>
                </a:lnTo>
                <a:cubicBezTo>
                  <a:pt x="68796" y="111249"/>
                  <a:pt x="64033" y="113370"/>
                  <a:pt x="59531" y="112179"/>
                </a:cubicBezTo>
                <a:lnTo>
                  <a:pt x="49783" y="109575"/>
                </a:lnTo>
                <a:cubicBezTo>
                  <a:pt x="45244" y="108347"/>
                  <a:pt x="42230" y="104105"/>
                  <a:pt x="42528" y="99454"/>
                </a:cubicBezTo>
                <a:lnTo>
                  <a:pt x="43532" y="83865"/>
                </a:lnTo>
                <a:cubicBezTo>
                  <a:pt x="40444" y="81483"/>
                  <a:pt x="37728" y="78730"/>
                  <a:pt x="35384" y="75679"/>
                </a:cubicBezTo>
                <a:lnTo>
                  <a:pt x="19757" y="76684"/>
                </a:lnTo>
                <a:cubicBezTo>
                  <a:pt x="15106" y="76981"/>
                  <a:pt x="10864" y="73930"/>
                  <a:pt x="9637" y="69428"/>
                </a:cubicBezTo>
                <a:lnTo>
                  <a:pt x="7032" y="59680"/>
                </a:lnTo>
                <a:cubicBezTo>
                  <a:pt x="5842" y="55178"/>
                  <a:pt x="7962" y="50416"/>
                  <a:pt x="12167" y="48332"/>
                </a:cubicBezTo>
                <a:lnTo>
                  <a:pt x="26194" y="41411"/>
                </a:lnTo>
                <a:cubicBezTo>
                  <a:pt x="26454" y="39514"/>
                  <a:pt x="26826" y="37654"/>
                  <a:pt x="27310" y="35756"/>
                </a:cubicBezTo>
                <a:cubicBezTo>
                  <a:pt x="27831" y="33858"/>
                  <a:pt x="28426" y="32035"/>
                  <a:pt x="29170" y="30287"/>
                </a:cubicBezTo>
                <a:lnTo>
                  <a:pt x="20501" y="17301"/>
                </a:lnTo>
                <a:cubicBezTo>
                  <a:pt x="17897" y="13395"/>
                  <a:pt x="18417" y="8223"/>
                  <a:pt x="21729" y="4911"/>
                </a:cubicBezTo>
                <a:lnTo>
                  <a:pt x="28873" y="-2232"/>
                </a:lnTo>
                <a:cubicBezTo>
                  <a:pt x="32184" y="-5544"/>
                  <a:pt x="37356" y="-6065"/>
                  <a:pt x="41263" y="-3460"/>
                </a:cubicBezTo>
                <a:lnTo>
                  <a:pt x="54285" y="5209"/>
                </a:lnTo>
                <a:cubicBezTo>
                  <a:pt x="57820" y="3758"/>
                  <a:pt x="61578" y="2716"/>
                  <a:pt x="65410" y="2195"/>
                </a:cubicBezTo>
                <a:lnTo>
                  <a:pt x="72330" y="-11795"/>
                </a:lnTo>
                <a:cubicBezTo>
                  <a:pt x="74414" y="-15999"/>
                  <a:pt x="79139" y="-18120"/>
                  <a:pt x="83679" y="-16929"/>
                </a:cubicBezTo>
                <a:close/>
                <a:moveTo>
                  <a:pt x="71586" y="31254"/>
                </a:moveTo>
                <a:cubicBezTo>
                  <a:pt x="62551" y="31254"/>
                  <a:pt x="55215" y="38590"/>
                  <a:pt x="55215" y="47625"/>
                </a:cubicBezTo>
                <a:cubicBezTo>
                  <a:pt x="55215" y="56660"/>
                  <a:pt x="62551" y="63996"/>
                  <a:pt x="71586" y="63996"/>
                </a:cubicBezTo>
                <a:cubicBezTo>
                  <a:pt x="80622" y="63996"/>
                  <a:pt x="87957" y="56660"/>
                  <a:pt x="87957" y="47625"/>
                </a:cubicBezTo>
                <a:cubicBezTo>
                  <a:pt x="87957" y="38590"/>
                  <a:pt x="80622" y="31254"/>
                  <a:pt x="71586" y="31254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/>
          <p:nvPr/>
        </p:nvSpPr>
        <p:spPr>
          <a:xfrm>
            <a:off x="6940550" y="3771900"/>
            <a:ext cx="129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研发流程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940550" y="4038600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遗留兼容 / 习惯阻力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72225" y="4384675"/>
            <a:ext cx="5235575" cy="1187450"/>
          </a:xfrm>
          <a:custGeom>
            <a:avLst/>
            <a:gdLst/>
            <a:ahLst/>
            <a:cxnLst/>
            <a:rect l="l" t="t" r="r" b="b"/>
            <a:pathLst>
              <a:path w="5235575" h="1187450">
                <a:moveTo>
                  <a:pt x="76199" y="0"/>
                </a:moveTo>
                <a:lnTo>
                  <a:pt x="5159376" y="0"/>
                </a:lnTo>
                <a:cubicBezTo>
                  <a:pt x="5201460" y="0"/>
                  <a:pt x="5235575" y="34115"/>
                  <a:pt x="5235575" y="76199"/>
                </a:cubicBezTo>
                <a:lnTo>
                  <a:pt x="5235575" y="1111251"/>
                </a:lnTo>
                <a:cubicBezTo>
                  <a:pt x="5235575" y="1153335"/>
                  <a:pt x="5201460" y="1187450"/>
                  <a:pt x="5159376" y="1187450"/>
                </a:cubicBezTo>
                <a:lnTo>
                  <a:pt x="76199" y="1187450"/>
                </a:lnTo>
                <a:cubicBezTo>
                  <a:pt x="34115" y="1187450"/>
                  <a:pt x="0" y="1153335"/>
                  <a:pt x="0" y="1111251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8D99AE">
              <a:alpha val="10196"/>
            </a:srgbClr>
          </a:solidFill>
          <a:ln w="8467">
            <a:solidFill>
              <a:srgbClr val="8D99A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508750" y="4533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/>
          <p:nvPr/>
        </p:nvSpPr>
        <p:spPr>
          <a:xfrm>
            <a:off x="6737350" y="4502153"/>
            <a:ext cx="482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17085" y="48450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6732588" y="4806953"/>
            <a:ext cx="166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从上往下推广，管理者先用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517085" y="50736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/>
          <p:nvPr/>
        </p:nvSpPr>
        <p:spPr>
          <a:xfrm>
            <a:off x="6732588" y="5035553"/>
            <a:ext cx="1533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典型场景突破，建立信心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517085" y="530225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/>
          <p:nvPr/>
        </p:nvSpPr>
        <p:spPr>
          <a:xfrm>
            <a:off x="6732588" y="5264153"/>
            <a:ext cx="140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渐进式迁移，降低阻力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384175" y="5934078"/>
            <a:ext cx="11426825" cy="539750"/>
          </a:xfrm>
          <a:custGeom>
            <a:avLst/>
            <a:gdLst/>
            <a:ahLst/>
            <a:cxnLst/>
            <a:rect l="l" t="t" r="r" b="b"/>
            <a:pathLst>
              <a:path w="11426825" h="539750">
                <a:moveTo>
                  <a:pt x="114297" y="0"/>
                </a:moveTo>
                <a:lnTo>
                  <a:pt x="11312528" y="0"/>
                </a:lnTo>
                <a:cubicBezTo>
                  <a:pt x="11375652" y="0"/>
                  <a:pt x="11426825" y="51173"/>
                  <a:pt x="11426825" y="114297"/>
                </a:cubicBezTo>
                <a:lnTo>
                  <a:pt x="11426825" y="425453"/>
                </a:lnTo>
                <a:cubicBezTo>
                  <a:pt x="11426825" y="488577"/>
                  <a:pt x="11375652" y="539750"/>
                  <a:pt x="11312528" y="539750"/>
                </a:cubicBezTo>
                <a:lnTo>
                  <a:pt x="114297" y="539750"/>
                </a:lnTo>
                <a:cubicBezTo>
                  <a:pt x="51173" y="539750"/>
                  <a:pt x="0" y="488577"/>
                  <a:pt x="0" y="425453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4A6C8C">
                  <a:alpha val="10000"/>
                </a:srgbClr>
              </a:gs>
            </a:gsLst>
            <a:lin ang="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4111823" y="6121403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Text 61"/>
          <p:cNvSpPr/>
          <p:nvPr/>
        </p:nvSpPr>
        <p:spPr>
          <a:xfrm>
            <a:off x="749300" y="6089652"/>
            <a:ext cx="10944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核心原则：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效率提升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与</a:t>
            </a:r>
            <a:r>
              <a:rPr lang="en-US" sz="12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质量保障</a:t>
            </a:r>
            <a:r>
              <a:rPr lang="en-US" sz="120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之间找到最佳平衡点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33400" y="381000"/>
            <a:ext cx="2571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公司级落地建议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3400" y="838200"/>
            <a:ext cx="1135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ENTERPRISE-LEVEL IMPLEMENTATION RECOMMENDATIONS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4175" y="1222375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77850" y="1416053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9604" y="1530353"/>
            <a:ext cx="2000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25550" y="1549403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战略定调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7850" y="2101853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必须试点，全面推广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7850" y="24447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673100" y="25463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54075" y="25209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成熟度判断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4050" y="27495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Coding已足够成熟，是</a:t>
            </a: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"必选项"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7850" y="30924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73100" y="31940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54075" y="31686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行动方针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4050" y="33972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立即启动试点，犹豫将导致研发效率代差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44975" y="1222375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4438650" y="1416053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6C8C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641056" y="1530353"/>
            <a:ext cx="2381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86350" y="1549403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资源规划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38650" y="2101853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算力即生产力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438650" y="24447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4533900" y="25463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714875" y="25209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算力先行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14850" y="27495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Coding高频交互导致</a:t>
            </a:r>
            <a:r>
              <a:rPr lang="en-US" sz="105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算力消耗巨大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438650" y="30924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4533900" y="31940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714875" y="31686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策略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14850" y="33972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限制用户但必须确保算力储备充足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05775" y="1222375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299450" y="1416053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8498880" y="1530353"/>
            <a:ext cx="247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47150" y="1549403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模型选型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99450" y="2101853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唯新唯强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299450" y="24447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394700" y="25463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8575675" y="25209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原则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75650" y="27495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必须使用</a:t>
            </a: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最新满血非量化</a:t>
            </a: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299450" y="3092453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394700" y="319405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8575675" y="3168653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推荐梯队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75650" y="339725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Qwen3.5 / GLM-5 / Minimax-M2.5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84175" y="4016377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577850" y="42100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6C8C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777478" y="4324350"/>
            <a:ext cx="247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225550" y="4343400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推广策略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77850" y="4895850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自上而下，典型突破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77850" y="52387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673100" y="53403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854075" y="53149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领导先行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54050" y="55435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从上往下推广</a:t>
            </a: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，管理者先用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77850" y="58864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73100" y="59880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854075" y="59626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场景切入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4050" y="61912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挑选典型应用作为第一批突破口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44975" y="4016377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4438650" y="42100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4637088" y="4324350"/>
            <a:ext cx="247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086350" y="4343400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平台赋能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438650" y="4895850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OpenCode定位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4438650" y="52387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4533900" y="53403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/>
          <p:nvPr/>
        </p:nvSpPr>
        <p:spPr>
          <a:xfrm>
            <a:off x="4714875" y="53149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定位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4514850" y="55435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开箱即用</a:t>
            </a: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的开放开发运行平台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4438650" y="58864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Shape 65"/>
          <p:cNvSpPr/>
          <p:nvPr/>
        </p:nvSpPr>
        <p:spPr>
          <a:xfrm>
            <a:off x="4533900" y="59880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/>
          <p:nvPr/>
        </p:nvSpPr>
        <p:spPr>
          <a:xfrm>
            <a:off x="4714875" y="59626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目标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514850" y="61912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实现"啥事都能干"的全能覆盖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105775" y="4016377"/>
            <a:ext cx="3702050" cy="2635250"/>
          </a:xfrm>
          <a:custGeom>
            <a:avLst/>
            <a:gdLst/>
            <a:ahLst/>
            <a:cxnLst/>
            <a:rect l="l" t="t" r="r" b="b"/>
            <a:pathLst>
              <a:path w="3702050" h="2635250">
                <a:moveTo>
                  <a:pt x="114291" y="0"/>
                </a:moveTo>
                <a:lnTo>
                  <a:pt x="3587759" y="0"/>
                </a:lnTo>
                <a:cubicBezTo>
                  <a:pt x="3650880" y="0"/>
                  <a:pt x="3702050" y="51170"/>
                  <a:pt x="3702050" y="114291"/>
                </a:cubicBezTo>
                <a:lnTo>
                  <a:pt x="3702050" y="2520959"/>
                </a:lnTo>
                <a:cubicBezTo>
                  <a:pt x="3702050" y="2584080"/>
                  <a:pt x="3650880" y="2635250"/>
                  <a:pt x="3587759" y="2635250"/>
                </a:cubicBezTo>
                <a:lnTo>
                  <a:pt x="114291" y="2635250"/>
                </a:lnTo>
                <a:cubicBezTo>
                  <a:pt x="51170" y="2635250"/>
                  <a:pt x="0" y="2584080"/>
                  <a:pt x="0" y="25209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8299450" y="42100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6C8C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2" name="Text 70"/>
          <p:cNvSpPr/>
          <p:nvPr/>
        </p:nvSpPr>
        <p:spPr>
          <a:xfrm>
            <a:off x="8497392" y="4324350"/>
            <a:ext cx="247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8947150" y="43434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核心方法论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299450" y="4895850"/>
            <a:ext cx="3390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人机协同新范式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8299450" y="52387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6" name="Shape 74"/>
          <p:cNvSpPr/>
          <p:nvPr/>
        </p:nvSpPr>
        <p:spPr>
          <a:xfrm>
            <a:off x="8394700" y="53403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/>
          <p:nvPr/>
        </p:nvSpPr>
        <p:spPr>
          <a:xfrm>
            <a:off x="8575675" y="53149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开发本质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8375650" y="55435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a. 直接业务逻辑实现 + b. 经验资产化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299450" y="5886450"/>
            <a:ext cx="3314700" cy="571500"/>
          </a:xfrm>
          <a:custGeom>
            <a:avLst/>
            <a:gdLst/>
            <a:ahLst/>
            <a:cxnLst/>
            <a:rect l="l" t="t" r="r" b="b"/>
            <a:pathLst>
              <a:path w="3314700" h="571500">
                <a:moveTo>
                  <a:pt x="76198" y="0"/>
                </a:moveTo>
                <a:lnTo>
                  <a:pt x="3238502" y="0"/>
                </a:lnTo>
                <a:cubicBezTo>
                  <a:pt x="3280585" y="0"/>
                  <a:pt x="3314700" y="34115"/>
                  <a:pt x="3314700" y="76198"/>
                </a:cubicBezTo>
                <a:lnTo>
                  <a:pt x="3314700" y="495302"/>
                </a:lnTo>
                <a:cubicBezTo>
                  <a:pt x="3314700" y="537385"/>
                  <a:pt x="3280585" y="571500"/>
                  <a:pt x="3238502" y="571500"/>
                </a:cubicBezTo>
                <a:lnTo>
                  <a:pt x="76198" y="571500"/>
                </a:lnTo>
                <a:cubicBezTo>
                  <a:pt x="34115" y="571500"/>
                  <a:pt x="0" y="537385"/>
                  <a:pt x="0" y="49530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8394700" y="598805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/>
          <p:nvPr/>
        </p:nvSpPr>
        <p:spPr>
          <a:xfrm>
            <a:off x="8575675" y="5962650"/>
            <a:ext cx="302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人的作用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375650" y="619125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控制方向</a:t>
            </a:r>
            <a:r>
              <a:rPr lang="en-US" sz="1050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，防止幻觉偏离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181" y="323181"/>
            <a:ext cx="32318" cy="323181"/>
          </a:xfrm>
          <a:custGeom>
            <a:avLst/>
            <a:gdLst/>
            <a:ahLst/>
            <a:cxnLst/>
            <a:rect l="l" t="t" r="r" b="b"/>
            <a:pathLst>
              <a:path w="32318" h="323181">
                <a:moveTo>
                  <a:pt x="0" y="0"/>
                </a:moveTo>
                <a:lnTo>
                  <a:pt x="32318" y="0"/>
                </a:lnTo>
                <a:lnTo>
                  <a:pt x="32318" y="323181"/>
                </a:lnTo>
                <a:lnTo>
                  <a:pt x="0" y="323181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2453" y="323181"/>
            <a:ext cx="2141074" cy="3231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zh-CN" altLang="en-US" sz="229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中心</a:t>
            </a:r>
            <a:r>
              <a:rPr lang="en-US" sz="2290" b="1" dirty="0" err="1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实施路线图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2453" y="710998"/>
            <a:ext cx="11481002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FOUR-STAGE IMPLEMENTATION ROADMAP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5874" y="1036872"/>
            <a:ext cx="5701450" cy="2429243"/>
          </a:xfrm>
          <a:custGeom>
            <a:avLst/>
            <a:gdLst/>
            <a:ahLst/>
            <a:cxnLst/>
            <a:rect l="l" t="t" r="r" b="b"/>
            <a:pathLst>
              <a:path w="5701450" h="2429243">
                <a:moveTo>
                  <a:pt x="96951" y="0"/>
                </a:moveTo>
                <a:lnTo>
                  <a:pt x="5604499" y="0"/>
                </a:lnTo>
                <a:cubicBezTo>
                  <a:pt x="5658043" y="0"/>
                  <a:pt x="5701450" y="43406"/>
                  <a:pt x="5701450" y="96951"/>
                </a:cubicBezTo>
                <a:lnTo>
                  <a:pt x="5701450" y="2332292"/>
                </a:lnTo>
                <a:cubicBezTo>
                  <a:pt x="5701450" y="2385837"/>
                  <a:pt x="5658043" y="2429243"/>
                  <a:pt x="5604499" y="2429243"/>
                </a:cubicBezTo>
                <a:lnTo>
                  <a:pt x="96951" y="2429243"/>
                </a:lnTo>
                <a:cubicBezTo>
                  <a:pt x="43406" y="2429243"/>
                  <a:pt x="0" y="2385837"/>
                  <a:pt x="0" y="2332292"/>
                </a:cubicBezTo>
                <a:lnTo>
                  <a:pt x="0" y="96951"/>
                </a:lnTo>
                <a:cubicBezTo>
                  <a:pt x="0" y="43442"/>
                  <a:pt x="43442" y="0"/>
                  <a:pt x="96951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98237" y="1209238"/>
            <a:ext cx="436294" cy="436294"/>
          </a:xfrm>
          <a:custGeom>
            <a:avLst/>
            <a:gdLst/>
            <a:ahLst/>
            <a:cxnLst/>
            <a:rect l="l" t="t" r="r" b="b"/>
            <a:pathLst>
              <a:path w="436294" h="436294">
                <a:moveTo>
                  <a:pt x="96953" y="0"/>
                </a:moveTo>
                <a:lnTo>
                  <a:pt x="339341" y="0"/>
                </a:lnTo>
                <a:cubicBezTo>
                  <a:pt x="392887" y="0"/>
                  <a:pt x="436294" y="43407"/>
                  <a:pt x="436294" y="96953"/>
                </a:cubicBezTo>
                <a:lnTo>
                  <a:pt x="436294" y="339341"/>
                </a:lnTo>
                <a:cubicBezTo>
                  <a:pt x="436294" y="392887"/>
                  <a:pt x="392887" y="436294"/>
                  <a:pt x="339341" y="436294"/>
                </a:cubicBezTo>
                <a:lnTo>
                  <a:pt x="96953" y="436294"/>
                </a:lnTo>
                <a:cubicBezTo>
                  <a:pt x="43407" y="436294"/>
                  <a:pt x="0" y="392887"/>
                  <a:pt x="0" y="339341"/>
                </a:cubicBezTo>
                <a:lnTo>
                  <a:pt x="0" y="96953"/>
                </a:lnTo>
                <a:cubicBezTo>
                  <a:pt x="0" y="43443"/>
                  <a:pt x="43443" y="0"/>
                  <a:pt x="96953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 w="25400">
            <a:solidFill>
              <a:srgbClr val="5E8B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78259" y="1298113"/>
            <a:ext cx="169670" cy="258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27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39565" y="1233476"/>
            <a:ext cx="727157" cy="22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2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试点启动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9565" y="1459703"/>
            <a:ext cx="702918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精准选点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0158" y="1782884"/>
            <a:ext cx="5372883" cy="614044"/>
          </a:xfrm>
          <a:custGeom>
            <a:avLst/>
            <a:gdLst/>
            <a:ahLst/>
            <a:cxnLst/>
            <a:rect l="l" t="t" r="r" b="b"/>
            <a:pathLst>
              <a:path w="5372883" h="614044">
                <a:moveTo>
                  <a:pt x="64634" y="0"/>
                </a:moveTo>
                <a:lnTo>
                  <a:pt x="5308248" y="0"/>
                </a:lnTo>
                <a:cubicBezTo>
                  <a:pt x="5343945" y="0"/>
                  <a:pt x="5372883" y="28938"/>
                  <a:pt x="5372883" y="64634"/>
                </a:cubicBezTo>
                <a:lnTo>
                  <a:pt x="5372883" y="549409"/>
                </a:lnTo>
                <a:cubicBezTo>
                  <a:pt x="5372883" y="585106"/>
                  <a:pt x="5343945" y="614044"/>
                  <a:pt x="5308248" y="614044"/>
                </a:cubicBezTo>
                <a:lnTo>
                  <a:pt x="64634" y="614044"/>
                </a:lnTo>
                <a:cubicBezTo>
                  <a:pt x="28938" y="614044"/>
                  <a:pt x="0" y="585106"/>
                  <a:pt x="0" y="549409"/>
                </a:cubicBezTo>
                <a:lnTo>
                  <a:pt x="0" y="64634"/>
                </a:lnTo>
                <a:cubicBezTo>
                  <a:pt x="0" y="28938"/>
                  <a:pt x="28938" y="0"/>
                  <a:pt x="64634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603271" y="1906767"/>
            <a:ext cx="129272" cy="129272"/>
          </a:xfrm>
          <a:custGeom>
            <a:avLst/>
            <a:gdLst/>
            <a:ahLst/>
            <a:cxnLst/>
            <a:rect l="l" t="t" r="r" b="b"/>
            <a:pathLst>
              <a:path w="129272" h="129272">
                <a:moveTo>
                  <a:pt x="113113" y="64636"/>
                </a:moveTo>
                <a:cubicBezTo>
                  <a:pt x="113113" y="37881"/>
                  <a:pt x="91391" y="16159"/>
                  <a:pt x="64636" y="16159"/>
                </a:cubicBezTo>
                <a:cubicBezTo>
                  <a:pt x="37881" y="16159"/>
                  <a:pt x="16159" y="37881"/>
                  <a:pt x="16159" y="64636"/>
                </a:cubicBezTo>
                <a:cubicBezTo>
                  <a:pt x="16159" y="91391"/>
                  <a:pt x="37881" y="113113"/>
                  <a:pt x="64636" y="113113"/>
                </a:cubicBezTo>
                <a:cubicBezTo>
                  <a:pt x="91391" y="113113"/>
                  <a:pt x="113113" y="91391"/>
                  <a:pt x="113113" y="64636"/>
                </a:cubicBezTo>
                <a:close/>
                <a:moveTo>
                  <a:pt x="0" y="64636"/>
                </a:moveTo>
                <a:cubicBezTo>
                  <a:pt x="0" y="28963"/>
                  <a:pt x="28963" y="0"/>
                  <a:pt x="64636" y="0"/>
                </a:cubicBezTo>
                <a:cubicBezTo>
                  <a:pt x="100310" y="0"/>
                  <a:pt x="129272" y="28963"/>
                  <a:pt x="129272" y="64636"/>
                </a:cubicBezTo>
                <a:cubicBezTo>
                  <a:pt x="129272" y="100310"/>
                  <a:pt x="100310" y="129272"/>
                  <a:pt x="64636" y="129272"/>
                </a:cubicBezTo>
                <a:cubicBezTo>
                  <a:pt x="28963" y="129272"/>
                  <a:pt x="0" y="100310"/>
                  <a:pt x="0" y="64636"/>
                </a:cubicBezTo>
                <a:close/>
                <a:moveTo>
                  <a:pt x="64636" y="84835"/>
                </a:moveTo>
                <a:cubicBezTo>
                  <a:pt x="75784" y="84835"/>
                  <a:pt x="84835" y="75784"/>
                  <a:pt x="84835" y="64636"/>
                </a:cubicBezTo>
                <a:cubicBezTo>
                  <a:pt x="84835" y="53488"/>
                  <a:pt x="75784" y="44437"/>
                  <a:pt x="64636" y="44437"/>
                </a:cubicBezTo>
                <a:cubicBezTo>
                  <a:pt x="53488" y="44437"/>
                  <a:pt x="44437" y="53488"/>
                  <a:pt x="44437" y="64636"/>
                </a:cubicBezTo>
                <a:cubicBezTo>
                  <a:pt x="44437" y="75784"/>
                  <a:pt x="53488" y="84835"/>
                  <a:pt x="64636" y="84835"/>
                </a:cubicBezTo>
                <a:close/>
                <a:moveTo>
                  <a:pt x="64636" y="28278"/>
                </a:moveTo>
                <a:cubicBezTo>
                  <a:pt x="84703" y="28278"/>
                  <a:pt x="100994" y="44570"/>
                  <a:pt x="100994" y="64636"/>
                </a:cubicBezTo>
                <a:cubicBezTo>
                  <a:pt x="100994" y="84703"/>
                  <a:pt x="84703" y="100994"/>
                  <a:pt x="64636" y="100994"/>
                </a:cubicBezTo>
                <a:cubicBezTo>
                  <a:pt x="44570" y="100994"/>
                  <a:pt x="28278" y="84703"/>
                  <a:pt x="28278" y="64636"/>
                </a:cubicBezTo>
                <a:cubicBezTo>
                  <a:pt x="28278" y="44570"/>
                  <a:pt x="44570" y="28278"/>
                  <a:pt x="64636" y="28278"/>
                </a:cubicBezTo>
                <a:close/>
                <a:moveTo>
                  <a:pt x="56557" y="64636"/>
                </a:moveTo>
                <a:cubicBezTo>
                  <a:pt x="56557" y="60177"/>
                  <a:pt x="60177" y="56557"/>
                  <a:pt x="64636" y="56557"/>
                </a:cubicBezTo>
                <a:cubicBezTo>
                  <a:pt x="69095" y="56557"/>
                  <a:pt x="72716" y="60177"/>
                  <a:pt x="72716" y="64636"/>
                </a:cubicBezTo>
                <a:cubicBezTo>
                  <a:pt x="72716" y="69095"/>
                  <a:pt x="69095" y="72716"/>
                  <a:pt x="64636" y="72716"/>
                </a:cubicBezTo>
                <a:cubicBezTo>
                  <a:pt x="60177" y="72716"/>
                  <a:pt x="56557" y="69095"/>
                  <a:pt x="56557" y="64636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89823" y="1879838"/>
            <a:ext cx="5040899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行动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7112" y="2138383"/>
            <a:ext cx="5235531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各团队立即挑选 </a:t>
            </a:r>
            <a:r>
              <a:rPr lang="en-US" sz="891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1-2个项目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试点用起来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0158" y="2493882"/>
            <a:ext cx="5372883" cy="807952"/>
          </a:xfrm>
          <a:custGeom>
            <a:avLst/>
            <a:gdLst/>
            <a:ahLst/>
            <a:cxnLst/>
            <a:rect l="l" t="t" r="r" b="b"/>
            <a:pathLst>
              <a:path w="5372883" h="807952">
                <a:moveTo>
                  <a:pt x="64636" y="0"/>
                </a:moveTo>
                <a:lnTo>
                  <a:pt x="5308247" y="0"/>
                </a:lnTo>
                <a:cubicBezTo>
                  <a:pt x="5343944" y="0"/>
                  <a:pt x="5372883" y="28939"/>
                  <a:pt x="5372883" y="64636"/>
                </a:cubicBezTo>
                <a:lnTo>
                  <a:pt x="5372883" y="743316"/>
                </a:lnTo>
                <a:cubicBezTo>
                  <a:pt x="5372883" y="779014"/>
                  <a:pt x="5343944" y="807952"/>
                  <a:pt x="5308247" y="807952"/>
                </a:cubicBezTo>
                <a:lnTo>
                  <a:pt x="64636" y="807952"/>
                </a:lnTo>
                <a:cubicBezTo>
                  <a:pt x="28939" y="807952"/>
                  <a:pt x="0" y="779014"/>
                  <a:pt x="0" y="743316"/>
                </a:cubicBezTo>
                <a:lnTo>
                  <a:pt x="0" y="64636"/>
                </a:lnTo>
                <a:cubicBezTo>
                  <a:pt x="0" y="28963"/>
                  <a:pt x="28963" y="0"/>
                  <a:pt x="6463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95192" y="2617765"/>
            <a:ext cx="145431" cy="129272"/>
          </a:xfrm>
          <a:custGeom>
            <a:avLst/>
            <a:gdLst/>
            <a:ahLst/>
            <a:cxnLst/>
            <a:rect l="l" t="t" r="r" b="b"/>
            <a:pathLst>
              <a:path w="145431" h="129272">
                <a:moveTo>
                  <a:pt x="78144" y="-4772"/>
                </a:moveTo>
                <a:cubicBezTo>
                  <a:pt x="77109" y="-6792"/>
                  <a:pt x="75013" y="-8080"/>
                  <a:pt x="72741" y="-8080"/>
                </a:cubicBezTo>
                <a:cubicBezTo>
                  <a:pt x="70469" y="-8080"/>
                  <a:pt x="68373" y="-6792"/>
                  <a:pt x="67338" y="-4772"/>
                </a:cubicBezTo>
                <a:lnTo>
                  <a:pt x="48755" y="31636"/>
                </a:lnTo>
                <a:lnTo>
                  <a:pt x="8383" y="38050"/>
                </a:lnTo>
                <a:cubicBezTo>
                  <a:pt x="6135" y="38403"/>
                  <a:pt x="4267" y="39994"/>
                  <a:pt x="3560" y="42165"/>
                </a:cubicBezTo>
                <a:cubicBezTo>
                  <a:pt x="2853" y="44336"/>
                  <a:pt x="3434" y="46710"/>
                  <a:pt x="5024" y="48326"/>
                </a:cubicBezTo>
                <a:lnTo>
                  <a:pt x="33909" y="77235"/>
                </a:lnTo>
                <a:lnTo>
                  <a:pt x="27546" y="117608"/>
                </a:lnTo>
                <a:cubicBezTo>
                  <a:pt x="27193" y="119855"/>
                  <a:pt x="28127" y="122127"/>
                  <a:pt x="29970" y="123465"/>
                </a:cubicBezTo>
                <a:cubicBezTo>
                  <a:pt x="31813" y="124803"/>
                  <a:pt x="34237" y="125005"/>
                  <a:pt x="36282" y="123970"/>
                </a:cubicBezTo>
                <a:lnTo>
                  <a:pt x="72741" y="105438"/>
                </a:lnTo>
                <a:lnTo>
                  <a:pt x="109175" y="123970"/>
                </a:lnTo>
                <a:cubicBezTo>
                  <a:pt x="111194" y="125005"/>
                  <a:pt x="113644" y="124803"/>
                  <a:pt x="115487" y="123465"/>
                </a:cubicBezTo>
                <a:cubicBezTo>
                  <a:pt x="117330" y="122127"/>
                  <a:pt x="118264" y="119880"/>
                  <a:pt x="117911" y="117608"/>
                </a:cubicBezTo>
                <a:lnTo>
                  <a:pt x="111523" y="77235"/>
                </a:lnTo>
                <a:lnTo>
                  <a:pt x="140407" y="48326"/>
                </a:lnTo>
                <a:cubicBezTo>
                  <a:pt x="142023" y="46710"/>
                  <a:pt x="142578" y="44336"/>
                  <a:pt x="141871" y="42165"/>
                </a:cubicBezTo>
                <a:cubicBezTo>
                  <a:pt x="141164" y="39994"/>
                  <a:pt x="139321" y="38403"/>
                  <a:pt x="137049" y="38050"/>
                </a:cubicBezTo>
                <a:lnTo>
                  <a:pt x="96702" y="31636"/>
                </a:lnTo>
                <a:lnTo>
                  <a:pt x="78144" y="-4772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789823" y="2590836"/>
            <a:ext cx="5040899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推荐场景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1549" y="2881699"/>
            <a:ext cx="56557" cy="113113"/>
          </a:xfrm>
          <a:custGeom>
            <a:avLst/>
            <a:gdLst/>
            <a:ahLst/>
            <a:cxnLst/>
            <a:rect l="l" t="t" r="r" b="b"/>
            <a:pathLst>
              <a:path w="56557" h="113113">
                <a:moveTo>
                  <a:pt x="54590" y="51564"/>
                </a:moveTo>
                <a:cubicBezTo>
                  <a:pt x="57352" y="54325"/>
                  <a:pt x="57352" y="58810"/>
                  <a:pt x="54590" y="61572"/>
                </a:cubicBezTo>
                <a:lnTo>
                  <a:pt x="19243" y="96920"/>
                </a:lnTo>
                <a:cubicBezTo>
                  <a:pt x="16481" y="99681"/>
                  <a:pt x="11996" y="99681"/>
                  <a:pt x="9235" y="96920"/>
                </a:cubicBezTo>
                <a:cubicBezTo>
                  <a:pt x="6473" y="94158"/>
                  <a:pt x="6473" y="89673"/>
                  <a:pt x="9235" y="86912"/>
                </a:cubicBezTo>
                <a:lnTo>
                  <a:pt x="39590" y="56557"/>
                </a:lnTo>
                <a:lnTo>
                  <a:pt x="9257" y="26202"/>
                </a:lnTo>
                <a:cubicBezTo>
                  <a:pt x="6495" y="23440"/>
                  <a:pt x="6495" y="18955"/>
                  <a:pt x="9257" y="16194"/>
                </a:cubicBezTo>
                <a:cubicBezTo>
                  <a:pt x="12018" y="13432"/>
                  <a:pt x="16503" y="13432"/>
                  <a:pt x="19265" y="16194"/>
                </a:cubicBezTo>
                <a:lnTo>
                  <a:pt x="54613" y="51542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93140" y="2849381"/>
            <a:ext cx="2431936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数据库密码管理项目（安全规范与多模式适配）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1549" y="3075608"/>
            <a:ext cx="56557" cy="113113"/>
          </a:xfrm>
          <a:custGeom>
            <a:avLst/>
            <a:gdLst/>
            <a:ahLst/>
            <a:cxnLst/>
            <a:rect l="l" t="t" r="r" b="b"/>
            <a:pathLst>
              <a:path w="56557" h="113113">
                <a:moveTo>
                  <a:pt x="54590" y="51564"/>
                </a:moveTo>
                <a:cubicBezTo>
                  <a:pt x="57352" y="54325"/>
                  <a:pt x="57352" y="58810"/>
                  <a:pt x="54590" y="61572"/>
                </a:cubicBezTo>
                <a:lnTo>
                  <a:pt x="19243" y="96920"/>
                </a:lnTo>
                <a:cubicBezTo>
                  <a:pt x="16481" y="99681"/>
                  <a:pt x="11996" y="99681"/>
                  <a:pt x="9235" y="96920"/>
                </a:cubicBezTo>
                <a:cubicBezTo>
                  <a:pt x="6473" y="94158"/>
                  <a:pt x="6473" y="89673"/>
                  <a:pt x="9235" y="86912"/>
                </a:cubicBezTo>
                <a:lnTo>
                  <a:pt x="39590" y="56557"/>
                </a:lnTo>
                <a:lnTo>
                  <a:pt x="9257" y="26202"/>
                </a:lnTo>
                <a:cubicBezTo>
                  <a:pt x="6495" y="23440"/>
                  <a:pt x="6495" y="18955"/>
                  <a:pt x="9257" y="16194"/>
                </a:cubicBezTo>
                <a:cubicBezTo>
                  <a:pt x="12018" y="13432"/>
                  <a:pt x="16503" y="13432"/>
                  <a:pt x="19265" y="16194"/>
                </a:cubicBezTo>
                <a:lnTo>
                  <a:pt x="54613" y="51542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93140" y="3043290"/>
            <a:ext cx="2197630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RPA信创改造项目（代码迁移与异构适配）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64676" y="1036872"/>
            <a:ext cx="5701450" cy="2429243"/>
          </a:xfrm>
          <a:custGeom>
            <a:avLst/>
            <a:gdLst/>
            <a:ahLst/>
            <a:cxnLst/>
            <a:rect l="l" t="t" r="r" b="b"/>
            <a:pathLst>
              <a:path w="5701450" h="2429243">
                <a:moveTo>
                  <a:pt x="96951" y="0"/>
                </a:moveTo>
                <a:lnTo>
                  <a:pt x="5604499" y="0"/>
                </a:lnTo>
                <a:cubicBezTo>
                  <a:pt x="5658043" y="0"/>
                  <a:pt x="5701450" y="43406"/>
                  <a:pt x="5701450" y="96951"/>
                </a:cubicBezTo>
                <a:lnTo>
                  <a:pt x="5701450" y="2332292"/>
                </a:lnTo>
                <a:cubicBezTo>
                  <a:pt x="5701450" y="2385837"/>
                  <a:pt x="5658043" y="2429243"/>
                  <a:pt x="5604499" y="2429243"/>
                </a:cubicBezTo>
                <a:lnTo>
                  <a:pt x="96951" y="2429243"/>
                </a:lnTo>
                <a:cubicBezTo>
                  <a:pt x="43406" y="2429243"/>
                  <a:pt x="0" y="2385837"/>
                  <a:pt x="0" y="2332292"/>
                </a:cubicBezTo>
                <a:lnTo>
                  <a:pt x="0" y="96951"/>
                </a:lnTo>
                <a:cubicBezTo>
                  <a:pt x="0" y="43442"/>
                  <a:pt x="43442" y="0"/>
                  <a:pt x="9695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337039" y="1209238"/>
            <a:ext cx="436294" cy="436294"/>
          </a:xfrm>
          <a:custGeom>
            <a:avLst/>
            <a:gdLst/>
            <a:ahLst/>
            <a:cxnLst/>
            <a:rect l="l" t="t" r="r" b="b"/>
            <a:pathLst>
              <a:path w="436294" h="436294">
                <a:moveTo>
                  <a:pt x="96953" y="0"/>
                </a:moveTo>
                <a:lnTo>
                  <a:pt x="339341" y="0"/>
                </a:lnTo>
                <a:cubicBezTo>
                  <a:pt x="392887" y="0"/>
                  <a:pt x="436294" y="43407"/>
                  <a:pt x="436294" y="96953"/>
                </a:cubicBezTo>
                <a:lnTo>
                  <a:pt x="436294" y="339341"/>
                </a:lnTo>
                <a:cubicBezTo>
                  <a:pt x="436294" y="392887"/>
                  <a:pt x="392887" y="436294"/>
                  <a:pt x="339341" y="436294"/>
                </a:cubicBezTo>
                <a:lnTo>
                  <a:pt x="96953" y="436294"/>
                </a:lnTo>
                <a:cubicBezTo>
                  <a:pt x="43407" y="436294"/>
                  <a:pt x="0" y="392887"/>
                  <a:pt x="0" y="339341"/>
                </a:cubicBezTo>
                <a:lnTo>
                  <a:pt x="0" y="96953"/>
                </a:lnTo>
                <a:cubicBezTo>
                  <a:pt x="0" y="43443"/>
                  <a:pt x="43443" y="0"/>
                  <a:pt x="96953" y="0"/>
                </a:cubicBezTo>
                <a:close/>
              </a:path>
            </a:pathLst>
          </a:custGeom>
          <a:solidFill>
            <a:srgbClr val="4A6C8C">
              <a:alpha val="30196"/>
            </a:srgbClr>
          </a:solidFill>
          <a:ln w="25400">
            <a:solidFill>
              <a:srgbClr val="4A6C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500650" y="1298113"/>
            <a:ext cx="201988" cy="258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27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78367" y="1233476"/>
            <a:ext cx="1187690" cy="22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2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双管齐下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78367" y="1459703"/>
            <a:ext cx="1163451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工具加工 + SKILL沉淀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45119" y="1782884"/>
            <a:ext cx="5356724" cy="614044"/>
          </a:xfrm>
          <a:custGeom>
            <a:avLst/>
            <a:gdLst/>
            <a:ahLst/>
            <a:cxnLst/>
            <a:rect l="l" t="t" r="r" b="b"/>
            <a:pathLst>
              <a:path w="5356724" h="614044">
                <a:moveTo>
                  <a:pt x="32318" y="0"/>
                </a:moveTo>
                <a:lnTo>
                  <a:pt x="5292089" y="0"/>
                </a:lnTo>
                <a:cubicBezTo>
                  <a:pt x="5327786" y="0"/>
                  <a:pt x="5356724" y="28938"/>
                  <a:pt x="5356724" y="64634"/>
                </a:cubicBezTo>
                <a:lnTo>
                  <a:pt x="5356724" y="549409"/>
                </a:lnTo>
                <a:cubicBezTo>
                  <a:pt x="5356724" y="585106"/>
                  <a:pt x="5327786" y="614044"/>
                  <a:pt x="5292089" y="614044"/>
                </a:cubicBez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6345119" y="1782884"/>
            <a:ext cx="32318" cy="614044"/>
          </a:xfrm>
          <a:custGeom>
            <a:avLst/>
            <a:gdLst/>
            <a:ahLst/>
            <a:cxnLst/>
            <a:rect l="l" t="t" r="r" b="b"/>
            <a:pathLst>
              <a:path w="32318" h="614044">
                <a:moveTo>
                  <a:pt x="32318" y="0"/>
                </a:moveTo>
                <a:lnTo>
                  <a:pt x="32318" y="0"/>
                </a:lnTo>
                <a:lnTo>
                  <a:pt x="32318" y="614044"/>
                </a:ln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6466312" y="1906767"/>
            <a:ext cx="145431" cy="129272"/>
          </a:xfrm>
          <a:custGeom>
            <a:avLst/>
            <a:gdLst/>
            <a:ahLst/>
            <a:cxnLst/>
            <a:rect l="l" t="t" r="r" b="b"/>
            <a:pathLst>
              <a:path w="145431" h="129272">
                <a:moveTo>
                  <a:pt x="56582" y="24516"/>
                </a:moveTo>
                <a:lnTo>
                  <a:pt x="56582" y="37040"/>
                </a:lnTo>
                <a:lnTo>
                  <a:pt x="56708" y="37166"/>
                </a:lnTo>
                <a:cubicBezTo>
                  <a:pt x="58349" y="16361"/>
                  <a:pt x="75746" y="0"/>
                  <a:pt x="96980" y="0"/>
                </a:cubicBezTo>
                <a:cubicBezTo>
                  <a:pt x="102054" y="0"/>
                  <a:pt x="106927" y="934"/>
                  <a:pt x="111396" y="2651"/>
                </a:cubicBezTo>
                <a:cubicBezTo>
                  <a:pt x="113921" y="3611"/>
                  <a:pt x="114376" y="6817"/>
                  <a:pt x="112482" y="8736"/>
                </a:cubicBezTo>
                <a:lnTo>
                  <a:pt x="90087" y="31131"/>
                </a:lnTo>
                <a:cubicBezTo>
                  <a:pt x="89329" y="31889"/>
                  <a:pt x="88900" y="32924"/>
                  <a:pt x="88900" y="33984"/>
                </a:cubicBezTo>
                <a:lnTo>
                  <a:pt x="88900" y="44437"/>
                </a:lnTo>
                <a:cubicBezTo>
                  <a:pt x="88900" y="46659"/>
                  <a:pt x="90718" y="48477"/>
                  <a:pt x="92940" y="48477"/>
                </a:cubicBezTo>
                <a:lnTo>
                  <a:pt x="103393" y="48477"/>
                </a:lnTo>
                <a:cubicBezTo>
                  <a:pt x="104453" y="48477"/>
                  <a:pt x="105488" y="48048"/>
                  <a:pt x="106246" y="47290"/>
                </a:cubicBezTo>
                <a:lnTo>
                  <a:pt x="128641" y="24895"/>
                </a:lnTo>
                <a:cubicBezTo>
                  <a:pt x="130560" y="22976"/>
                  <a:pt x="133767" y="23456"/>
                  <a:pt x="134726" y="25981"/>
                </a:cubicBezTo>
                <a:cubicBezTo>
                  <a:pt x="136443" y="30450"/>
                  <a:pt x="137377" y="35323"/>
                  <a:pt x="137377" y="40398"/>
                </a:cubicBezTo>
                <a:cubicBezTo>
                  <a:pt x="137377" y="55698"/>
                  <a:pt x="128868" y="69029"/>
                  <a:pt x="116295" y="75872"/>
                </a:cubicBezTo>
                <a:lnTo>
                  <a:pt x="136872" y="96449"/>
                </a:lnTo>
                <a:cubicBezTo>
                  <a:pt x="141594" y="101171"/>
                  <a:pt x="141594" y="108846"/>
                  <a:pt x="136872" y="113593"/>
                </a:cubicBezTo>
                <a:lnTo>
                  <a:pt x="121698" y="128767"/>
                </a:lnTo>
                <a:cubicBezTo>
                  <a:pt x="116976" y="133489"/>
                  <a:pt x="109301" y="133489"/>
                  <a:pt x="104554" y="128767"/>
                </a:cubicBezTo>
                <a:lnTo>
                  <a:pt x="72741" y="96954"/>
                </a:lnTo>
                <a:cubicBezTo>
                  <a:pt x="65823" y="90036"/>
                  <a:pt x="64257" y="79811"/>
                  <a:pt x="68070" y="71378"/>
                </a:cubicBezTo>
                <a:lnTo>
                  <a:pt x="45170" y="48477"/>
                </a:lnTo>
                <a:lnTo>
                  <a:pt x="32646" y="48477"/>
                </a:lnTo>
                <a:cubicBezTo>
                  <a:pt x="29945" y="48477"/>
                  <a:pt x="27420" y="47139"/>
                  <a:pt x="25930" y="44892"/>
                </a:cubicBezTo>
                <a:lnTo>
                  <a:pt x="5908" y="14871"/>
                </a:lnTo>
                <a:cubicBezTo>
                  <a:pt x="4848" y="13281"/>
                  <a:pt x="5050" y="11135"/>
                  <a:pt x="6413" y="9771"/>
                </a:cubicBezTo>
                <a:lnTo>
                  <a:pt x="17876" y="-1692"/>
                </a:lnTo>
                <a:cubicBezTo>
                  <a:pt x="19239" y="-3055"/>
                  <a:pt x="21360" y="-3257"/>
                  <a:pt x="22976" y="-2197"/>
                </a:cubicBezTo>
                <a:lnTo>
                  <a:pt x="52997" y="17800"/>
                </a:lnTo>
                <a:cubicBezTo>
                  <a:pt x="55244" y="19290"/>
                  <a:pt x="56582" y="21815"/>
                  <a:pt x="56582" y="24516"/>
                </a:cubicBezTo>
                <a:close/>
                <a:moveTo>
                  <a:pt x="54436" y="74887"/>
                </a:moveTo>
                <a:cubicBezTo>
                  <a:pt x="52845" y="84229"/>
                  <a:pt x="55042" y="94101"/>
                  <a:pt x="61101" y="102004"/>
                </a:cubicBezTo>
                <a:lnTo>
                  <a:pt x="37115" y="125965"/>
                </a:lnTo>
                <a:cubicBezTo>
                  <a:pt x="30020" y="133060"/>
                  <a:pt x="18507" y="133060"/>
                  <a:pt x="11412" y="125965"/>
                </a:cubicBezTo>
                <a:cubicBezTo>
                  <a:pt x="4317" y="118870"/>
                  <a:pt x="4317" y="107357"/>
                  <a:pt x="11412" y="100262"/>
                </a:cubicBezTo>
                <a:lnTo>
                  <a:pt x="45599" y="66075"/>
                </a:lnTo>
                <a:lnTo>
                  <a:pt x="54436" y="74912"/>
                </a:ln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660943" y="1879838"/>
            <a:ext cx="5008581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任务A：基础工具智能化加工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58232" y="2138383"/>
            <a:ext cx="5203213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利用大模型加工基础工具，形成</a:t>
            </a:r>
            <a:r>
              <a:rPr lang="en-US" sz="891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JAR包/SDK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，标准化、开箱即用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45119" y="2493882"/>
            <a:ext cx="5356724" cy="614044"/>
          </a:xfrm>
          <a:custGeom>
            <a:avLst/>
            <a:gdLst/>
            <a:ahLst/>
            <a:cxnLst/>
            <a:rect l="l" t="t" r="r" b="b"/>
            <a:pathLst>
              <a:path w="5356724" h="614044">
                <a:moveTo>
                  <a:pt x="32318" y="0"/>
                </a:moveTo>
                <a:lnTo>
                  <a:pt x="5292089" y="0"/>
                </a:lnTo>
                <a:cubicBezTo>
                  <a:pt x="5327786" y="0"/>
                  <a:pt x="5356724" y="28938"/>
                  <a:pt x="5356724" y="64634"/>
                </a:cubicBezTo>
                <a:lnTo>
                  <a:pt x="5356724" y="549409"/>
                </a:lnTo>
                <a:cubicBezTo>
                  <a:pt x="5356724" y="585106"/>
                  <a:pt x="5327786" y="614044"/>
                  <a:pt x="5292089" y="614044"/>
                </a:cubicBez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6345119" y="2493882"/>
            <a:ext cx="32318" cy="614044"/>
          </a:xfrm>
          <a:custGeom>
            <a:avLst/>
            <a:gdLst/>
            <a:ahLst/>
            <a:cxnLst/>
            <a:rect l="l" t="t" r="r" b="b"/>
            <a:pathLst>
              <a:path w="32318" h="614044">
                <a:moveTo>
                  <a:pt x="32318" y="0"/>
                </a:moveTo>
                <a:lnTo>
                  <a:pt x="32318" y="0"/>
                </a:lnTo>
                <a:lnTo>
                  <a:pt x="32318" y="614044"/>
                </a:ln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6474391" y="2617765"/>
            <a:ext cx="129272" cy="129272"/>
          </a:xfrm>
          <a:custGeom>
            <a:avLst/>
            <a:gdLst/>
            <a:ahLst/>
            <a:cxnLst/>
            <a:rect l="l" t="t" r="r" b="b"/>
            <a:pathLst>
              <a:path w="129272" h="129272">
                <a:moveTo>
                  <a:pt x="58703" y="1313"/>
                </a:moveTo>
                <a:cubicBezTo>
                  <a:pt x="62465" y="-429"/>
                  <a:pt x="66808" y="-429"/>
                  <a:pt x="70570" y="1313"/>
                </a:cubicBezTo>
                <a:lnTo>
                  <a:pt x="125763" y="26814"/>
                </a:lnTo>
                <a:cubicBezTo>
                  <a:pt x="127909" y="27799"/>
                  <a:pt x="129272" y="29945"/>
                  <a:pt x="129272" y="32318"/>
                </a:cubicBezTo>
                <a:cubicBezTo>
                  <a:pt x="129272" y="34691"/>
                  <a:pt x="127909" y="36838"/>
                  <a:pt x="125763" y="37822"/>
                </a:cubicBezTo>
                <a:lnTo>
                  <a:pt x="70570" y="63323"/>
                </a:lnTo>
                <a:cubicBezTo>
                  <a:pt x="66808" y="65065"/>
                  <a:pt x="62465" y="65065"/>
                  <a:pt x="58703" y="63323"/>
                </a:cubicBezTo>
                <a:lnTo>
                  <a:pt x="3510" y="37822"/>
                </a:lnTo>
                <a:cubicBezTo>
                  <a:pt x="1363" y="36812"/>
                  <a:pt x="0" y="34666"/>
                  <a:pt x="0" y="32318"/>
                </a:cubicBezTo>
                <a:cubicBezTo>
                  <a:pt x="0" y="29970"/>
                  <a:pt x="1363" y="27799"/>
                  <a:pt x="3510" y="26814"/>
                </a:cubicBezTo>
                <a:lnTo>
                  <a:pt x="58703" y="1313"/>
                </a:lnTo>
                <a:close/>
                <a:moveTo>
                  <a:pt x="12145" y="55143"/>
                </a:moveTo>
                <a:lnTo>
                  <a:pt x="53628" y="74306"/>
                </a:lnTo>
                <a:cubicBezTo>
                  <a:pt x="60622" y="77538"/>
                  <a:pt x="68676" y="77538"/>
                  <a:pt x="75670" y="74306"/>
                </a:cubicBezTo>
                <a:lnTo>
                  <a:pt x="117153" y="55143"/>
                </a:lnTo>
                <a:lnTo>
                  <a:pt x="125763" y="59132"/>
                </a:lnTo>
                <a:cubicBezTo>
                  <a:pt x="127909" y="60117"/>
                  <a:pt x="129272" y="62263"/>
                  <a:pt x="129272" y="64636"/>
                </a:cubicBezTo>
                <a:cubicBezTo>
                  <a:pt x="129272" y="67010"/>
                  <a:pt x="127909" y="69156"/>
                  <a:pt x="125763" y="70140"/>
                </a:cubicBezTo>
                <a:lnTo>
                  <a:pt x="70570" y="95641"/>
                </a:lnTo>
                <a:cubicBezTo>
                  <a:pt x="66808" y="97383"/>
                  <a:pt x="62465" y="97383"/>
                  <a:pt x="58703" y="95641"/>
                </a:cubicBezTo>
                <a:lnTo>
                  <a:pt x="3510" y="70140"/>
                </a:lnTo>
                <a:cubicBezTo>
                  <a:pt x="1363" y="69130"/>
                  <a:pt x="0" y="66984"/>
                  <a:pt x="0" y="64636"/>
                </a:cubicBezTo>
                <a:cubicBezTo>
                  <a:pt x="0" y="62288"/>
                  <a:pt x="1363" y="60117"/>
                  <a:pt x="3510" y="59132"/>
                </a:cubicBezTo>
                <a:lnTo>
                  <a:pt x="12119" y="55143"/>
                </a:lnTo>
                <a:close/>
                <a:moveTo>
                  <a:pt x="3510" y="91450"/>
                </a:moveTo>
                <a:lnTo>
                  <a:pt x="12119" y="87461"/>
                </a:lnTo>
                <a:lnTo>
                  <a:pt x="53603" y="106624"/>
                </a:lnTo>
                <a:cubicBezTo>
                  <a:pt x="60596" y="109856"/>
                  <a:pt x="68651" y="109856"/>
                  <a:pt x="75645" y="106624"/>
                </a:cubicBezTo>
                <a:lnTo>
                  <a:pt x="117128" y="87461"/>
                </a:lnTo>
                <a:lnTo>
                  <a:pt x="125738" y="91450"/>
                </a:lnTo>
                <a:cubicBezTo>
                  <a:pt x="127884" y="92435"/>
                  <a:pt x="129247" y="94581"/>
                  <a:pt x="129247" y="96954"/>
                </a:cubicBezTo>
                <a:cubicBezTo>
                  <a:pt x="129247" y="99328"/>
                  <a:pt x="127884" y="101474"/>
                  <a:pt x="125738" y="102458"/>
                </a:cubicBezTo>
                <a:lnTo>
                  <a:pt x="70544" y="127959"/>
                </a:lnTo>
                <a:cubicBezTo>
                  <a:pt x="66782" y="129702"/>
                  <a:pt x="62440" y="129702"/>
                  <a:pt x="58678" y="127959"/>
                </a:cubicBezTo>
                <a:lnTo>
                  <a:pt x="3510" y="102458"/>
                </a:lnTo>
                <a:cubicBezTo>
                  <a:pt x="1363" y="101449"/>
                  <a:pt x="0" y="99302"/>
                  <a:pt x="0" y="96954"/>
                </a:cubicBezTo>
                <a:cubicBezTo>
                  <a:pt x="0" y="94606"/>
                  <a:pt x="1363" y="92435"/>
                  <a:pt x="3510" y="9145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660943" y="2590836"/>
            <a:ext cx="5008581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任务B：SKILL沉淀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458232" y="2849381"/>
            <a:ext cx="5203213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基于试点应用形成</a:t>
            </a:r>
            <a:r>
              <a:rPr lang="en-US" sz="891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SKILL库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，实现"一次成功，全员复用"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5874" y="3600779"/>
            <a:ext cx="5701450" cy="2243414"/>
          </a:xfrm>
          <a:custGeom>
            <a:avLst/>
            <a:gdLst/>
            <a:ahLst/>
            <a:cxnLst/>
            <a:rect l="l" t="t" r="r" b="b"/>
            <a:pathLst>
              <a:path w="5701450" h="2243414">
                <a:moveTo>
                  <a:pt x="96960" y="0"/>
                </a:moveTo>
                <a:lnTo>
                  <a:pt x="5604490" y="0"/>
                </a:lnTo>
                <a:cubicBezTo>
                  <a:pt x="5658039" y="0"/>
                  <a:pt x="5701450" y="43411"/>
                  <a:pt x="5701450" y="96960"/>
                </a:cubicBezTo>
                <a:lnTo>
                  <a:pt x="5701450" y="2146454"/>
                </a:lnTo>
                <a:cubicBezTo>
                  <a:pt x="5701450" y="2200004"/>
                  <a:pt x="5658039" y="2243414"/>
                  <a:pt x="5604490" y="2243414"/>
                </a:cubicBezTo>
                <a:lnTo>
                  <a:pt x="96960" y="2243414"/>
                </a:lnTo>
                <a:cubicBezTo>
                  <a:pt x="43411" y="2243414"/>
                  <a:pt x="0" y="2200004"/>
                  <a:pt x="0" y="2146454"/>
                </a:cubicBezTo>
                <a:lnTo>
                  <a:pt x="0" y="96960"/>
                </a:lnTo>
                <a:cubicBezTo>
                  <a:pt x="0" y="43446"/>
                  <a:pt x="43446" y="0"/>
                  <a:pt x="96960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5E8B7E">
                  <a:alpha val="5000"/>
                </a:srgbClr>
              </a:gs>
            </a:gsLst>
            <a:lin ang="270000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498237" y="3773137"/>
            <a:ext cx="436294" cy="436294"/>
          </a:xfrm>
          <a:custGeom>
            <a:avLst/>
            <a:gdLst/>
            <a:ahLst/>
            <a:cxnLst/>
            <a:rect l="l" t="t" r="r" b="b"/>
            <a:pathLst>
              <a:path w="436294" h="436294">
                <a:moveTo>
                  <a:pt x="96953" y="0"/>
                </a:moveTo>
                <a:lnTo>
                  <a:pt x="339341" y="0"/>
                </a:lnTo>
                <a:cubicBezTo>
                  <a:pt x="392887" y="0"/>
                  <a:pt x="436294" y="43407"/>
                  <a:pt x="436294" y="96953"/>
                </a:cubicBezTo>
                <a:lnTo>
                  <a:pt x="436294" y="339341"/>
                </a:lnTo>
                <a:cubicBezTo>
                  <a:pt x="436294" y="392887"/>
                  <a:pt x="392887" y="436294"/>
                  <a:pt x="339341" y="436294"/>
                </a:cubicBezTo>
                <a:lnTo>
                  <a:pt x="96953" y="436294"/>
                </a:lnTo>
                <a:cubicBezTo>
                  <a:pt x="43407" y="436294"/>
                  <a:pt x="0" y="392887"/>
                  <a:pt x="0" y="339341"/>
                </a:cubicBezTo>
                <a:lnTo>
                  <a:pt x="0" y="96953"/>
                </a:lnTo>
                <a:cubicBezTo>
                  <a:pt x="0" y="43443"/>
                  <a:pt x="43443" y="0"/>
                  <a:pt x="96953" y="0"/>
                </a:cubicBezTo>
                <a:close/>
              </a:path>
            </a:pathLst>
          </a:custGeom>
          <a:solidFill>
            <a:srgbClr val="5E8B7E">
              <a:alpha val="30196"/>
            </a:srgbClr>
          </a:solidFill>
          <a:ln w="25400">
            <a:solidFill>
              <a:srgbClr val="5E8B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659323" y="3862012"/>
            <a:ext cx="210068" cy="258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27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39565" y="3797376"/>
            <a:ext cx="1316962" cy="22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2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新系统设计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039565" y="4023602"/>
            <a:ext cx="1292724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原生AI化（通用平台等）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06317" y="4346783"/>
            <a:ext cx="5356724" cy="614044"/>
          </a:xfrm>
          <a:custGeom>
            <a:avLst/>
            <a:gdLst/>
            <a:ahLst/>
            <a:cxnLst/>
            <a:rect l="l" t="t" r="r" b="b"/>
            <a:pathLst>
              <a:path w="5356724" h="614044">
                <a:moveTo>
                  <a:pt x="32318" y="0"/>
                </a:moveTo>
                <a:lnTo>
                  <a:pt x="5292089" y="0"/>
                </a:lnTo>
                <a:cubicBezTo>
                  <a:pt x="5327786" y="0"/>
                  <a:pt x="5356724" y="28938"/>
                  <a:pt x="5356724" y="64634"/>
                </a:cubicBezTo>
                <a:lnTo>
                  <a:pt x="5356724" y="549409"/>
                </a:lnTo>
                <a:cubicBezTo>
                  <a:pt x="5356724" y="585106"/>
                  <a:pt x="5327786" y="614044"/>
                  <a:pt x="5292089" y="614044"/>
                </a:cubicBez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506317" y="4346783"/>
            <a:ext cx="32318" cy="614044"/>
          </a:xfrm>
          <a:custGeom>
            <a:avLst/>
            <a:gdLst/>
            <a:ahLst/>
            <a:cxnLst/>
            <a:rect l="l" t="t" r="r" b="b"/>
            <a:pathLst>
              <a:path w="32318" h="614044">
                <a:moveTo>
                  <a:pt x="32318" y="0"/>
                </a:moveTo>
                <a:lnTo>
                  <a:pt x="32318" y="0"/>
                </a:lnTo>
                <a:lnTo>
                  <a:pt x="32318" y="614044"/>
                </a:ln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27510" y="4470675"/>
            <a:ext cx="145431" cy="129272"/>
          </a:xfrm>
          <a:custGeom>
            <a:avLst/>
            <a:gdLst/>
            <a:ahLst/>
            <a:cxnLst/>
            <a:rect l="l" t="t" r="r" b="b"/>
            <a:pathLst>
              <a:path w="145431" h="129272">
                <a:moveTo>
                  <a:pt x="91097" y="303"/>
                </a:moveTo>
                <a:cubicBezTo>
                  <a:pt x="86804" y="-934"/>
                  <a:pt x="82335" y="1565"/>
                  <a:pt x="81098" y="5858"/>
                </a:cubicBezTo>
                <a:lnTo>
                  <a:pt x="48780" y="118971"/>
                </a:lnTo>
                <a:cubicBezTo>
                  <a:pt x="47543" y="123263"/>
                  <a:pt x="50043" y="127732"/>
                  <a:pt x="54335" y="128969"/>
                </a:cubicBezTo>
                <a:cubicBezTo>
                  <a:pt x="58627" y="130207"/>
                  <a:pt x="63096" y="127707"/>
                  <a:pt x="64333" y="123415"/>
                </a:cubicBezTo>
                <a:lnTo>
                  <a:pt x="96651" y="10301"/>
                </a:lnTo>
                <a:cubicBezTo>
                  <a:pt x="97888" y="6009"/>
                  <a:pt x="95389" y="1540"/>
                  <a:pt x="91097" y="303"/>
                </a:cubicBezTo>
                <a:close/>
                <a:moveTo>
                  <a:pt x="107407" y="34666"/>
                </a:moveTo>
                <a:cubicBezTo>
                  <a:pt x="104251" y="37822"/>
                  <a:pt x="104251" y="42948"/>
                  <a:pt x="107407" y="46104"/>
                </a:cubicBezTo>
                <a:lnTo>
                  <a:pt x="125940" y="64636"/>
                </a:lnTo>
                <a:lnTo>
                  <a:pt x="107407" y="83169"/>
                </a:lnTo>
                <a:cubicBezTo>
                  <a:pt x="104251" y="86325"/>
                  <a:pt x="104251" y="91450"/>
                  <a:pt x="107407" y="94606"/>
                </a:cubicBezTo>
                <a:cubicBezTo>
                  <a:pt x="110563" y="97762"/>
                  <a:pt x="115689" y="97762"/>
                  <a:pt x="118845" y="94606"/>
                </a:cubicBezTo>
                <a:lnTo>
                  <a:pt x="143083" y="70368"/>
                </a:lnTo>
                <a:cubicBezTo>
                  <a:pt x="146239" y="67212"/>
                  <a:pt x="146239" y="62086"/>
                  <a:pt x="143083" y="58930"/>
                </a:cubicBezTo>
                <a:lnTo>
                  <a:pt x="118845" y="34691"/>
                </a:lnTo>
                <a:cubicBezTo>
                  <a:pt x="115689" y="31535"/>
                  <a:pt x="110563" y="31535"/>
                  <a:pt x="107407" y="34691"/>
                </a:cubicBezTo>
                <a:close/>
                <a:moveTo>
                  <a:pt x="38050" y="34666"/>
                </a:moveTo>
                <a:cubicBezTo>
                  <a:pt x="34893" y="31510"/>
                  <a:pt x="29768" y="31510"/>
                  <a:pt x="26612" y="34666"/>
                </a:cubicBezTo>
                <a:lnTo>
                  <a:pt x="2373" y="58905"/>
                </a:lnTo>
                <a:cubicBezTo>
                  <a:pt x="-783" y="62061"/>
                  <a:pt x="-783" y="67186"/>
                  <a:pt x="2373" y="70342"/>
                </a:cubicBezTo>
                <a:lnTo>
                  <a:pt x="26612" y="94581"/>
                </a:lnTo>
                <a:cubicBezTo>
                  <a:pt x="29768" y="97737"/>
                  <a:pt x="34893" y="97737"/>
                  <a:pt x="38050" y="94581"/>
                </a:cubicBezTo>
                <a:cubicBezTo>
                  <a:pt x="41206" y="91425"/>
                  <a:pt x="41206" y="86299"/>
                  <a:pt x="38050" y="83143"/>
                </a:cubicBezTo>
                <a:lnTo>
                  <a:pt x="19517" y="64636"/>
                </a:lnTo>
                <a:lnTo>
                  <a:pt x="38024" y="46104"/>
                </a:lnTo>
                <a:cubicBezTo>
                  <a:pt x="41180" y="42948"/>
                  <a:pt x="41180" y="37822"/>
                  <a:pt x="38024" y="34666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822141" y="4443738"/>
            <a:ext cx="5008581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开发态转型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19430" y="4702282"/>
            <a:ext cx="5203213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全面采用 </a:t>
            </a:r>
            <a:r>
              <a:rPr lang="en-US" sz="891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Vibe Coding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模式，利用AI快速生成骨架、业务逻辑及测试用例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6317" y="5057781"/>
            <a:ext cx="5356724" cy="614044"/>
          </a:xfrm>
          <a:custGeom>
            <a:avLst/>
            <a:gdLst/>
            <a:ahLst/>
            <a:cxnLst/>
            <a:rect l="l" t="t" r="r" b="b"/>
            <a:pathLst>
              <a:path w="5356724" h="614044">
                <a:moveTo>
                  <a:pt x="32318" y="0"/>
                </a:moveTo>
                <a:lnTo>
                  <a:pt x="5292089" y="0"/>
                </a:lnTo>
                <a:cubicBezTo>
                  <a:pt x="5327786" y="0"/>
                  <a:pt x="5356724" y="28938"/>
                  <a:pt x="5356724" y="64634"/>
                </a:cubicBezTo>
                <a:lnTo>
                  <a:pt x="5356724" y="549409"/>
                </a:lnTo>
                <a:cubicBezTo>
                  <a:pt x="5356724" y="585106"/>
                  <a:pt x="5327786" y="614044"/>
                  <a:pt x="5292089" y="614044"/>
                </a:cubicBez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506317" y="5057781"/>
            <a:ext cx="32318" cy="614044"/>
          </a:xfrm>
          <a:custGeom>
            <a:avLst/>
            <a:gdLst/>
            <a:ahLst/>
            <a:cxnLst/>
            <a:rect l="l" t="t" r="r" b="b"/>
            <a:pathLst>
              <a:path w="32318" h="614044">
                <a:moveTo>
                  <a:pt x="32318" y="0"/>
                </a:moveTo>
                <a:lnTo>
                  <a:pt x="32318" y="0"/>
                </a:lnTo>
                <a:lnTo>
                  <a:pt x="32318" y="614044"/>
                </a:lnTo>
                <a:lnTo>
                  <a:pt x="32318" y="614044"/>
                </a:lnTo>
                <a:cubicBezTo>
                  <a:pt x="14469" y="614044"/>
                  <a:pt x="0" y="599574"/>
                  <a:pt x="0" y="581726"/>
                </a:cubicBezTo>
                <a:lnTo>
                  <a:pt x="0" y="32318"/>
                </a:lnTo>
                <a:cubicBezTo>
                  <a:pt x="0" y="14481"/>
                  <a:pt x="14481" y="0"/>
                  <a:pt x="32318" y="0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19430" y="5181673"/>
            <a:ext cx="161590" cy="129272"/>
          </a:xfrm>
          <a:custGeom>
            <a:avLst/>
            <a:gdLst/>
            <a:ahLst/>
            <a:cxnLst/>
            <a:rect l="l" t="t" r="r" b="b"/>
            <a:pathLst>
              <a:path w="161590" h="129272">
                <a:moveTo>
                  <a:pt x="88875" y="0"/>
                </a:moveTo>
                <a:cubicBezTo>
                  <a:pt x="88875" y="-4469"/>
                  <a:pt x="85264" y="-8080"/>
                  <a:pt x="80795" y="-8080"/>
                </a:cubicBezTo>
                <a:cubicBezTo>
                  <a:pt x="76326" y="-8080"/>
                  <a:pt x="72716" y="-4469"/>
                  <a:pt x="72716" y="0"/>
                </a:cubicBezTo>
                <a:lnTo>
                  <a:pt x="72716" y="16159"/>
                </a:lnTo>
                <a:lnTo>
                  <a:pt x="48477" y="16159"/>
                </a:lnTo>
                <a:cubicBezTo>
                  <a:pt x="35095" y="16159"/>
                  <a:pt x="24239" y="27016"/>
                  <a:pt x="24239" y="40398"/>
                </a:cubicBezTo>
                <a:lnTo>
                  <a:pt x="24239" y="96954"/>
                </a:lnTo>
                <a:cubicBezTo>
                  <a:pt x="24239" y="110336"/>
                  <a:pt x="35095" y="121193"/>
                  <a:pt x="48477" y="121193"/>
                </a:cubicBezTo>
                <a:lnTo>
                  <a:pt x="113113" y="121193"/>
                </a:lnTo>
                <a:cubicBezTo>
                  <a:pt x="126495" y="121193"/>
                  <a:pt x="137352" y="110336"/>
                  <a:pt x="137352" y="96954"/>
                </a:cubicBezTo>
                <a:lnTo>
                  <a:pt x="137352" y="40398"/>
                </a:lnTo>
                <a:cubicBezTo>
                  <a:pt x="137352" y="27016"/>
                  <a:pt x="126495" y="16159"/>
                  <a:pt x="113113" y="16159"/>
                </a:cubicBezTo>
                <a:lnTo>
                  <a:pt x="88875" y="16159"/>
                </a:lnTo>
                <a:lnTo>
                  <a:pt x="88875" y="0"/>
                </a:lnTo>
                <a:close/>
                <a:moveTo>
                  <a:pt x="40398" y="92915"/>
                </a:moveTo>
                <a:cubicBezTo>
                  <a:pt x="40398" y="89556"/>
                  <a:pt x="43099" y="86855"/>
                  <a:pt x="46457" y="86855"/>
                </a:cubicBezTo>
                <a:lnTo>
                  <a:pt x="54537" y="86855"/>
                </a:lnTo>
                <a:cubicBezTo>
                  <a:pt x="57895" y="86855"/>
                  <a:pt x="60596" y="89556"/>
                  <a:pt x="60596" y="92915"/>
                </a:cubicBezTo>
                <a:cubicBezTo>
                  <a:pt x="60596" y="96273"/>
                  <a:pt x="57895" y="98974"/>
                  <a:pt x="54537" y="98974"/>
                </a:cubicBezTo>
                <a:lnTo>
                  <a:pt x="46457" y="98974"/>
                </a:lnTo>
                <a:cubicBezTo>
                  <a:pt x="43099" y="98974"/>
                  <a:pt x="40398" y="96273"/>
                  <a:pt x="40398" y="92915"/>
                </a:cubicBezTo>
                <a:close/>
                <a:moveTo>
                  <a:pt x="70696" y="92915"/>
                </a:moveTo>
                <a:cubicBezTo>
                  <a:pt x="70696" y="89556"/>
                  <a:pt x="73397" y="86855"/>
                  <a:pt x="76755" y="86855"/>
                </a:cubicBezTo>
                <a:lnTo>
                  <a:pt x="84835" y="86855"/>
                </a:lnTo>
                <a:cubicBezTo>
                  <a:pt x="88193" y="86855"/>
                  <a:pt x="90895" y="89556"/>
                  <a:pt x="90895" y="92915"/>
                </a:cubicBezTo>
                <a:cubicBezTo>
                  <a:pt x="90895" y="96273"/>
                  <a:pt x="88193" y="98974"/>
                  <a:pt x="84835" y="98974"/>
                </a:cubicBezTo>
                <a:lnTo>
                  <a:pt x="76755" y="98974"/>
                </a:lnTo>
                <a:cubicBezTo>
                  <a:pt x="73397" y="98974"/>
                  <a:pt x="70696" y="96273"/>
                  <a:pt x="70696" y="92915"/>
                </a:cubicBezTo>
                <a:close/>
                <a:moveTo>
                  <a:pt x="100994" y="92915"/>
                </a:moveTo>
                <a:cubicBezTo>
                  <a:pt x="100994" y="89556"/>
                  <a:pt x="103696" y="86855"/>
                  <a:pt x="107054" y="86855"/>
                </a:cubicBezTo>
                <a:lnTo>
                  <a:pt x="115133" y="86855"/>
                </a:lnTo>
                <a:cubicBezTo>
                  <a:pt x="118491" y="86855"/>
                  <a:pt x="121193" y="89556"/>
                  <a:pt x="121193" y="92915"/>
                </a:cubicBezTo>
                <a:cubicBezTo>
                  <a:pt x="121193" y="96273"/>
                  <a:pt x="118491" y="98974"/>
                  <a:pt x="115133" y="98974"/>
                </a:cubicBezTo>
                <a:lnTo>
                  <a:pt x="107054" y="98974"/>
                </a:lnTo>
                <a:cubicBezTo>
                  <a:pt x="103696" y="98974"/>
                  <a:pt x="100994" y="96273"/>
                  <a:pt x="100994" y="92915"/>
                </a:cubicBezTo>
                <a:close/>
                <a:moveTo>
                  <a:pt x="56557" y="44437"/>
                </a:moveTo>
                <a:cubicBezTo>
                  <a:pt x="63245" y="44437"/>
                  <a:pt x="68676" y="49868"/>
                  <a:pt x="68676" y="56557"/>
                </a:cubicBezTo>
                <a:cubicBezTo>
                  <a:pt x="68676" y="63245"/>
                  <a:pt x="63245" y="68676"/>
                  <a:pt x="56557" y="68676"/>
                </a:cubicBezTo>
                <a:cubicBezTo>
                  <a:pt x="49868" y="68676"/>
                  <a:pt x="44437" y="63245"/>
                  <a:pt x="44437" y="56557"/>
                </a:cubicBezTo>
                <a:cubicBezTo>
                  <a:pt x="44437" y="49868"/>
                  <a:pt x="49868" y="44437"/>
                  <a:pt x="56557" y="44437"/>
                </a:cubicBezTo>
                <a:close/>
                <a:moveTo>
                  <a:pt x="92915" y="56557"/>
                </a:moveTo>
                <a:cubicBezTo>
                  <a:pt x="92915" y="49868"/>
                  <a:pt x="98345" y="44437"/>
                  <a:pt x="105034" y="44437"/>
                </a:cubicBezTo>
                <a:cubicBezTo>
                  <a:pt x="111723" y="44437"/>
                  <a:pt x="117153" y="49868"/>
                  <a:pt x="117153" y="56557"/>
                </a:cubicBezTo>
                <a:cubicBezTo>
                  <a:pt x="117153" y="63245"/>
                  <a:pt x="111723" y="68676"/>
                  <a:pt x="105034" y="68676"/>
                </a:cubicBezTo>
                <a:cubicBezTo>
                  <a:pt x="98345" y="68676"/>
                  <a:pt x="92915" y="63245"/>
                  <a:pt x="92915" y="56557"/>
                </a:cubicBezTo>
                <a:close/>
                <a:moveTo>
                  <a:pt x="16159" y="56557"/>
                </a:moveTo>
                <a:cubicBezTo>
                  <a:pt x="16159" y="52088"/>
                  <a:pt x="12549" y="48477"/>
                  <a:pt x="8080" y="48477"/>
                </a:cubicBezTo>
                <a:cubicBezTo>
                  <a:pt x="3611" y="48477"/>
                  <a:pt x="0" y="52088"/>
                  <a:pt x="0" y="56557"/>
                </a:cubicBezTo>
                <a:lnTo>
                  <a:pt x="0" y="80795"/>
                </a:lnTo>
                <a:cubicBezTo>
                  <a:pt x="0" y="85264"/>
                  <a:pt x="3611" y="88875"/>
                  <a:pt x="8080" y="88875"/>
                </a:cubicBezTo>
                <a:cubicBezTo>
                  <a:pt x="12549" y="88875"/>
                  <a:pt x="16159" y="85264"/>
                  <a:pt x="16159" y="80795"/>
                </a:cubicBezTo>
                <a:lnTo>
                  <a:pt x="16159" y="56557"/>
                </a:lnTo>
                <a:close/>
                <a:moveTo>
                  <a:pt x="153511" y="48477"/>
                </a:moveTo>
                <a:cubicBezTo>
                  <a:pt x="149042" y="48477"/>
                  <a:pt x="145431" y="52088"/>
                  <a:pt x="145431" y="56557"/>
                </a:cubicBezTo>
                <a:lnTo>
                  <a:pt x="145431" y="80795"/>
                </a:lnTo>
                <a:cubicBezTo>
                  <a:pt x="145431" y="85264"/>
                  <a:pt x="149042" y="88875"/>
                  <a:pt x="153511" y="88875"/>
                </a:cubicBezTo>
                <a:cubicBezTo>
                  <a:pt x="157980" y="88875"/>
                  <a:pt x="161590" y="85264"/>
                  <a:pt x="161590" y="80795"/>
                </a:cubicBezTo>
                <a:lnTo>
                  <a:pt x="161590" y="56557"/>
                </a:lnTo>
                <a:cubicBezTo>
                  <a:pt x="161590" y="52088"/>
                  <a:pt x="157980" y="48477"/>
                  <a:pt x="153511" y="48477"/>
                </a:cubicBezTo>
                <a:close/>
              </a:path>
            </a:pathLst>
          </a:custGeom>
          <a:solidFill>
            <a:srgbClr val="4A6C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822141" y="5154736"/>
            <a:ext cx="5008581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运行态转型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19430" y="5413280"/>
            <a:ext cx="5203213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架构转向</a:t>
            </a:r>
            <a:r>
              <a:rPr lang="en-US" sz="891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大模型驱动的开放框架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，参考Claude Cowork、OpenClaw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164676" y="3600779"/>
            <a:ext cx="5701450" cy="2243414"/>
          </a:xfrm>
          <a:custGeom>
            <a:avLst/>
            <a:gdLst/>
            <a:ahLst/>
            <a:cxnLst/>
            <a:rect l="l" t="t" r="r" b="b"/>
            <a:pathLst>
              <a:path w="5701450" h="2243414">
                <a:moveTo>
                  <a:pt x="96960" y="0"/>
                </a:moveTo>
                <a:lnTo>
                  <a:pt x="5604490" y="0"/>
                </a:lnTo>
                <a:cubicBezTo>
                  <a:pt x="5658039" y="0"/>
                  <a:pt x="5701450" y="43411"/>
                  <a:pt x="5701450" y="96960"/>
                </a:cubicBezTo>
                <a:lnTo>
                  <a:pt x="5701450" y="2146454"/>
                </a:lnTo>
                <a:cubicBezTo>
                  <a:pt x="5701450" y="2200004"/>
                  <a:pt x="5658039" y="2243414"/>
                  <a:pt x="5604490" y="2243414"/>
                </a:cubicBezTo>
                <a:lnTo>
                  <a:pt x="96960" y="2243414"/>
                </a:lnTo>
                <a:cubicBezTo>
                  <a:pt x="43411" y="2243414"/>
                  <a:pt x="0" y="2200004"/>
                  <a:pt x="0" y="2146454"/>
                </a:cubicBezTo>
                <a:lnTo>
                  <a:pt x="0" y="96960"/>
                </a:lnTo>
                <a:cubicBezTo>
                  <a:pt x="0" y="43446"/>
                  <a:pt x="43446" y="0"/>
                  <a:pt x="9696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00"/>
                </a:srgbClr>
              </a:gs>
            </a:gsLst>
            <a:lin ang="2700000" scaled="1"/>
          </a:gradFill>
          <a:ln w="8467">
            <a:solidFill>
              <a:srgbClr val="4A6C8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6337039" y="3773137"/>
            <a:ext cx="436294" cy="436294"/>
          </a:xfrm>
          <a:custGeom>
            <a:avLst/>
            <a:gdLst/>
            <a:ahLst/>
            <a:cxnLst/>
            <a:rect l="l" t="t" r="r" b="b"/>
            <a:pathLst>
              <a:path w="436294" h="436294">
                <a:moveTo>
                  <a:pt x="96953" y="0"/>
                </a:moveTo>
                <a:lnTo>
                  <a:pt x="339341" y="0"/>
                </a:lnTo>
                <a:cubicBezTo>
                  <a:pt x="392887" y="0"/>
                  <a:pt x="436294" y="43407"/>
                  <a:pt x="436294" y="96953"/>
                </a:cubicBezTo>
                <a:lnTo>
                  <a:pt x="436294" y="339341"/>
                </a:lnTo>
                <a:cubicBezTo>
                  <a:pt x="436294" y="392887"/>
                  <a:pt x="392887" y="436294"/>
                  <a:pt x="339341" y="436294"/>
                </a:cubicBezTo>
                <a:lnTo>
                  <a:pt x="96953" y="436294"/>
                </a:lnTo>
                <a:cubicBezTo>
                  <a:pt x="43407" y="436294"/>
                  <a:pt x="0" y="392887"/>
                  <a:pt x="0" y="339341"/>
                </a:cubicBezTo>
                <a:lnTo>
                  <a:pt x="0" y="96953"/>
                </a:lnTo>
                <a:cubicBezTo>
                  <a:pt x="0" y="43443"/>
                  <a:pt x="43443" y="0"/>
                  <a:pt x="96953" y="0"/>
                </a:cubicBezTo>
                <a:close/>
              </a:path>
            </a:pathLst>
          </a:custGeom>
          <a:solidFill>
            <a:srgbClr val="4A6C8C">
              <a:alpha val="30196"/>
            </a:srgbClr>
          </a:solidFill>
          <a:ln w="25400">
            <a:solidFill>
              <a:srgbClr val="4A6C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/>
          <p:nvPr/>
        </p:nvSpPr>
        <p:spPr>
          <a:xfrm>
            <a:off x="6498293" y="3862012"/>
            <a:ext cx="210068" cy="258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27" b="1" dirty="0">
                <a:solidFill>
                  <a:srgbClr val="4A6C8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878367" y="3797376"/>
            <a:ext cx="985702" cy="22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2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演进目标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878367" y="4023602"/>
            <a:ext cx="961463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从辅助到全量承接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328960" y="4346783"/>
            <a:ext cx="5372883" cy="614044"/>
          </a:xfrm>
          <a:custGeom>
            <a:avLst/>
            <a:gdLst/>
            <a:ahLst/>
            <a:cxnLst/>
            <a:rect l="l" t="t" r="r" b="b"/>
            <a:pathLst>
              <a:path w="5372883" h="614044">
                <a:moveTo>
                  <a:pt x="64634" y="0"/>
                </a:moveTo>
                <a:lnTo>
                  <a:pt x="5308248" y="0"/>
                </a:lnTo>
                <a:cubicBezTo>
                  <a:pt x="5343945" y="0"/>
                  <a:pt x="5372883" y="28938"/>
                  <a:pt x="5372883" y="64634"/>
                </a:cubicBezTo>
                <a:lnTo>
                  <a:pt x="5372883" y="549409"/>
                </a:lnTo>
                <a:cubicBezTo>
                  <a:pt x="5372883" y="585106"/>
                  <a:pt x="5343945" y="614044"/>
                  <a:pt x="5308248" y="614044"/>
                </a:cubicBezTo>
                <a:lnTo>
                  <a:pt x="64634" y="614044"/>
                </a:lnTo>
                <a:cubicBezTo>
                  <a:pt x="28938" y="614044"/>
                  <a:pt x="0" y="585106"/>
                  <a:pt x="0" y="549409"/>
                </a:cubicBezTo>
                <a:lnTo>
                  <a:pt x="0" y="64634"/>
                </a:lnTo>
                <a:cubicBezTo>
                  <a:pt x="0" y="28938"/>
                  <a:pt x="28938" y="0"/>
                  <a:pt x="64634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6450153" y="4470675"/>
            <a:ext cx="113113" cy="129272"/>
          </a:xfrm>
          <a:custGeom>
            <a:avLst/>
            <a:gdLst/>
            <a:ahLst/>
            <a:cxnLst/>
            <a:rect l="l" t="t" r="r" b="b"/>
            <a:pathLst>
              <a:path w="113113" h="129272">
                <a:moveTo>
                  <a:pt x="16159" y="8080"/>
                </a:moveTo>
                <a:cubicBezTo>
                  <a:pt x="16159" y="3611"/>
                  <a:pt x="12549" y="0"/>
                  <a:pt x="8080" y="0"/>
                </a:cubicBezTo>
                <a:cubicBezTo>
                  <a:pt x="3611" y="0"/>
                  <a:pt x="0" y="3611"/>
                  <a:pt x="0" y="8080"/>
                </a:cubicBezTo>
                <a:lnTo>
                  <a:pt x="0" y="121193"/>
                </a:lnTo>
                <a:cubicBezTo>
                  <a:pt x="0" y="125662"/>
                  <a:pt x="3611" y="129272"/>
                  <a:pt x="8080" y="129272"/>
                </a:cubicBezTo>
                <a:cubicBezTo>
                  <a:pt x="12549" y="129272"/>
                  <a:pt x="16159" y="125662"/>
                  <a:pt x="16159" y="121193"/>
                </a:cubicBezTo>
                <a:lnTo>
                  <a:pt x="16159" y="90491"/>
                </a:lnTo>
                <a:lnTo>
                  <a:pt x="31990" y="85744"/>
                </a:lnTo>
                <a:cubicBezTo>
                  <a:pt x="42569" y="82563"/>
                  <a:pt x="53981" y="83547"/>
                  <a:pt x="63853" y="88496"/>
                </a:cubicBezTo>
                <a:cubicBezTo>
                  <a:pt x="74635" y="93899"/>
                  <a:pt x="87208" y="94556"/>
                  <a:pt x="98494" y="90314"/>
                </a:cubicBezTo>
                <a:lnTo>
                  <a:pt x="107862" y="86804"/>
                </a:lnTo>
                <a:cubicBezTo>
                  <a:pt x="111018" y="85618"/>
                  <a:pt x="113113" y="82613"/>
                  <a:pt x="113113" y="79230"/>
                </a:cubicBezTo>
                <a:lnTo>
                  <a:pt x="113113" y="16689"/>
                </a:lnTo>
                <a:cubicBezTo>
                  <a:pt x="113113" y="10882"/>
                  <a:pt x="107003" y="7095"/>
                  <a:pt x="101802" y="9695"/>
                </a:cubicBezTo>
                <a:lnTo>
                  <a:pt x="98823" y="11185"/>
                </a:lnTo>
                <a:cubicBezTo>
                  <a:pt x="87486" y="16866"/>
                  <a:pt x="74130" y="16866"/>
                  <a:pt x="62768" y="11185"/>
                </a:cubicBezTo>
                <a:cubicBezTo>
                  <a:pt x="53577" y="6590"/>
                  <a:pt x="42998" y="5681"/>
                  <a:pt x="33177" y="8635"/>
                </a:cubicBezTo>
                <a:lnTo>
                  <a:pt x="16159" y="13735"/>
                </a:lnTo>
                <a:lnTo>
                  <a:pt x="16159" y="808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/>
          <p:nvPr/>
        </p:nvSpPr>
        <p:spPr>
          <a:xfrm>
            <a:off x="6628625" y="4443738"/>
            <a:ext cx="5040899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短期目标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425914" y="4702282"/>
            <a:ext cx="5235531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验证"人控方向+模型执行"模式，产出高质量组件与SKILL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31653" y="5060474"/>
            <a:ext cx="5370190" cy="619430"/>
          </a:xfrm>
          <a:custGeom>
            <a:avLst/>
            <a:gdLst/>
            <a:ahLst/>
            <a:cxnLst/>
            <a:rect l="l" t="t" r="r" b="b"/>
            <a:pathLst>
              <a:path w="5370190" h="619430">
                <a:moveTo>
                  <a:pt x="64638" y="0"/>
                </a:moveTo>
                <a:lnTo>
                  <a:pt x="5305552" y="0"/>
                </a:lnTo>
                <a:cubicBezTo>
                  <a:pt x="5341250" y="0"/>
                  <a:pt x="5370190" y="28939"/>
                  <a:pt x="5370190" y="64638"/>
                </a:cubicBezTo>
                <a:lnTo>
                  <a:pt x="5370190" y="554793"/>
                </a:lnTo>
                <a:cubicBezTo>
                  <a:pt x="5370190" y="590491"/>
                  <a:pt x="5341250" y="619430"/>
                  <a:pt x="5305552" y="619430"/>
                </a:cubicBezTo>
                <a:lnTo>
                  <a:pt x="64638" y="619430"/>
                </a:lnTo>
                <a:cubicBezTo>
                  <a:pt x="28939" y="619430"/>
                  <a:pt x="0" y="590491"/>
                  <a:pt x="0" y="554793"/>
                </a:cubicBezTo>
                <a:lnTo>
                  <a:pt x="0" y="64638"/>
                </a:lnTo>
                <a:cubicBezTo>
                  <a:pt x="0" y="28963"/>
                  <a:pt x="28963" y="0"/>
                  <a:pt x="64638" y="0"/>
                </a:cubicBezTo>
                <a:close/>
              </a:path>
            </a:pathLst>
          </a:custGeom>
          <a:solidFill>
            <a:srgbClr val="5E8B7E">
              <a:alpha val="10196"/>
            </a:srgbClr>
          </a:solidFill>
          <a:ln w="8467">
            <a:solidFill>
              <a:srgbClr val="5E8B7E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59"/>
          <p:cNvSpPr/>
          <p:nvPr/>
        </p:nvSpPr>
        <p:spPr>
          <a:xfrm>
            <a:off x="6447459" y="5187054"/>
            <a:ext cx="129272" cy="129272"/>
          </a:xfrm>
          <a:custGeom>
            <a:avLst/>
            <a:gdLst/>
            <a:ahLst/>
            <a:cxnLst/>
            <a:rect l="l" t="t" r="r" b="b"/>
            <a:pathLst>
              <a:path w="129272" h="129272">
                <a:moveTo>
                  <a:pt x="32318" y="80795"/>
                </a:moveTo>
                <a:lnTo>
                  <a:pt x="6186" y="80795"/>
                </a:lnTo>
                <a:cubicBezTo>
                  <a:pt x="-101" y="80795"/>
                  <a:pt x="-3964" y="73953"/>
                  <a:pt x="-732" y="68550"/>
                </a:cubicBezTo>
                <a:lnTo>
                  <a:pt x="12624" y="46281"/>
                </a:lnTo>
                <a:cubicBezTo>
                  <a:pt x="14821" y="42619"/>
                  <a:pt x="18760" y="40398"/>
                  <a:pt x="23027" y="40398"/>
                </a:cubicBezTo>
                <a:lnTo>
                  <a:pt x="47013" y="40398"/>
                </a:lnTo>
                <a:cubicBezTo>
                  <a:pt x="66227" y="7852"/>
                  <a:pt x="94884" y="6211"/>
                  <a:pt x="114048" y="9014"/>
                </a:cubicBezTo>
                <a:cubicBezTo>
                  <a:pt x="117279" y="9493"/>
                  <a:pt x="119804" y="12018"/>
                  <a:pt x="120259" y="15225"/>
                </a:cubicBezTo>
                <a:cubicBezTo>
                  <a:pt x="123061" y="34388"/>
                  <a:pt x="121420" y="63046"/>
                  <a:pt x="88875" y="82260"/>
                </a:cubicBezTo>
                <a:lnTo>
                  <a:pt x="88875" y="106246"/>
                </a:lnTo>
                <a:cubicBezTo>
                  <a:pt x="88875" y="110513"/>
                  <a:pt x="86653" y="114451"/>
                  <a:pt x="82992" y="116648"/>
                </a:cubicBezTo>
                <a:lnTo>
                  <a:pt x="60723" y="130005"/>
                </a:lnTo>
                <a:cubicBezTo>
                  <a:pt x="55345" y="133236"/>
                  <a:pt x="48477" y="129348"/>
                  <a:pt x="48477" y="123086"/>
                </a:cubicBezTo>
                <a:lnTo>
                  <a:pt x="48477" y="96954"/>
                </a:lnTo>
                <a:cubicBezTo>
                  <a:pt x="48477" y="88042"/>
                  <a:pt x="41231" y="80795"/>
                  <a:pt x="32318" y="80795"/>
                </a:cubicBezTo>
                <a:lnTo>
                  <a:pt x="32293" y="80795"/>
                </a:lnTo>
                <a:close/>
                <a:moveTo>
                  <a:pt x="100994" y="40398"/>
                </a:moveTo>
                <a:cubicBezTo>
                  <a:pt x="100994" y="33709"/>
                  <a:pt x="95564" y="28278"/>
                  <a:pt x="88875" y="28278"/>
                </a:cubicBezTo>
                <a:cubicBezTo>
                  <a:pt x="82186" y="28278"/>
                  <a:pt x="76755" y="33709"/>
                  <a:pt x="76755" y="40398"/>
                </a:cubicBezTo>
                <a:cubicBezTo>
                  <a:pt x="76755" y="47086"/>
                  <a:pt x="82186" y="52517"/>
                  <a:pt x="88875" y="52517"/>
                </a:cubicBezTo>
                <a:cubicBezTo>
                  <a:pt x="95564" y="52517"/>
                  <a:pt x="100994" y="47086"/>
                  <a:pt x="100994" y="4039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/>
          <p:nvPr/>
        </p:nvSpPr>
        <p:spPr>
          <a:xfrm>
            <a:off x="6634011" y="5160125"/>
            <a:ext cx="5032820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中长期目标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431300" y="5418669"/>
            <a:ext cx="5227451" cy="16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1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承接应用集成的全生命周期</a:t>
            </a:r>
            <a:r>
              <a:rPr lang="en-US" sz="891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，实现端到端(End-to-End)的全量基础组件开发、使用、集成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325874" y="5981540"/>
            <a:ext cx="11542945" cy="716384"/>
          </a:xfrm>
          <a:custGeom>
            <a:avLst/>
            <a:gdLst/>
            <a:ahLst/>
            <a:cxnLst/>
            <a:rect l="l" t="t" r="r" b="b"/>
            <a:pathLst>
              <a:path w="11542945" h="716384">
                <a:moveTo>
                  <a:pt x="96955" y="0"/>
                </a:moveTo>
                <a:lnTo>
                  <a:pt x="11445990" y="0"/>
                </a:lnTo>
                <a:cubicBezTo>
                  <a:pt x="11499537" y="0"/>
                  <a:pt x="11542945" y="43408"/>
                  <a:pt x="11542945" y="96955"/>
                </a:cubicBezTo>
                <a:lnTo>
                  <a:pt x="11542945" y="619429"/>
                </a:lnTo>
                <a:cubicBezTo>
                  <a:pt x="11542945" y="672976"/>
                  <a:pt x="11499537" y="716384"/>
                  <a:pt x="11445990" y="716384"/>
                </a:cubicBezTo>
                <a:lnTo>
                  <a:pt x="96955" y="716384"/>
                </a:lnTo>
                <a:cubicBezTo>
                  <a:pt x="43408" y="716384"/>
                  <a:pt x="0" y="672976"/>
                  <a:pt x="0" y="619429"/>
                </a:cubicBezTo>
                <a:lnTo>
                  <a:pt x="0" y="96955"/>
                </a:lnTo>
                <a:cubicBezTo>
                  <a:pt x="0" y="43408"/>
                  <a:pt x="43408" y="0"/>
                  <a:pt x="96955" y="0"/>
                </a:cubicBezTo>
                <a:close/>
              </a:path>
            </a:pathLst>
          </a:custGeom>
          <a:gradFill flip="none" rotWithShape="1">
            <a:gsLst>
              <a:gs pos="0">
                <a:srgbClr val="5E8B7E">
                  <a:alpha val="20000"/>
                </a:srgbClr>
              </a:gs>
              <a:gs pos="100000">
                <a:srgbClr val="4A6C8C">
                  <a:alpha val="10000"/>
                </a:srgbClr>
              </a:gs>
            </a:gsLst>
            <a:lin ang="0" scaled="1"/>
          </a:gra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457840" y="6145826"/>
            <a:ext cx="387817" cy="387817"/>
          </a:xfrm>
          <a:custGeom>
            <a:avLst/>
            <a:gdLst/>
            <a:ahLst/>
            <a:cxnLst/>
            <a:rect l="l" t="t" r="r" b="b"/>
            <a:pathLst>
              <a:path w="387817" h="387817">
                <a:moveTo>
                  <a:pt x="96954" y="0"/>
                </a:moveTo>
                <a:lnTo>
                  <a:pt x="290863" y="0"/>
                </a:lnTo>
                <a:cubicBezTo>
                  <a:pt x="344409" y="0"/>
                  <a:pt x="387817" y="43408"/>
                  <a:pt x="387817" y="96954"/>
                </a:cubicBezTo>
                <a:lnTo>
                  <a:pt x="387817" y="290863"/>
                </a:lnTo>
                <a:cubicBezTo>
                  <a:pt x="387817" y="344409"/>
                  <a:pt x="344409" y="387817"/>
                  <a:pt x="290863" y="387817"/>
                </a:cubicBezTo>
                <a:lnTo>
                  <a:pt x="96954" y="387817"/>
                </a:lnTo>
                <a:cubicBezTo>
                  <a:pt x="43408" y="387817"/>
                  <a:pt x="0" y="344409"/>
                  <a:pt x="0" y="290863"/>
                </a:cubicBezTo>
                <a:lnTo>
                  <a:pt x="0" y="96954"/>
                </a:lnTo>
                <a:cubicBezTo>
                  <a:pt x="0" y="43444"/>
                  <a:pt x="43444" y="0"/>
                  <a:pt x="96954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Shape 64"/>
          <p:cNvSpPr/>
          <p:nvPr/>
        </p:nvSpPr>
        <p:spPr>
          <a:xfrm>
            <a:off x="591152" y="6258940"/>
            <a:ext cx="121193" cy="161590"/>
          </a:xfrm>
          <a:custGeom>
            <a:avLst/>
            <a:gdLst/>
            <a:ahLst/>
            <a:cxnLst/>
            <a:rect l="l" t="t" r="r" b="b"/>
            <a:pathLst>
              <a:path w="121193" h="161590">
                <a:moveTo>
                  <a:pt x="92441" y="121193"/>
                </a:moveTo>
                <a:cubicBezTo>
                  <a:pt x="94745" y="114155"/>
                  <a:pt x="99353" y="107780"/>
                  <a:pt x="104560" y="102288"/>
                </a:cubicBezTo>
                <a:cubicBezTo>
                  <a:pt x="114881" y="91431"/>
                  <a:pt x="121193" y="76755"/>
                  <a:pt x="121193" y="60596"/>
                </a:cubicBezTo>
                <a:cubicBezTo>
                  <a:pt x="121193" y="27142"/>
                  <a:pt x="94051" y="0"/>
                  <a:pt x="60596" y="0"/>
                </a:cubicBezTo>
                <a:cubicBezTo>
                  <a:pt x="27142" y="0"/>
                  <a:pt x="0" y="27142"/>
                  <a:pt x="0" y="60596"/>
                </a:cubicBezTo>
                <a:cubicBezTo>
                  <a:pt x="0" y="76755"/>
                  <a:pt x="6312" y="91431"/>
                  <a:pt x="16632" y="102288"/>
                </a:cubicBezTo>
                <a:cubicBezTo>
                  <a:pt x="21840" y="107780"/>
                  <a:pt x="26479" y="114155"/>
                  <a:pt x="28752" y="121193"/>
                </a:cubicBezTo>
                <a:lnTo>
                  <a:pt x="92410" y="121193"/>
                </a:lnTo>
                <a:close/>
                <a:moveTo>
                  <a:pt x="90895" y="136342"/>
                </a:moveTo>
                <a:lnTo>
                  <a:pt x="30298" y="136342"/>
                </a:lnTo>
                <a:lnTo>
                  <a:pt x="30298" y="141392"/>
                </a:lnTo>
                <a:cubicBezTo>
                  <a:pt x="30298" y="155341"/>
                  <a:pt x="41597" y="166640"/>
                  <a:pt x="55547" y="166640"/>
                </a:cubicBezTo>
                <a:lnTo>
                  <a:pt x="65646" y="166640"/>
                </a:lnTo>
                <a:cubicBezTo>
                  <a:pt x="79596" y="166640"/>
                  <a:pt x="90895" y="155341"/>
                  <a:pt x="90895" y="141392"/>
                </a:cubicBezTo>
                <a:lnTo>
                  <a:pt x="90895" y="136342"/>
                </a:lnTo>
                <a:close/>
                <a:moveTo>
                  <a:pt x="58072" y="35348"/>
                </a:moveTo>
                <a:cubicBezTo>
                  <a:pt x="45510" y="35348"/>
                  <a:pt x="35348" y="45510"/>
                  <a:pt x="35348" y="58072"/>
                </a:cubicBezTo>
                <a:cubicBezTo>
                  <a:pt x="35348" y="62269"/>
                  <a:pt x="31971" y="65646"/>
                  <a:pt x="27773" y="65646"/>
                </a:cubicBezTo>
                <a:cubicBezTo>
                  <a:pt x="23576" y="65646"/>
                  <a:pt x="20199" y="62269"/>
                  <a:pt x="20199" y="58072"/>
                </a:cubicBezTo>
                <a:cubicBezTo>
                  <a:pt x="20199" y="37147"/>
                  <a:pt x="37147" y="20199"/>
                  <a:pt x="58072" y="20199"/>
                </a:cubicBezTo>
                <a:cubicBezTo>
                  <a:pt x="62269" y="20199"/>
                  <a:pt x="65646" y="23576"/>
                  <a:pt x="65646" y="27773"/>
                </a:cubicBezTo>
                <a:cubicBezTo>
                  <a:pt x="65646" y="31971"/>
                  <a:pt x="62269" y="35348"/>
                  <a:pt x="58072" y="35348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Text 65"/>
          <p:cNvSpPr/>
          <p:nvPr/>
        </p:nvSpPr>
        <p:spPr>
          <a:xfrm>
            <a:off x="974929" y="6113508"/>
            <a:ext cx="10834640" cy="226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5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愿景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74929" y="6372053"/>
            <a:ext cx="10826561" cy="193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8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通过Vibe Coding与SKILL体系，实现</a:t>
            </a:r>
            <a:r>
              <a:rPr lang="en-US" sz="1018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研发效能的指数级跃升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d059bbfa5d1e729da7671e22ecb5e978ccd2ee63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4A6C8C">
                  <a:alpha val="50000"/>
                </a:srgbClr>
              </a:gs>
              <a:gs pos="100000">
                <a:srgbClr val="5E8B7E">
                  <a:alpha val="4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638800" y="868366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381375" y="1211266"/>
            <a:ext cx="542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50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拥抱Vibe Coding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4500" b="1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构建智能研发新引擎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38800" y="2944816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3040856" y="3287716"/>
            <a:ext cx="6115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通过Vibe Coding与SKILL体系，实现研发效能的指数级跃升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01181" y="3967166"/>
            <a:ext cx="1844675" cy="1130300"/>
          </a:xfrm>
          <a:custGeom>
            <a:avLst/>
            <a:gdLst/>
            <a:ahLst/>
            <a:cxnLst/>
            <a:rect l="l" t="t" r="r" b="b"/>
            <a:pathLst>
              <a:path w="1844675" h="1130300">
                <a:moveTo>
                  <a:pt x="114296" y="0"/>
                </a:moveTo>
                <a:lnTo>
                  <a:pt x="1730379" y="0"/>
                </a:lnTo>
                <a:cubicBezTo>
                  <a:pt x="1793503" y="0"/>
                  <a:pt x="1844675" y="51172"/>
                  <a:pt x="1844675" y="114296"/>
                </a:cubicBezTo>
                <a:lnTo>
                  <a:pt x="1844675" y="1016004"/>
                </a:lnTo>
                <a:cubicBezTo>
                  <a:pt x="1844675" y="1079128"/>
                  <a:pt x="1793503" y="1130300"/>
                  <a:pt x="1730379" y="1130300"/>
                </a:cubicBezTo>
                <a:lnTo>
                  <a:pt x="114296" y="1130300"/>
                </a:lnTo>
                <a:cubicBezTo>
                  <a:pt x="51214" y="1130300"/>
                  <a:pt x="0" y="1079086"/>
                  <a:pt x="0" y="1016004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3880644" y="412274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3213894" y="4484694"/>
            <a:ext cx="1619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效率提升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223419" y="4751394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5倍+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176044" y="3967166"/>
            <a:ext cx="1844675" cy="1130300"/>
          </a:xfrm>
          <a:custGeom>
            <a:avLst/>
            <a:gdLst/>
            <a:ahLst/>
            <a:cxnLst/>
            <a:rect l="l" t="t" r="r" b="b"/>
            <a:pathLst>
              <a:path w="1844675" h="1130300">
                <a:moveTo>
                  <a:pt x="114296" y="0"/>
                </a:moveTo>
                <a:lnTo>
                  <a:pt x="1730379" y="0"/>
                </a:lnTo>
                <a:cubicBezTo>
                  <a:pt x="1793503" y="0"/>
                  <a:pt x="1844675" y="51172"/>
                  <a:pt x="1844675" y="114296"/>
                </a:cubicBezTo>
                <a:lnTo>
                  <a:pt x="1844675" y="1016004"/>
                </a:lnTo>
                <a:cubicBezTo>
                  <a:pt x="1844675" y="1079128"/>
                  <a:pt x="1793503" y="1130300"/>
                  <a:pt x="1730379" y="1130300"/>
                </a:cubicBezTo>
                <a:lnTo>
                  <a:pt x="114296" y="1130300"/>
                </a:lnTo>
                <a:cubicBezTo>
                  <a:pt x="51214" y="1130300"/>
                  <a:pt x="0" y="1079086"/>
                  <a:pt x="0" y="1016004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5919788" y="4122744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178594" y="8930"/>
                </a:moveTo>
                <a:cubicBezTo>
                  <a:pt x="210629" y="8930"/>
                  <a:pt x="236637" y="34938"/>
                  <a:pt x="236637" y="66973"/>
                </a:cubicBezTo>
                <a:cubicBezTo>
                  <a:pt x="236637" y="99007"/>
                  <a:pt x="210629" y="125016"/>
                  <a:pt x="178594" y="125016"/>
                </a:cubicBezTo>
                <a:cubicBezTo>
                  <a:pt x="146559" y="125016"/>
                  <a:pt x="120551" y="99007"/>
                  <a:pt x="120551" y="66973"/>
                </a:cubicBezTo>
                <a:cubicBezTo>
                  <a:pt x="120551" y="34938"/>
                  <a:pt x="146559" y="8930"/>
                  <a:pt x="178594" y="8930"/>
                </a:cubicBezTo>
                <a:close/>
                <a:moveTo>
                  <a:pt x="53578" y="49113"/>
                </a:moveTo>
                <a:cubicBezTo>
                  <a:pt x="75756" y="49113"/>
                  <a:pt x="93762" y="67119"/>
                  <a:pt x="93762" y="89297"/>
                </a:cubicBezTo>
                <a:cubicBezTo>
                  <a:pt x="93762" y="111475"/>
                  <a:pt x="75756" y="129480"/>
                  <a:pt x="53578" y="129480"/>
                </a:cubicBezTo>
                <a:cubicBezTo>
                  <a:pt x="31400" y="129480"/>
                  <a:pt x="13395" y="111475"/>
                  <a:pt x="13395" y="89297"/>
                </a:cubicBezTo>
                <a:cubicBezTo>
                  <a:pt x="13395" y="67119"/>
                  <a:pt x="31400" y="49113"/>
                  <a:pt x="53578" y="49113"/>
                </a:cubicBezTo>
                <a:close/>
                <a:moveTo>
                  <a:pt x="0" y="232172"/>
                </a:moveTo>
                <a:cubicBezTo>
                  <a:pt x="0" y="192714"/>
                  <a:pt x="31979" y="160734"/>
                  <a:pt x="71438" y="160734"/>
                </a:cubicBezTo>
                <a:cubicBezTo>
                  <a:pt x="78581" y="160734"/>
                  <a:pt x="85502" y="161795"/>
                  <a:pt x="92032" y="163748"/>
                </a:cubicBezTo>
                <a:cubicBezTo>
                  <a:pt x="73670" y="184286"/>
                  <a:pt x="62508" y="211410"/>
                  <a:pt x="62508" y="241102"/>
                </a:cubicBezTo>
                <a:lnTo>
                  <a:pt x="62508" y="250031"/>
                </a:lnTo>
                <a:cubicBezTo>
                  <a:pt x="62508" y="256394"/>
                  <a:pt x="63847" y="262421"/>
                  <a:pt x="66247" y="267891"/>
                </a:cubicBezTo>
                <a:lnTo>
                  <a:pt x="17859" y="267891"/>
                </a:lnTo>
                <a:cubicBezTo>
                  <a:pt x="7981" y="267891"/>
                  <a:pt x="0" y="259910"/>
                  <a:pt x="0" y="250031"/>
                </a:cubicBezTo>
                <a:lnTo>
                  <a:pt x="0" y="232172"/>
                </a:lnTo>
                <a:close/>
                <a:moveTo>
                  <a:pt x="290940" y="267891"/>
                </a:moveTo>
                <a:cubicBezTo>
                  <a:pt x="293340" y="262421"/>
                  <a:pt x="294680" y="256394"/>
                  <a:pt x="294680" y="250031"/>
                </a:cubicBezTo>
                <a:lnTo>
                  <a:pt x="294680" y="241102"/>
                </a:lnTo>
                <a:cubicBezTo>
                  <a:pt x="294680" y="211410"/>
                  <a:pt x="283518" y="184286"/>
                  <a:pt x="265156" y="163748"/>
                </a:cubicBezTo>
                <a:cubicBezTo>
                  <a:pt x="271686" y="161795"/>
                  <a:pt x="278606" y="160734"/>
                  <a:pt x="285750" y="160734"/>
                </a:cubicBezTo>
                <a:cubicBezTo>
                  <a:pt x="325208" y="160734"/>
                  <a:pt x="357188" y="192714"/>
                  <a:pt x="357188" y="232172"/>
                </a:cubicBezTo>
                <a:lnTo>
                  <a:pt x="357188" y="250031"/>
                </a:lnTo>
                <a:cubicBezTo>
                  <a:pt x="357188" y="259910"/>
                  <a:pt x="349207" y="267891"/>
                  <a:pt x="339328" y="267891"/>
                </a:cubicBezTo>
                <a:lnTo>
                  <a:pt x="290940" y="267891"/>
                </a:lnTo>
                <a:close/>
                <a:moveTo>
                  <a:pt x="263426" y="89297"/>
                </a:moveTo>
                <a:cubicBezTo>
                  <a:pt x="263426" y="67119"/>
                  <a:pt x="281431" y="49113"/>
                  <a:pt x="303609" y="49113"/>
                </a:cubicBezTo>
                <a:cubicBezTo>
                  <a:pt x="325787" y="49113"/>
                  <a:pt x="343793" y="67119"/>
                  <a:pt x="343793" y="89297"/>
                </a:cubicBezTo>
                <a:cubicBezTo>
                  <a:pt x="343793" y="111475"/>
                  <a:pt x="325787" y="129480"/>
                  <a:pt x="303609" y="129480"/>
                </a:cubicBezTo>
                <a:cubicBezTo>
                  <a:pt x="281431" y="129480"/>
                  <a:pt x="263426" y="111475"/>
                  <a:pt x="263426" y="89297"/>
                </a:cubicBezTo>
                <a:close/>
                <a:moveTo>
                  <a:pt x="89297" y="241102"/>
                </a:moveTo>
                <a:cubicBezTo>
                  <a:pt x="89297" y="191765"/>
                  <a:pt x="129257" y="151805"/>
                  <a:pt x="178594" y="151805"/>
                </a:cubicBezTo>
                <a:cubicBezTo>
                  <a:pt x="227930" y="151805"/>
                  <a:pt x="267891" y="191765"/>
                  <a:pt x="267891" y="241102"/>
                </a:cubicBezTo>
                <a:lnTo>
                  <a:pt x="267891" y="250031"/>
                </a:lnTo>
                <a:cubicBezTo>
                  <a:pt x="267891" y="259910"/>
                  <a:pt x="259910" y="267891"/>
                  <a:pt x="250031" y="267891"/>
                </a:cubicBezTo>
                <a:lnTo>
                  <a:pt x="107156" y="267891"/>
                </a:lnTo>
                <a:cubicBezTo>
                  <a:pt x="97278" y="267891"/>
                  <a:pt x="89297" y="259910"/>
                  <a:pt x="89297" y="250031"/>
                </a:cubicBezTo>
                <a:lnTo>
                  <a:pt x="89297" y="241102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5288756" y="4484694"/>
            <a:ext cx="1619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采用率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98281" y="4751394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92%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250906" y="3967166"/>
            <a:ext cx="1844675" cy="1130300"/>
          </a:xfrm>
          <a:custGeom>
            <a:avLst/>
            <a:gdLst/>
            <a:ahLst/>
            <a:cxnLst/>
            <a:rect l="l" t="t" r="r" b="b"/>
            <a:pathLst>
              <a:path w="1844675" h="1130300">
                <a:moveTo>
                  <a:pt x="114296" y="0"/>
                </a:moveTo>
                <a:lnTo>
                  <a:pt x="1730379" y="0"/>
                </a:lnTo>
                <a:cubicBezTo>
                  <a:pt x="1793503" y="0"/>
                  <a:pt x="1844675" y="51172"/>
                  <a:pt x="1844675" y="114296"/>
                </a:cubicBezTo>
                <a:lnTo>
                  <a:pt x="1844675" y="1016004"/>
                </a:lnTo>
                <a:cubicBezTo>
                  <a:pt x="1844675" y="1079128"/>
                  <a:pt x="1793503" y="1130300"/>
                  <a:pt x="1730379" y="1130300"/>
                </a:cubicBezTo>
                <a:lnTo>
                  <a:pt x="114296" y="1130300"/>
                </a:lnTo>
                <a:cubicBezTo>
                  <a:pt x="51214" y="1130300"/>
                  <a:pt x="0" y="1079086"/>
                  <a:pt x="0" y="1016004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8467">
            <a:solidFill>
              <a:srgbClr val="4A6C8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8030369" y="412274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35719"/>
                </a:moveTo>
                <a:cubicBezTo>
                  <a:pt x="35719" y="25840"/>
                  <a:pt x="27738" y="17859"/>
                  <a:pt x="17859" y="17859"/>
                </a:cubicBezTo>
                <a:cubicBezTo>
                  <a:pt x="7981" y="17859"/>
                  <a:pt x="0" y="25840"/>
                  <a:pt x="0" y="35719"/>
                </a:cubicBezTo>
                <a:lnTo>
                  <a:pt x="0" y="223242"/>
                </a:lnTo>
                <a:cubicBezTo>
                  <a:pt x="0" y="247910"/>
                  <a:pt x="19980" y="267891"/>
                  <a:pt x="44648" y="267891"/>
                </a:cubicBezTo>
                <a:lnTo>
                  <a:pt x="267891" y="267891"/>
                </a:lnTo>
                <a:cubicBezTo>
                  <a:pt x="277769" y="267891"/>
                  <a:pt x="285750" y="259910"/>
                  <a:pt x="285750" y="250031"/>
                </a:cubicBezTo>
                <a:cubicBezTo>
                  <a:pt x="285750" y="240153"/>
                  <a:pt x="277769" y="232172"/>
                  <a:pt x="267891" y="232172"/>
                </a:cubicBezTo>
                <a:lnTo>
                  <a:pt x="44648" y="232172"/>
                </a:lnTo>
                <a:cubicBezTo>
                  <a:pt x="39737" y="232172"/>
                  <a:pt x="35719" y="228154"/>
                  <a:pt x="35719" y="223242"/>
                </a:cubicBezTo>
                <a:lnTo>
                  <a:pt x="35719" y="35719"/>
                </a:lnTo>
                <a:close/>
                <a:moveTo>
                  <a:pt x="262644" y="84051"/>
                </a:moveTo>
                <a:cubicBezTo>
                  <a:pt x="269621" y="77074"/>
                  <a:pt x="269621" y="65745"/>
                  <a:pt x="262644" y="58769"/>
                </a:cubicBezTo>
                <a:cubicBezTo>
                  <a:pt x="255668" y="51792"/>
                  <a:pt x="244339" y="51792"/>
                  <a:pt x="237362" y="58769"/>
                </a:cubicBezTo>
                <a:lnTo>
                  <a:pt x="178594" y="117593"/>
                </a:lnTo>
                <a:lnTo>
                  <a:pt x="146558" y="85613"/>
                </a:lnTo>
                <a:cubicBezTo>
                  <a:pt x="139582" y="78637"/>
                  <a:pt x="128253" y="78637"/>
                  <a:pt x="121276" y="85613"/>
                </a:cubicBezTo>
                <a:lnTo>
                  <a:pt x="67698" y="139192"/>
                </a:lnTo>
                <a:cubicBezTo>
                  <a:pt x="60722" y="146168"/>
                  <a:pt x="60722" y="157497"/>
                  <a:pt x="67698" y="164474"/>
                </a:cubicBezTo>
                <a:cubicBezTo>
                  <a:pt x="74675" y="171450"/>
                  <a:pt x="86004" y="171450"/>
                  <a:pt x="92980" y="164474"/>
                </a:cubicBezTo>
                <a:lnTo>
                  <a:pt x="133945" y="123509"/>
                </a:lnTo>
                <a:lnTo>
                  <a:pt x="165981" y="155544"/>
                </a:lnTo>
                <a:cubicBezTo>
                  <a:pt x="172957" y="162520"/>
                  <a:pt x="184286" y="162520"/>
                  <a:pt x="191263" y="155544"/>
                </a:cubicBezTo>
                <a:lnTo>
                  <a:pt x="262700" y="84106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7363619" y="4484694"/>
            <a:ext cx="1619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1DD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企业部署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73144" y="4751394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75%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295404" y="5484813"/>
            <a:ext cx="1597025" cy="501650"/>
          </a:xfrm>
          <a:custGeom>
            <a:avLst/>
            <a:gdLst/>
            <a:ahLst/>
            <a:cxnLst/>
            <a:rect l="l" t="t" r="r" b="b"/>
            <a:pathLst>
              <a:path w="1597025" h="501650">
                <a:moveTo>
                  <a:pt x="250825" y="0"/>
                </a:moveTo>
                <a:lnTo>
                  <a:pt x="1346200" y="0"/>
                </a:lnTo>
                <a:cubicBezTo>
                  <a:pt x="1484727" y="0"/>
                  <a:pt x="1597025" y="112298"/>
                  <a:pt x="1597025" y="250825"/>
                </a:cubicBezTo>
                <a:lnTo>
                  <a:pt x="1597025" y="250825"/>
                </a:lnTo>
                <a:cubicBezTo>
                  <a:pt x="1597025" y="389352"/>
                  <a:pt x="1484727" y="501650"/>
                  <a:pt x="1346200" y="501650"/>
                </a:cubicBezTo>
                <a:lnTo>
                  <a:pt x="250825" y="501650"/>
                </a:lnTo>
                <a:cubicBezTo>
                  <a:pt x="112391" y="501650"/>
                  <a:pt x="0" y="389259"/>
                  <a:pt x="0" y="250825"/>
                </a:cubicBezTo>
                <a:lnTo>
                  <a:pt x="0" y="250825"/>
                </a:lnTo>
                <a:cubicBezTo>
                  <a:pt x="0" y="112391"/>
                  <a:pt x="112391" y="0"/>
                  <a:pt x="250825" y="0"/>
                </a:cubicBezTo>
                <a:close/>
              </a:path>
            </a:pathLst>
          </a:custGeom>
          <a:solidFill>
            <a:srgbClr val="5E8B7E">
              <a:alpha val="20000"/>
            </a:srgbClr>
          </a:solidFill>
          <a:ln w="8467">
            <a:solidFill>
              <a:srgbClr val="5E8B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5561707" y="5640391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40184" y="0"/>
                </a:moveTo>
                <a:cubicBezTo>
                  <a:pt x="44637" y="0"/>
                  <a:pt x="48220" y="3583"/>
                  <a:pt x="48220" y="8037"/>
                </a:cubicBezTo>
                <a:lnTo>
                  <a:pt x="48220" y="21431"/>
                </a:lnTo>
                <a:lnTo>
                  <a:pt x="101798" y="21431"/>
                </a:lnTo>
                <a:lnTo>
                  <a:pt x="101798" y="8037"/>
                </a:lnTo>
                <a:cubicBezTo>
                  <a:pt x="101798" y="3583"/>
                  <a:pt x="105381" y="0"/>
                  <a:pt x="109835" y="0"/>
                </a:cubicBezTo>
                <a:cubicBezTo>
                  <a:pt x="114289" y="0"/>
                  <a:pt x="117872" y="3583"/>
                  <a:pt x="117872" y="8037"/>
                </a:cubicBezTo>
                <a:lnTo>
                  <a:pt x="117872" y="21431"/>
                </a:lnTo>
                <a:lnTo>
                  <a:pt x="128588" y="21431"/>
                </a:lnTo>
                <a:cubicBezTo>
                  <a:pt x="140408" y="21431"/>
                  <a:pt x="150019" y="31042"/>
                  <a:pt x="150019" y="42863"/>
                </a:cubicBezTo>
                <a:lnTo>
                  <a:pt x="150019" y="139303"/>
                </a:lnTo>
                <a:cubicBezTo>
                  <a:pt x="150019" y="151124"/>
                  <a:pt x="140408" y="160734"/>
                  <a:pt x="128588" y="160734"/>
                </a:cubicBezTo>
                <a:lnTo>
                  <a:pt x="21431" y="160734"/>
                </a:lnTo>
                <a:cubicBezTo>
                  <a:pt x="9611" y="160734"/>
                  <a:pt x="0" y="151124"/>
                  <a:pt x="0" y="139303"/>
                </a:cubicBezTo>
                <a:lnTo>
                  <a:pt x="0" y="42863"/>
                </a:lnTo>
                <a:cubicBezTo>
                  <a:pt x="0" y="31042"/>
                  <a:pt x="9611" y="21431"/>
                  <a:pt x="21431" y="21431"/>
                </a:cubicBezTo>
                <a:lnTo>
                  <a:pt x="32147" y="21431"/>
                </a:lnTo>
                <a:lnTo>
                  <a:pt x="32147" y="8037"/>
                </a:lnTo>
                <a:cubicBezTo>
                  <a:pt x="32147" y="3583"/>
                  <a:pt x="35730" y="0"/>
                  <a:pt x="40184" y="0"/>
                </a:cubicBezTo>
                <a:close/>
                <a:moveTo>
                  <a:pt x="128588" y="144661"/>
                </a:moveTo>
                <a:cubicBezTo>
                  <a:pt x="131534" y="144661"/>
                  <a:pt x="133945" y="142250"/>
                  <a:pt x="133945" y="139303"/>
                </a:cubicBezTo>
                <a:lnTo>
                  <a:pt x="133945" y="117872"/>
                </a:lnTo>
                <a:lnTo>
                  <a:pt x="104477" y="117872"/>
                </a:lnTo>
                <a:lnTo>
                  <a:pt x="104477" y="144661"/>
                </a:lnTo>
                <a:lnTo>
                  <a:pt x="128588" y="144661"/>
                </a:lnTo>
                <a:close/>
                <a:moveTo>
                  <a:pt x="133945" y="101798"/>
                </a:moveTo>
                <a:lnTo>
                  <a:pt x="133945" y="75009"/>
                </a:lnTo>
                <a:lnTo>
                  <a:pt x="104477" y="75009"/>
                </a:lnTo>
                <a:lnTo>
                  <a:pt x="104477" y="101798"/>
                </a:lnTo>
                <a:lnTo>
                  <a:pt x="133945" y="101798"/>
                </a:lnTo>
                <a:close/>
                <a:moveTo>
                  <a:pt x="88404" y="101798"/>
                </a:moveTo>
                <a:lnTo>
                  <a:pt x="88404" y="75009"/>
                </a:lnTo>
                <a:lnTo>
                  <a:pt x="61615" y="75009"/>
                </a:lnTo>
                <a:lnTo>
                  <a:pt x="61615" y="101798"/>
                </a:lnTo>
                <a:lnTo>
                  <a:pt x="88404" y="101798"/>
                </a:lnTo>
                <a:close/>
                <a:moveTo>
                  <a:pt x="45541" y="101798"/>
                </a:moveTo>
                <a:lnTo>
                  <a:pt x="45541" y="75009"/>
                </a:lnTo>
                <a:lnTo>
                  <a:pt x="16073" y="75009"/>
                </a:lnTo>
                <a:lnTo>
                  <a:pt x="16073" y="101798"/>
                </a:lnTo>
                <a:lnTo>
                  <a:pt x="45541" y="101798"/>
                </a:lnTo>
                <a:close/>
                <a:moveTo>
                  <a:pt x="16073" y="117872"/>
                </a:moveTo>
                <a:lnTo>
                  <a:pt x="16073" y="139303"/>
                </a:lnTo>
                <a:cubicBezTo>
                  <a:pt x="16073" y="142250"/>
                  <a:pt x="18484" y="144661"/>
                  <a:pt x="21431" y="144661"/>
                </a:cubicBezTo>
                <a:lnTo>
                  <a:pt x="45541" y="144661"/>
                </a:lnTo>
                <a:lnTo>
                  <a:pt x="45541" y="117872"/>
                </a:lnTo>
                <a:lnTo>
                  <a:pt x="16073" y="117872"/>
                </a:lnTo>
                <a:close/>
                <a:moveTo>
                  <a:pt x="61615" y="117872"/>
                </a:moveTo>
                <a:lnTo>
                  <a:pt x="61615" y="144661"/>
                </a:lnTo>
                <a:lnTo>
                  <a:pt x="88404" y="144661"/>
                </a:lnTo>
                <a:lnTo>
                  <a:pt x="88404" y="117872"/>
                </a:lnTo>
                <a:lnTo>
                  <a:pt x="61615" y="117872"/>
                </a:lnTo>
                <a:close/>
                <a:moveTo>
                  <a:pt x="40184" y="37505"/>
                </a:moveTo>
                <a:lnTo>
                  <a:pt x="21431" y="37505"/>
                </a:lnTo>
                <a:cubicBezTo>
                  <a:pt x="18484" y="37505"/>
                  <a:pt x="16073" y="39916"/>
                  <a:pt x="16073" y="42863"/>
                </a:cubicBezTo>
                <a:lnTo>
                  <a:pt x="16073" y="58936"/>
                </a:lnTo>
                <a:lnTo>
                  <a:pt x="133945" y="58936"/>
                </a:lnTo>
                <a:lnTo>
                  <a:pt x="133945" y="42863"/>
                </a:lnTo>
                <a:cubicBezTo>
                  <a:pt x="133945" y="39916"/>
                  <a:pt x="131534" y="37505"/>
                  <a:pt x="128588" y="37505"/>
                </a:cubicBezTo>
                <a:lnTo>
                  <a:pt x="40184" y="37505"/>
                </a:lnTo>
                <a:close/>
              </a:path>
            </a:pathLst>
          </a:custGeom>
          <a:solidFill>
            <a:srgbClr val="5E8B7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5525592" y="5481638"/>
            <a:ext cx="1400175" cy="495300"/>
          </a:xfrm>
          <a:prstGeom prst="rect">
            <a:avLst/>
          </a:prstGeom>
          <a:noFill/>
          <a:ln/>
        </p:spPr>
        <p:txBody>
          <a:bodyPr wrap="square" lIns="228600" tIns="114300" rIns="228600" bIns="114300" rtlCol="0" anchor="ctr"/>
          <a:lstStyle/>
          <a:p>
            <a:pPr algn="ctr">
              <a:lnSpc>
                <a:spcPct val="130000"/>
              </a:lnSpc>
            </a:pPr>
            <a:r>
              <a:rPr lang="en-US" sz="1350" dirty="0">
                <a:solidFill>
                  <a:srgbClr val="5E8B7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2026年3月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Widescreen</PresentationFormat>
  <Paragraphs>404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MiSans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Agent编程模式落地实施探讨</dc:title>
  <dc:subject>Code Agent编程模式落地实施探讨</dc:subject>
  <dc:creator>Kimi</dc:creator>
  <cp:lastModifiedBy>faunt</cp:lastModifiedBy>
  <cp:revision>3</cp:revision>
  <dcterms:created xsi:type="dcterms:W3CDTF">2026-03-01T05:17:05Z</dcterms:created>
  <dcterms:modified xsi:type="dcterms:W3CDTF">2026-03-01T07:39:50Z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{"Label":"Code Agent编程模式落地实施探讨","ContentProducer":"001191110108MACG2KBH8F10000","ProduceID":"19ca7bff-08a2-8d33-8000-0000de7ce3ab","ReservedCode1":"","ContentPropagator":"001191110108MACG2KBH8F20000","PropagateID":"19ca7bff-08a2-8d33-8000-0000de7ce3ab","ReservedCode2":""}</vt:lpwstr>
  </property>
</Properties>
</file>